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26.xml" ContentType="application/vnd.ms-office.chartcolorstyle+xml"/>
  <Override PartName="/ppt/charts/colors27.xml" ContentType="application/vnd.ms-office.chartcolorstyle+xml"/>
  <Override PartName="/ppt/charts/colors28.xml" ContentType="application/vnd.ms-office.chartcolorstyle+xml"/>
  <Override PartName="/ppt/charts/colors29.xml" ContentType="application/vnd.ms-office.chartcolorstyle+xml"/>
  <Override PartName="/ppt/charts/colors3.xml" ContentType="application/vnd.ms-office.chartcolorstyle+xml"/>
  <Override PartName="/ppt/charts/colors30.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26.xml" ContentType="application/vnd.ms-office.chartstyle+xml"/>
  <Override PartName="/ppt/charts/style27.xml" ContentType="application/vnd.ms-office.chartstyle+xml"/>
  <Override PartName="/ppt/charts/style28.xml" ContentType="application/vnd.ms-office.chartstyle+xml"/>
  <Override PartName="/ppt/charts/style29.xml" ContentType="application/vnd.ms-office.chartstyle+xml"/>
  <Override PartName="/ppt/charts/style3.xml" ContentType="application/vnd.ms-office.chartstyle+xml"/>
  <Override PartName="/ppt/charts/style30.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65" r:id="rId5"/>
    <p:sldId id="266" r:id="rId6"/>
    <p:sldId id="267" r:id="rId7"/>
    <p:sldId id="268" r:id="rId8"/>
    <p:sldId id="269" r:id="rId9"/>
    <p:sldId id="270" r:id="rId10"/>
    <p:sldId id="271" r:id="rId11"/>
    <p:sldId id="272" r:id="rId12"/>
    <p:sldId id="256" r:id="rId13"/>
    <p:sldId id="257" r:id="rId14"/>
    <p:sldId id="258" r:id="rId15"/>
    <p:sldId id="259" r:id="rId16"/>
    <p:sldId id="260" r:id="rId17"/>
    <p:sldId id="261" r:id="rId18"/>
    <p:sldId id="273" r:id="rId19"/>
    <p:sldId id="274" r:id="rId20"/>
    <p:sldId id="275" r:id="rId21"/>
    <p:sldId id="276" r:id="rId22"/>
    <p:sldId id="277" r:id="rId23"/>
    <p:sldId id="278" r:id="rId24"/>
    <p:sldId id="279" r:id="rId25"/>
    <p:sldId id="280" r:id="rId26"/>
    <p:sldId id="262" r:id="rId28"/>
    <p:sldId id="26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FE41F1-98D7-4420-AD4A-96665ACCD30F}" v="267" dt="2026-09-24T07:09:53.428"/>
    <p1510:client id="{DB18779D-23D1-CD42-8EDB-8ACC75088D19}" v="660" dt="2026-09-24T07:45:05.332"/>
    <p1510:client id="{FAACACB4-5F91-A279-D105-2DD9A8C5CED0}" v="56" dt="2026-09-24T06:19:15.6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https://griffitheduau-my.sharepoint.com/personal/mitchell_cooper3_griffithuni_edu_au/Documents/A1%203233%20AFE.xlsx" TargetMode="External"/></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oleObject" Target="https://griffitheduau-my.sharepoint.com/personal/mitchell_cooper3_griffithuni_edu_au/Documents/A1%203233%20AFE.xlsx" TargetMode="External"/></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oleObject" Target="https://griffitheduau-my.sharepoint.com/personal/mitchell_cooper3_griffithuni_edu_au/Documents/A1%203233%20AFE.xlsx" TargetMode="External"/></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oleObject" Target="https://griffitheduau-my.sharepoint.com/personal/mitchell_cooper3_griffithuni_edu_au/Documents/A1%203233%20AFE.xlsx" TargetMode="External"/></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oleObject" Target="https://griffitheduau-my.sharepoint.com/personal/mitchell_cooper3_griffithuni_edu_au/Documents/A1%203233%20AFE.xlsx" TargetMode="External"/></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oleObject" Target="https://griffitheduau-my.sharepoint.com/personal/mitchell_cooper3_griffithuni_edu_au/Documents/A1%203233%20AFE.xlsx" TargetMode="External"/></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oleObject" Target="https://griffitheduau-my.sharepoint.com/personal/mitchell_cooper3_griffithuni_edu_au/Documents/A1%203233%20AFE.xlsx" TargetMode="External"/></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oleObject" Target="https://griffitheduau-my.sharepoint.com/personal/mitchell_cooper3_griffithuni_edu_au/Documents/A1%203233%20AFE.xlsx" TargetMode="External"/></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oleObject" Target="https://griffitheduau-my.sharepoint.com/personal/mitchell_cooper3_griffithuni_edu_au/Documents/A1%203233%20AFE.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https://griffitheduau-my.sharepoint.com/personal/mitchell_cooper3_griffithuni_edu_au/Documents/A1%203233%20AFE.xlsx"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https://griffitheduau-my.sharepoint.com/personal/mitchell_cooper3_griffithuni_edu_au/Documents/A1%203233%20AFE.xlsx" TargetMode="External"/></Relationships>
</file>

<file path=ppt/charts/_rels/chart20.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oleObject" Target="https://griffitheduau-my.sharepoint.com/personal/mitchell_cooper3_griffithuni_edu_au/Documents/A1%203233%20AFE.xlsx" TargetMode="External"/></Relationships>
</file>

<file path=ppt/charts/_rels/chart21.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oleObject" Target="https://griffitheduau-my.sharepoint.com/personal/mitchell_cooper3_griffithuni_edu_au/Documents/A1%203233%20AFE_213115.xlsx" TargetMode="External"/></Relationships>
</file>

<file path=ppt/charts/_rels/chart22.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oleObject" Target="https://griffitheduau-my.sharepoint.com/personal/mitchell_cooper3_griffithuni_edu_au/Documents/A1%203233%20AFE_213115.xlsx" TargetMode="External"/></Relationships>
</file>

<file path=ppt/charts/_rels/chart23.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oleObject" Target="https://griffitheduau-my.sharepoint.com/personal/mitchell_cooper3_griffithuni_edu_au/Documents/A1%203233%20AFE_213115.xlsx" TargetMode="External"/></Relationships>
</file>

<file path=ppt/charts/_rels/chart24.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oleObject" Target="https://griffitheduau-my.sharepoint.com/personal/mitchell_cooper3_griffithuni_edu_au/Documents/A1%203233%20AFE_213115.xlsx" TargetMode="External"/></Relationships>
</file>

<file path=ppt/charts/_rels/chart25.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oleObject" Target="https://griffitheduau-my.sharepoint.com/personal/mitchell_cooper3_griffithuni_edu_au/Documents/A1%203233%20AFE_213115.xlsx" TargetMode="External"/></Relationships>
</file>

<file path=ppt/charts/_rels/chart26.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oleObject" Target="https://griffitheduau-my.sharepoint.com/personal/mitchell_cooper3_griffithuni_edu_au/Documents/A1%203233%20AFE_213115.xlsx" TargetMode="External"/></Relationships>
</file>

<file path=ppt/charts/_rels/chart27.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oleObject" Target="https://griffitheduau-my.sharepoint.com/personal/mitchell_cooper3_griffithuni_edu_au/Documents/A1%203233%20AFE_213115.xlsx" TargetMode="External"/></Relationships>
</file>

<file path=ppt/charts/_rels/chart28.xml.rels><?xml version='1.0' encoding='UTF-8' standalone='yes'?>
<Relationships xmlns="http://schemas.openxmlformats.org/package/2006/relationships"><Relationship Id="rId1" Type="http://schemas.microsoft.com/office/2011/relationships/chartStyle" Target="style26.xml"/><Relationship Id="rId2" Type="http://schemas.microsoft.com/office/2011/relationships/chartColorStyle" Target="colors26.xml"/><Relationship Id="rId3" Type="http://schemas.openxmlformats.org/officeDocument/2006/relationships/oleObject" Target="https://griffitheduau-my.sharepoint.com/personal/mitchell_cooper3_griffithuni_edu_au/Documents/A1%203233%20AFE_213115.xlsx" TargetMode="External"/></Relationships>
</file>

<file path=ppt/charts/_rels/chart29.xml.rels><?xml version='1.0' encoding='UTF-8' standalone='yes'?>
<Relationships xmlns="http://schemas.openxmlformats.org/package/2006/relationships"><Relationship Id="rId1" Type="http://schemas.microsoft.com/office/2011/relationships/chartStyle" Target="style27.xml"/><Relationship Id="rId2" Type="http://schemas.microsoft.com/office/2011/relationships/chartColorStyle" Target="colors27.xml"/><Relationship Id="rId3" Type="http://schemas.openxmlformats.org/officeDocument/2006/relationships/oleObject" Target="https://griffitheduau-my.sharepoint.com/personal/mitchell_cooper3_griffithuni_edu_au/Documents/A1%203233%20AFE_213115.xlsx" TargetMode="External"/></Relationships>
</file>

<file path=ppt/charts/_rels/chart30.xml.rels><?xml version='1.0' encoding='UTF-8' standalone='yes'?>
<Relationships xmlns="http://schemas.openxmlformats.org/package/2006/relationships"><Relationship Id="rId1" Type="http://schemas.microsoft.com/office/2011/relationships/chartStyle" Target="style28.xml"/><Relationship Id="rId2" Type="http://schemas.microsoft.com/office/2011/relationships/chartColorStyle" Target="colors28.xml"/><Relationship Id="rId3" Type="http://schemas.openxmlformats.org/officeDocument/2006/relationships/oleObject" Target="https://griffitheduau-my.sharepoint.com/personal/mitchell_cooper3_griffithuni_edu_au/Documents/A1%203233%20AFE_213115.xlsx" TargetMode="External"/></Relationships>
</file>

<file path=ppt/charts/_rels/chart31.xml.rels><?xml version='1.0' encoding='UTF-8' standalone='yes'?>
<Relationships xmlns="http://schemas.openxmlformats.org/package/2006/relationships"><Relationship Id="rId1" Type="http://schemas.microsoft.com/office/2011/relationships/chartStyle" Target="style29.xml"/><Relationship Id="rId2" Type="http://schemas.microsoft.com/office/2011/relationships/chartColorStyle" Target="colors29.xml"/><Relationship Id="rId3" Type="http://schemas.openxmlformats.org/officeDocument/2006/relationships/oleObject" Target="https://griffitheduau-my.sharepoint.com/personal/mitchell_cooper3_griffithuni_edu_au/Documents/A1%203233%20AFE_213115.xlsx" TargetMode="External"/></Relationships>
</file>

<file path=ppt/charts/_rels/chart32.xml.rels><?xml version='1.0' encoding='UTF-8' standalone='yes'?>
<Relationships xmlns="http://schemas.openxmlformats.org/package/2006/relationships"><Relationship Id="rId1" Type="http://schemas.microsoft.com/office/2011/relationships/chartStyle" Target="style30.xml"/><Relationship Id="rId2" Type="http://schemas.microsoft.com/office/2011/relationships/chartColorStyle" Target="colors30.xml"/><Relationship Id="rId3" Type="http://schemas.openxmlformats.org/officeDocument/2006/relationships/oleObject" Target="https://griffitheduau-my.sharepoint.com/personal/mitchell_cooper3_griffithuni_edu_au/Documents/A1%203233%20AFE_213115.xlsx" TargetMode="External"/></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Portfolio!$BW$47</c:f>
              <c:strCache>
                <c:ptCount val="1"/>
                <c:pt idx="0">
                  <c:v>Projected value (8.9% p.a.)</c:v>
                </c:pt>
              </c:strCache>
            </c:strRef>
          </c:tx>
          <c:spPr>
            <a:solidFill>
              <a:srgbClr val="0B2C48"/>
            </a:solidFill>
            <a:ln>
              <a:noFill/>
            </a:ln>
            <a:effectLst/>
          </c:spPr>
          <c:invertIfNegative val="0"/>
          <c:cat>
            <c:numRef>
              <c:f>Portfolio!$BV$48:$BV$58</c:f>
              <c:numCache>
                <c:formatCode>mm/dd/yyyy</c:formatCode>
                <c:ptCount val="11"/>
                <c:pt idx="0">
                  <c:v>46023</c:v>
                </c:pt>
                <c:pt idx="1">
                  <c:v>46388</c:v>
                </c:pt>
                <c:pt idx="2">
                  <c:v>46753</c:v>
                </c:pt>
                <c:pt idx="3">
                  <c:v>47119</c:v>
                </c:pt>
                <c:pt idx="4">
                  <c:v>47484</c:v>
                </c:pt>
                <c:pt idx="5">
                  <c:v>47849</c:v>
                </c:pt>
                <c:pt idx="6">
                  <c:v>48214</c:v>
                </c:pt>
                <c:pt idx="7">
                  <c:v>48580</c:v>
                </c:pt>
                <c:pt idx="8">
                  <c:v>48945</c:v>
                </c:pt>
                <c:pt idx="9">
                  <c:v>49310</c:v>
                </c:pt>
                <c:pt idx="10">
                  <c:v>49675</c:v>
                </c:pt>
              </c:numCache>
            </c:numRef>
          </c:cat>
          <c:val>
            <c:numRef>
              <c:f>Portfolio!$BW$48:$BW$58</c:f>
              <c:numCache>
                <c:formatCode>"$"#,##0.00</c:formatCode>
                <c:ptCount val="11"/>
                <c:pt idx="0">
                  <c:v>100000000</c:v>
                </c:pt>
                <c:pt idx="1">
                  <c:v>108936926.86737673</c:v>
                </c:pt>
                <c:pt idx="2">
                  <c:v>118672540.35308185</c:v>
                </c:pt>
                <c:pt idx="3">
                  <c:v>129278218.49609491</c:v>
                </c:pt>
                <c:pt idx="4">
                  <c:v>140831718.33853841</c:v>
                </c:pt>
                <c:pt idx="5">
                  <c:v>153417746.01252356</c:v>
                </c:pt>
                <c:pt idx="6">
                  <c:v>167128577.77524057</c:v>
                </c:pt>
                <c:pt idx="7">
                  <c:v>182064736.54550067</c:v>
                </c:pt>
                <c:pt idx="8">
                  <c:v>198335728.90185416</c:v>
                </c:pt>
                <c:pt idx="9">
                  <c:v>216060847.94569144</c:v>
                </c:pt>
                <c:pt idx="10">
                  <c:v>235370047.91563192</c:v>
                </c:pt>
              </c:numCache>
            </c:numRef>
          </c:val>
          <c:extLst>
            <c:ext xmlns:c16="http://schemas.microsoft.com/office/drawing/2014/chart" uri="{C3380CC4-5D6E-409C-BE32-E72D297353CC}">
              <c16:uniqueId val="{00000000-DB17-9A46-B606-28F5A05C0B3C}"/>
            </c:ext>
          </c:extLst>
        </c:ser>
        <c:ser>
          <c:idx val="1"/>
          <c:order val="1"/>
          <c:tx>
            <c:strRef>
              <c:f>Portfolio!$BX$47</c:f>
              <c:strCache>
                <c:ptCount val="1"/>
                <c:pt idx="0">
                  <c:v>Value at risk in a -14.9% fall</c:v>
                </c:pt>
              </c:strCache>
            </c:strRef>
          </c:tx>
          <c:spPr>
            <a:solidFill>
              <a:srgbClr val="C9A03A"/>
            </a:solidFill>
            <a:ln>
              <a:noFill/>
            </a:ln>
            <a:effectLst/>
          </c:spPr>
          <c:invertIfNegative val="0"/>
          <c:cat>
            <c:numRef>
              <c:f>Portfolio!$BV$48:$BV$58</c:f>
              <c:numCache>
                <c:formatCode>mm/dd/yyyy</c:formatCode>
                <c:ptCount val="11"/>
                <c:pt idx="0">
                  <c:v>46023</c:v>
                </c:pt>
                <c:pt idx="1">
                  <c:v>46388</c:v>
                </c:pt>
                <c:pt idx="2">
                  <c:v>46753</c:v>
                </c:pt>
                <c:pt idx="3">
                  <c:v>47119</c:v>
                </c:pt>
                <c:pt idx="4">
                  <c:v>47484</c:v>
                </c:pt>
                <c:pt idx="5">
                  <c:v>47849</c:v>
                </c:pt>
                <c:pt idx="6">
                  <c:v>48214</c:v>
                </c:pt>
                <c:pt idx="7">
                  <c:v>48580</c:v>
                </c:pt>
                <c:pt idx="8">
                  <c:v>48945</c:v>
                </c:pt>
                <c:pt idx="9">
                  <c:v>49310</c:v>
                </c:pt>
                <c:pt idx="10">
                  <c:v>49675</c:v>
                </c:pt>
              </c:numCache>
            </c:numRef>
          </c:cat>
          <c:val>
            <c:numRef>
              <c:f>Portfolio!$BX$48:$BX$58</c:f>
              <c:numCache>
                <c:formatCode>#,##0.00</c:formatCode>
                <c:ptCount val="11"/>
                <c:pt idx="1">
                  <c:v>16225479.349212386</c:v>
                </c:pt>
                <c:pt idx="2">
                  <c:v>17675538.57253281</c:v>
                </c:pt>
                <c:pt idx="3">
                  <c:v>19255188.52817503</c:v>
                </c:pt>
                <c:pt idx="4">
                  <c:v>20976010.645113546</c:v>
                </c:pt>
                <c:pt idx="5">
                  <c:v>22850621.376160499</c:v>
                </c:pt>
                <c:pt idx="6">
                  <c:v>24892764.697289117</c:v>
                </c:pt>
                <c:pt idx="7">
                  <c:v>27117412.873554021</c:v>
                </c:pt>
                <c:pt idx="8">
                  <c:v>29540876.230388142</c:v>
                </c:pt>
                <c:pt idx="9">
                  <c:v>32180922.735080205</c:v>
                </c:pt>
                <c:pt idx="10">
                  <c:v>35056908.265161335</c:v>
                </c:pt>
              </c:numCache>
            </c:numRef>
          </c:val>
          <c:extLst>
            <c:ext xmlns:c16="http://schemas.microsoft.com/office/drawing/2014/chart" uri="{C3380CC4-5D6E-409C-BE32-E72D297353CC}">
              <c16:uniqueId val="{00000001-DB17-9A46-B606-28F5A05C0B3C}"/>
            </c:ext>
          </c:extLst>
        </c:ser>
        <c:dLbls>
          <c:showLegendKey val="0"/>
          <c:showVal val="0"/>
          <c:showCatName val="0"/>
          <c:showSerName val="0"/>
          <c:showPercent val="0"/>
          <c:showBubbleSize val="0"/>
        </c:dLbls>
        <c:gapWidth val="60"/>
        <c:overlap val="100"/>
        <c:axId val="2102209471"/>
        <c:axId val="2102211263"/>
      </c:barChart>
      <c:dateAx>
        <c:axId val="2102209471"/>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crossAx val="2102211263"/>
        <c:crosses val="autoZero"/>
        <c:auto val="1"/>
        <c:lblOffset val="100"/>
        <c:baseTimeUnit val="years"/>
      </c:dateAx>
      <c:valAx>
        <c:axId val="2102211263"/>
        <c:scaling>
          <c:orientation val="minMax"/>
        </c:scaling>
        <c:delete val="0"/>
        <c:axPos val="l"/>
        <c:majorGridlines>
          <c:spPr>
            <a:ln w="9525" cap="flat" cmpd="sng" algn="ctr">
              <a:noFill/>
              <a:round/>
            </a:ln>
            <a:effectLst/>
          </c:spPr>
        </c:majorGridlines>
        <c:numFmt formatCode="&quot;$&quot;#,##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crossAx val="21022094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Portfolio!$E$80</c:f>
              <c:strCache>
                <c:ptCount val="1"/>
                <c:pt idx="0">
                  <c:v>Weight </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4C8-874C-A376-EB6406CD47D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4C8-874C-A376-EB6406CD47D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4C8-874C-A376-EB6406CD47D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4C8-874C-A376-EB6406CD47D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4C8-874C-A376-EB6406CD47D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4C8-874C-A376-EB6406CD47D2}"/>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4C8-874C-A376-EB6406CD47D2}"/>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C4C8-874C-A376-EB6406CD47D2}"/>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C4C8-874C-A376-EB6406CD47D2}"/>
              </c:ext>
            </c:extLst>
          </c:dPt>
          <c:cat>
            <c:strRef>
              <c:f>Portfolio!$D$81:$D$89</c:f>
              <c:strCache>
                <c:ptCount val="9"/>
                <c:pt idx="0">
                  <c:v>SPDR S&amp;P 500 ETF Trust</c:v>
                </c:pt>
                <c:pt idx="1">
                  <c:v>iShares Core Cash ETF</c:v>
                </c:pt>
                <c:pt idx="2">
                  <c:v>VanEck MSCI International Sustainable Equity ETF</c:v>
                </c:pt>
                <c:pt idx="3">
                  <c:v>BetaShares Japan ETF (Currency Hedged)</c:v>
                </c:pt>
                <c:pt idx="4">
                  <c:v>Vanguard Global Infrastructure Index ETF</c:v>
                </c:pt>
                <c:pt idx="5">
                  <c:v>Vanguard US Total Market Shares Index ETF</c:v>
                </c:pt>
                <c:pt idx="6">
                  <c:v>Vanguard Ethically Conscious Australian Shares ETF</c:v>
                </c:pt>
                <c:pt idx="7">
                  <c:v>Vanguard Australia Corporate Fixed Interest Index ETF</c:v>
                </c:pt>
                <c:pt idx="8">
                  <c:v>Global X Physical Gold</c:v>
                </c:pt>
              </c:strCache>
            </c:strRef>
          </c:cat>
          <c:val>
            <c:numRef>
              <c:f>Portfolio!$E$81:$E$89</c:f>
              <c:numCache>
                <c:formatCode>0.00%</c:formatCode>
                <c:ptCount val="9"/>
                <c:pt idx="0">
                  <c:v>0.28999999999999998</c:v>
                </c:pt>
                <c:pt idx="1">
                  <c:v>0.21</c:v>
                </c:pt>
                <c:pt idx="2">
                  <c:v>0.19</c:v>
                </c:pt>
                <c:pt idx="3">
                  <c:v>0.1661</c:v>
                </c:pt>
                <c:pt idx="4">
                  <c:v>3.39E-2</c:v>
                </c:pt>
                <c:pt idx="5">
                  <c:v>0.01</c:v>
                </c:pt>
                <c:pt idx="6">
                  <c:v>0.01</c:v>
                </c:pt>
                <c:pt idx="7">
                  <c:v>0.01</c:v>
                </c:pt>
                <c:pt idx="8">
                  <c:v>0.08</c:v>
                </c:pt>
              </c:numCache>
            </c:numRef>
          </c:val>
          <c:extLst>
            <c:ext xmlns:c16="http://schemas.microsoft.com/office/drawing/2014/chart" uri="{C3380CC4-5D6E-409C-BE32-E72D297353CC}">
              <c16:uniqueId val="{00000012-C4C8-874C-A376-EB6406CD47D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b="1" sz="1000">
                <a:solidFill>
                  <a:schemeClr val="tx1"/>
                </a:solidFill>
                <a:latin typeface="Arial"/>
              </a:rPr>
              <a:t>Strategic Backtest (Quarterly)</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Portfolio!$BW$11</c:f>
              <c:strCache>
                <c:ptCount val="1"/>
                <c:pt idx="0">
                  <c:v>80/20 Aggressive</c:v>
                </c:pt>
              </c:strCache>
            </c:strRef>
          </c:tx>
          <c:spPr>
            <a:ln w="15875" cap="rnd">
              <a:solidFill>
                <a:srgbClr val="7F95AB"/>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Portfolio!$BW$12:$BW$31</c:f>
              <c:numCache>
                <c:formatCode>0.00%</c:formatCode>
                <c:ptCount val="20"/>
                <c:pt idx="1">
                  <c:v>4.3367021006753159E-2</c:v>
                </c:pt>
                <c:pt idx="2">
                  <c:v>-3.9704137396779138E-2</c:v>
                </c:pt>
                <c:pt idx="3">
                  <c:v>-7.2070418434519778E-2</c:v>
                </c:pt>
                <c:pt idx="4">
                  <c:v>-2.1612660536484807E-2</c:v>
                </c:pt>
                <c:pt idx="5">
                  <c:v>3.1804356204016226E-2</c:v>
                </c:pt>
                <c:pt idx="6">
                  <c:v>4.7418800916683379E-2</c:v>
                </c:pt>
                <c:pt idx="7">
                  <c:v>6.2920717641269608E-2</c:v>
                </c:pt>
                <c:pt idx="8">
                  <c:v>-1.8073652077224667E-2</c:v>
                </c:pt>
                <c:pt idx="9">
                  <c:v>4.4747264513674168E-2</c:v>
                </c:pt>
                <c:pt idx="10">
                  <c:v>0.11277849486147917</c:v>
                </c:pt>
                <c:pt idx="11">
                  <c:v>1.0193016056435855E-2</c:v>
                </c:pt>
                <c:pt idx="12">
                  <c:v>-1.1299984204973801E-2</c:v>
                </c:pt>
                <c:pt idx="13">
                  <c:v>6.8569114732575542E-2</c:v>
                </c:pt>
                <c:pt idx="14">
                  <c:v>-2.9213349079110107E-2</c:v>
                </c:pt>
                <c:pt idx="15">
                  <c:v>5.1180328088641147E-2</c:v>
                </c:pt>
                <c:pt idx="16">
                  <c:v>4.1670944931397225E-2</c:v>
                </c:pt>
                <c:pt idx="17">
                  <c:v>2.5298788021652863E-2</c:v>
                </c:pt>
                <c:pt idx="18">
                  <c:v>-2.8668220357449314E-2</c:v>
                </c:pt>
                <c:pt idx="19">
                  <c:v>0.10922535507463094</c:v>
                </c:pt>
              </c:numCache>
            </c:numRef>
          </c:val>
          <c:smooth val="0"/>
          <c:extLst>
            <c:ext xmlns:c16="http://schemas.microsoft.com/office/drawing/2014/chart" uri="{C3380CC4-5D6E-409C-BE32-E72D297353CC}">
              <c16:uniqueId val="{00000000-6010-494E-9E92-856BAD9801E5}"/>
            </c:ext>
          </c:extLst>
        </c:ser>
        <c:ser>
          <c:idx val="1"/>
          <c:order val="1"/>
          <c:tx>
            <c:strRef>
              <c:f>Portfolio!$BX$11</c:f>
              <c:strCache>
                <c:ptCount val="1"/>
                <c:pt idx="0">
                  <c:v>70/30 Strategic</c:v>
                </c:pt>
              </c:strCache>
            </c:strRef>
          </c:tx>
          <c:spPr>
            <a:ln w="31750" cap="rnd">
              <a:solidFill>
                <a:srgbClr val="C9A03A"/>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Portfolio!$BX$12:$BX$31</c:f>
              <c:numCache>
                <c:formatCode>0.00%</c:formatCode>
                <c:ptCount val="20"/>
                <c:pt idx="1">
                  <c:v>4.2835458313557284E-2</c:v>
                </c:pt>
                <c:pt idx="2">
                  <c:v>-4.5421409159831172E-2</c:v>
                </c:pt>
                <c:pt idx="3">
                  <c:v>-5.7959021208667472E-2</c:v>
                </c:pt>
                <c:pt idx="4">
                  <c:v>-2.394127991242212E-2</c:v>
                </c:pt>
                <c:pt idx="5">
                  <c:v>3.8013865980925265E-2</c:v>
                </c:pt>
                <c:pt idx="6">
                  <c:v>5.6052662123030395E-2</c:v>
                </c:pt>
                <c:pt idx="7">
                  <c:v>6.0378369570135204E-2</c:v>
                </c:pt>
                <c:pt idx="8">
                  <c:v>-1.2251044898107022E-2</c:v>
                </c:pt>
                <c:pt idx="9">
                  <c:v>4.2906246874660381E-2</c:v>
                </c:pt>
                <c:pt idx="10">
                  <c:v>0.11935626274773714</c:v>
                </c:pt>
                <c:pt idx="11">
                  <c:v>1.8704859081581482E-2</c:v>
                </c:pt>
                <c:pt idx="12">
                  <c:v>-2.1350006671426947E-2</c:v>
                </c:pt>
                <c:pt idx="13">
                  <c:v>7.4800193007073412E-2</c:v>
                </c:pt>
                <c:pt idx="14">
                  <c:v>-1.7658008121375635E-2</c:v>
                </c:pt>
                <c:pt idx="15">
                  <c:v>4.8826178950184262E-2</c:v>
                </c:pt>
                <c:pt idx="16">
                  <c:v>3.9962036762689612E-2</c:v>
                </c:pt>
                <c:pt idx="17">
                  <c:v>3.3413401969649037E-2</c:v>
                </c:pt>
                <c:pt idx="18">
                  <c:v>-3.7665843659830389E-2</c:v>
                </c:pt>
                <c:pt idx="19">
                  <c:v>0.11090033772396968</c:v>
                </c:pt>
              </c:numCache>
            </c:numRef>
          </c:val>
          <c:smooth val="0"/>
          <c:extLst>
            <c:ext xmlns:c16="http://schemas.microsoft.com/office/drawing/2014/chart" uri="{C3380CC4-5D6E-409C-BE32-E72D297353CC}">
              <c16:uniqueId val="{00000001-6010-494E-9E92-856BAD9801E5}"/>
            </c:ext>
          </c:extLst>
        </c:ser>
        <c:ser>
          <c:idx val="2"/>
          <c:order val="2"/>
          <c:tx>
            <c:strRef>
              <c:f>Portfolio!$BY$11</c:f>
              <c:strCache>
                <c:ptCount val="1"/>
                <c:pt idx="0">
                  <c:v>60/40 Defensive</c:v>
                </c:pt>
              </c:strCache>
            </c:strRef>
          </c:tx>
          <c:spPr>
            <a:ln w="15875" cap="rnd">
              <a:solidFill>
                <a:srgbClr val="0B2C48"/>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Portfolio!$BY$12:$BY$31</c:f>
              <c:numCache>
                <c:formatCode>0.00%</c:formatCode>
                <c:ptCount val="20"/>
                <c:pt idx="1">
                  <c:v>4.3336672117278985E-2</c:v>
                </c:pt>
                <c:pt idx="2">
                  <c:v>-3.7804717675537503E-2</c:v>
                </c:pt>
                <c:pt idx="3">
                  <c:v>-5.011832937350591E-2</c:v>
                </c:pt>
                <c:pt idx="4">
                  <c:v>-1.8492085469016928E-2</c:v>
                </c:pt>
                <c:pt idx="5">
                  <c:v>3.5109543886760797E-2</c:v>
                </c:pt>
                <c:pt idx="6">
                  <c:v>5.3188093031314665E-2</c:v>
                </c:pt>
                <c:pt idx="7">
                  <c:v>4.6407019978877084E-2</c:v>
                </c:pt>
                <c:pt idx="8">
                  <c:v>-1.0509203964038982E-2</c:v>
                </c:pt>
                <c:pt idx="9">
                  <c:v>4.2970030092828626E-2</c:v>
                </c:pt>
                <c:pt idx="10">
                  <c:v>0.1062283977278784</c:v>
                </c:pt>
                <c:pt idx="11">
                  <c:v>1.9965396634350707E-2</c:v>
                </c:pt>
                <c:pt idx="12">
                  <c:v>-3.6196006057478414E-3</c:v>
                </c:pt>
                <c:pt idx="13">
                  <c:v>7.4552424853359112E-2</c:v>
                </c:pt>
                <c:pt idx="14">
                  <c:v>-9.8420646610997142E-4</c:v>
                </c:pt>
                <c:pt idx="15">
                  <c:v>4.1127357125662956E-2</c:v>
                </c:pt>
                <c:pt idx="16">
                  <c:v>4.6556555826441137E-2</c:v>
                </c:pt>
                <c:pt idx="17">
                  <c:v>3.3722670609617866E-2</c:v>
                </c:pt>
                <c:pt idx="18">
                  <c:v>-3.410521151127921E-2</c:v>
                </c:pt>
                <c:pt idx="19">
                  <c:v>7.9622210570318375E-2</c:v>
                </c:pt>
              </c:numCache>
            </c:numRef>
          </c:val>
          <c:smooth val="0"/>
          <c:extLst>
            <c:ext xmlns:c16="http://schemas.microsoft.com/office/drawing/2014/chart" uri="{C3380CC4-5D6E-409C-BE32-E72D297353CC}">
              <c16:uniqueId val="{00000002-6010-494E-9E92-856BAD9801E5}"/>
            </c:ext>
          </c:extLst>
        </c:ser>
        <c:dLbls>
          <c:showLegendKey val="0"/>
          <c:showVal val="0"/>
          <c:showCatName val="0"/>
          <c:showSerName val="0"/>
          <c:showPercent val="0"/>
          <c:showBubbleSize val="0"/>
        </c:dLbls>
        <c:smooth val="0"/>
        <c:axId val="2102259519"/>
        <c:axId val="2102261311"/>
      </c:lineChart>
      <c:dateAx>
        <c:axId val="2102259519"/>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102261311"/>
        <c:crosses val="autoZero"/>
        <c:auto val="1"/>
        <c:lblOffset val="100"/>
        <c:baseTimeUnit val="months"/>
        <c:majorUnit val="12"/>
        <c:majorTimeUnit val="months"/>
      </c:dateAx>
      <c:valAx>
        <c:axId val="2102261311"/>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1022595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GB" sz="1000" b="1">
                <a:solidFill>
                  <a:schemeClr val="tx1"/>
                </a:solidFill>
                <a:latin typeface="Arial"/>
              </a:rPr>
              <a:t>COVID Stress Test </a:t>
            </a:r>
            <a:r>
              <a:rPr lang="en-US" sz="1000" b="1" i="0" u="none" strike="noStrike" kern="1200" spc="0" baseline="0">
                <a:solidFill>
                  <a:schemeClr val="tx1"/>
                </a:solidFill>
                <a:latin typeface="Arial"/>
              </a:rPr>
              <a:t>(Quarterly)</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'COVID Stress Test'!$BX$11</c:f>
              <c:strCache>
                <c:ptCount val="1"/>
                <c:pt idx="0">
                  <c:v>80/20 Aggressive</c:v>
                </c:pt>
              </c:strCache>
            </c:strRef>
          </c:tx>
          <c:spPr>
            <a:ln w="15875" cap="rnd">
              <a:solidFill>
                <a:srgbClr val="7F95AB"/>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Test'!$BX$12:$BX$36</c:f>
              <c:numCache>
                <c:formatCode>0.00%</c:formatCode>
                <c:ptCount val="25"/>
                <c:pt idx="1">
                  <c:v>-2.0089047556864581E-2</c:v>
                </c:pt>
                <c:pt idx="2">
                  <c:v>4.6724648295281002E-2</c:v>
                </c:pt>
                <c:pt idx="3">
                  <c:v>4.3973386411114701E-2</c:v>
                </c:pt>
                <c:pt idx="4">
                  <c:v>-9.4542959288839601E-2</c:v>
                </c:pt>
                <c:pt idx="5">
                  <c:v>8.6976586933444677E-2</c:v>
                </c:pt>
                <c:pt idx="6">
                  <c:v>2.7315831680707614E-2</c:v>
                </c:pt>
                <c:pt idx="7">
                  <c:v>2.546467109433781E-2</c:v>
                </c:pt>
                <c:pt idx="8">
                  <c:v>4.3588010635773333E-2</c:v>
                </c:pt>
                <c:pt idx="9">
                  <c:v>-9.8300585758486658E-2</c:v>
                </c:pt>
                <c:pt idx="10">
                  <c:v>7.7581286537661054E-2</c:v>
                </c:pt>
                <c:pt idx="11">
                  <c:v>1.9991529158622789E-2</c:v>
                </c:pt>
                <c:pt idx="12">
                  <c:v>6.2516107173351099E-2</c:v>
                </c:pt>
                <c:pt idx="13">
                  <c:v>4.1309234479575796E-2</c:v>
                </c:pt>
                <c:pt idx="14">
                  <c:v>5.9633371115373812E-2</c:v>
                </c:pt>
                <c:pt idx="15">
                  <c:v>1.7906443855268073E-2</c:v>
                </c:pt>
                <c:pt idx="16">
                  <c:v>4.5030447050124156E-2</c:v>
                </c:pt>
                <c:pt idx="17">
                  <c:v>-4.5632531809909671E-2</c:v>
                </c:pt>
                <c:pt idx="18">
                  <c:v>-7.6186442630515105E-2</c:v>
                </c:pt>
                <c:pt idx="19">
                  <c:v>-2.681124958997505E-2</c:v>
                </c:pt>
                <c:pt idx="20">
                  <c:v>2.4822385299266614E-2</c:v>
                </c:pt>
                <c:pt idx="21">
                  <c:v>5.2970105983734195E-2</c:v>
                </c:pt>
                <c:pt idx="22">
                  <c:v>6.9919210520106967E-2</c:v>
                </c:pt>
                <c:pt idx="23">
                  <c:v>-2.3375139086022623E-2</c:v>
                </c:pt>
                <c:pt idx="24">
                  <c:v>4.4906513107154655E-2</c:v>
                </c:pt>
              </c:numCache>
            </c:numRef>
          </c:val>
          <c:smooth val="0"/>
          <c:extLst>
            <c:ext xmlns:c16="http://schemas.microsoft.com/office/drawing/2014/chart" uri="{C3380CC4-5D6E-409C-BE32-E72D297353CC}">
              <c16:uniqueId val="{00000000-5990-394A-8F06-457B7AB6DB84}"/>
            </c:ext>
          </c:extLst>
        </c:ser>
        <c:ser>
          <c:idx val="1"/>
          <c:order val="1"/>
          <c:tx>
            <c:strRef>
              <c:f>'COVID Stress Test'!$BY$11</c:f>
              <c:strCache>
                <c:ptCount val="1"/>
                <c:pt idx="0">
                  <c:v>70/30 Strategic</c:v>
                </c:pt>
              </c:strCache>
            </c:strRef>
          </c:tx>
          <c:spPr>
            <a:ln w="31750" cap="rnd">
              <a:solidFill>
                <a:srgbClr val="C9A03A"/>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Test'!$BY$12:$BY$36</c:f>
              <c:numCache>
                <c:formatCode>0.00%</c:formatCode>
                <c:ptCount val="25"/>
                <c:pt idx="1">
                  <c:v>-7.5805987993737833E-3</c:v>
                </c:pt>
                <c:pt idx="2">
                  <c:v>4.2132440876006649E-2</c:v>
                </c:pt>
                <c:pt idx="3">
                  <c:v>4.5236147818721539E-2</c:v>
                </c:pt>
                <c:pt idx="4">
                  <c:v>-8.4586397655223799E-2</c:v>
                </c:pt>
                <c:pt idx="5">
                  <c:v>7.9418092164572851E-2</c:v>
                </c:pt>
                <c:pt idx="6">
                  <c:v>3.1145239921273049E-2</c:v>
                </c:pt>
                <c:pt idx="7">
                  <c:v>3.1467800107236377E-2</c:v>
                </c:pt>
                <c:pt idx="8">
                  <c:v>4.5112307382423777E-2</c:v>
                </c:pt>
                <c:pt idx="9">
                  <c:v>-5.088953876957869E-2</c:v>
                </c:pt>
                <c:pt idx="10">
                  <c:v>6.7250808907921567E-2</c:v>
                </c:pt>
                <c:pt idx="11">
                  <c:v>1.832381317458287E-2</c:v>
                </c:pt>
                <c:pt idx="12">
                  <c:v>4.8062955750342695E-2</c:v>
                </c:pt>
                <c:pt idx="13">
                  <c:v>3.3973120161910675E-2</c:v>
                </c:pt>
                <c:pt idx="14">
                  <c:v>6.4832411246848576E-2</c:v>
                </c:pt>
                <c:pt idx="15">
                  <c:v>1.7295511972381883E-2</c:v>
                </c:pt>
                <c:pt idx="16">
                  <c:v>4.5974746872894823E-2</c:v>
                </c:pt>
                <c:pt idx="17">
                  <c:v>-4.5914901394150442E-2</c:v>
                </c:pt>
                <c:pt idx="18">
                  <c:v>-6.8760808902525894E-2</c:v>
                </c:pt>
                <c:pt idx="19">
                  <c:v>-1.9392337627366585E-2</c:v>
                </c:pt>
                <c:pt idx="20">
                  <c:v>2.6769320087374204E-2</c:v>
                </c:pt>
                <c:pt idx="21">
                  <c:v>6.1197370859936484E-2</c:v>
                </c:pt>
                <c:pt idx="22">
                  <c:v>6.8389974652989238E-2</c:v>
                </c:pt>
                <c:pt idx="23">
                  <c:v>-1.5374961632677042E-2</c:v>
                </c:pt>
                <c:pt idx="24">
                  <c:v>4.183983108482292E-2</c:v>
                </c:pt>
              </c:numCache>
            </c:numRef>
          </c:val>
          <c:smooth val="0"/>
          <c:extLst>
            <c:ext xmlns:c16="http://schemas.microsoft.com/office/drawing/2014/chart" uri="{C3380CC4-5D6E-409C-BE32-E72D297353CC}">
              <c16:uniqueId val="{00000001-5990-394A-8F06-457B7AB6DB84}"/>
            </c:ext>
          </c:extLst>
        </c:ser>
        <c:ser>
          <c:idx val="2"/>
          <c:order val="2"/>
          <c:tx>
            <c:strRef>
              <c:f>'COVID Stress Test'!$BZ$11</c:f>
              <c:strCache>
                <c:ptCount val="1"/>
                <c:pt idx="0">
                  <c:v>60/40 Defensive</c:v>
                </c:pt>
              </c:strCache>
            </c:strRef>
          </c:tx>
          <c:spPr>
            <a:ln w="15875" cap="rnd">
              <a:solidFill>
                <a:srgbClr val="0B2C48"/>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Test'!$BZ$12:$BZ$36</c:f>
              <c:numCache>
                <c:formatCode>0.00%</c:formatCode>
                <c:ptCount val="25"/>
                <c:pt idx="1">
                  <c:v>-1.0618440198396639E-3</c:v>
                </c:pt>
                <c:pt idx="2">
                  <c:v>3.734132149363556E-2</c:v>
                </c:pt>
                <c:pt idx="3">
                  <c:v>3.6915268943087831E-2</c:v>
                </c:pt>
                <c:pt idx="4">
                  <c:v>-6.1071786036050457E-2</c:v>
                </c:pt>
                <c:pt idx="5">
                  <c:v>7.1766950602937474E-2</c:v>
                </c:pt>
                <c:pt idx="6">
                  <c:v>3.8891293431896123E-2</c:v>
                </c:pt>
                <c:pt idx="7">
                  <c:v>3.7470210332663845E-2</c:v>
                </c:pt>
                <c:pt idx="8">
                  <c:v>3.3790732396109746E-2</c:v>
                </c:pt>
                <c:pt idx="9">
                  <c:v>-2.4816093593781785E-2</c:v>
                </c:pt>
                <c:pt idx="10">
                  <c:v>5.231512523770343E-2</c:v>
                </c:pt>
                <c:pt idx="11">
                  <c:v>1.8433516833300523E-2</c:v>
                </c:pt>
                <c:pt idx="12">
                  <c:v>2.8521664967700477E-2</c:v>
                </c:pt>
                <c:pt idx="13">
                  <c:v>1.9266400510946635E-2</c:v>
                </c:pt>
                <c:pt idx="14">
                  <c:v>5.9801657208635728E-2</c:v>
                </c:pt>
                <c:pt idx="15">
                  <c:v>2.0471029019048403E-2</c:v>
                </c:pt>
                <c:pt idx="16">
                  <c:v>4.5473498371715548E-2</c:v>
                </c:pt>
                <c:pt idx="17">
                  <c:v>-3.7068977467393349E-2</c:v>
                </c:pt>
                <c:pt idx="18">
                  <c:v>-5.9627803387759526E-2</c:v>
                </c:pt>
                <c:pt idx="19">
                  <c:v>-1.5849875638258348E-2</c:v>
                </c:pt>
                <c:pt idx="20">
                  <c:v>2.6548646468445014E-2</c:v>
                </c:pt>
                <c:pt idx="21">
                  <c:v>5.7509852940688333E-2</c:v>
                </c:pt>
                <c:pt idx="22">
                  <c:v>5.2272519530500938E-2</c:v>
                </c:pt>
                <c:pt idx="23">
                  <c:v>-1.3254148236926278E-2</c:v>
                </c:pt>
                <c:pt idx="24">
                  <c:v>4.2850454939957539E-2</c:v>
                </c:pt>
              </c:numCache>
            </c:numRef>
          </c:val>
          <c:smooth val="0"/>
          <c:extLst>
            <c:ext xmlns:c16="http://schemas.microsoft.com/office/drawing/2014/chart" uri="{C3380CC4-5D6E-409C-BE32-E72D297353CC}">
              <c16:uniqueId val="{00000002-5990-394A-8F06-457B7AB6DB84}"/>
            </c:ext>
          </c:extLst>
        </c:ser>
        <c:dLbls>
          <c:showLegendKey val="0"/>
          <c:showVal val="0"/>
          <c:showCatName val="0"/>
          <c:showSerName val="0"/>
          <c:showPercent val="0"/>
          <c:showBubbleSize val="0"/>
        </c:dLbls>
        <c:smooth val="0"/>
        <c:axId val="1519423871"/>
        <c:axId val="1519432383"/>
      </c:lineChart>
      <c:dateAx>
        <c:axId val="1519423871"/>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519432383"/>
        <c:crosses val="autoZero"/>
        <c:auto val="1"/>
        <c:lblOffset val="100"/>
        <c:baseTimeUnit val="months"/>
        <c:majorUnit val="12"/>
        <c:majorTimeUnit val="months"/>
      </c:dateAx>
      <c:valAx>
        <c:axId val="1519432383"/>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5194238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a:solidFill>
                  <a:schemeClr val="tx1"/>
                </a:solidFill>
                <a:latin typeface="Arial"/>
              </a:rPr>
              <a:t>As the World Bets on AI, Seven US Tech Giants Capture Nearly Half of Market Gains</a:t>
            </a:r>
            <a:endParaRPr lang="en-AU"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AU" sz="1000" b="1">
            <a:latin typeface="Arial"/>
          </a:endParaRPr>
        </a:p>
      </c:txPr>
    </c:title>
    <c:autoTitleDeleted val="0"/>
    <c:plotArea>
      <c:layout/>
      <c:lineChart>
        <c:grouping val="standard"/>
        <c:varyColors val="0"/>
        <c:ser>
          <c:idx val="0"/>
          <c:order val="0"/>
          <c:tx>
            <c:strRef>
              <c:f>'Macro-outlook 27'!$BB$2</c:f>
              <c:strCache>
                <c:ptCount val="1"/>
                <c:pt idx="0">
                  <c:v>S&amp;P 500</c:v>
                </c:pt>
              </c:strCache>
            </c:strRef>
          </c:tx>
          <c:spPr>
            <a:ln w="22225" cap="rnd">
              <a:solidFill>
                <a:srgbClr val="0B2C48"/>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27'!$BB$3:$BB$63</c:f>
              <c:numCache>
                <c:formatCode>0.00%;\-0.00%;0.00%</c:formatCode>
                <c:ptCount val="61"/>
                <c:pt idx="0">
                  <c:v>0</c:v>
                </c:pt>
                <c:pt idx="1">
                  <c:v>6.9143873301234615E-2</c:v>
                </c:pt>
                <c:pt idx="2">
                  <c:v>6.0233915413437922E-2</c:v>
                </c:pt>
                <c:pt idx="3">
                  <c:v>0.10647376460810576</c:v>
                </c:pt>
                <c:pt idx="4">
                  <c:v>4.8289743101631144E-2</c:v>
                </c:pt>
                <c:pt idx="5">
                  <c:v>1.5414830738658125E-2</c:v>
                </c:pt>
                <c:pt idx="6">
                  <c:v>5.1739507932601958E-2</c:v>
                </c:pt>
                <c:pt idx="7">
                  <c:v>-4.0768048584574834E-2</c:v>
                </c:pt>
                <c:pt idx="8">
                  <c:v>-4.0716975350199913E-2</c:v>
                </c:pt>
                <c:pt idx="9">
                  <c:v>-0.12122000027858126</c:v>
                </c:pt>
                <c:pt idx="10">
                  <c:v>-4.1148776331734638E-2</c:v>
                </c:pt>
                <c:pt idx="11">
                  <c:v>-8.1842536575400304E-2</c:v>
                </c:pt>
                <c:pt idx="12">
                  <c:v>-0.16759449709114715</c:v>
                </c:pt>
                <c:pt idx="13">
                  <c:v>-0.10111571802002994</c:v>
                </c:pt>
                <c:pt idx="14">
                  <c:v>-5.2798116790557903E-2</c:v>
                </c:pt>
                <c:pt idx="15">
                  <c:v>-0.10865598462231341</c:v>
                </c:pt>
                <c:pt idx="16">
                  <c:v>-5.36129670299057E-2</c:v>
                </c:pt>
                <c:pt idx="17">
                  <c:v>-7.8325447935480574E-2</c:v>
                </c:pt>
                <c:pt idx="18">
                  <c:v>-4.6019305682593714E-2</c:v>
                </c:pt>
                <c:pt idx="19">
                  <c:v>-3.2050776081011478E-2</c:v>
                </c:pt>
                <c:pt idx="20">
                  <c:v>-2.9648012554729597E-2</c:v>
                </c:pt>
                <c:pt idx="21">
                  <c:v>3.3160458173342677E-2</c:v>
                </c:pt>
                <c:pt idx="22">
                  <c:v>6.5331952808331373E-2</c:v>
                </c:pt>
                <c:pt idx="23">
                  <c:v>4.6458071196088691E-2</c:v>
                </c:pt>
                <c:pt idx="24">
                  <c:v>-4.5246242635006428E-3</c:v>
                </c:pt>
                <c:pt idx="25">
                  <c:v>-2.6404862171912402E-2</c:v>
                </c:pt>
                <c:pt idx="26">
                  <c:v>6.0419636265710785E-2</c:v>
                </c:pt>
                <c:pt idx="27">
                  <c:v>0.10732111599660121</c:v>
                </c:pt>
                <c:pt idx="28">
                  <c:v>0.12492280977077397</c:v>
                </c:pt>
                <c:pt idx="29">
                  <c:v>0.18310450976659554</c:v>
                </c:pt>
                <c:pt idx="30">
                  <c:v>0.21980295017573837</c:v>
                </c:pt>
                <c:pt idx="31">
                  <c:v>0.16904079822822293</c:v>
                </c:pt>
                <c:pt idx="32">
                  <c:v>0.22517956884904144</c:v>
                </c:pt>
                <c:pt idx="33">
                  <c:v>0.2676562492745278</c:v>
                </c:pt>
                <c:pt idx="34">
                  <c:v>0.28200782813392333</c:v>
                </c:pt>
                <c:pt idx="35">
                  <c:v>0.31128207747345349</c:v>
                </c:pt>
                <c:pt idx="36">
                  <c:v>0.33776587100758193</c:v>
                </c:pt>
                <c:pt idx="37">
                  <c:v>0.3245262957511712</c:v>
                </c:pt>
                <c:pt idx="38">
                  <c:v>0.40042344354318238</c:v>
                </c:pt>
                <c:pt idx="39">
                  <c:v>0.36542667044299071</c:v>
                </c:pt>
                <c:pt idx="40">
                  <c:v>0.40231547472571338</c:v>
                </c:pt>
                <c:pt idx="41">
                  <c:v>0.38234351857440685</c:v>
                </c:pt>
                <c:pt idx="42">
                  <c:v>0.30279695603523127</c:v>
                </c:pt>
                <c:pt idx="43">
                  <c:v>0.29286321194927978</c:v>
                </c:pt>
                <c:pt idx="44">
                  <c:v>0.37240513146714815</c:v>
                </c:pt>
                <c:pt idx="45">
                  <c:v>0.44048575288911995</c:v>
                </c:pt>
                <c:pt idx="46">
                  <c:v>0.47169614211359634</c:v>
                </c:pt>
                <c:pt idx="47">
                  <c:v>0.49975624138139185</c:v>
                </c:pt>
                <c:pt idx="48">
                  <c:v>0.55273311449226248</c:v>
                </c:pt>
                <c:pt idx="49">
                  <c:v>0.58795971714714201</c:v>
                </c:pt>
                <c:pt idx="50">
                  <c:v>0.5900235401180256</c:v>
                </c:pt>
                <c:pt idx="51">
                  <c:v>0.58919011779345065</c:v>
                </c:pt>
                <c:pt idx="52">
                  <c:v>0.61090320693481659</c:v>
                </c:pt>
                <c:pt idx="53">
                  <c:v>0.59693932035454123</c:v>
                </c:pt>
                <c:pt idx="54">
                  <c:v>0.5156028731015847</c:v>
                </c:pt>
                <c:pt idx="55">
                  <c:v>0.6735793515556443</c:v>
                </c:pt>
                <c:pt idx="56">
                  <c:v>0.7597190043505111</c:v>
                </c:pt>
                <c:pt idx="57">
                  <c:v>0.74098441337747301</c:v>
                </c:pt>
                <c:pt idx="58">
                  <c:v>0.73874647710758357</c:v>
                </c:pt>
                <c:pt idx="59">
                  <c:v>0.78434558936190957</c:v>
                </c:pt>
                <c:pt idx="60">
                  <c:v>0.80256944799119689</c:v>
                </c:pt>
              </c:numCache>
            </c:numRef>
          </c:val>
          <c:smooth val="0"/>
          <c:extLst>
            <c:ext xmlns:c16="http://schemas.microsoft.com/office/drawing/2014/chart" uri="{C3380CC4-5D6E-409C-BE32-E72D297353CC}">
              <c16:uniqueId val="{00000000-FD9C-094E-87A5-4964B2B1B710}"/>
            </c:ext>
          </c:extLst>
        </c:ser>
        <c:ser>
          <c:idx val="1"/>
          <c:order val="1"/>
          <c:tx>
            <c:strRef>
              <c:f>'Macro-outlook 27'!$BC$2</c:f>
              <c:strCache>
                <c:ptCount val="1"/>
                <c:pt idx="0">
                  <c:v>Magnificent 7</c:v>
                </c:pt>
              </c:strCache>
            </c:strRef>
          </c:tx>
          <c:spPr>
            <a:ln w="22225" cap="rnd">
              <a:solidFill>
                <a:srgbClr val="C9A03A"/>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27'!$BC$3:$BC$63</c:f>
              <c:numCache>
                <c:formatCode>0.00%;\-0.00%;0.00%</c:formatCode>
                <c:ptCount val="61"/>
                <c:pt idx="0">
                  <c:v>0</c:v>
                </c:pt>
                <c:pt idx="1">
                  <c:v>0.12420721039689631</c:v>
                </c:pt>
                <c:pt idx="2">
                  <c:v>0.16752797430082267</c:v>
                </c:pt>
                <c:pt idx="3">
                  <c:v>0.16753648783339625</c:v>
                </c:pt>
                <c:pt idx="4">
                  <c:v>8.0457553142859295E-2</c:v>
                </c:pt>
                <c:pt idx="5">
                  <c:v>2.5991543829693597E-2</c:v>
                </c:pt>
                <c:pt idx="6">
                  <c:v>9.9556561624956297E-2</c:v>
                </c:pt>
                <c:pt idx="7">
                  <c:v>-7.5096210503894256E-2</c:v>
                </c:pt>
                <c:pt idx="8">
                  <c:v>-0.11343466867027241</c:v>
                </c:pt>
                <c:pt idx="9">
                  <c:v>-0.19157814478591573</c:v>
                </c:pt>
                <c:pt idx="10">
                  <c:v>-6.0068563852539225E-2</c:v>
                </c:pt>
                <c:pt idx="11">
                  <c:v>-0.11604662649631448</c:v>
                </c:pt>
                <c:pt idx="12">
                  <c:v>-0.21390065630410482</c:v>
                </c:pt>
                <c:pt idx="13">
                  <c:v>-0.22767079115081501</c:v>
                </c:pt>
                <c:pt idx="14">
                  <c:v>-0.21507911944596825</c:v>
                </c:pt>
                <c:pt idx="15">
                  <c:v>-0.31576022786305935</c:v>
                </c:pt>
                <c:pt idx="16">
                  <c:v>-0.21581324169049221</c:v>
                </c:pt>
                <c:pt idx="17">
                  <c:v>-0.20193614230863477</c:v>
                </c:pt>
                <c:pt idx="18">
                  <c:v>-9.9409243945616454E-2</c:v>
                </c:pt>
                <c:pt idx="19">
                  <c:v>-8.1409445998399721E-2</c:v>
                </c:pt>
                <c:pt idx="20">
                  <c:v>2.7386374736549701E-2</c:v>
                </c:pt>
                <c:pt idx="21">
                  <c:v>0.10726179948044012</c:v>
                </c:pt>
                <c:pt idx="22">
                  <c:v>0.14808455980954194</c:v>
                </c:pt>
                <c:pt idx="23">
                  <c:v>0.13515846232938333</c:v>
                </c:pt>
                <c:pt idx="24">
                  <c:v>6.7184374041759698E-2</c:v>
                </c:pt>
                <c:pt idx="25">
                  <c:v>5.5468886220627844E-2</c:v>
                </c:pt>
                <c:pt idx="26">
                  <c:v>0.17531087345371654</c:v>
                </c:pt>
                <c:pt idx="27">
                  <c:v>0.20894721352715329</c:v>
                </c:pt>
                <c:pt idx="28">
                  <c:v>0.23125113454486668</c:v>
                </c:pt>
                <c:pt idx="29">
                  <c:v>0.33336813644863073</c:v>
                </c:pt>
                <c:pt idx="30">
                  <c:v>0.36001540043197711</c:v>
                </c:pt>
                <c:pt idx="31">
                  <c:v>0.32273082787817975</c:v>
                </c:pt>
                <c:pt idx="32">
                  <c:v>0.45137984239225504</c:v>
                </c:pt>
                <c:pt idx="33">
                  <c:v>0.58337304458902572</c:v>
                </c:pt>
                <c:pt idx="34">
                  <c:v>0.54926365826315582</c:v>
                </c:pt>
                <c:pt idx="35">
                  <c:v>0.54980680698525664</c:v>
                </c:pt>
                <c:pt idx="36">
                  <c:v>0.61402440340027109</c:v>
                </c:pt>
                <c:pt idx="37">
                  <c:v>0.61380214400581123</c:v>
                </c:pt>
                <c:pt idx="38">
                  <c:v>0.71693203621636492</c:v>
                </c:pt>
                <c:pt idx="39">
                  <c:v>0.78862530059767066</c:v>
                </c:pt>
                <c:pt idx="40">
                  <c:v>0.79281473630187893</c:v>
                </c:pt>
                <c:pt idx="41">
                  <c:v>0.68110064604048492</c:v>
                </c:pt>
                <c:pt idx="42">
                  <c:v>0.51588753689879607</c:v>
                </c:pt>
                <c:pt idx="43">
                  <c:v>0.51880135757141965</c:v>
                </c:pt>
                <c:pt idx="44">
                  <c:v>0.70292355966873066</c:v>
                </c:pt>
                <c:pt idx="45">
                  <c:v>0.82530768778944852</c:v>
                </c:pt>
                <c:pt idx="46">
                  <c:v>0.94453766116090443</c:v>
                </c:pt>
                <c:pt idx="47">
                  <c:v>0.97306393874377184</c:v>
                </c:pt>
                <c:pt idx="48">
                  <c:v>1.1142680264469376</c:v>
                </c:pt>
                <c:pt idx="49">
                  <c:v>1.2319336617049976</c:v>
                </c:pt>
                <c:pt idx="50">
                  <c:v>1.1884178862188803</c:v>
                </c:pt>
                <c:pt idx="51">
                  <c:v>1.194442956209842</c:v>
                </c:pt>
                <c:pt idx="52">
                  <c:v>1.1942387327872606</c:v>
                </c:pt>
                <c:pt idx="53">
                  <c:v>1.046758212216869</c:v>
                </c:pt>
                <c:pt idx="54">
                  <c:v>0.94467305054039774</c:v>
                </c:pt>
                <c:pt idx="55">
                  <c:v>1.2543977913770341</c:v>
                </c:pt>
                <c:pt idx="56">
                  <c:v>1.4013606186996395</c:v>
                </c:pt>
                <c:pt idx="57">
                  <c:v>1.1966072279845319</c:v>
                </c:pt>
                <c:pt idx="58">
                  <c:v>1.2848017261709512</c:v>
                </c:pt>
                <c:pt idx="59">
                  <c:v>1.3701036576542354</c:v>
                </c:pt>
                <c:pt idx="60">
                  <c:v>1.4417629603680728</c:v>
                </c:pt>
              </c:numCache>
            </c:numRef>
          </c:val>
          <c:smooth val="0"/>
          <c:extLst>
            <c:ext xmlns:c16="http://schemas.microsoft.com/office/drawing/2014/chart" uri="{C3380CC4-5D6E-409C-BE32-E72D297353CC}">
              <c16:uniqueId val="{00000001-FD9C-094E-87A5-4964B2B1B710}"/>
            </c:ext>
          </c:extLst>
        </c:ser>
        <c:ser>
          <c:idx val="2"/>
          <c:order val="2"/>
          <c:tx>
            <c:strRef>
              <c:f>'Macro-outlook 27'!$BD$2</c:f>
              <c:strCache>
                <c:ptCount val="1"/>
                <c:pt idx="0">
                  <c:v>S&amp;P 500 ex Mag 7</c:v>
                </c:pt>
              </c:strCache>
            </c:strRef>
          </c:tx>
          <c:spPr>
            <a:ln w="22225" cap="rnd">
              <a:solidFill>
                <a:srgbClr val="7F95AB"/>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27'!$BD$3:$BD$63</c:f>
              <c:numCache>
                <c:formatCode>0.00%;\-0.00%;0.00%</c:formatCode>
                <c:ptCount val="61"/>
                <c:pt idx="0">
                  <c:v>0</c:v>
                </c:pt>
                <c:pt idx="1">
                  <c:v>5.0254432858503506E-2</c:v>
                </c:pt>
                <c:pt idx="2">
                  <c:v>2.3426761286707176E-2</c:v>
                </c:pt>
                <c:pt idx="3">
                  <c:v>8.552623882282262E-2</c:v>
                </c:pt>
                <c:pt idx="4">
                  <c:v>3.7254597685521862E-2</c:v>
                </c:pt>
                <c:pt idx="5">
                  <c:v>1.1786496486669851E-2</c:v>
                </c:pt>
                <c:pt idx="6">
                  <c:v>3.5335900096422179E-2</c:v>
                </c:pt>
                <c:pt idx="7">
                  <c:v>-2.8991795921993191E-2</c:v>
                </c:pt>
                <c:pt idx="8">
                  <c:v>-1.5771219979145323E-2</c:v>
                </c:pt>
                <c:pt idx="9">
                  <c:v>-9.7083686527319912E-2</c:v>
                </c:pt>
                <c:pt idx="10">
                  <c:v>-3.4658356055490169E-2</c:v>
                </c:pt>
                <c:pt idx="11">
                  <c:v>-7.0108846727717E-2</c:v>
                </c:pt>
                <c:pt idx="12">
                  <c:v>-0.15170920058132664</c:v>
                </c:pt>
                <c:pt idx="13">
                  <c:v>-5.7701086021313186E-2</c:v>
                </c:pt>
                <c:pt idx="14">
                  <c:v>2.8722710996738066E-3</c:v>
                </c:pt>
                <c:pt idx="15">
                  <c:v>-3.7609014451644218E-2</c:v>
                </c:pt>
                <c:pt idx="16">
                  <c:v>2.0297271764571079E-3</c:v>
                </c:pt>
                <c:pt idx="17">
                  <c:v>-3.5920883072478538E-2</c:v>
                </c:pt>
                <c:pt idx="18">
                  <c:v>-2.7703923574379341E-2</c:v>
                </c:pt>
                <c:pt idx="19">
                  <c:v>-1.5118317844469487E-2</c:v>
                </c:pt>
                <c:pt idx="20">
                  <c:v>-4.9213620430158755E-2</c:v>
                </c:pt>
                <c:pt idx="21">
                  <c:v>7.7400432988290468E-3</c:v>
                </c:pt>
                <c:pt idx="22">
                  <c:v>3.6943727105366087E-2</c:v>
                </c:pt>
                <c:pt idx="23">
                  <c:v>1.6029462180829013E-2</c:v>
                </c:pt>
                <c:pt idx="24">
                  <c:v>-2.9124347493894032E-2</c:v>
                </c:pt>
                <c:pt idx="25">
                  <c:v>-5.4491596025278866E-2</c:v>
                </c:pt>
                <c:pt idx="26">
                  <c:v>2.1006275275907704E-2</c:v>
                </c:pt>
                <c:pt idx="27">
                  <c:v>7.2458352168910833E-2</c:v>
                </c:pt>
                <c:pt idx="28">
                  <c:v>8.8446950076577435E-2</c:v>
                </c:pt>
                <c:pt idx="29">
                  <c:v>0.13155667455297704</c:v>
                </c:pt>
                <c:pt idx="30">
                  <c:v>0.17170316421755505</c:v>
                </c:pt>
                <c:pt idx="31">
                  <c:v>0.11631753780049303</c:v>
                </c:pt>
                <c:pt idx="32">
                  <c:v>0.14758171843541867</c:v>
                </c:pt>
                <c:pt idx="33">
                  <c:v>0.15934981678384208</c:v>
                </c:pt>
                <c:pt idx="34">
                  <c:v>0.19032589688031321</c:v>
                </c:pt>
                <c:pt idx="35">
                  <c:v>0.22945633079914329</c:v>
                </c:pt>
                <c:pt idx="36">
                  <c:v>0.24299556884877638</c:v>
                </c:pt>
                <c:pt idx="37">
                  <c:v>0.22529041221520796</c:v>
                </c:pt>
                <c:pt idx="38">
                  <c:v>0.29184538550565398</c:v>
                </c:pt>
                <c:pt idx="39">
                  <c:v>0.22024866741233051</c:v>
                </c:pt>
                <c:pt idx="40">
                  <c:v>0.26835496790683711</c:v>
                </c:pt>
                <c:pt idx="41">
                  <c:v>0.27985508863584863</c:v>
                </c:pt>
                <c:pt idx="42">
                  <c:v>0.22969637680342081</c:v>
                </c:pt>
                <c:pt idx="43">
                  <c:v>0.21535528434118723</c:v>
                </c:pt>
                <c:pt idx="44">
                  <c:v>0.25902100885408541</c:v>
                </c:pt>
                <c:pt idx="45">
                  <c:v>0.3084728491356159</c:v>
                </c:pt>
                <c:pt idx="46">
                  <c:v>0.30948817971971576</c:v>
                </c:pt>
                <c:pt idx="47">
                  <c:v>0.33738835683272161</c:v>
                </c:pt>
                <c:pt idx="48">
                  <c:v>0.36009894381977992</c:v>
                </c:pt>
                <c:pt idx="49">
                  <c:v>0.36704489225624992</c:v>
                </c:pt>
                <c:pt idx="50">
                  <c:v>0.3847447655624292</c:v>
                </c:pt>
                <c:pt idx="51">
                  <c:v>0.38155854210093465</c:v>
                </c:pt>
                <c:pt idx="52">
                  <c:v>0.41079035045145673</c:v>
                </c:pt>
                <c:pt idx="53">
                  <c:v>0.44262925460085789</c:v>
                </c:pt>
                <c:pt idx="54">
                  <c:v>0.36841063975761057</c:v>
                </c:pt>
                <c:pt idx="55">
                  <c:v>0.47432997972796809</c:v>
                </c:pt>
                <c:pt idx="56">
                  <c:v>0.53960428375576774</c:v>
                </c:pt>
                <c:pt idx="57">
                  <c:v>0.58468331586284972</c:v>
                </c:pt>
                <c:pt idx="58">
                  <c:v>0.55142259429053797</c:v>
                </c:pt>
                <c:pt idx="59">
                  <c:v>0.58340168133769166</c:v>
                </c:pt>
                <c:pt idx="60">
                  <c:v>0.5832945471175548</c:v>
                </c:pt>
              </c:numCache>
            </c:numRef>
          </c:val>
          <c:smooth val="0"/>
          <c:extLst>
            <c:ext xmlns:c16="http://schemas.microsoft.com/office/drawing/2014/chart" uri="{C3380CC4-5D6E-409C-BE32-E72D297353CC}">
              <c16:uniqueId val="{00000002-FD9C-094E-87A5-4964B2B1B710}"/>
            </c:ext>
          </c:extLst>
        </c:ser>
        <c:dLbls>
          <c:showLegendKey val="0"/>
          <c:showVal val="0"/>
          <c:showCatName val="0"/>
          <c:showSerName val="0"/>
          <c:showPercent val="0"/>
          <c:showBubbleSize val="0"/>
        </c:dLbls>
        <c:smooth val="0"/>
        <c:axId val="643063232"/>
        <c:axId val="643060992"/>
      </c:lineChart>
      <c:dateAx>
        <c:axId val="64306323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43060992"/>
        <c:crosses val="autoZero"/>
        <c:auto val="1"/>
        <c:lblOffset val="100"/>
        <c:baseTimeUnit val="days"/>
        <c:majorUnit val="12"/>
        <c:majorTimeUnit val="months"/>
        <c:minorUnit val="4"/>
        <c:minorTimeUnit val="months"/>
      </c:dateAx>
      <c:valAx>
        <c:axId val="643060992"/>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43063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a:latin typeface="Arial"/>
              </a:rPr>
              <a:t>Inflation Is Pushing Central Banks Back Into Rate Hikes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'Macro-outlook 27'!$B$3</c:f>
              <c:strCache>
                <c:ptCount val="1"/>
                <c:pt idx="0">
                  <c:v>BOJ</c:v>
                </c:pt>
              </c:strCache>
            </c:strRef>
          </c:tx>
          <c:spPr>
            <a:ln w="22225" cap="rnd">
              <a:solidFill>
                <a:srgbClr val="0B2C48"/>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27'!$B$4:$B$20</c:f>
              <c:numCache>
                <c:formatCode>General</c:formatCode>
                <c:ptCount val="17"/>
                <c:pt idx="0">
                  <c:v>1.25</c:v>
                </c:pt>
                <c:pt idx="1">
                  <c:v>1</c:v>
                </c:pt>
                <c:pt idx="2">
                  <c:v>1</c:v>
                </c:pt>
                <c:pt idx="3">
                  <c:v>0.75</c:v>
                </c:pt>
                <c:pt idx="4">
                  <c:v>0.75</c:v>
                </c:pt>
                <c:pt idx="5">
                  <c:v>0.75</c:v>
                </c:pt>
                <c:pt idx="6">
                  <c:v>0.75</c:v>
                </c:pt>
                <c:pt idx="7">
                  <c:v>0.5</c:v>
                </c:pt>
                <c:pt idx="8">
                  <c:v>0.5</c:v>
                </c:pt>
                <c:pt idx="9">
                  <c:v>0.5</c:v>
                </c:pt>
                <c:pt idx="10">
                  <c:v>0.5</c:v>
                </c:pt>
                <c:pt idx="11">
                  <c:v>0.5</c:v>
                </c:pt>
                <c:pt idx="12">
                  <c:v>0.5</c:v>
                </c:pt>
                <c:pt idx="13">
                  <c:v>0.5</c:v>
                </c:pt>
                <c:pt idx="14">
                  <c:v>0.25</c:v>
                </c:pt>
                <c:pt idx="15">
                  <c:v>0.25</c:v>
                </c:pt>
                <c:pt idx="16">
                  <c:v>0.25</c:v>
                </c:pt>
              </c:numCache>
            </c:numRef>
          </c:val>
          <c:smooth val="0"/>
          <c:extLst>
            <c:ext xmlns:c16="http://schemas.microsoft.com/office/drawing/2014/chart" uri="{C3380CC4-5D6E-409C-BE32-E72D297353CC}">
              <c16:uniqueId val="{00000000-C352-E742-B8FF-E23D49486CDD}"/>
            </c:ext>
          </c:extLst>
        </c:ser>
        <c:ser>
          <c:idx val="1"/>
          <c:order val="1"/>
          <c:tx>
            <c:strRef>
              <c:f>'Macro-outlook 27'!$C$3</c:f>
              <c:strCache>
                <c:ptCount val="1"/>
                <c:pt idx="0">
                  <c:v>FED</c:v>
                </c:pt>
              </c:strCache>
            </c:strRef>
          </c:tx>
          <c:spPr>
            <a:ln w="22225" cap="rnd">
              <a:solidFill>
                <a:srgbClr val="C9A03A"/>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27'!$C$4:$C$20</c:f>
              <c:numCache>
                <c:formatCode>General</c:formatCode>
                <c:ptCount val="17"/>
                <c:pt idx="0">
                  <c:v>3.88</c:v>
                </c:pt>
                <c:pt idx="1">
                  <c:v>3.63</c:v>
                </c:pt>
                <c:pt idx="2">
                  <c:v>3.63</c:v>
                </c:pt>
                <c:pt idx="3">
                  <c:v>3.63</c:v>
                </c:pt>
                <c:pt idx="4">
                  <c:v>3.63</c:v>
                </c:pt>
                <c:pt idx="5">
                  <c:v>3.63</c:v>
                </c:pt>
                <c:pt idx="6">
                  <c:v>3.63</c:v>
                </c:pt>
                <c:pt idx="7">
                  <c:v>3.88</c:v>
                </c:pt>
                <c:pt idx="8">
                  <c:v>4.13</c:v>
                </c:pt>
                <c:pt idx="9">
                  <c:v>4.38</c:v>
                </c:pt>
                <c:pt idx="10">
                  <c:v>4.38</c:v>
                </c:pt>
                <c:pt idx="11">
                  <c:v>4.38</c:v>
                </c:pt>
                <c:pt idx="12">
                  <c:v>4.38</c:v>
                </c:pt>
                <c:pt idx="13">
                  <c:v>4.38</c:v>
                </c:pt>
                <c:pt idx="14">
                  <c:v>4.38</c:v>
                </c:pt>
                <c:pt idx="15">
                  <c:v>4.63</c:v>
                </c:pt>
                <c:pt idx="16">
                  <c:v>4.88</c:v>
                </c:pt>
              </c:numCache>
            </c:numRef>
          </c:val>
          <c:smooth val="0"/>
          <c:extLst>
            <c:ext xmlns:c16="http://schemas.microsoft.com/office/drawing/2014/chart" uri="{C3380CC4-5D6E-409C-BE32-E72D297353CC}">
              <c16:uniqueId val="{00000001-C352-E742-B8FF-E23D49486CDD}"/>
            </c:ext>
          </c:extLst>
        </c:ser>
        <c:ser>
          <c:idx val="2"/>
          <c:order val="2"/>
          <c:tx>
            <c:strRef>
              <c:f>'Macro-outlook 27'!$D$3</c:f>
              <c:strCache>
                <c:ptCount val="1"/>
                <c:pt idx="0">
                  <c:v>RBA</c:v>
                </c:pt>
              </c:strCache>
            </c:strRef>
          </c:tx>
          <c:spPr>
            <a:ln w="22225" cap="rnd">
              <a:solidFill>
                <a:srgbClr val="7F95AB"/>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27'!$D$4:$D$20</c:f>
              <c:numCache>
                <c:formatCode>General</c:formatCode>
                <c:ptCount val="17"/>
                <c:pt idx="0">
                  <c:v>4.3499999999999996</c:v>
                </c:pt>
                <c:pt idx="1">
                  <c:v>4.3499999999999996</c:v>
                </c:pt>
                <c:pt idx="2">
                  <c:v>4.3499999999999996</c:v>
                </c:pt>
                <c:pt idx="3">
                  <c:v>4.0999999999999996</c:v>
                </c:pt>
                <c:pt idx="4">
                  <c:v>3.85</c:v>
                </c:pt>
                <c:pt idx="5">
                  <c:v>3.6</c:v>
                </c:pt>
                <c:pt idx="6">
                  <c:v>3.6</c:v>
                </c:pt>
                <c:pt idx="7">
                  <c:v>3.6</c:v>
                </c:pt>
                <c:pt idx="8">
                  <c:v>3.6</c:v>
                </c:pt>
                <c:pt idx="9">
                  <c:v>3.85</c:v>
                </c:pt>
                <c:pt idx="10">
                  <c:v>3.85</c:v>
                </c:pt>
                <c:pt idx="11">
                  <c:v>4.0999999999999996</c:v>
                </c:pt>
                <c:pt idx="12">
                  <c:v>4.0999999999999996</c:v>
                </c:pt>
                <c:pt idx="13">
                  <c:v>4.3499999999999996</c:v>
                </c:pt>
                <c:pt idx="14">
                  <c:v>4.3499999999999996</c:v>
                </c:pt>
                <c:pt idx="15">
                  <c:v>4.3499999999999996</c:v>
                </c:pt>
                <c:pt idx="16">
                  <c:v>4.3499999999999996</c:v>
                </c:pt>
              </c:numCache>
            </c:numRef>
          </c:val>
          <c:smooth val="0"/>
          <c:extLst>
            <c:ext xmlns:c16="http://schemas.microsoft.com/office/drawing/2014/chart" uri="{C3380CC4-5D6E-409C-BE32-E72D297353CC}">
              <c16:uniqueId val="{00000002-C352-E742-B8FF-E23D49486CDD}"/>
            </c:ext>
          </c:extLst>
        </c:ser>
        <c:ser>
          <c:idx val="3"/>
          <c:order val="3"/>
          <c:tx>
            <c:strRef>
              <c:f>'Macro-outlook 27'!$E$3</c:f>
              <c:strCache>
                <c:ptCount val="1"/>
                <c:pt idx="0">
                  <c:v>ECB</c:v>
                </c:pt>
              </c:strCache>
            </c:strRef>
          </c:tx>
          <c:spPr>
            <a:ln w="22225" cap="rnd">
              <a:solidFill>
                <a:srgbClr val="3A8D8C"/>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27'!$E$4:$E$20</c:f>
              <c:numCache>
                <c:formatCode>General</c:formatCode>
                <c:ptCount val="17"/>
                <c:pt idx="0">
                  <c:v>2.5</c:v>
                </c:pt>
                <c:pt idx="1">
                  <c:v>2.25</c:v>
                </c:pt>
                <c:pt idx="2">
                  <c:v>2.25</c:v>
                </c:pt>
                <c:pt idx="3">
                  <c:v>2</c:v>
                </c:pt>
                <c:pt idx="4">
                  <c:v>2</c:v>
                </c:pt>
                <c:pt idx="5">
                  <c:v>2</c:v>
                </c:pt>
                <c:pt idx="6">
                  <c:v>2</c:v>
                </c:pt>
                <c:pt idx="7">
                  <c:v>2</c:v>
                </c:pt>
                <c:pt idx="8">
                  <c:v>2</c:v>
                </c:pt>
                <c:pt idx="9">
                  <c:v>2</c:v>
                </c:pt>
                <c:pt idx="10">
                  <c:v>2</c:v>
                </c:pt>
                <c:pt idx="11">
                  <c:v>2.25</c:v>
                </c:pt>
                <c:pt idx="12">
                  <c:v>2.5</c:v>
                </c:pt>
                <c:pt idx="13">
                  <c:v>2.75</c:v>
                </c:pt>
                <c:pt idx="14">
                  <c:v>3</c:v>
                </c:pt>
                <c:pt idx="15">
                  <c:v>3.25</c:v>
                </c:pt>
                <c:pt idx="16">
                  <c:v>3.5</c:v>
                </c:pt>
              </c:numCache>
            </c:numRef>
          </c:val>
          <c:smooth val="0"/>
          <c:extLst>
            <c:ext xmlns:c16="http://schemas.microsoft.com/office/drawing/2014/chart" uri="{C3380CC4-5D6E-409C-BE32-E72D297353CC}">
              <c16:uniqueId val="{00000003-C352-E742-B8FF-E23D49486CDD}"/>
            </c:ext>
          </c:extLst>
        </c:ser>
        <c:dLbls>
          <c:showLegendKey val="0"/>
          <c:showVal val="0"/>
          <c:showCatName val="0"/>
          <c:showSerName val="0"/>
          <c:showPercent val="0"/>
          <c:showBubbleSize val="0"/>
        </c:dLbls>
        <c:smooth val="0"/>
        <c:axId val="603908608"/>
        <c:axId val="619273216"/>
      </c:lineChart>
      <c:dateAx>
        <c:axId val="603908608"/>
        <c:scaling>
          <c:orientation val="minMax"/>
        </c:scaling>
        <c:delete val="0"/>
        <c:axPos val="b"/>
        <c:numFmt formatCode="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19273216"/>
        <c:crosses val="autoZero"/>
        <c:auto val="1"/>
        <c:lblOffset val="100"/>
        <c:baseTimeUnit val="months"/>
        <c:majorUnit val="12"/>
        <c:majorTimeUnit val="months"/>
        <c:minorUnit val="6"/>
        <c:minorTimeUnit val="months"/>
      </c:dateAx>
      <c:valAx>
        <c:axId val="61927321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03908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chemeClr val="tx1"/>
                </a:solidFill>
                <a:latin typeface="Arial"/>
                <a:ea typeface="+mn-ea"/>
                <a:cs typeface="+mn-cs"/>
              </a:defRPr>
            </a:pPr>
            <a:r>
              <a:rPr lang="en-AU" sz="1000" b="1">
                <a:solidFill>
                  <a:schemeClr val="tx1"/>
                </a:solidFill>
                <a:latin typeface="Arial"/>
              </a:rPr>
              <a:t>Six Months After Hormuz Closed, Tankers Still Aren't Moving and Oil Is Near $100</a:t>
            </a:r>
          </a:p>
        </c:rich>
      </c:tx>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1"/>
          <c:order val="1"/>
          <c:tx>
            <c:strRef>
              <c:f>'Macro-outlook 27'!$BP$2</c:f>
              <c:strCache>
                <c:ptCount val="1"/>
                <c:pt idx="0">
                  <c:v>Tankers Passing Through the Strait of Hormuz (monthly total)</c:v>
                </c:pt>
              </c:strCache>
            </c:strRef>
          </c:tx>
          <c:spPr>
            <a:ln w="22225" cap="rnd">
              <a:solidFill>
                <a:srgbClr val="0B2C48"/>
              </a:solidFill>
              <a:round/>
            </a:ln>
            <a:effectLst/>
          </c:spPr>
          <c:marker>
            <c:symbol val="none"/>
          </c:marker>
          <c:cat>
            <c:numRef>
              <c:f>'Macro-outlook 27'!$BN$31:$BN$63</c:f>
              <c:numCache>
                <c:formatCode>m/d/yy</c:formatCode>
                <c:ptCount val="33"/>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pt idx="18">
                  <c:v>45839</c:v>
                </c:pt>
                <c:pt idx="19">
                  <c:v>45870</c:v>
                </c:pt>
                <c:pt idx="20">
                  <c:v>45901</c:v>
                </c:pt>
                <c:pt idx="21">
                  <c:v>45931</c:v>
                </c:pt>
                <c:pt idx="22">
                  <c:v>45962</c:v>
                </c:pt>
                <c:pt idx="23">
                  <c:v>45992</c:v>
                </c:pt>
                <c:pt idx="24">
                  <c:v>46023</c:v>
                </c:pt>
                <c:pt idx="25">
                  <c:v>46054</c:v>
                </c:pt>
                <c:pt idx="26">
                  <c:v>46082</c:v>
                </c:pt>
                <c:pt idx="27">
                  <c:v>46113</c:v>
                </c:pt>
                <c:pt idx="28">
                  <c:v>46143</c:v>
                </c:pt>
                <c:pt idx="29">
                  <c:v>46174</c:v>
                </c:pt>
                <c:pt idx="30">
                  <c:v>46204</c:v>
                </c:pt>
                <c:pt idx="31">
                  <c:v>46235</c:v>
                </c:pt>
                <c:pt idx="32">
                  <c:v>46266</c:v>
                </c:pt>
              </c:numCache>
            </c:numRef>
          </c:cat>
          <c:val>
            <c:numRef>
              <c:f>'Macro-outlook 27'!$BP$31:$BP$63</c:f>
              <c:numCache>
                <c:formatCode>General</c:formatCode>
                <c:ptCount val="33"/>
                <c:pt idx="0">
                  <c:v>1368</c:v>
                </c:pt>
                <c:pt idx="1">
                  <c:v>1222</c:v>
                </c:pt>
                <c:pt idx="2">
                  <c:v>1729</c:v>
                </c:pt>
                <c:pt idx="3">
                  <c:v>1799</c:v>
                </c:pt>
                <c:pt idx="4">
                  <c:v>1920</c:v>
                </c:pt>
                <c:pt idx="5">
                  <c:v>1852</c:v>
                </c:pt>
                <c:pt idx="6">
                  <c:v>1909</c:v>
                </c:pt>
                <c:pt idx="7">
                  <c:v>1693</c:v>
                </c:pt>
                <c:pt idx="8">
                  <c:v>1790</c:v>
                </c:pt>
                <c:pt idx="9">
                  <c:v>1561</c:v>
                </c:pt>
                <c:pt idx="10">
                  <c:v>1405</c:v>
                </c:pt>
                <c:pt idx="11">
                  <c:v>1230</c:v>
                </c:pt>
                <c:pt idx="12">
                  <c:v>1235</c:v>
                </c:pt>
                <c:pt idx="13">
                  <c:v>1155</c:v>
                </c:pt>
                <c:pt idx="14">
                  <c:v>1492</c:v>
                </c:pt>
                <c:pt idx="15">
                  <c:v>1729</c:v>
                </c:pt>
                <c:pt idx="16">
                  <c:v>1797</c:v>
                </c:pt>
                <c:pt idx="17">
                  <c:v>1725</c:v>
                </c:pt>
                <c:pt idx="18">
                  <c:v>1681</c:v>
                </c:pt>
                <c:pt idx="19">
                  <c:v>1647</c:v>
                </c:pt>
                <c:pt idx="20">
                  <c:v>1495</c:v>
                </c:pt>
                <c:pt idx="21">
                  <c:v>1534</c:v>
                </c:pt>
                <c:pt idx="22">
                  <c:v>1152</c:v>
                </c:pt>
                <c:pt idx="23">
                  <c:v>943</c:v>
                </c:pt>
                <c:pt idx="24">
                  <c:v>965</c:v>
                </c:pt>
                <c:pt idx="25">
                  <c:v>1217</c:v>
                </c:pt>
                <c:pt idx="26">
                  <c:v>29</c:v>
                </c:pt>
                <c:pt idx="27">
                  <c:v>95</c:v>
                </c:pt>
                <c:pt idx="28">
                  <c:v>40</c:v>
                </c:pt>
                <c:pt idx="29">
                  <c:v>162</c:v>
                </c:pt>
                <c:pt idx="30">
                  <c:v>148</c:v>
                </c:pt>
                <c:pt idx="31">
                  <c:v>58</c:v>
                </c:pt>
                <c:pt idx="32">
                  <c:v>19</c:v>
                </c:pt>
              </c:numCache>
            </c:numRef>
          </c:val>
          <c:smooth val="0"/>
          <c:extLst>
            <c:ext xmlns:c16="http://schemas.microsoft.com/office/drawing/2014/chart" uri="{C3380CC4-5D6E-409C-BE32-E72D297353CC}">
              <c16:uniqueId val="{00000000-067C-6840-B818-2B868BCA2996}"/>
            </c:ext>
          </c:extLst>
        </c:ser>
        <c:dLbls>
          <c:showLegendKey val="0"/>
          <c:showVal val="0"/>
          <c:showCatName val="0"/>
          <c:showSerName val="0"/>
          <c:showPercent val="0"/>
          <c:showBubbleSize val="0"/>
        </c:dLbls>
        <c:marker val="1"/>
        <c:smooth val="0"/>
        <c:axId val="662115584"/>
        <c:axId val="600185856"/>
      </c:lineChart>
      <c:lineChart>
        <c:grouping val="standard"/>
        <c:varyColors val="0"/>
        <c:ser>
          <c:idx val="0"/>
          <c:order val="0"/>
          <c:tx>
            <c:strRef>
              <c:f>'Macro-outlook 27'!$BO$2</c:f>
              <c:strCache>
                <c:ptCount val="1"/>
                <c:pt idx="0">
                  <c:v>Brent Crude Oil Price (US$ per barrel)</c:v>
                </c:pt>
              </c:strCache>
            </c:strRef>
          </c:tx>
          <c:spPr>
            <a:ln w="22225" cap="rnd">
              <a:solidFill>
                <a:srgbClr val="C9A03A"/>
              </a:solidFill>
              <a:round/>
            </a:ln>
            <a:effectLst/>
          </c:spPr>
          <c:marker>
            <c:symbol val="none"/>
          </c:marker>
          <c:cat>
            <c:numRef>
              <c:f>'Macro-outlook 27'!$BN$31:$BN$63</c:f>
              <c:numCache>
                <c:formatCode>m/d/yy</c:formatCode>
                <c:ptCount val="33"/>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pt idx="18">
                  <c:v>45839</c:v>
                </c:pt>
                <c:pt idx="19">
                  <c:v>45870</c:v>
                </c:pt>
                <c:pt idx="20">
                  <c:v>45901</c:v>
                </c:pt>
                <c:pt idx="21">
                  <c:v>45931</c:v>
                </c:pt>
                <c:pt idx="22">
                  <c:v>45962</c:v>
                </c:pt>
                <c:pt idx="23">
                  <c:v>45992</c:v>
                </c:pt>
                <c:pt idx="24">
                  <c:v>46023</c:v>
                </c:pt>
                <c:pt idx="25">
                  <c:v>46054</c:v>
                </c:pt>
                <c:pt idx="26">
                  <c:v>46082</c:v>
                </c:pt>
                <c:pt idx="27">
                  <c:v>46113</c:v>
                </c:pt>
                <c:pt idx="28">
                  <c:v>46143</c:v>
                </c:pt>
                <c:pt idx="29">
                  <c:v>46174</c:v>
                </c:pt>
                <c:pt idx="30">
                  <c:v>46204</c:v>
                </c:pt>
                <c:pt idx="31">
                  <c:v>46235</c:v>
                </c:pt>
                <c:pt idx="32">
                  <c:v>46266</c:v>
                </c:pt>
              </c:numCache>
            </c:numRef>
          </c:cat>
          <c:val>
            <c:numRef>
              <c:f>'Macro-outlook 27'!$BO$31:$BO$63</c:f>
              <c:numCache>
                <c:formatCode>_(* #,##0.00_);_(* \(#,##0.00\);_(* "-"??_);_(@_)</c:formatCode>
                <c:ptCount val="33"/>
                <c:pt idx="0">
                  <c:v>81.709999999999994</c:v>
                </c:pt>
                <c:pt idx="1">
                  <c:v>83.62</c:v>
                </c:pt>
                <c:pt idx="2">
                  <c:v>87.48</c:v>
                </c:pt>
                <c:pt idx="3">
                  <c:v>87.86</c:v>
                </c:pt>
                <c:pt idx="4">
                  <c:v>81.62</c:v>
                </c:pt>
                <c:pt idx="5">
                  <c:v>86.41</c:v>
                </c:pt>
                <c:pt idx="6">
                  <c:v>80.72</c:v>
                </c:pt>
                <c:pt idx="7">
                  <c:v>78.8</c:v>
                </c:pt>
                <c:pt idx="8">
                  <c:v>71.77</c:v>
                </c:pt>
                <c:pt idx="9">
                  <c:v>73.16</c:v>
                </c:pt>
                <c:pt idx="10">
                  <c:v>72.94</c:v>
                </c:pt>
                <c:pt idx="11">
                  <c:v>74.64</c:v>
                </c:pt>
                <c:pt idx="12">
                  <c:v>76.760000000000005</c:v>
                </c:pt>
                <c:pt idx="13">
                  <c:v>73.180000000000007</c:v>
                </c:pt>
                <c:pt idx="14">
                  <c:v>74.739999999999995</c:v>
                </c:pt>
                <c:pt idx="15">
                  <c:v>63.12</c:v>
                </c:pt>
                <c:pt idx="16">
                  <c:v>63.9</c:v>
                </c:pt>
                <c:pt idx="17">
                  <c:v>67.61</c:v>
                </c:pt>
                <c:pt idx="18">
                  <c:v>72.53</c:v>
                </c:pt>
                <c:pt idx="19">
                  <c:v>68.12</c:v>
                </c:pt>
                <c:pt idx="20">
                  <c:v>67.02</c:v>
                </c:pt>
                <c:pt idx="21">
                  <c:v>65.069999999999993</c:v>
                </c:pt>
                <c:pt idx="22">
                  <c:v>63.2</c:v>
                </c:pt>
                <c:pt idx="23">
                  <c:v>60.85</c:v>
                </c:pt>
                <c:pt idx="24">
                  <c:v>70.69</c:v>
                </c:pt>
                <c:pt idx="25">
                  <c:v>72.48</c:v>
                </c:pt>
                <c:pt idx="26">
                  <c:v>118.35</c:v>
                </c:pt>
                <c:pt idx="27">
                  <c:v>114.01</c:v>
                </c:pt>
                <c:pt idx="28">
                  <c:v>92.05</c:v>
                </c:pt>
                <c:pt idx="29">
                  <c:v>72.92</c:v>
                </c:pt>
                <c:pt idx="30">
                  <c:v>90.12</c:v>
                </c:pt>
                <c:pt idx="31">
                  <c:v>90.49</c:v>
                </c:pt>
                <c:pt idx="32">
                  <c:v>102.31</c:v>
                </c:pt>
              </c:numCache>
            </c:numRef>
          </c:val>
          <c:smooth val="0"/>
          <c:extLst>
            <c:ext xmlns:c16="http://schemas.microsoft.com/office/drawing/2014/chart" uri="{C3380CC4-5D6E-409C-BE32-E72D297353CC}">
              <c16:uniqueId val="{00000001-067C-6840-B818-2B868BCA2996}"/>
            </c:ext>
          </c:extLst>
        </c:ser>
        <c:dLbls>
          <c:showLegendKey val="0"/>
          <c:showVal val="0"/>
          <c:showCatName val="0"/>
          <c:showSerName val="0"/>
          <c:showPercent val="0"/>
          <c:showBubbleSize val="0"/>
        </c:dLbls>
        <c:marker val="1"/>
        <c:smooth val="0"/>
        <c:axId val="662011200"/>
        <c:axId val="662119168"/>
      </c:lineChart>
      <c:dateAx>
        <c:axId val="66211558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00185856"/>
        <c:crosses val="autoZero"/>
        <c:auto val="1"/>
        <c:lblOffset val="100"/>
        <c:baseTimeUnit val="months"/>
        <c:majorUnit val="12"/>
        <c:majorTimeUnit val="months"/>
      </c:dateAx>
      <c:valAx>
        <c:axId val="60018585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62115584"/>
        <c:crosses val="autoZero"/>
        <c:crossBetween val="between"/>
      </c:valAx>
      <c:valAx>
        <c:axId val="662119168"/>
        <c:scaling>
          <c:orientation val="minMax"/>
          <c:max val="130"/>
          <c:min val="5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62011200"/>
        <c:crosses val="max"/>
        <c:crossBetween val="between"/>
      </c:valAx>
      <c:dateAx>
        <c:axId val="662011200"/>
        <c:scaling>
          <c:orientation val="minMax"/>
        </c:scaling>
        <c:delete val="1"/>
        <c:axPos val="b"/>
        <c:numFmt formatCode="m/d/yy" sourceLinked="1"/>
        <c:majorTickMark val="out"/>
        <c:minorTickMark val="none"/>
        <c:tickLblPos val="low"/>
        <c:crossAx val="662119168"/>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CPI Eases to 3.5% in July as Q2 GDP Beats Consensus at 0.4% Q/Q</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Australia!$B$4</c:f>
              <c:strCache>
                <c:ptCount val="1"/>
                <c:pt idx="0">
                  <c:v>GDP Y/Y</c:v>
                </c:pt>
              </c:strCache>
            </c:strRef>
          </c:tx>
          <c:spPr>
            <a:solidFill>
              <a:srgbClr val="0B2C48"/>
            </a:solidFill>
            <a:ln>
              <a:noFill/>
            </a:ln>
            <a:effectLst/>
          </c:spPr>
          <c:invertIfNegative val="0"/>
          <c:cat>
            <c:numRef>
              <c:f>Australia!$A$5:$A$25</c:f>
              <c:numCache>
                <c:formatCode>m/d/yy</c:formatCode>
                <c:ptCount val="21"/>
                <c:pt idx="0">
                  <c:v>46113</c:v>
                </c:pt>
                <c:pt idx="1">
                  <c:v>46023</c:v>
                </c:pt>
                <c:pt idx="2">
                  <c:v>45931</c:v>
                </c:pt>
                <c:pt idx="3">
                  <c:v>45839</c:v>
                </c:pt>
                <c:pt idx="4">
                  <c:v>45748</c:v>
                </c:pt>
                <c:pt idx="5">
                  <c:v>45658</c:v>
                </c:pt>
                <c:pt idx="6">
                  <c:v>45566</c:v>
                </c:pt>
                <c:pt idx="7">
                  <c:v>45474</c:v>
                </c:pt>
                <c:pt idx="8">
                  <c:v>45383</c:v>
                </c:pt>
                <c:pt idx="9">
                  <c:v>45292</c:v>
                </c:pt>
                <c:pt idx="10">
                  <c:v>45200</c:v>
                </c:pt>
                <c:pt idx="11">
                  <c:v>45108</c:v>
                </c:pt>
                <c:pt idx="12">
                  <c:v>45017</c:v>
                </c:pt>
                <c:pt idx="13">
                  <c:v>44927</c:v>
                </c:pt>
                <c:pt idx="14">
                  <c:v>44835</c:v>
                </c:pt>
                <c:pt idx="15">
                  <c:v>44743</c:v>
                </c:pt>
                <c:pt idx="16">
                  <c:v>44652</c:v>
                </c:pt>
                <c:pt idx="17">
                  <c:v>44562</c:v>
                </c:pt>
                <c:pt idx="18">
                  <c:v>44470</c:v>
                </c:pt>
                <c:pt idx="19">
                  <c:v>44378</c:v>
                </c:pt>
                <c:pt idx="20">
                  <c:v>44287</c:v>
                </c:pt>
              </c:numCache>
            </c:numRef>
          </c:cat>
          <c:val>
            <c:numRef>
              <c:f>Australia!$B$5:$B$25</c:f>
              <c:numCache>
                <c:formatCode>General</c:formatCode>
                <c:ptCount val="21"/>
                <c:pt idx="0">
                  <c:v>2.1</c:v>
                </c:pt>
                <c:pt idx="1">
                  <c:v>2.5</c:v>
                </c:pt>
                <c:pt idx="2">
                  <c:v>2.6</c:v>
                </c:pt>
                <c:pt idx="3">
                  <c:v>2.1</c:v>
                </c:pt>
                <c:pt idx="4">
                  <c:v>1.9</c:v>
                </c:pt>
                <c:pt idx="5">
                  <c:v>1.3</c:v>
                </c:pt>
                <c:pt idx="6">
                  <c:v>1.2</c:v>
                </c:pt>
                <c:pt idx="7">
                  <c:v>0.8</c:v>
                </c:pt>
                <c:pt idx="8">
                  <c:v>0.9</c:v>
                </c:pt>
                <c:pt idx="9">
                  <c:v>1.1000000000000001</c:v>
                </c:pt>
                <c:pt idx="10">
                  <c:v>1.3</c:v>
                </c:pt>
                <c:pt idx="11">
                  <c:v>2.2000000000000002</c:v>
                </c:pt>
                <c:pt idx="12">
                  <c:v>2.2000000000000002</c:v>
                </c:pt>
                <c:pt idx="13">
                  <c:v>2.8</c:v>
                </c:pt>
                <c:pt idx="14">
                  <c:v>3.3</c:v>
                </c:pt>
                <c:pt idx="15">
                  <c:v>6.1</c:v>
                </c:pt>
                <c:pt idx="16">
                  <c:v>3.8</c:v>
                </c:pt>
                <c:pt idx="17">
                  <c:v>3.6</c:v>
                </c:pt>
                <c:pt idx="18">
                  <c:v>4.9000000000000004</c:v>
                </c:pt>
                <c:pt idx="19">
                  <c:v>4.7</c:v>
                </c:pt>
                <c:pt idx="20">
                  <c:v>10.199999999999999</c:v>
                </c:pt>
              </c:numCache>
            </c:numRef>
          </c:val>
          <c:extLst>
            <c:ext xmlns:c16="http://schemas.microsoft.com/office/drawing/2014/chart" uri="{C3380CC4-5D6E-409C-BE32-E72D297353CC}">
              <c16:uniqueId val="{00000000-739C-574C-9F03-9740BF80BEA1}"/>
            </c:ext>
          </c:extLst>
        </c:ser>
        <c:dLbls>
          <c:showLegendKey val="0"/>
          <c:showVal val="0"/>
          <c:showCatName val="0"/>
          <c:showSerName val="0"/>
          <c:showPercent val="0"/>
          <c:showBubbleSize val="0"/>
        </c:dLbls>
        <c:gapWidth val="219"/>
        <c:overlap val="-27"/>
        <c:axId val="1694113216"/>
        <c:axId val="1729832128"/>
      </c:barChart>
      <c:lineChart>
        <c:grouping val="standard"/>
        <c:varyColors val="0"/>
        <c:ser>
          <c:idx val="1"/>
          <c:order val="1"/>
          <c:tx>
            <c:strRef>
              <c:f>Australia!$C$4</c:f>
              <c:strCache>
                <c:ptCount val="1"/>
                <c:pt idx="0">
                  <c:v>CPI Y/Y</c:v>
                </c:pt>
              </c:strCache>
            </c:strRef>
          </c:tx>
          <c:spPr>
            <a:ln w="22225" cap="rnd">
              <a:solidFill>
                <a:srgbClr val="C9A03A"/>
              </a:solidFill>
              <a:round/>
            </a:ln>
            <a:effectLst/>
          </c:spPr>
          <c:marker>
            <c:symbol val="none"/>
          </c:marker>
          <c:cat>
            <c:numRef>
              <c:f>Australia!$A$5:$A$25</c:f>
              <c:numCache>
                <c:formatCode>m/d/yy</c:formatCode>
                <c:ptCount val="21"/>
                <c:pt idx="0">
                  <c:v>46113</c:v>
                </c:pt>
                <c:pt idx="1">
                  <c:v>46023</c:v>
                </c:pt>
                <c:pt idx="2">
                  <c:v>45931</c:v>
                </c:pt>
                <c:pt idx="3">
                  <c:v>45839</c:v>
                </c:pt>
                <c:pt idx="4">
                  <c:v>45748</c:v>
                </c:pt>
                <c:pt idx="5">
                  <c:v>45658</c:v>
                </c:pt>
                <c:pt idx="6">
                  <c:v>45566</c:v>
                </c:pt>
                <c:pt idx="7">
                  <c:v>45474</c:v>
                </c:pt>
                <c:pt idx="8">
                  <c:v>45383</c:v>
                </c:pt>
                <c:pt idx="9">
                  <c:v>45292</c:v>
                </c:pt>
                <c:pt idx="10">
                  <c:v>45200</c:v>
                </c:pt>
                <c:pt idx="11">
                  <c:v>45108</c:v>
                </c:pt>
                <c:pt idx="12">
                  <c:v>45017</c:v>
                </c:pt>
                <c:pt idx="13">
                  <c:v>44927</c:v>
                </c:pt>
                <c:pt idx="14">
                  <c:v>44835</c:v>
                </c:pt>
                <c:pt idx="15">
                  <c:v>44743</c:v>
                </c:pt>
                <c:pt idx="16">
                  <c:v>44652</c:v>
                </c:pt>
                <c:pt idx="17">
                  <c:v>44562</c:v>
                </c:pt>
                <c:pt idx="18">
                  <c:v>44470</c:v>
                </c:pt>
                <c:pt idx="19">
                  <c:v>44378</c:v>
                </c:pt>
                <c:pt idx="20">
                  <c:v>44287</c:v>
                </c:pt>
              </c:numCache>
            </c:numRef>
          </c:cat>
          <c:val>
            <c:numRef>
              <c:f>Australia!$C$5:$C$25</c:f>
              <c:numCache>
                <c:formatCode>General</c:formatCode>
                <c:ptCount val="21"/>
                <c:pt idx="0">
                  <c:v>4</c:v>
                </c:pt>
                <c:pt idx="1">
                  <c:v>4.0999999999999996</c:v>
                </c:pt>
                <c:pt idx="2">
                  <c:v>3.6</c:v>
                </c:pt>
                <c:pt idx="3">
                  <c:v>3.2</c:v>
                </c:pt>
                <c:pt idx="4">
                  <c:v>2.1</c:v>
                </c:pt>
                <c:pt idx="5">
                  <c:v>2.4</c:v>
                </c:pt>
                <c:pt idx="6">
                  <c:v>2.4</c:v>
                </c:pt>
                <c:pt idx="7">
                  <c:v>2.9</c:v>
                </c:pt>
                <c:pt idx="8">
                  <c:v>3.8</c:v>
                </c:pt>
                <c:pt idx="9">
                  <c:v>3.6</c:v>
                </c:pt>
                <c:pt idx="10">
                  <c:v>4.0999999999999996</c:v>
                </c:pt>
                <c:pt idx="11">
                  <c:v>5.3</c:v>
                </c:pt>
                <c:pt idx="12">
                  <c:v>6</c:v>
                </c:pt>
                <c:pt idx="13">
                  <c:v>7</c:v>
                </c:pt>
                <c:pt idx="14">
                  <c:v>7.9</c:v>
                </c:pt>
                <c:pt idx="15">
                  <c:v>7.3</c:v>
                </c:pt>
                <c:pt idx="16">
                  <c:v>6.2</c:v>
                </c:pt>
                <c:pt idx="17">
                  <c:v>5.0999999999999996</c:v>
                </c:pt>
                <c:pt idx="18">
                  <c:v>3.5</c:v>
                </c:pt>
                <c:pt idx="19">
                  <c:v>3.1</c:v>
                </c:pt>
                <c:pt idx="20">
                  <c:v>3.8</c:v>
                </c:pt>
              </c:numCache>
            </c:numRef>
          </c:val>
          <c:smooth val="0"/>
          <c:extLst>
            <c:ext xmlns:c16="http://schemas.microsoft.com/office/drawing/2014/chart" uri="{C3380CC4-5D6E-409C-BE32-E72D297353CC}">
              <c16:uniqueId val="{00000001-739C-574C-9F03-9740BF80BEA1}"/>
            </c:ext>
          </c:extLst>
        </c:ser>
        <c:dLbls>
          <c:showLegendKey val="0"/>
          <c:showVal val="0"/>
          <c:showCatName val="0"/>
          <c:showSerName val="0"/>
          <c:showPercent val="0"/>
          <c:showBubbleSize val="0"/>
        </c:dLbls>
        <c:marker val="1"/>
        <c:smooth val="0"/>
        <c:axId val="1694113216"/>
        <c:axId val="1729832128"/>
      </c:lineChart>
      <c:dateAx>
        <c:axId val="169411321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29832128"/>
        <c:crosses val="autoZero"/>
        <c:auto val="1"/>
        <c:lblOffset val="100"/>
        <c:baseTimeUnit val="months"/>
        <c:majorUnit val="12"/>
        <c:majorTimeUnit val="months"/>
      </c:dateAx>
      <c:valAx>
        <c:axId val="172983212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6941132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The ASX 200 Has Outrun a Flat AUD, Leaving Valuations Stretched at 18.1x</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Australia!$Q$4</c:f>
              <c:strCache>
                <c:ptCount val="1"/>
                <c:pt idx="0">
                  <c:v>S&amp;P ASX200</c:v>
                </c:pt>
              </c:strCache>
            </c:strRef>
          </c:tx>
          <c:spPr>
            <a:ln w="22225" cap="rnd">
              <a:solidFill>
                <a:srgbClr val="0B2C48"/>
              </a:solidFill>
              <a:round/>
            </a:ln>
            <a:effectLst/>
          </c:spPr>
          <c:marker>
            <c:symbol val="none"/>
          </c:marker>
          <c:cat>
            <c:numRef>
              <c:f>Australia!$P$5:$P$65</c:f>
              <c:numCache>
                <c:formatCode>dd/m/yyyy;@</c:formatCode>
                <c:ptCount val="61"/>
                <c:pt idx="0">
                  <c:v>44440</c:v>
                </c:pt>
                <c:pt idx="1">
                  <c:v>44470</c:v>
                </c:pt>
                <c:pt idx="2">
                  <c:v>44501</c:v>
                </c:pt>
                <c:pt idx="3">
                  <c:v>44531</c:v>
                </c:pt>
                <c:pt idx="4">
                  <c:v>44565</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45384</c:v>
                </c:pt>
                <c:pt idx="32">
                  <c:v>45413</c:v>
                </c:pt>
                <c:pt idx="33">
                  <c:v>45446</c:v>
                </c:pt>
                <c:pt idx="34">
                  <c:v>45474</c:v>
                </c:pt>
                <c:pt idx="35">
                  <c:v>45505</c:v>
                </c:pt>
                <c:pt idx="36">
                  <c:v>45537</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45901</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Australia!$Q$5:$Q$65</c:f>
              <c:numCache>
                <c:formatCode>_(* #,##0.00_);_(* \(#,##0.00\);_(* "-"??_);_(@_)</c:formatCode>
                <c:ptCount val="61"/>
                <c:pt idx="0">
                  <c:v>100</c:v>
                </c:pt>
                <c:pt idx="1">
                  <c:v>99.88407299309894</c:v>
                </c:pt>
                <c:pt idx="2">
                  <c:v>98.960748479310439</c:v>
                </c:pt>
                <c:pt idx="3">
                  <c:v>101.53296418537411</c:v>
                </c:pt>
                <c:pt idx="4">
                  <c:v>95.081967213114766</c:v>
                </c:pt>
                <c:pt idx="5">
                  <c:v>96.138948746624493</c:v>
                </c:pt>
                <c:pt idx="6">
                  <c:v>102.28308011238101</c:v>
                </c:pt>
                <c:pt idx="7">
                  <c:v>101.40203485993291</c:v>
                </c:pt>
                <c:pt idx="8">
                  <c:v>98.349744960584815</c:v>
                </c:pt>
                <c:pt idx="9">
                  <c:v>89.578844003164136</c:v>
                </c:pt>
                <c:pt idx="10">
                  <c:v>94.721911568151441</c:v>
                </c:pt>
                <c:pt idx="11">
                  <c:v>95.289271978396656</c:v>
                </c:pt>
                <c:pt idx="12">
                  <c:v>88.298191538692336</c:v>
                </c:pt>
                <c:pt idx="13">
                  <c:v>93.60764845476119</c:v>
                </c:pt>
                <c:pt idx="14">
                  <c:v>99.34535337279398</c:v>
                </c:pt>
                <c:pt idx="15">
                  <c:v>95.997108644063175</c:v>
                </c:pt>
                <c:pt idx="16">
                  <c:v>101.97075911731812</c:v>
                </c:pt>
                <c:pt idx="17">
                  <c:v>98.993480810670746</c:v>
                </c:pt>
                <c:pt idx="18">
                  <c:v>97.894220015820636</c:v>
                </c:pt>
                <c:pt idx="19">
                  <c:v>99.686315157797111</c:v>
                </c:pt>
                <c:pt idx="20">
                  <c:v>96.714492239709784</c:v>
                </c:pt>
                <c:pt idx="21">
                  <c:v>98.242001036523831</c:v>
                </c:pt>
                <c:pt idx="22">
                  <c:v>101.0665284634898</c:v>
                </c:pt>
                <c:pt idx="23">
                  <c:v>99.633125119336626</c:v>
                </c:pt>
                <c:pt idx="24">
                  <c:v>96.132129510924429</c:v>
                </c:pt>
                <c:pt idx="25">
                  <c:v>92.478383022830798</c:v>
                </c:pt>
                <c:pt idx="26">
                  <c:v>96.659938354109272</c:v>
                </c:pt>
                <c:pt idx="27">
                  <c:v>103.52690870407247</c:v>
                </c:pt>
                <c:pt idx="28">
                  <c:v>104.75300728294373</c:v>
                </c:pt>
                <c:pt idx="29">
                  <c:v>104.99849976814599</c:v>
                </c:pt>
                <c:pt idx="30">
                  <c:v>107.70164479965085</c:v>
                </c:pt>
                <c:pt idx="31">
                  <c:v>104.52660865770164</c:v>
                </c:pt>
                <c:pt idx="32">
                  <c:v>105.03941518234636</c:v>
                </c:pt>
                <c:pt idx="33">
                  <c:v>105.93682660047463</c:v>
                </c:pt>
                <c:pt idx="34">
                  <c:v>110.36660211123537</c:v>
                </c:pt>
                <c:pt idx="35">
                  <c:v>110.36114672267531</c:v>
                </c:pt>
                <c:pt idx="36">
                  <c:v>112.78743078475763</c:v>
                </c:pt>
                <c:pt idx="37">
                  <c:v>111.28992662502387</c:v>
                </c:pt>
                <c:pt idx="38">
                  <c:v>115.05687242573855</c:v>
                </c:pt>
                <c:pt idx="39">
                  <c:v>111.27765200076377</c:v>
                </c:pt>
                <c:pt idx="40">
                  <c:v>116.36752952729057</c:v>
                </c:pt>
                <c:pt idx="41">
                  <c:v>111.45904367038541</c:v>
                </c:pt>
                <c:pt idx="42">
                  <c:v>106.97198657974414</c:v>
                </c:pt>
                <c:pt idx="43">
                  <c:v>110.82894629169964</c:v>
                </c:pt>
                <c:pt idx="44">
                  <c:v>115.03641471863834</c:v>
                </c:pt>
                <c:pt idx="45">
                  <c:v>116.50391424129182</c:v>
                </c:pt>
                <c:pt idx="46">
                  <c:v>119.23842775701698</c:v>
                </c:pt>
                <c:pt idx="47">
                  <c:v>122.37936772046589</c:v>
                </c:pt>
                <c:pt idx="48">
                  <c:v>120.68410572543029</c:v>
                </c:pt>
                <c:pt idx="49">
                  <c:v>121.13553912877444</c:v>
                </c:pt>
                <c:pt idx="50">
                  <c:v>117.48315648782086</c:v>
                </c:pt>
                <c:pt idx="51">
                  <c:v>118.8497313221134</c:v>
                </c:pt>
                <c:pt idx="52">
                  <c:v>120.96096669485286</c:v>
                </c:pt>
                <c:pt idx="53">
                  <c:v>125.45484302119418</c:v>
                </c:pt>
                <c:pt idx="54">
                  <c:v>115.67878672158425</c:v>
                </c:pt>
                <c:pt idx="55">
                  <c:v>118.18826545920733</c:v>
                </c:pt>
                <c:pt idx="56">
                  <c:v>119.08704072447563</c:v>
                </c:pt>
                <c:pt idx="57">
                  <c:v>119.72804888028151</c:v>
                </c:pt>
                <c:pt idx="58">
                  <c:v>122.42983006464634</c:v>
                </c:pt>
                <c:pt idx="59">
                  <c:v>123.7827664275388</c:v>
                </c:pt>
                <c:pt idx="60">
                  <c:v>122.82670958239001</c:v>
                </c:pt>
              </c:numCache>
            </c:numRef>
          </c:val>
          <c:smooth val="0"/>
          <c:extLst>
            <c:ext xmlns:c16="http://schemas.microsoft.com/office/drawing/2014/chart" uri="{C3380CC4-5D6E-409C-BE32-E72D297353CC}">
              <c16:uniqueId val="{00000000-DC4A-AF4B-B67A-0BBAEBE3AAF2}"/>
            </c:ext>
          </c:extLst>
        </c:ser>
        <c:ser>
          <c:idx val="1"/>
          <c:order val="1"/>
          <c:tx>
            <c:strRef>
              <c:f>Australia!$R$4</c:f>
              <c:strCache>
                <c:ptCount val="1"/>
                <c:pt idx="0">
                  <c:v>AUD/USD</c:v>
                </c:pt>
              </c:strCache>
            </c:strRef>
          </c:tx>
          <c:spPr>
            <a:ln w="22225" cap="rnd">
              <a:solidFill>
                <a:srgbClr val="C9A03A"/>
              </a:solidFill>
              <a:round/>
            </a:ln>
            <a:effectLst/>
          </c:spPr>
          <c:marker>
            <c:symbol val="none"/>
          </c:marker>
          <c:cat>
            <c:numRef>
              <c:f>Australia!$P$5:$P$65</c:f>
              <c:numCache>
                <c:formatCode>dd/m/yyyy;@</c:formatCode>
                <c:ptCount val="61"/>
                <c:pt idx="0">
                  <c:v>44440</c:v>
                </c:pt>
                <c:pt idx="1">
                  <c:v>44470</c:v>
                </c:pt>
                <c:pt idx="2">
                  <c:v>44501</c:v>
                </c:pt>
                <c:pt idx="3">
                  <c:v>44531</c:v>
                </c:pt>
                <c:pt idx="4">
                  <c:v>44565</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45384</c:v>
                </c:pt>
                <c:pt idx="32">
                  <c:v>45413</c:v>
                </c:pt>
                <c:pt idx="33">
                  <c:v>45446</c:v>
                </c:pt>
                <c:pt idx="34">
                  <c:v>45474</c:v>
                </c:pt>
                <c:pt idx="35">
                  <c:v>45505</c:v>
                </c:pt>
                <c:pt idx="36">
                  <c:v>45537</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45901</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Australia!$R$5:$R$65</c:f>
              <c:numCache>
                <c:formatCode>_(* #,##0.00_);_(* \(#,##0.00\);_(* "-"??_);_(@_)</c:formatCode>
                <c:ptCount val="61"/>
                <c:pt idx="0">
                  <c:v>100</c:v>
                </c:pt>
                <c:pt idx="1">
                  <c:v>104.0824799335732</c:v>
                </c:pt>
                <c:pt idx="2">
                  <c:v>98.57459175200664</c:v>
                </c:pt>
                <c:pt idx="3">
                  <c:v>100.4705231109881</c:v>
                </c:pt>
                <c:pt idx="4">
                  <c:v>97.758095765291998</c:v>
                </c:pt>
                <c:pt idx="5">
                  <c:v>100.49820094104622</c:v>
                </c:pt>
                <c:pt idx="6">
                  <c:v>103.51508441738166</c:v>
                </c:pt>
                <c:pt idx="7">
                  <c:v>97.744256850262943</c:v>
                </c:pt>
                <c:pt idx="8">
                  <c:v>99.26653750345973</c:v>
                </c:pt>
                <c:pt idx="9">
                  <c:v>95.50235261555494</c:v>
                </c:pt>
                <c:pt idx="10">
                  <c:v>96.664821477996128</c:v>
                </c:pt>
                <c:pt idx="11">
                  <c:v>94.644339883753105</c:v>
                </c:pt>
                <c:pt idx="12">
                  <c:v>88.596734016053134</c:v>
                </c:pt>
                <c:pt idx="13">
                  <c:v>88.52753944090783</c:v>
                </c:pt>
                <c:pt idx="14">
                  <c:v>93.910877387212835</c:v>
                </c:pt>
                <c:pt idx="15">
                  <c:v>94.284528092997505</c:v>
                </c:pt>
                <c:pt idx="16">
                  <c:v>97.619706615001391</c:v>
                </c:pt>
                <c:pt idx="17">
                  <c:v>93.108220315527262</c:v>
                </c:pt>
                <c:pt idx="18">
                  <c:v>92.513146969277599</c:v>
                </c:pt>
                <c:pt idx="19">
                  <c:v>91.433711597010785</c:v>
                </c:pt>
                <c:pt idx="20">
                  <c:v>89.95294768890119</c:v>
                </c:pt>
                <c:pt idx="21">
                  <c:v>92.250207583725427</c:v>
                </c:pt>
                <c:pt idx="22">
                  <c:v>92.99750899529478</c:v>
                </c:pt>
                <c:pt idx="23">
                  <c:v>89.717686133407142</c:v>
                </c:pt>
                <c:pt idx="24">
                  <c:v>89.039579296983106</c:v>
                </c:pt>
                <c:pt idx="25">
                  <c:v>87.683365624135064</c:v>
                </c:pt>
                <c:pt idx="26">
                  <c:v>91.40603376695266</c:v>
                </c:pt>
                <c:pt idx="27">
                  <c:v>94.24301134791034</c:v>
                </c:pt>
                <c:pt idx="28">
                  <c:v>90.852477165790191</c:v>
                </c:pt>
                <c:pt idx="29">
                  <c:v>89.883753113755873</c:v>
                </c:pt>
                <c:pt idx="30">
                  <c:v>90.243564904511487</c:v>
                </c:pt>
                <c:pt idx="31">
                  <c:v>89.565458068087452</c:v>
                </c:pt>
                <c:pt idx="32">
                  <c:v>92.056462773318572</c:v>
                </c:pt>
                <c:pt idx="33">
                  <c:v>92.264046498754496</c:v>
                </c:pt>
                <c:pt idx="34">
                  <c:v>90.50650429006366</c:v>
                </c:pt>
                <c:pt idx="35">
                  <c:v>93.606421256573483</c:v>
                </c:pt>
                <c:pt idx="36">
                  <c:v>95.668419595903686</c:v>
                </c:pt>
                <c:pt idx="37">
                  <c:v>91.073899806255184</c:v>
                </c:pt>
                <c:pt idx="38">
                  <c:v>90.091336839191811</c:v>
                </c:pt>
                <c:pt idx="39">
                  <c:v>85.621367284804876</c:v>
                </c:pt>
                <c:pt idx="40">
                  <c:v>85.953501245502352</c:v>
                </c:pt>
                <c:pt idx="41">
                  <c:v>85.898145585386104</c:v>
                </c:pt>
                <c:pt idx="42">
                  <c:v>86.437863271519518</c:v>
                </c:pt>
                <c:pt idx="43">
                  <c:v>88.596734016053134</c:v>
                </c:pt>
                <c:pt idx="44">
                  <c:v>88.998062551895927</c:v>
                </c:pt>
                <c:pt idx="45">
                  <c:v>91.060060891226129</c:v>
                </c:pt>
                <c:pt idx="46">
                  <c:v>88.92886797675061</c:v>
                </c:pt>
                <c:pt idx="47">
                  <c:v>90.492665375034591</c:v>
                </c:pt>
                <c:pt idx="48">
                  <c:v>91.489067257127047</c:v>
                </c:pt>
                <c:pt idx="49">
                  <c:v>90.548021035150839</c:v>
                </c:pt>
                <c:pt idx="50">
                  <c:v>90.603376695267073</c:v>
                </c:pt>
                <c:pt idx="51">
                  <c:v>92.333241073899814</c:v>
                </c:pt>
                <c:pt idx="52">
                  <c:v>96.305009687240513</c:v>
                </c:pt>
                <c:pt idx="53">
                  <c:v>98.436202601716033</c:v>
                </c:pt>
                <c:pt idx="54">
                  <c:v>95.488513700525871</c:v>
                </c:pt>
                <c:pt idx="55">
                  <c:v>99.626349294215331</c:v>
                </c:pt>
                <c:pt idx="56">
                  <c:v>99.404926653750351</c:v>
                </c:pt>
                <c:pt idx="57">
                  <c:v>95.751453086078044</c:v>
                </c:pt>
                <c:pt idx="58">
                  <c:v>97.163022419042335</c:v>
                </c:pt>
                <c:pt idx="59">
                  <c:v>99.169665098256303</c:v>
                </c:pt>
                <c:pt idx="60">
                  <c:v>99.737060614447827</c:v>
                </c:pt>
              </c:numCache>
            </c:numRef>
          </c:val>
          <c:smooth val="0"/>
          <c:extLst>
            <c:ext xmlns:c16="http://schemas.microsoft.com/office/drawing/2014/chart" uri="{C3380CC4-5D6E-409C-BE32-E72D297353CC}">
              <c16:uniqueId val="{00000001-DC4A-AF4B-B67A-0BBAEBE3AAF2}"/>
            </c:ext>
          </c:extLst>
        </c:ser>
        <c:dLbls>
          <c:showLegendKey val="0"/>
          <c:showVal val="0"/>
          <c:showCatName val="0"/>
          <c:showSerName val="0"/>
          <c:showPercent val="0"/>
          <c:showBubbleSize val="0"/>
        </c:dLbls>
        <c:smooth val="0"/>
        <c:axId val="1731898304"/>
        <c:axId val="1729837056"/>
      </c:lineChart>
      <c:dateAx>
        <c:axId val="173189830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29837056"/>
        <c:crosses val="autoZero"/>
        <c:auto val="1"/>
        <c:lblOffset val="100"/>
        <c:baseTimeUnit val="months"/>
        <c:majorUnit val="12"/>
        <c:majorTimeUnit val="months"/>
      </c:dateAx>
      <c:valAx>
        <c:axId val="172983705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318983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r>
              <a:rPr lang="en-AU" sz="1000" b="1" i="0" u="none" strike="noStrike" kern="1200" spc="-1" baseline="0">
                <a:solidFill>
                  <a:srgbClr val="000000"/>
                </a:solidFill>
                <a:latin typeface="Arial"/>
              </a:rPr>
              <a:t>The 10-Year ACGB Yield Hits a 15-Year High Above a 4.35% Cash Rate</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Australia!$AF$4</c:f>
              <c:strCache>
                <c:ptCount val="1"/>
                <c:pt idx="0">
                  <c:v>RBA Cash Rate (%)</c:v>
                </c:pt>
              </c:strCache>
            </c:strRef>
          </c:tx>
          <c:spPr>
            <a:ln w="22225" cap="rnd">
              <a:solidFill>
                <a:srgbClr val="0B2C48"/>
              </a:solidFill>
              <a:round/>
            </a:ln>
            <a:effectLst/>
          </c:spPr>
          <c:marker>
            <c:symbol val="none"/>
          </c:marker>
          <c:cat>
            <c:numRef>
              <c:f>Australia!$AE$5:$AE$125</c:f>
              <c:numCache>
                <c:formatCode>mmm\-yy</c:formatCode>
                <c:ptCount val="121"/>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pt idx="107">
                  <c:v>45839</c:v>
                </c:pt>
                <c:pt idx="108">
                  <c:v>45870</c:v>
                </c:pt>
                <c:pt idx="109">
                  <c:v>45901</c:v>
                </c:pt>
                <c:pt idx="110">
                  <c:v>45931</c:v>
                </c:pt>
                <c:pt idx="111">
                  <c:v>45962</c:v>
                </c:pt>
                <c:pt idx="112">
                  <c:v>45992</c:v>
                </c:pt>
                <c:pt idx="113">
                  <c:v>46023</c:v>
                </c:pt>
                <c:pt idx="114">
                  <c:v>46054</c:v>
                </c:pt>
                <c:pt idx="115">
                  <c:v>46082</c:v>
                </c:pt>
                <c:pt idx="116">
                  <c:v>46113</c:v>
                </c:pt>
                <c:pt idx="117">
                  <c:v>46143</c:v>
                </c:pt>
                <c:pt idx="118">
                  <c:v>46174</c:v>
                </c:pt>
                <c:pt idx="119">
                  <c:v>46204</c:v>
                </c:pt>
                <c:pt idx="120">
                  <c:v>46235</c:v>
                </c:pt>
              </c:numCache>
            </c:numRef>
          </c:cat>
          <c:val>
            <c:numRef>
              <c:f>Australia!$AF$5:$AF$125</c:f>
              <c:numCache>
                <c:formatCode>0.00</c:formatCode>
                <c:ptCount val="121"/>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pt idx="20">
                  <c:v>1.5</c:v>
                </c:pt>
                <c:pt idx="21">
                  <c:v>1.5</c:v>
                </c:pt>
                <c:pt idx="22">
                  <c:v>1.5</c:v>
                </c:pt>
                <c:pt idx="23">
                  <c:v>1.5</c:v>
                </c:pt>
                <c:pt idx="24">
                  <c:v>1.5</c:v>
                </c:pt>
                <c:pt idx="25">
                  <c:v>1.5</c:v>
                </c:pt>
                <c:pt idx="26">
                  <c:v>1.5</c:v>
                </c:pt>
                <c:pt idx="27">
                  <c:v>1.5</c:v>
                </c:pt>
                <c:pt idx="28">
                  <c:v>1.5</c:v>
                </c:pt>
                <c:pt idx="29">
                  <c:v>1.5</c:v>
                </c:pt>
                <c:pt idx="30">
                  <c:v>1.5</c:v>
                </c:pt>
                <c:pt idx="31">
                  <c:v>1.5</c:v>
                </c:pt>
                <c:pt idx="32">
                  <c:v>1.5</c:v>
                </c:pt>
                <c:pt idx="33">
                  <c:v>1.5</c:v>
                </c:pt>
                <c:pt idx="34">
                  <c:v>1.25</c:v>
                </c:pt>
                <c:pt idx="35">
                  <c:v>1</c:v>
                </c:pt>
                <c:pt idx="36">
                  <c:v>1</c:v>
                </c:pt>
                <c:pt idx="37">
                  <c:v>1</c:v>
                </c:pt>
                <c:pt idx="38">
                  <c:v>0.75</c:v>
                </c:pt>
                <c:pt idx="39">
                  <c:v>0.75</c:v>
                </c:pt>
                <c:pt idx="40">
                  <c:v>0.75</c:v>
                </c:pt>
                <c:pt idx="41">
                  <c:v>0.75</c:v>
                </c:pt>
                <c:pt idx="42">
                  <c:v>0.75</c:v>
                </c:pt>
                <c:pt idx="43">
                  <c:v>0.5</c:v>
                </c:pt>
                <c:pt idx="44">
                  <c:v>0.25</c:v>
                </c:pt>
                <c:pt idx="45">
                  <c:v>0.25</c:v>
                </c:pt>
                <c:pt idx="46">
                  <c:v>0.25</c:v>
                </c:pt>
                <c:pt idx="47">
                  <c:v>0.25</c:v>
                </c:pt>
                <c:pt idx="48">
                  <c:v>0.25</c:v>
                </c:pt>
                <c:pt idx="49">
                  <c:v>0.25</c:v>
                </c:pt>
                <c:pt idx="50">
                  <c:v>0.25</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0.35</c:v>
                </c:pt>
                <c:pt idx="70">
                  <c:v>0.85</c:v>
                </c:pt>
                <c:pt idx="71">
                  <c:v>1.35</c:v>
                </c:pt>
                <c:pt idx="72">
                  <c:v>1.85</c:v>
                </c:pt>
                <c:pt idx="73">
                  <c:v>2.35</c:v>
                </c:pt>
                <c:pt idx="74">
                  <c:v>2.6</c:v>
                </c:pt>
                <c:pt idx="75">
                  <c:v>2.85</c:v>
                </c:pt>
                <c:pt idx="76">
                  <c:v>3.1</c:v>
                </c:pt>
                <c:pt idx="77">
                  <c:v>3.1</c:v>
                </c:pt>
                <c:pt idx="78">
                  <c:v>3.35</c:v>
                </c:pt>
                <c:pt idx="79">
                  <c:v>3.6</c:v>
                </c:pt>
                <c:pt idx="80">
                  <c:v>3.6</c:v>
                </c:pt>
                <c:pt idx="81">
                  <c:v>3.85</c:v>
                </c:pt>
                <c:pt idx="82">
                  <c:v>4.0999999999999996</c:v>
                </c:pt>
                <c:pt idx="83">
                  <c:v>4.0999999999999996</c:v>
                </c:pt>
                <c:pt idx="84">
                  <c:v>4.0999999999999996</c:v>
                </c:pt>
                <c:pt idx="85">
                  <c:v>4.0999999999999996</c:v>
                </c:pt>
                <c:pt idx="86">
                  <c:v>4.0999999999999996</c:v>
                </c:pt>
                <c:pt idx="87">
                  <c:v>4.3499999999999996</c:v>
                </c:pt>
                <c:pt idx="88">
                  <c:v>4.3499999999999996</c:v>
                </c:pt>
                <c:pt idx="89">
                  <c:v>4.3499999999999996</c:v>
                </c:pt>
                <c:pt idx="90">
                  <c:v>4.3499999999999996</c:v>
                </c:pt>
                <c:pt idx="91">
                  <c:v>4.3499999999999996</c:v>
                </c:pt>
                <c:pt idx="92">
                  <c:v>4.3499999999999996</c:v>
                </c:pt>
                <c:pt idx="93">
                  <c:v>4.3499999999999996</c:v>
                </c:pt>
                <c:pt idx="94">
                  <c:v>4.3499999999999996</c:v>
                </c:pt>
                <c:pt idx="95">
                  <c:v>4.3499999999999996</c:v>
                </c:pt>
                <c:pt idx="96">
                  <c:v>4.3499999999999996</c:v>
                </c:pt>
                <c:pt idx="97">
                  <c:v>4.3499999999999996</c:v>
                </c:pt>
                <c:pt idx="98">
                  <c:v>4.3499999999999996</c:v>
                </c:pt>
                <c:pt idx="99">
                  <c:v>4.3499999999999996</c:v>
                </c:pt>
                <c:pt idx="100">
                  <c:v>4.3499999999999996</c:v>
                </c:pt>
                <c:pt idx="101">
                  <c:v>4.3499999999999996</c:v>
                </c:pt>
                <c:pt idx="102">
                  <c:v>4.0999999999999996</c:v>
                </c:pt>
                <c:pt idx="103">
                  <c:v>4.0999999999999996</c:v>
                </c:pt>
                <c:pt idx="104">
                  <c:v>4.0999999999999996</c:v>
                </c:pt>
                <c:pt idx="105">
                  <c:v>3.85</c:v>
                </c:pt>
                <c:pt idx="106">
                  <c:v>3.85</c:v>
                </c:pt>
                <c:pt idx="107">
                  <c:v>3.85</c:v>
                </c:pt>
                <c:pt idx="108">
                  <c:v>3.6</c:v>
                </c:pt>
                <c:pt idx="109">
                  <c:v>3.6</c:v>
                </c:pt>
                <c:pt idx="110">
                  <c:v>3.6</c:v>
                </c:pt>
                <c:pt idx="111">
                  <c:v>3.6</c:v>
                </c:pt>
                <c:pt idx="112">
                  <c:v>3.6</c:v>
                </c:pt>
                <c:pt idx="113">
                  <c:v>3.6</c:v>
                </c:pt>
                <c:pt idx="114">
                  <c:v>3.85</c:v>
                </c:pt>
                <c:pt idx="115">
                  <c:v>4.0999999999999996</c:v>
                </c:pt>
                <c:pt idx="116">
                  <c:v>4.0999999999999996</c:v>
                </c:pt>
                <c:pt idx="117">
                  <c:v>4.3499999999999996</c:v>
                </c:pt>
                <c:pt idx="118">
                  <c:v>4.3499999999999996</c:v>
                </c:pt>
                <c:pt idx="119">
                  <c:v>4.3499999999999996</c:v>
                </c:pt>
                <c:pt idx="120">
                  <c:v>4.3499999999999996</c:v>
                </c:pt>
              </c:numCache>
            </c:numRef>
          </c:val>
          <c:smooth val="0"/>
          <c:extLst>
            <c:ext xmlns:c16="http://schemas.microsoft.com/office/drawing/2014/chart" uri="{C3380CC4-5D6E-409C-BE32-E72D297353CC}">
              <c16:uniqueId val="{00000000-23F1-D640-AB2E-8EFDD3EAB8FA}"/>
            </c:ext>
          </c:extLst>
        </c:ser>
        <c:ser>
          <c:idx val="1"/>
          <c:order val="1"/>
          <c:tx>
            <c:strRef>
              <c:f>Australia!$AG$4</c:f>
              <c:strCache>
                <c:ptCount val="1"/>
                <c:pt idx="0">
                  <c:v>10Y ACGB Yield (%)</c:v>
                </c:pt>
              </c:strCache>
            </c:strRef>
          </c:tx>
          <c:spPr>
            <a:ln w="22225" cap="rnd">
              <a:solidFill>
                <a:srgbClr val="C9A03A"/>
              </a:solidFill>
              <a:round/>
            </a:ln>
            <a:effectLst/>
          </c:spPr>
          <c:marker>
            <c:symbol val="none"/>
          </c:marker>
          <c:cat>
            <c:numRef>
              <c:f>Australia!$AE$5:$AE$125</c:f>
              <c:numCache>
                <c:formatCode>mmm\-yy</c:formatCode>
                <c:ptCount val="121"/>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pt idx="107">
                  <c:v>45839</c:v>
                </c:pt>
                <c:pt idx="108">
                  <c:v>45870</c:v>
                </c:pt>
                <c:pt idx="109">
                  <c:v>45901</c:v>
                </c:pt>
                <c:pt idx="110">
                  <c:v>45931</c:v>
                </c:pt>
                <c:pt idx="111">
                  <c:v>45962</c:v>
                </c:pt>
                <c:pt idx="112">
                  <c:v>45992</c:v>
                </c:pt>
                <c:pt idx="113">
                  <c:v>46023</c:v>
                </c:pt>
                <c:pt idx="114">
                  <c:v>46054</c:v>
                </c:pt>
                <c:pt idx="115">
                  <c:v>46082</c:v>
                </c:pt>
                <c:pt idx="116">
                  <c:v>46113</c:v>
                </c:pt>
                <c:pt idx="117">
                  <c:v>46143</c:v>
                </c:pt>
                <c:pt idx="118">
                  <c:v>46174</c:v>
                </c:pt>
                <c:pt idx="119">
                  <c:v>46204</c:v>
                </c:pt>
                <c:pt idx="120">
                  <c:v>46235</c:v>
                </c:pt>
              </c:numCache>
            </c:numRef>
          </c:cat>
          <c:val>
            <c:numRef>
              <c:f>Australia!$AG$5:$AG$125</c:f>
              <c:numCache>
                <c:formatCode>0.00</c:formatCode>
                <c:ptCount val="121"/>
                <c:pt idx="0">
                  <c:v>1.8919999999999999</c:v>
                </c:pt>
                <c:pt idx="1">
                  <c:v>2.004</c:v>
                </c:pt>
                <c:pt idx="2">
                  <c:v>2.2309999999999999</c:v>
                </c:pt>
                <c:pt idx="3">
                  <c:v>2.5350000000000001</c:v>
                </c:pt>
                <c:pt idx="4">
                  <c:v>2.7989999999999999</c:v>
                </c:pt>
                <c:pt idx="5">
                  <c:v>2.7109999999999999</c:v>
                </c:pt>
                <c:pt idx="6">
                  <c:v>2.738</c:v>
                </c:pt>
                <c:pt idx="7">
                  <c:v>2.8039999999999998</c:v>
                </c:pt>
                <c:pt idx="8">
                  <c:v>2.5569999999999999</c:v>
                </c:pt>
                <c:pt idx="9">
                  <c:v>2.548</c:v>
                </c:pt>
                <c:pt idx="10">
                  <c:v>2.4209999999999998</c:v>
                </c:pt>
                <c:pt idx="11">
                  <c:v>2.6640000000000001</c:v>
                </c:pt>
                <c:pt idx="12">
                  <c:v>2.6259999999999999</c:v>
                </c:pt>
                <c:pt idx="13">
                  <c:v>2.71</c:v>
                </c:pt>
                <c:pt idx="14">
                  <c:v>2.7679999999999998</c:v>
                </c:pt>
                <c:pt idx="15">
                  <c:v>2.5649999999999999</c:v>
                </c:pt>
                <c:pt idx="16">
                  <c:v>2.5830000000000002</c:v>
                </c:pt>
                <c:pt idx="17">
                  <c:v>2.7469999999999999</c:v>
                </c:pt>
                <c:pt idx="18">
                  <c:v>2.8450000000000002</c:v>
                </c:pt>
                <c:pt idx="19">
                  <c:v>2.7130000000000001</c:v>
                </c:pt>
                <c:pt idx="20">
                  <c:v>2.734</c:v>
                </c:pt>
                <c:pt idx="21">
                  <c:v>2.79</c:v>
                </c:pt>
                <c:pt idx="22">
                  <c:v>2.6970000000000001</c:v>
                </c:pt>
                <c:pt idx="23">
                  <c:v>2.637</c:v>
                </c:pt>
                <c:pt idx="24">
                  <c:v>2.59</c:v>
                </c:pt>
                <c:pt idx="25">
                  <c:v>2.6309999999999998</c:v>
                </c:pt>
                <c:pt idx="26">
                  <c:v>2.6819999999999999</c:v>
                </c:pt>
                <c:pt idx="27">
                  <c:v>2.6829999999999998</c:v>
                </c:pt>
                <c:pt idx="28">
                  <c:v>2.431</c:v>
                </c:pt>
                <c:pt idx="29">
                  <c:v>2.2709999999999999</c:v>
                </c:pt>
                <c:pt idx="30">
                  <c:v>2.1259999999999999</c:v>
                </c:pt>
                <c:pt idx="31">
                  <c:v>1.9570000000000001</c:v>
                </c:pt>
                <c:pt idx="32">
                  <c:v>1.865</c:v>
                </c:pt>
                <c:pt idx="33">
                  <c:v>1.655</c:v>
                </c:pt>
                <c:pt idx="34">
                  <c:v>1.3859999999999999</c:v>
                </c:pt>
                <c:pt idx="35">
                  <c:v>1.32</c:v>
                </c:pt>
                <c:pt idx="36">
                  <c:v>0.95899999999999996</c:v>
                </c:pt>
                <c:pt idx="37">
                  <c:v>1.0349999999999999</c:v>
                </c:pt>
                <c:pt idx="38">
                  <c:v>1.0369999999999999</c:v>
                </c:pt>
                <c:pt idx="39">
                  <c:v>1.1519999999999999</c:v>
                </c:pt>
                <c:pt idx="40">
                  <c:v>1.202</c:v>
                </c:pt>
                <c:pt idx="41">
                  <c:v>1.159</c:v>
                </c:pt>
                <c:pt idx="42">
                  <c:v>0.98399999999999999</c:v>
                </c:pt>
                <c:pt idx="43">
                  <c:v>0.88400000000000001</c:v>
                </c:pt>
                <c:pt idx="44">
                  <c:v>0.85399999999999998</c:v>
                </c:pt>
                <c:pt idx="45">
                  <c:v>0.90300000000000002</c:v>
                </c:pt>
                <c:pt idx="46">
                  <c:v>0.92800000000000005</c:v>
                </c:pt>
                <c:pt idx="47">
                  <c:v>0.89700000000000002</c:v>
                </c:pt>
                <c:pt idx="48">
                  <c:v>0.90500000000000003</c:v>
                </c:pt>
                <c:pt idx="49">
                  <c:v>0.89400000000000002</c:v>
                </c:pt>
                <c:pt idx="50">
                  <c:v>0.80200000000000005</c:v>
                </c:pt>
                <c:pt idx="51">
                  <c:v>0.85599999999999998</c:v>
                </c:pt>
                <c:pt idx="52">
                  <c:v>0.97599999999999998</c:v>
                </c:pt>
                <c:pt idx="53">
                  <c:v>1.0529999999999999</c:v>
                </c:pt>
                <c:pt idx="54">
                  <c:v>1.3340000000000001</c:v>
                </c:pt>
                <c:pt idx="55">
                  <c:v>1.7070000000000001</c:v>
                </c:pt>
                <c:pt idx="56">
                  <c:v>1.6759999999999999</c:v>
                </c:pt>
                <c:pt idx="57">
                  <c:v>1.66</c:v>
                </c:pt>
                <c:pt idx="58">
                  <c:v>1.5309999999999999</c:v>
                </c:pt>
                <c:pt idx="59">
                  <c:v>1.254</c:v>
                </c:pt>
                <c:pt idx="60">
                  <c:v>1.135</c:v>
                </c:pt>
                <c:pt idx="61">
                  <c:v>1.282</c:v>
                </c:pt>
                <c:pt idx="62">
                  <c:v>1.71</c:v>
                </c:pt>
                <c:pt idx="63">
                  <c:v>1.806</c:v>
                </c:pt>
                <c:pt idx="64">
                  <c:v>1.609</c:v>
                </c:pt>
                <c:pt idx="65">
                  <c:v>1.8879999999999999</c:v>
                </c:pt>
                <c:pt idx="66">
                  <c:v>2.1110000000000002</c:v>
                </c:pt>
                <c:pt idx="67">
                  <c:v>2.5</c:v>
                </c:pt>
                <c:pt idx="68">
                  <c:v>3.008</c:v>
                </c:pt>
                <c:pt idx="69">
                  <c:v>3.3809999999999998</c:v>
                </c:pt>
                <c:pt idx="70">
                  <c:v>3.7669999999999999</c:v>
                </c:pt>
                <c:pt idx="71">
                  <c:v>3.4289999999999998</c:v>
                </c:pt>
                <c:pt idx="72">
                  <c:v>3.3610000000000002</c:v>
                </c:pt>
                <c:pt idx="73">
                  <c:v>3.7469999999999999</c:v>
                </c:pt>
                <c:pt idx="74">
                  <c:v>3.919</c:v>
                </c:pt>
                <c:pt idx="75">
                  <c:v>3.6960000000000002</c:v>
                </c:pt>
                <c:pt idx="76">
                  <c:v>3.5510000000000002</c:v>
                </c:pt>
                <c:pt idx="77">
                  <c:v>3.6040000000000001</c:v>
                </c:pt>
                <c:pt idx="78">
                  <c:v>3.702</c:v>
                </c:pt>
                <c:pt idx="79">
                  <c:v>3.468</c:v>
                </c:pt>
                <c:pt idx="80">
                  <c:v>3.343</c:v>
                </c:pt>
                <c:pt idx="81">
                  <c:v>3.5</c:v>
                </c:pt>
                <c:pt idx="82">
                  <c:v>3.9159999999999999</c:v>
                </c:pt>
                <c:pt idx="83">
                  <c:v>4.0359999999999996</c:v>
                </c:pt>
                <c:pt idx="84">
                  <c:v>4.1280000000000001</c:v>
                </c:pt>
                <c:pt idx="85">
                  <c:v>4.2110000000000003</c:v>
                </c:pt>
                <c:pt idx="86">
                  <c:v>4.633</c:v>
                </c:pt>
                <c:pt idx="87">
                  <c:v>4.5780000000000003</c:v>
                </c:pt>
                <c:pt idx="88">
                  <c:v>4.1870000000000003</c:v>
                </c:pt>
                <c:pt idx="89">
                  <c:v>4.1479999999999997</c:v>
                </c:pt>
                <c:pt idx="90">
                  <c:v>4.141</c:v>
                </c:pt>
                <c:pt idx="91">
                  <c:v>4.0449999999999999</c:v>
                </c:pt>
                <c:pt idx="92">
                  <c:v>4.2679999999999998</c:v>
                </c:pt>
                <c:pt idx="93">
                  <c:v>4.3250000000000002</c:v>
                </c:pt>
                <c:pt idx="94">
                  <c:v>4.242</c:v>
                </c:pt>
                <c:pt idx="95">
                  <c:v>4.3259999999999996</c:v>
                </c:pt>
                <c:pt idx="96">
                  <c:v>3.976</c:v>
                </c:pt>
                <c:pt idx="97">
                  <c:v>3.9220000000000002</c:v>
                </c:pt>
                <c:pt idx="98">
                  <c:v>4.2670000000000003</c:v>
                </c:pt>
                <c:pt idx="99">
                  <c:v>4.5439999999999996</c:v>
                </c:pt>
                <c:pt idx="100">
                  <c:v>4.3129999999999997</c:v>
                </c:pt>
                <c:pt idx="101">
                  <c:v>4.4809999999999999</c:v>
                </c:pt>
                <c:pt idx="102">
                  <c:v>4.423</c:v>
                </c:pt>
                <c:pt idx="103">
                  <c:v>4.4210000000000003</c:v>
                </c:pt>
                <c:pt idx="104">
                  <c:v>4.2670000000000003</c:v>
                </c:pt>
                <c:pt idx="105">
                  <c:v>4.3499999999999996</c:v>
                </c:pt>
                <c:pt idx="106">
                  <c:v>4.2080000000000002</c:v>
                </c:pt>
                <c:pt idx="107">
                  <c:v>4.2910000000000004</c:v>
                </c:pt>
                <c:pt idx="108">
                  <c:v>4.2750000000000004</c:v>
                </c:pt>
                <c:pt idx="109">
                  <c:v>4.298</c:v>
                </c:pt>
                <c:pt idx="110">
                  <c:v>4.234</c:v>
                </c:pt>
                <c:pt idx="111">
                  <c:v>4.4160000000000004</c:v>
                </c:pt>
                <c:pt idx="112">
                  <c:v>4.7190000000000003</c:v>
                </c:pt>
                <c:pt idx="113">
                  <c:v>4.75</c:v>
                </c:pt>
                <c:pt idx="114">
                  <c:v>4.758</c:v>
                </c:pt>
                <c:pt idx="115">
                  <c:v>4.9260000000000002</c:v>
                </c:pt>
                <c:pt idx="116">
                  <c:v>4.9690000000000003</c:v>
                </c:pt>
                <c:pt idx="117">
                  <c:v>4.9820000000000002</c:v>
                </c:pt>
                <c:pt idx="118">
                  <c:v>4.8310000000000004</c:v>
                </c:pt>
                <c:pt idx="119">
                  <c:v>4.9189999999999996</c:v>
                </c:pt>
                <c:pt idx="120">
                  <c:v>5.0149999999999997</c:v>
                </c:pt>
              </c:numCache>
            </c:numRef>
          </c:val>
          <c:smooth val="0"/>
          <c:extLst>
            <c:ext xmlns:c16="http://schemas.microsoft.com/office/drawing/2014/chart" uri="{C3380CC4-5D6E-409C-BE32-E72D297353CC}">
              <c16:uniqueId val="{00000001-23F1-D640-AB2E-8EFDD3EAB8FA}"/>
            </c:ext>
          </c:extLst>
        </c:ser>
        <c:dLbls>
          <c:showLegendKey val="0"/>
          <c:showVal val="0"/>
          <c:showCatName val="0"/>
          <c:showSerName val="0"/>
          <c:showPercent val="0"/>
          <c:showBubbleSize val="0"/>
        </c:dLbls>
        <c:smooth val="0"/>
        <c:axId val="1731900992"/>
        <c:axId val="1781059072"/>
      </c:lineChart>
      <c:dateAx>
        <c:axId val="173190099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781059072"/>
        <c:crosses val="autoZero"/>
        <c:auto val="1"/>
        <c:lblOffset val="100"/>
        <c:baseTimeUnit val="months"/>
        <c:majorUnit val="12"/>
        <c:majorTimeUnit val="months"/>
      </c:dateAx>
      <c:valAx>
        <c:axId val="1781059072"/>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7319009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Unemployment Drifts Higher as Treasury Flags Stagflation Risk</a:t>
            </a:r>
            <a:endParaRPr lang="en-US"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cked"/>
        <c:varyColors val="0"/>
        <c:ser>
          <c:idx val="0"/>
          <c:order val="0"/>
          <c:tx>
            <c:strRef>
              <c:f>Australia!$AO$13</c:f>
              <c:strCache>
                <c:ptCount val="1"/>
                <c:pt idx="0">
                  <c:v>Australia Unemployment Rate (%)</c:v>
                </c:pt>
              </c:strCache>
            </c:strRef>
          </c:tx>
          <c:spPr>
            <a:ln w="22225" cap="rnd">
              <a:solidFill>
                <a:srgbClr val="0B2C48"/>
              </a:solidFill>
              <a:round/>
            </a:ln>
            <a:effectLst/>
          </c:spPr>
          <c:marker>
            <c:symbol val="none"/>
          </c:marker>
          <c:cat>
            <c:numRef>
              <c:f>Australia!$AN$14:$AN$139</c:f>
              <c:numCache>
                <c:formatCode>mmm\-yy</c:formatCode>
                <c:ptCount val="126"/>
                <c:pt idx="0">
                  <c:v>42401</c:v>
                </c:pt>
                <c:pt idx="1">
                  <c:v>42430</c:v>
                </c:pt>
                <c:pt idx="2">
                  <c:v>42461</c:v>
                </c:pt>
                <c:pt idx="3">
                  <c:v>42491</c:v>
                </c:pt>
                <c:pt idx="4">
                  <c:v>42522</c:v>
                </c:pt>
                <c:pt idx="5">
                  <c:v>42552</c:v>
                </c:pt>
                <c:pt idx="6">
                  <c:v>42583</c:v>
                </c:pt>
                <c:pt idx="7">
                  <c:v>42614</c:v>
                </c:pt>
                <c:pt idx="8">
                  <c:v>42644</c:v>
                </c:pt>
                <c:pt idx="9">
                  <c:v>42675</c:v>
                </c:pt>
                <c:pt idx="10">
                  <c:v>42705</c:v>
                </c:pt>
                <c:pt idx="11">
                  <c:v>42736</c:v>
                </c:pt>
                <c:pt idx="12">
                  <c:v>42767</c:v>
                </c:pt>
                <c:pt idx="13">
                  <c:v>42795</c:v>
                </c:pt>
                <c:pt idx="14">
                  <c:v>42826</c:v>
                </c:pt>
                <c:pt idx="15">
                  <c:v>42856</c:v>
                </c:pt>
                <c:pt idx="16">
                  <c:v>42887</c:v>
                </c:pt>
                <c:pt idx="17">
                  <c:v>42917</c:v>
                </c:pt>
                <c:pt idx="18">
                  <c:v>42948</c:v>
                </c:pt>
                <c:pt idx="19">
                  <c:v>42979</c:v>
                </c:pt>
                <c:pt idx="20">
                  <c:v>43009</c:v>
                </c:pt>
                <c:pt idx="21">
                  <c:v>43040</c:v>
                </c:pt>
                <c:pt idx="22">
                  <c:v>43070</c:v>
                </c:pt>
                <c:pt idx="23">
                  <c:v>43101</c:v>
                </c:pt>
                <c:pt idx="24">
                  <c:v>43132</c:v>
                </c:pt>
                <c:pt idx="25">
                  <c:v>43160</c:v>
                </c:pt>
                <c:pt idx="26">
                  <c:v>43191</c:v>
                </c:pt>
                <c:pt idx="27">
                  <c:v>43221</c:v>
                </c:pt>
                <c:pt idx="28">
                  <c:v>43252</c:v>
                </c:pt>
                <c:pt idx="29">
                  <c:v>43282</c:v>
                </c:pt>
                <c:pt idx="30">
                  <c:v>43313</c:v>
                </c:pt>
                <c:pt idx="31">
                  <c:v>43344</c:v>
                </c:pt>
                <c:pt idx="32">
                  <c:v>43374</c:v>
                </c:pt>
                <c:pt idx="33">
                  <c:v>43405</c:v>
                </c:pt>
                <c:pt idx="34">
                  <c:v>43435</c:v>
                </c:pt>
                <c:pt idx="35">
                  <c:v>43466</c:v>
                </c:pt>
                <c:pt idx="36">
                  <c:v>43497</c:v>
                </c:pt>
                <c:pt idx="37">
                  <c:v>43525</c:v>
                </c:pt>
                <c:pt idx="38">
                  <c:v>43556</c:v>
                </c:pt>
                <c:pt idx="39">
                  <c:v>43586</c:v>
                </c:pt>
                <c:pt idx="40">
                  <c:v>43617</c:v>
                </c:pt>
                <c:pt idx="41">
                  <c:v>43647</c:v>
                </c:pt>
                <c:pt idx="42">
                  <c:v>43678</c:v>
                </c:pt>
                <c:pt idx="43">
                  <c:v>43709</c:v>
                </c:pt>
                <c:pt idx="44">
                  <c:v>43739</c:v>
                </c:pt>
                <c:pt idx="45">
                  <c:v>43770</c:v>
                </c:pt>
                <c:pt idx="46">
                  <c:v>43800</c:v>
                </c:pt>
                <c:pt idx="47">
                  <c:v>43831</c:v>
                </c:pt>
                <c:pt idx="48">
                  <c:v>43862</c:v>
                </c:pt>
                <c:pt idx="49">
                  <c:v>43891</c:v>
                </c:pt>
                <c:pt idx="50">
                  <c:v>43922</c:v>
                </c:pt>
                <c:pt idx="51">
                  <c:v>43952</c:v>
                </c:pt>
                <c:pt idx="52">
                  <c:v>43983</c:v>
                </c:pt>
                <c:pt idx="53">
                  <c:v>44013</c:v>
                </c:pt>
                <c:pt idx="54">
                  <c:v>44044</c:v>
                </c:pt>
                <c:pt idx="55">
                  <c:v>44075</c:v>
                </c:pt>
                <c:pt idx="56">
                  <c:v>44105</c:v>
                </c:pt>
                <c:pt idx="57">
                  <c:v>44136</c:v>
                </c:pt>
                <c:pt idx="58">
                  <c:v>44166</c:v>
                </c:pt>
                <c:pt idx="59">
                  <c:v>44197</c:v>
                </c:pt>
                <c:pt idx="60">
                  <c:v>44228</c:v>
                </c:pt>
                <c:pt idx="61">
                  <c:v>44256</c:v>
                </c:pt>
                <c:pt idx="62">
                  <c:v>44287</c:v>
                </c:pt>
                <c:pt idx="63">
                  <c:v>44317</c:v>
                </c:pt>
                <c:pt idx="64">
                  <c:v>44348</c:v>
                </c:pt>
                <c:pt idx="65">
                  <c:v>44378</c:v>
                </c:pt>
                <c:pt idx="66">
                  <c:v>44409</c:v>
                </c:pt>
                <c:pt idx="67">
                  <c:v>44440</c:v>
                </c:pt>
                <c:pt idx="68">
                  <c:v>44470</c:v>
                </c:pt>
                <c:pt idx="69">
                  <c:v>44501</c:v>
                </c:pt>
                <c:pt idx="70">
                  <c:v>44531</c:v>
                </c:pt>
                <c:pt idx="71">
                  <c:v>44562</c:v>
                </c:pt>
                <c:pt idx="72">
                  <c:v>44593</c:v>
                </c:pt>
                <c:pt idx="73">
                  <c:v>44621</c:v>
                </c:pt>
                <c:pt idx="74">
                  <c:v>44652</c:v>
                </c:pt>
                <c:pt idx="75">
                  <c:v>44682</c:v>
                </c:pt>
                <c:pt idx="76">
                  <c:v>44713</c:v>
                </c:pt>
                <c:pt idx="77">
                  <c:v>44743</c:v>
                </c:pt>
                <c:pt idx="78">
                  <c:v>44774</c:v>
                </c:pt>
                <c:pt idx="79">
                  <c:v>44805</c:v>
                </c:pt>
                <c:pt idx="80">
                  <c:v>44835</c:v>
                </c:pt>
                <c:pt idx="81">
                  <c:v>44866</c:v>
                </c:pt>
                <c:pt idx="82">
                  <c:v>44896</c:v>
                </c:pt>
                <c:pt idx="83">
                  <c:v>44927</c:v>
                </c:pt>
                <c:pt idx="84">
                  <c:v>44958</c:v>
                </c:pt>
                <c:pt idx="85">
                  <c:v>44986</c:v>
                </c:pt>
                <c:pt idx="86">
                  <c:v>45017</c:v>
                </c:pt>
                <c:pt idx="87">
                  <c:v>45047</c:v>
                </c:pt>
                <c:pt idx="88">
                  <c:v>45078</c:v>
                </c:pt>
                <c:pt idx="89">
                  <c:v>45108</c:v>
                </c:pt>
                <c:pt idx="90">
                  <c:v>45139</c:v>
                </c:pt>
                <c:pt idx="91">
                  <c:v>45170</c:v>
                </c:pt>
                <c:pt idx="92">
                  <c:v>45200</c:v>
                </c:pt>
                <c:pt idx="93">
                  <c:v>45231</c:v>
                </c:pt>
                <c:pt idx="94">
                  <c:v>45261</c:v>
                </c:pt>
                <c:pt idx="95">
                  <c:v>45292</c:v>
                </c:pt>
                <c:pt idx="96">
                  <c:v>45323</c:v>
                </c:pt>
                <c:pt idx="97">
                  <c:v>45352</c:v>
                </c:pt>
                <c:pt idx="98">
                  <c:v>45383</c:v>
                </c:pt>
                <c:pt idx="99">
                  <c:v>45413</c:v>
                </c:pt>
                <c:pt idx="100">
                  <c:v>45444</c:v>
                </c:pt>
                <c:pt idx="101">
                  <c:v>45474</c:v>
                </c:pt>
                <c:pt idx="102">
                  <c:v>45505</c:v>
                </c:pt>
                <c:pt idx="103">
                  <c:v>45536</c:v>
                </c:pt>
                <c:pt idx="104">
                  <c:v>45566</c:v>
                </c:pt>
                <c:pt idx="105">
                  <c:v>45597</c:v>
                </c:pt>
                <c:pt idx="106">
                  <c:v>45627</c:v>
                </c:pt>
                <c:pt idx="107">
                  <c:v>45658</c:v>
                </c:pt>
                <c:pt idx="108">
                  <c:v>45689</c:v>
                </c:pt>
                <c:pt idx="109">
                  <c:v>45717</c:v>
                </c:pt>
                <c:pt idx="110">
                  <c:v>45748</c:v>
                </c:pt>
                <c:pt idx="111">
                  <c:v>45778</c:v>
                </c:pt>
                <c:pt idx="112">
                  <c:v>45809</c:v>
                </c:pt>
                <c:pt idx="113">
                  <c:v>45839</c:v>
                </c:pt>
                <c:pt idx="114">
                  <c:v>45870</c:v>
                </c:pt>
                <c:pt idx="115">
                  <c:v>45901</c:v>
                </c:pt>
                <c:pt idx="116">
                  <c:v>45931</c:v>
                </c:pt>
                <c:pt idx="117">
                  <c:v>45962</c:v>
                </c:pt>
                <c:pt idx="118">
                  <c:v>45992</c:v>
                </c:pt>
                <c:pt idx="119">
                  <c:v>46023</c:v>
                </c:pt>
                <c:pt idx="120">
                  <c:v>46054</c:v>
                </c:pt>
                <c:pt idx="121">
                  <c:v>46082</c:v>
                </c:pt>
                <c:pt idx="122">
                  <c:v>46113</c:v>
                </c:pt>
                <c:pt idx="123">
                  <c:v>46143</c:v>
                </c:pt>
                <c:pt idx="124">
                  <c:v>46174</c:v>
                </c:pt>
                <c:pt idx="125">
                  <c:v>46204</c:v>
                </c:pt>
              </c:numCache>
            </c:numRef>
          </c:cat>
          <c:val>
            <c:numRef>
              <c:f>Australia!$AO$14:$AO$139</c:f>
              <c:numCache>
                <c:formatCode>General</c:formatCode>
                <c:ptCount val="126"/>
                <c:pt idx="0">
                  <c:v>5.9</c:v>
                </c:pt>
                <c:pt idx="1">
                  <c:v>5.9</c:v>
                </c:pt>
                <c:pt idx="2">
                  <c:v>5.8</c:v>
                </c:pt>
                <c:pt idx="3">
                  <c:v>5.8</c:v>
                </c:pt>
                <c:pt idx="4">
                  <c:v>5.7</c:v>
                </c:pt>
                <c:pt idx="5">
                  <c:v>5.7</c:v>
                </c:pt>
                <c:pt idx="6">
                  <c:v>5.7</c:v>
                </c:pt>
                <c:pt idx="7">
                  <c:v>5.8</c:v>
                </c:pt>
                <c:pt idx="8">
                  <c:v>5.8</c:v>
                </c:pt>
                <c:pt idx="9">
                  <c:v>5.9</c:v>
                </c:pt>
                <c:pt idx="10">
                  <c:v>6</c:v>
                </c:pt>
                <c:pt idx="11">
                  <c:v>6</c:v>
                </c:pt>
                <c:pt idx="12">
                  <c:v>5.9</c:v>
                </c:pt>
                <c:pt idx="13">
                  <c:v>5.9</c:v>
                </c:pt>
                <c:pt idx="14">
                  <c:v>5.8</c:v>
                </c:pt>
                <c:pt idx="15">
                  <c:v>5.7</c:v>
                </c:pt>
                <c:pt idx="16">
                  <c:v>5.6</c:v>
                </c:pt>
                <c:pt idx="17">
                  <c:v>5.5</c:v>
                </c:pt>
                <c:pt idx="18">
                  <c:v>5.5</c:v>
                </c:pt>
                <c:pt idx="19">
                  <c:v>5.5</c:v>
                </c:pt>
                <c:pt idx="20">
                  <c:v>5.5</c:v>
                </c:pt>
                <c:pt idx="21">
                  <c:v>5.5</c:v>
                </c:pt>
                <c:pt idx="22">
                  <c:v>5.5</c:v>
                </c:pt>
                <c:pt idx="23">
                  <c:v>5.6</c:v>
                </c:pt>
                <c:pt idx="24">
                  <c:v>5.6</c:v>
                </c:pt>
                <c:pt idx="25">
                  <c:v>5.6</c:v>
                </c:pt>
                <c:pt idx="26">
                  <c:v>5.6</c:v>
                </c:pt>
                <c:pt idx="27">
                  <c:v>5.5</c:v>
                </c:pt>
                <c:pt idx="28">
                  <c:v>5.5</c:v>
                </c:pt>
                <c:pt idx="29">
                  <c:v>5.4</c:v>
                </c:pt>
                <c:pt idx="30">
                  <c:v>5.3</c:v>
                </c:pt>
                <c:pt idx="31">
                  <c:v>5.2</c:v>
                </c:pt>
                <c:pt idx="32">
                  <c:v>5.0999999999999996</c:v>
                </c:pt>
                <c:pt idx="33">
                  <c:v>5</c:v>
                </c:pt>
                <c:pt idx="34">
                  <c:v>5</c:v>
                </c:pt>
                <c:pt idx="35">
                  <c:v>5</c:v>
                </c:pt>
                <c:pt idx="36">
                  <c:v>5.0999999999999996</c:v>
                </c:pt>
                <c:pt idx="37">
                  <c:v>5.0999999999999996</c:v>
                </c:pt>
                <c:pt idx="38">
                  <c:v>5.0999999999999996</c:v>
                </c:pt>
                <c:pt idx="39">
                  <c:v>5.2</c:v>
                </c:pt>
                <c:pt idx="40">
                  <c:v>5.2</c:v>
                </c:pt>
                <c:pt idx="41">
                  <c:v>5.3</c:v>
                </c:pt>
                <c:pt idx="42">
                  <c:v>5.3</c:v>
                </c:pt>
                <c:pt idx="43">
                  <c:v>5.3</c:v>
                </c:pt>
                <c:pt idx="44">
                  <c:v>5.2</c:v>
                </c:pt>
                <c:pt idx="45">
                  <c:v>5.2</c:v>
                </c:pt>
                <c:pt idx="46">
                  <c:v>5.2</c:v>
                </c:pt>
                <c:pt idx="47">
                  <c:v>5.2</c:v>
                </c:pt>
                <c:pt idx="48">
                  <c:v>5.2</c:v>
                </c:pt>
                <c:pt idx="49">
                  <c:v>5.3</c:v>
                </c:pt>
                <c:pt idx="50">
                  <c:v>7.2</c:v>
                </c:pt>
                <c:pt idx="51">
                  <c:v>7.3</c:v>
                </c:pt>
                <c:pt idx="52">
                  <c:v>7.4</c:v>
                </c:pt>
                <c:pt idx="53">
                  <c:v>7.5</c:v>
                </c:pt>
                <c:pt idx="54">
                  <c:v>7.5</c:v>
                </c:pt>
                <c:pt idx="55">
                  <c:v>7.4</c:v>
                </c:pt>
                <c:pt idx="56">
                  <c:v>7.3</c:v>
                </c:pt>
                <c:pt idx="57">
                  <c:v>7.1</c:v>
                </c:pt>
                <c:pt idx="58">
                  <c:v>6.8</c:v>
                </c:pt>
                <c:pt idx="59">
                  <c:v>6.6</c:v>
                </c:pt>
                <c:pt idx="60">
                  <c:v>6</c:v>
                </c:pt>
                <c:pt idx="61">
                  <c:v>5.7</c:v>
                </c:pt>
                <c:pt idx="62">
                  <c:v>5.5</c:v>
                </c:pt>
                <c:pt idx="63">
                  <c:v>5.2</c:v>
                </c:pt>
                <c:pt idx="64">
                  <c:v>5</c:v>
                </c:pt>
                <c:pt idx="65">
                  <c:v>4.8</c:v>
                </c:pt>
                <c:pt idx="66">
                  <c:v>4.5999999999999996</c:v>
                </c:pt>
                <c:pt idx="67">
                  <c:v>4.5</c:v>
                </c:pt>
                <c:pt idx="68">
                  <c:v>4.5</c:v>
                </c:pt>
                <c:pt idx="69">
                  <c:v>4.4000000000000004</c:v>
                </c:pt>
                <c:pt idx="70">
                  <c:v>4.0999999999999996</c:v>
                </c:pt>
                <c:pt idx="71">
                  <c:v>4</c:v>
                </c:pt>
                <c:pt idx="72">
                  <c:v>3.9</c:v>
                </c:pt>
                <c:pt idx="73">
                  <c:v>3.9</c:v>
                </c:pt>
                <c:pt idx="74">
                  <c:v>3.8</c:v>
                </c:pt>
                <c:pt idx="75">
                  <c:v>3.7</c:v>
                </c:pt>
                <c:pt idx="76">
                  <c:v>3.6</c:v>
                </c:pt>
                <c:pt idx="77">
                  <c:v>3.5</c:v>
                </c:pt>
                <c:pt idx="78">
                  <c:v>3.4</c:v>
                </c:pt>
                <c:pt idx="79">
                  <c:v>3.3</c:v>
                </c:pt>
                <c:pt idx="80">
                  <c:v>3.3</c:v>
                </c:pt>
                <c:pt idx="81">
                  <c:v>3.3</c:v>
                </c:pt>
                <c:pt idx="82">
                  <c:v>3.3</c:v>
                </c:pt>
                <c:pt idx="83">
                  <c:v>3.4</c:v>
                </c:pt>
                <c:pt idx="84">
                  <c:v>3.4</c:v>
                </c:pt>
                <c:pt idx="85">
                  <c:v>3.4</c:v>
                </c:pt>
                <c:pt idx="86">
                  <c:v>3.4</c:v>
                </c:pt>
                <c:pt idx="87">
                  <c:v>3.4</c:v>
                </c:pt>
                <c:pt idx="88">
                  <c:v>3.4</c:v>
                </c:pt>
                <c:pt idx="89">
                  <c:v>3.4</c:v>
                </c:pt>
                <c:pt idx="90">
                  <c:v>3.4</c:v>
                </c:pt>
                <c:pt idx="91">
                  <c:v>3.5</c:v>
                </c:pt>
                <c:pt idx="92">
                  <c:v>3.6</c:v>
                </c:pt>
                <c:pt idx="93">
                  <c:v>3.7</c:v>
                </c:pt>
                <c:pt idx="94">
                  <c:v>3.7</c:v>
                </c:pt>
                <c:pt idx="95">
                  <c:v>3.7</c:v>
                </c:pt>
                <c:pt idx="96">
                  <c:v>3.7</c:v>
                </c:pt>
                <c:pt idx="97">
                  <c:v>3.8</c:v>
                </c:pt>
                <c:pt idx="98">
                  <c:v>3.8</c:v>
                </c:pt>
                <c:pt idx="99">
                  <c:v>3.8</c:v>
                </c:pt>
                <c:pt idx="100">
                  <c:v>3.9</c:v>
                </c:pt>
                <c:pt idx="101">
                  <c:v>3.9</c:v>
                </c:pt>
                <c:pt idx="102">
                  <c:v>3.9</c:v>
                </c:pt>
                <c:pt idx="103">
                  <c:v>3.9</c:v>
                </c:pt>
                <c:pt idx="104">
                  <c:v>3.9</c:v>
                </c:pt>
                <c:pt idx="105">
                  <c:v>3.9</c:v>
                </c:pt>
                <c:pt idx="106">
                  <c:v>4</c:v>
                </c:pt>
                <c:pt idx="107">
                  <c:v>4</c:v>
                </c:pt>
                <c:pt idx="108">
                  <c:v>4</c:v>
                </c:pt>
                <c:pt idx="109">
                  <c:v>4</c:v>
                </c:pt>
                <c:pt idx="110">
                  <c:v>4.0999999999999996</c:v>
                </c:pt>
                <c:pt idx="111">
                  <c:v>4.0999999999999996</c:v>
                </c:pt>
                <c:pt idx="112">
                  <c:v>4.0999999999999996</c:v>
                </c:pt>
                <c:pt idx="113">
                  <c:v>4.2</c:v>
                </c:pt>
                <c:pt idx="114">
                  <c:v>4.2</c:v>
                </c:pt>
                <c:pt idx="115">
                  <c:v>4.2</c:v>
                </c:pt>
                <c:pt idx="116">
                  <c:v>4.2</c:v>
                </c:pt>
                <c:pt idx="117">
                  <c:v>4.2</c:v>
                </c:pt>
                <c:pt idx="118">
                  <c:v>4.0999999999999996</c:v>
                </c:pt>
                <c:pt idx="119">
                  <c:v>4.0999999999999996</c:v>
                </c:pt>
                <c:pt idx="120">
                  <c:v>4.0999999999999996</c:v>
                </c:pt>
                <c:pt idx="121">
                  <c:v>4.2</c:v>
                </c:pt>
                <c:pt idx="122">
                  <c:v>4.2</c:v>
                </c:pt>
                <c:pt idx="123">
                  <c:v>4.2</c:v>
                </c:pt>
                <c:pt idx="124">
                  <c:v>4.3</c:v>
                </c:pt>
                <c:pt idx="125">
                  <c:v>4.3</c:v>
                </c:pt>
              </c:numCache>
            </c:numRef>
          </c:val>
          <c:smooth val="0"/>
          <c:extLst>
            <c:ext xmlns:c16="http://schemas.microsoft.com/office/drawing/2014/chart" uri="{C3380CC4-5D6E-409C-BE32-E72D297353CC}">
              <c16:uniqueId val="{00000000-A866-104A-84F8-26D8E5DA8130}"/>
            </c:ext>
          </c:extLst>
        </c:ser>
        <c:dLbls>
          <c:showLegendKey val="0"/>
          <c:showVal val="0"/>
          <c:showCatName val="0"/>
          <c:showSerName val="0"/>
          <c:showPercent val="0"/>
          <c:showBubbleSize val="0"/>
        </c:dLbls>
        <c:smooth val="0"/>
        <c:axId val="1841919104"/>
        <c:axId val="1842452608"/>
      </c:lineChart>
      <c:dateAx>
        <c:axId val="184191910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2452608"/>
        <c:crosses val="autoZero"/>
        <c:auto val="1"/>
        <c:lblOffset val="100"/>
        <c:baseTimeUnit val="months"/>
        <c:majorUnit val="12"/>
        <c:majorTimeUnit val="months"/>
      </c:dateAx>
      <c:valAx>
        <c:axId val="184245260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1919104"/>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r>
              <a:rPr lang="en-AU" sz="1000" b="1" i="0" u="none" strike="noStrike" kern="1200" spc="0" baseline="0">
                <a:solidFill>
                  <a:schemeClr val="tx1"/>
                </a:solidFill>
                <a:latin typeface="Arial"/>
              </a:rPr>
              <a:t>WTI Jumps 9% to $91 as US Strikes on Iran Resume, Feeding Inflation Risk</a:t>
            </a:r>
            <a:endParaRPr lang="en-GB" sz="1000" b="1" i="0" u="none" strike="noStrike" kern="1200" spc="0" baseline="0">
              <a:solidFill>
                <a:schemeClr val="tx1"/>
              </a:solidFill>
              <a:latin typeface="Arial"/>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US!$F$4</c:f>
              <c:strCache>
                <c:ptCount val="1"/>
                <c:pt idx="0">
                  <c:v>WTI Oil Price</c:v>
                </c:pt>
              </c:strCache>
            </c:strRef>
          </c:tx>
          <c:spPr>
            <a:ln w="22225" cap="rnd">
              <a:solidFill>
                <a:srgbClr val="0B2C48"/>
              </a:solidFill>
              <a:round/>
            </a:ln>
            <a:effectLst/>
          </c:spPr>
          <c:marker>
            <c:symbol val="none"/>
          </c:marker>
          <c:cat>
            <c:numRef>
              <c:f>US!$E$5:$E$65</c:f>
              <c:numCache>
                <c:formatCode>dd/m/yyyy;@</c:formatCode>
                <c:ptCount val="61"/>
                <c:pt idx="0">
                  <c:v>44440</c:v>
                </c:pt>
                <c:pt idx="1">
                  <c:v>44470</c:v>
                </c:pt>
                <c:pt idx="2">
                  <c:v>44501</c:v>
                </c:pt>
                <c:pt idx="3">
                  <c:v>44531</c:v>
                </c:pt>
                <c:pt idx="4">
                  <c:v>44564</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45383</c:v>
                </c:pt>
                <c:pt idx="32">
                  <c:v>45413</c:v>
                </c:pt>
                <c:pt idx="33">
                  <c:v>45446</c:v>
                </c:pt>
                <c:pt idx="34">
                  <c:v>45474</c:v>
                </c:pt>
                <c:pt idx="35">
                  <c:v>45505</c:v>
                </c:pt>
                <c:pt idx="36">
                  <c:v>45538</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45902</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US!$F$5:$F$65</c:f>
              <c:numCache>
                <c:formatCode>_(* #,##0.00_);_(* \(#,##0.00\);_(* "-"??_);_(@_)</c:formatCode>
                <c:ptCount val="61"/>
                <c:pt idx="0">
                  <c:v>100</c:v>
                </c:pt>
                <c:pt idx="1">
                  <c:v>111.00771071523532</c:v>
                </c:pt>
                <c:pt idx="2">
                  <c:v>87.928742355756455</c:v>
                </c:pt>
                <c:pt idx="3">
                  <c:v>100.14623770273863</c:v>
                </c:pt>
                <c:pt idx="4">
                  <c:v>118.53230523796863</c:v>
                </c:pt>
                <c:pt idx="5">
                  <c:v>127.79845785695294</c:v>
                </c:pt>
                <c:pt idx="6">
                  <c:v>133.64796596649828</c:v>
                </c:pt>
                <c:pt idx="7">
                  <c:v>139.04546663121511</c:v>
                </c:pt>
                <c:pt idx="8">
                  <c:v>152.06062217495347</c:v>
                </c:pt>
                <c:pt idx="9">
                  <c:v>143.25977133741029</c:v>
                </c:pt>
                <c:pt idx="10">
                  <c:v>134.68492422228132</c:v>
                </c:pt>
                <c:pt idx="11">
                  <c:v>119.76867854294071</c:v>
                </c:pt>
                <c:pt idx="12">
                  <c:v>106.23504387131082</c:v>
                </c:pt>
                <c:pt idx="13">
                  <c:v>115.04918904546663</c:v>
                </c:pt>
                <c:pt idx="14">
                  <c:v>106.9928210582292</c:v>
                </c:pt>
                <c:pt idx="15">
                  <c:v>106.56740228662589</c:v>
                </c:pt>
                <c:pt idx="16">
                  <c:v>104.95878755650094</c:v>
                </c:pt>
                <c:pt idx="17">
                  <c:v>102.2068598776921</c:v>
                </c:pt>
                <c:pt idx="18">
                  <c:v>100.61153948417976</c:v>
                </c:pt>
                <c:pt idx="19">
                  <c:v>102.07391651156608</c:v>
                </c:pt>
                <c:pt idx="20">
                  <c:v>90.547726668439239</c:v>
                </c:pt>
                <c:pt idx="21">
                  <c:v>93.937782504653015</c:v>
                </c:pt>
                <c:pt idx="22">
                  <c:v>108.7476734910928</c:v>
                </c:pt>
                <c:pt idx="23">
                  <c:v>111.07418239829832</c:v>
                </c:pt>
                <c:pt idx="24">
                  <c:v>120.6726934325977</c:v>
                </c:pt>
                <c:pt idx="25">
                  <c:v>108.53496410529115</c:v>
                </c:pt>
                <c:pt idx="26">
                  <c:v>100.58495081095454</c:v>
                </c:pt>
                <c:pt idx="27">
                  <c:v>95.57298590800319</c:v>
                </c:pt>
                <c:pt idx="28">
                  <c:v>101.40919968093594</c:v>
                </c:pt>
                <c:pt idx="29">
                  <c:v>105.31773464504121</c:v>
                </c:pt>
                <c:pt idx="30">
                  <c:v>111.61925019941503</c:v>
                </c:pt>
                <c:pt idx="31">
                  <c:v>110.9944163786227</c:v>
                </c:pt>
                <c:pt idx="32">
                  <c:v>103.65594256846585</c:v>
                </c:pt>
                <c:pt idx="33">
                  <c:v>110.1169901621909</c:v>
                </c:pt>
                <c:pt idx="34">
                  <c:v>105.50385535761765</c:v>
                </c:pt>
                <c:pt idx="35">
                  <c:v>99.069396437117788</c:v>
                </c:pt>
                <c:pt idx="36">
                  <c:v>91.398564211645834</c:v>
                </c:pt>
                <c:pt idx="37">
                  <c:v>92.501994150491882</c:v>
                </c:pt>
                <c:pt idx="38">
                  <c:v>90.747141717628296</c:v>
                </c:pt>
                <c:pt idx="39">
                  <c:v>96.304174421696359</c:v>
                </c:pt>
                <c:pt idx="40">
                  <c:v>96.835947886200486</c:v>
                </c:pt>
                <c:pt idx="41">
                  <c:v>93.020473278383406</c:v>
                </c:pt>
                <c:pt idx="42">
                  <c:v>95.546397234777984</c:v>
                </c:pt>
                <c:pt idx="43">
                  <c:v>79.167774528051055</c:v>
                </c:pt>
                <c:pt idx="44">
                  <c:v>81.706992821058236</c:v>
                </c:pt>
                <c:pt idx="45">
                  <c:v>88.1414517415581</c:v>
                </c:pt>
                <c:pt idx="46">
                  <c:v>93.538952406274916</c:v>
                </c:pt>
                <c:pt idx="47">
                  <c:v>85.562350438713111</c:v>
                </c:pt>
                <c:pt idx="48">
                  <c:v>83.980324381813347</c:v>
                </c:pt>
                <c:pt idx="49">
                  <c:v>82.092528582823718</c:v>
                </c:pt>
                <c:pt idx="50">
                  <c:v>77.878223876628567</c:v>
                </c:pt>
                <c:pt idx="51">
                  <c:v>76.123371443764952</c:v>
                </c:pt>
                <c:pt idx="52">
                  <c:v>85.74847115128955</c:v>
                </c:pt>
                <c:pt idx="53">
                  <c:v>89.018877957989901</c:v>
                </c:pt>
                <c:pt idx="54">
                  <c:v>136.74554639723476</c:v>
                </c:pt>
                <c:pt idx="55">
                  <c:v>144.42967295931933</c:v>
                </c:pt>
                <c:pt idx="56">
                  <c:v>121.19117256048924</c:v>
                </c:pt>
                <c:pt idx="57">
                  <c:v>93.804839138527001</c:v>
                </c:pt>
                <c:pt idx="58">
                  <c:v>114.54400425418771</c:v>
                </c:pt>
                <c:pt idx="59">
                  <c:v>115.70061153948419</c:v>
                </c:pt>
                <c:pt idx="60">
                  <c:v>123.2252060622175</c:v>
                </c:pt>
              </c:numCache>
            </c:numRef>
          </c:val>
          <c:smooth val="0"/>
          <c:extLst>
            <c:ext xmlns:c16="http://schemas.microsoft.com/office/drawing/2014/chart" uri="{C3380CC4-5D6E-409C-BE32-E72D297353CC}">
              <c16:uniqueId val="{00000000-D0ED-9040-A494-05B2B65A43AD}"/>
            </c:ext>
          </c:extLst>
        </c:ser>
        <c:ser>
          <c:idx val="1"/>
          <c:order val="1"/>
          <c:tx>
            <c:strRef>
              <c:f>US!$G$4</c:f>
              <c:strCache>
                <c:ptCount val="1"/>
                <c:pt idx="0">
                  <c:v>USD Index</c:v>
                </c:pt>
              </c:strCache>
            </c:strRef>
          </c:tx>
          <c:spPr>
            <a:ln w="22225" cap="rnd">
              <a:solidFill>
                <a:srgbClr val="C9A03A"/>
              </a:solidFill>
              <a:round/>
            </a:ln>
            <a:effectLst/>
          </c:spPr>
          <c:marker>
            <c:symbol val="none"/>
          </c:marker>
          <c:cat>
            <c:numRef>
              <c:f>US!$E$5:$E$65</c:f>
              <c:numCache>
                <c:formatCode>dd/m/yyyy;@</c:formatCode>
                <c:ptCount val="61"/>
                <c:pt idx="0">
                  <c:v>44440</c:v>
                </c:pt>
                <c:pt idx="1">
                  <c:v>44470</c:v>
                </c:pt>
                <c:pt idx="2">
                  <c:v>44501</c:v>
                </c:pt>
                <c:pt idx="3">
                  <c:v>44531</c:v>
                </c:pt>
                <c:pt idx="4">
                  <c:v>44564</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45383</c:v>
                </c:pt>
                <c:pt idx="32">
                  <c:v>45413</c:v>
                </c:pt>
                <c:pt idx="33">
                  <c:v>45446</c:v>
                </c:pt>
                <c:pt idx="34">
                  <c:v>45474</c:v>
                </c:pt>
                <c:pt idx="35">
                  <c:v>45505</c:v>
                </c:pt>
                <c:pt idx="36">
                  <c:v>45538</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45902</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US!$G$5:$G$65</c:f>
              <c:numCache>
                <c:formatCode>_(* #,##0.00_);_(* \(#,##0.00\);_(* "-"??_);_(@_)</c:formatCode>
                <c:ptCount val="61"/>
                <c:pt idx="0">
                  <c:v>125.27253390055837</c:v>
                </c:pt>
                <c:pt idx="1">
                  <c:v>125.13028449880352</c:v>
                </c:pt>
                <c:pt idx="2">
                  <c:v>127.61765487902154</c:v>
                </c:pt>
                <c:pt idx="3">
                  <c:v>127.58308960382878</c:v>
                </c:pt>
                <c:pt idx="4">
                  <c:v>128.34352565806967</c:v>
                </c:pt>
                <c:pt idx="5">
                  <c:v>128.56554107950012</c:v>
                </c:pt>
                <c:pt idx="6">
                  <c:v>130.6992821058229</c:v>
                </c:pt>
                <c:pt idx="7">
                  <c:v>136.87716032969956</c:v>
                </c:pt>
                <c:pt idx="8">
                  <c:v>135.27253390055836</c:v>
                </c:pt>
                <c:pt idx="9">
                  <c:v>139.17176282903483</c:v>
                </c:pt>
                <c:pt idx="10">
                  <c:v>140.7910130284499</c:v>
                </c:pt>
                <c:pt idx="11">
                  <c:v>144.50943897899495</c:v>
                </c:pt>
                <c:pt idx="12">
                  <c:v>149.05211379952141</c:v>
                </c:pt>
                <c:pt idx="13">
                  <c:v>148.26774793937781</c:v>
                </c:pt>
                <c:pt idx="14">
                  <c:v>140.85349641052912</c:v>
                </c:pt>
                <c:pt idx="15">
                  <c:v>137.62563148098911</c:v>
                </c:pt>
                <c:pt idx="16">
                  <c:v>135.73118851369316</c:v>
                </c:pt>
                <c:pt idx="17">
                  <c:v>139.41637862270673</c:v>
                </c:pt>
                <c:pt idx="18">
                  <c:v>136.27492688114864</c:v>
                </c:pt>
                <c:pt idx="19">
                  <c:v>135.14889657006117</c:v>
                </c:pt>
                <c:pt idx="20">
                  <c:v>138.69449614464239</c:v>
                </c:pt>
                <c:pt idx="21">
                  <c:v>136.81467694762034</c:v>
                </c:pt>
                <c:pt idx="22">
                  <c:v>135.40946556766818</c:v>
                </c:pt>
                <c:pt idx="23">
                  <c:v>137.75458654613135</c:v>
                </c:pt>
                <c:pt idx="24">
                  <c:v>141.21776123371444</c:v>
                </c:pt>
                <c:pt idx="25">
                  <c:v>141.80138261100771</c:v>
                </c:pt>
                <c:pt idx="26">
                  <c:v>137.59239563945761</c:v>
                </c:pt>
                <c:pt idx="27">
                  <c:v>134.71550119649029</c:v>
                </c:pt>
                <c:pt idx="28">
                  <c:v>137.29593193299655</c:v>
                </c:pt>
                <c:pt idx="29">
                  <c:v>138.46849242222814</c:v>
                </c:pt>
                <c:pt idx="30">
                  <c:v>138.98697155011965</c:v>
                </c:pt>
                <c:pt idx="31">
                  <c:v>141.21377293273068</c:v>
                </c:pt>
                <c:pt idx="32">
                  <c:v>139.15315075777718</c:v>
                </c:pt>
                <c:pt idx="33">
                  <c:v>140.74182398298325</c:v>
                </c:pt>
                <c:pt idx="34">
                  <c:v>138.38872640255252</c:v>
                </c:pt>
                <c:pt idx="35">
                  <c:v>135.2007444828503</c:v>
                </c:pt>
                <c:pt idx="36">
                  <c:v>133.97899494815209</c:v>
                </c:pt>
                <c:pt idx="37">
                  <c:v>138.22919436320126</c:v>
                </c:pt>
                <c:pt idx="38">
                  <c:v>140.57032704068067</c:v>
                </c:pt>
                <c:pt idx="39">
                  <c:v>144.2262696091465</c:v>
                </c:pt>
                <c:pt idx="40">
                  <c:v>144.07072587077906</c:v>
                </c:pt>
                <c:pt idx="41">
                  <c:v>143.06567402286626</c:v>
                </c:pt>
                <c:pt idx="42">
                  <c:v>138.5402818399362</c:v>
                </c:pt>
                <c:pt idx="43">
                  <c:v>132.23610741823984</c:v>
                </c:pt>
                <c:pt idx="44">
                  <c:v>132.05131613932463</c:v>
                </c:pt>
                <c:pt idx="45">
                  <c:v>128.78888593459186</c:v>
                </c:pt>
                <c:pt idx="46">
                  <c:v>132.90082424887001</c:v>
                </c:pt>
                <c:pt idx="47">
                  <c:v>129.9800584950811</c:v>
                </c:pt>
                <c:pt idx="48">
                  <c:v>129.98537622972614</c:v>
                </c:pt>
                <c:pt idx="49">
                  <c:v>132.68279712842329</c:v>
                </c:pt>
                <c:pt idx="50">
                  <c:v>132.20420101036959</c:v>
                </c:pt>
                <c:pt idx="51">
                  <c:v>130.71257644243553</c:v>
                </c:pt>
                <c:pt idx="52">
                  <c:v>128.94310023929808</c:v>
                </c:pt>
                <c:pt idx="53">
                  <c:v>129.76336080829566</c:v>
                </c:pt>
                <c:pt idx="54">
                  <c:v>132.89151821324117</c:v>
                </c:pt>
                <c:pt idx="55">
                  <c:v>130.35894708854028</c:v>
                </c:pt>
                <c:pt idx="56">
                  <c:v>131.49162456793405</c:v>
                </c:pt>
                <c:pt idx="57">
                  <c:v>134.5214038819463</c:v>
                </c:pt>
                <c:pt idx="58">
                  <c:v>132.82903483116192</c:v>
                </c:pt>
                <c:pt idx="59">
                  <c:v>132.1829300717894</c:v>
                </c:pt>
                <c:pt idx="60">
                  <c:v>131.83461845253922</c:v>
                </c:pt>
              </c:numCache>
            </c:numRef>
          </c:val>
          <c:smooth val="0"/>
          <c:extLst>
            <c:ext xmlns:c16="http://schemas.microsoft.com/office/drawing/2014/chart" uri="{C3380CC4-5D6E-409C-BE32-E72D297353CC}">
              <c16:uniqueId val="{00000001-D0ED-9040-A494-05B2B65A43AD}"/>
            </c:ext>
          </c:extLst>
        </c:ser>
        <c:dLbls>
          <c:showLegendKey val="0"/>
          <c:showVal val="0"/>
          <c:showCatName val="0"/>
          <c:showSerName val="0"/>
          <c:showPercent val="0"/>
          <c:showBubbleSize val="0"/>
        </c:dLbls>
        <c:smooth val="0"/>
        <c:axId val="1761617536"/>
        <c:axId val="1730748736"/>
      </c:lineChart>
      <c:dateAx>
        <c:axId val="176161753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0748736"/>
        <c:crosses val="autoZero"/>
        <c:auto val="1"/>
        <c:lblOffset val="100"/>
        <c:baseTimeUnit val="months"/>
        <c:majorUnit val="12"/>
        <c:majorTimeUnit val="months"/>
      </c:dateAx>
      <c:valAx>
        <c:axId val="173074873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616175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kern="1200" spc="0" baseline="0">
                <a:solidFill>
                  <a:schemeClr val="tx1"/>
                </a:solidFill>
                <a:latin typeface="Arial"/>
              </a:rPr>
              <a:t>Long Yields Are Stuck Near Cycle Highs, Reinforcing 'Higher for Longer'</a:t>
            </a:r>
            <a:endParaRPr lang="en-US" sz="1000" b="1" i="0" u="none" strike="noStrike" kern="1200" spc="0" baseline="0">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US!$W$3</c:f>
              <c:strCache>
                <c:ptCount val="1"/>
                <c:pt idx="0">
                  <c:v>US 10-Year Treasury Yield (%)</c:v>
                </c:pt>
              </c:strCache>
            </c:strRef>
          </c:tx>
          <c:spPr>
            <a:ln w="22225" cap="rnd">
              <a:solidFill>
                <a:srgbClr val="0B2C48"/>
              </a:solidFill>
              <a:round/>
            </a:ln>
            <a:effectLst/>
          </c:spPr>
          <c:marker>
            <c:symbol val="none"/>
          </c:marker>
          <c:cat>
            <c:numRef>
              <c:f>US!$V$4:$V$2611</c:f>
              <c:numCache>
                <c:formatCode>yyyy\-mm\-dd</c:formatCode>
                <c:ptCount val="2608"/>
                <c:pt idx="0">
                  <c:v>42619</c:v>
                </c:pt>
                <c:pt idx="1">
                  <c:v>42620</c:v>
                </c:pt>
                <c:pt idx="2">
                  <c:v>42621</c:v>
                </c:pt>
                <c:pt idx="3">
                  <c:v>42622</c:v>
                </c:pt>
                <c:pt idx="4">
                  <c:v>42625</c:v>
                </c:pt>
                <c:pt idx="5">
                  <c:v>42626</c:v>
                </c:pt>
                <c:pt idx="6">
                  <c:v>42627</c:v>
                </c:pt>
                <c:pt idx="7">
                  <c:v>42628</c:v>
                </c:pt>
                <c:pt idx="8">
                  <c:v>42629</c:v>
                </c:pt>
                <c:pt idx="9">
                  <c:v>42632</c:v>
                </c:pt>
                <c:pt idx="10">
                  <c:v>42633</c:v>
                </c:pt>
                <c:pt idx="11">
                  <c:v>42634</c:v>
                </c:pt>
                <c:pt idx="12">
                  <c:v>42635</c:v>
                </c:pt>
                <c:pt idx="13">
                  <c:v>42636</c:v>
                </c:pt>
                <c:pt idx="14">
                  <c:v>42639</c:v>
                </c:pt>
                <c:pt idx="15">
                  <c:v>42640</c:v>
                </c:pt>
                <c:pt idx="16">
                  <c:v>42641</c:v>
                </c:pt>
                <c:pt idx="17">
                  <c:v>42642</c:v>
                </c:pt>
                <c:pt idx="18">
                  <c:v>42643</c:v>
                </c:pt>
                <c:pt idx="19">
                  <c:v>42646</c:v>
                </c:pt>
                <c:pt idx="20">
                  <c:v>42647</c:v>
                </c:pt>
                <c:pt idx="21">
                  <c:v>42648</c:v>
                </c:pt>
                <c:pt idx="22">
                  <c:v>42649</c:v>
                </c:pt>
                <c:pt idx="23">
                  <c:v>42650</c:v>
                </c:pt>
                <c:pt idx="24">
                  <c:v>42653</c:v>
                </c:pt>
                <c:pt idx="25">
                  <c:v>42654</c:v>
                </c:pt>
                <c:pt idx="26">
                  <c:v>42655</c:v>
                </c:pt>
                <c:pt idx="27">
                  <c:v>42656</c:v>
                </c:pt>
                <c:pt idx="28">
                  <c:v>42657</c:v>
                </c:pt>
                <c:pt idx="29">
                  <c:v>42660</c:v>
                </c:pt>
                <c:pt idx="30">
                  <c:v>42661</c:v>
                </c:pt>
                <c:pt idx="31">
                  <c:v>42662</c:v>
                </c:pt>
                <c:pt idx="32">
                  <c:v>42663</c:v>
                </c:pt>
                <c:pt idx="33">
                  <c:v>42664</c:v>
                </c:pt>
                <c:pt idx="34">
                  <c:v>42667</c:v>
                </c:pt>
                <c:pt idx="35">
                  <c:v>42668</c:v>
                </c:pt>
                <c:pt idx="36">
                  <c:v>42669</c:v>
                </c:pt>
                <c:pt idx="37">
                  <c:v>42670</c:v>
                </c:pt>
                <c:pt idx="38">
                  <c:v>42671</c:v>
                </c:pt>
                <c:pt idx="39">
                  <c:v>42674</c:v>
                </c:pt>
                <c:pt idx="40">
                  <c:v>42675</c:v>
                </c:pt>
                <c:pt idx="41">
                  <c:v>42676</c:v>
                </c:pt>
                <c:pt idx="42">
                  <c:v>42677</c:v>
                </c:pt>
                <c:pt idx="43">
                  <c:v>42678</c:v>
                </c:pt>
                <c:pt idx="44">
                  <c:v>42681</c:v>
                </c:pt>
                <c:pt idx="45">
                  <c:v>42682</c:v>
                </c:pt>
                <c:pt idx="46">
                  <c:v>42683</c:v>
                </c:pt>
                <c:pt idx="47">
                  <c:v>42684</c:v>
                </c:pt>
                <c:pt idx="48">
                  <c:v>42685</c:v>
                </c:pt>
                <c:pt idx="49">
                  <c:v>42688</c:v>
                </c:pt>
                <c:pt idx="50">
                  <c:v>42689</c:v>
                </c:pt>
                <c:pt idx="51">
                  <c:v>42690</c:v>
                </c:pt>
                <c:pt idx="52">
                  <c:v>42691</c:v>
                </c:pt>
                <c:pt idx="53">
                  <c:v>42692</c:v>
                </c:pt>
                <c:pt idx="54">
                  <c:v>42695</c:v>
                </c:pt>
                <c:pt idx="55">
                  <c:v>42696</c:v>
                </c:pt>
                <c:pt idx="56">
                  <c:v>42697</c:v>
                </c:pt>
                <c:pt idx="57">
                  <c:v>42698</c:v>
                </c:pt>
                <c:pt idx="58">
                  <c:v>42699</c:v>
                </c:pt>
                <c:pt idx="59">
                  <c:v>42702</c:v>
                </c:pt>
                <c:pt idx="60">
                  <c:v>42703</c:v>
                </c:pt>
                <c:pt idx="61">
                  <c:v>42704</c:v>
                </c:pt>
                <c:pt idx="62">
                  <c:v>42705</c:v>
                </c:pt>
                <c:pt idx="63">
                  <c:v>42706</c:v>
                </c:pt>
                <c:pt idx="64">
                  <c:v>42709</c:v>
                </c:pt>
                <c:pt idx="65">
                  <c:v>42710</c:v>
                </c:pt>
                <c:pt idx="66">
                  <c:v>42711</c:v>
                </c:pt>
                <c:pt idx="67">
                  <c:v>42712</c:v>
                </c:pt>
                <c:pt idx="68">
                  <c:v>42713</c:v>
                </c:pt>
                <c:pt idx="69">
                  <c:v>42716</c:v>
                </c:pt>
                <c:pt idx="70">
                  <c:v>42717</c:v>
                </c:pt>
                <c:pt idx="71">
                  <c:v>42718</c:v>
                </c:pt>
                <c:pt idx="72">
                  <c:v>42719</c:v>
                </c:pt>
                <c:pt idx="73">
                  <c:v>42720</c:v>
                </c:pt>
                <c:pt idx="74">
                  <c:v>42723</c:v>
                </c:pt>
                <c:pt idx="75">
                  <c:v>42724</c:v>
                </c:pt>
                <c:pt idx="76">
                  <c:v>42725</c:v>
                </c:pt>
                <c:pt idx="77">
                  <c:v>42726</c:v>
                </c:pt>
                <c:pt idx="78">
                  <c:v>42727</c:v>
                </c:pt>
                <c:pt idx="79">
                  <c:v>42730</c:v>
                </c:pt>
                <c:pt idx="80">
                  <c:v>42731</c:v>
                </c:pt>
                <c:pt idx="81">
                  <c:v>42732</c:v>
                </c:pt>
                <c:pt idx="82">
                  <c:v>42733</c:v>
                </c:pt>
                <c:pt idx="83">
                  <c:v>42734</c:v>
                </c:pt>
                <c:pt idx="84">
                  <c:v>42737</c:v>
                </c:pt>
                <c:pt idx="85">
                  <c:v>42738</c:v>
                </c:pt>
                <c:pt idx="86">
                  <c:v>42739</c:v>
                </c:pt>
                <c:pt idx="87">
                  <c:v>42740</c:v>
                </c:pt>
                <c:pt idx="88">
                  <c:v>42741</c:v>
                </c:pt>
                <c:pt idx="89">
                  <c:v>42744</c:v>
                </c:pt>
                <c:pt idx="90">
                  <c:v>42745</c:v>
                </c:pt>
                <c:pt idx="91">
                  <c:v>42746</c:v>
                </c:pt>
                <c:pt idx="92">
                  <c:v>42747</c:v>
                </c:pt>
                <c:pt idx="93">
                  <c:v>42748</c:v>
                </c:pt>
                <c:pt idx="94">
                  <c:v>42751</c:v>
                </c:pt>
                <c:pt idx="95">
                  <c:v>42752</c:v>
                </c:pt>
                <c:pt idx="96">
                  <c:v>42753</c:v>
                </c:pt>
                <c:pt idx="97">
                  <c:v>42754</c:v>
                </c:pt>
                <c:pt idx="98">
                  <c:v>42755</c:v>
                </c:pt>
                <c:pt idx="99">
                  <c:v>42758</c:v>
                </c:pt>
                <c:pt idx="100">
                  <c:v>42759</c:v>
                </c:pt>
                <c:pt idx="101">
                  <c:v>42760</c:v>
                </c:pt>
                <c:pt idx="102">
                  <c:v>42761</c:v>
                </c:pt>
                <c:pt idx="103">
                  <c:v>42762</c:v>
                </c:pt>
                <c:pt idx="104">
                  <c:v>42765</c:v>
                </c:pt>
                <c:pt idx="105">
                  <c:v>42766</c:v>
                </c:pt>
                <c:pt idx="106">
                  <c:v>42767</c:v>
                </c:pt>
                <c:pt idx="107">
                  <c:v>42768</c:v>
                </c:pt>
                <c:pt idx="108">
                  <c:v>42769</c:v>
                </c:pt>
                <c:pt idx="109">
                  <c:v>42772</c:v>
                </c:pt>
                <c:pt idx="110">
                  <c:v>42773</c:v>
                </c:pt>
                <c:pt idx="111">
                  <c:v>42774</c:v>
                </c:pt>
                <c:pt idx="112">
                  <c:v>42775</c:v>
                </c:pt>
                <c:pt idx="113">
                  <c:v>42776</c:v>
                </c:pt>
                <c:pt idx="114">
                  <c:v>42779</c:v>
                </c:pt>
                <c:pt idx="115">
                  <c:v>42780</c:v>
                </c:pt>
                <c:pt idx="116">
                  <c:v>42781</c:v>
                </c:pt>
                <c:pt idx="117">
                  <c:v>42782</c:v>
                </c:pt>
                <c:pt idx="118">
                  <c:v>42783</c:v>
                </c:pt>
                <c:pt idx="119">
                  <c:v>42786</c:v>
                </c:pt>
                <c:pt idx="120">
                  <c:v>42787</c:v>
                </c:pt>
                <c:pt idx="121">
                  <c:v>42788</c:v>
                </c:pt>
                <c:pt idx="122">
                  <c:v>42789</c:v>
                </c:pt>
                <c:pt idx="123">
                  <c:v>42790</c:v>
                </c:pt>
                <c:pt idx="124">
                  <c:v>42793</c:v>
                </c:pt>
                <c:pt idx="125">
                  <c:v>42794</c:v>
                </c:pt>
                <c:pt idx="126">
                  <c:v>42795</c:v>
                </c:pt>
                <c:pt idx="127">
                  <c:v>42796</c:v>
                </c:pt>
                <c:pt idx="128">
                  <c:v>42797</c:v>
                </c:pt>
                <c:pt idx="129">
                  <c:v>42800</c:v>
                </c:pt>
                <c:pt idx="130">
                  <c:v>42801</c:v>
                </c:pt>
                <c:pt idx="131">
                  <c:v>42802</c:v>
                </c:pt>
                <c:pt idx="132">
                  <c:v>42803</c:v>
                </c:pt>
                <c:pt idx="133">
                  <c:v>42804</c:v>
                </c:pt>
                <c:pt idx="134">
                  <c:v>42807</c:v>
                </c:pt>
                <c:pt idx="135">
                  <c:v>42808</c:v>
                </c:pt>
                <c:pt idx="136">
                  <c:v>42809</c:v>
                </c:pt>
                <c:pt idx="137">
                  <c:v>42810</c:v>
                </c:pt>
                <c:pt idx="138">
                  <c:v>42811</c:v>
                </c:pt>
                <c:pt idx="139">
                  <c:v>42814</c:v>
                </c:pt>
                <c:pt idx="140">
                  <c:v>42815</c:v>
                </c:pt>
                <c:pt idx="141">
                  <c:v>42816</c:v>
                </c:pt>
                <c:pt idx="142">
                  <c:v>42817</c:v>
                </c:pt>
                <c:pt idx="143">
                  <c:v>42818</c:v>
                </c:pt>
                <c:pt idx="144">
                  <c:v>42821</c:v>
                </c:pt>
                <c:pt idx="145">
                  <c:v>42822</c:v>
                </c:pt>
                <c:pt idx="146">
                  <c:v>42823</c:v>
                </c:pt>
                <c:pt idx="147">
                  <c:v>42824</c:v>
                </c:pt>
                <c:pt idx="148">
                  <c:v>42825</c:v>
                </c:pt>
                <c:pt idx="149">
                  <c:v>42828</c:v>
                </c:pt>
                <c:pt idx="150">
                  <c:v>42829</c:v>
                </c:pt>
                <c:pt idx="151">
                  <c:v>42830</c:v>
                </c:pt>
                <c:pt idx="152">
                  <c:v>42831</c:v>
                </c:pt>
                <c:pt idx="153">
                  <c:v>42832</c:v>
                </c:pt>
                <c:pt idx="154">
                  <c:v>42835</c:v>
                </c:pt>
                <c:pt idx="155">
                  <c:v>42836</c:v>
                </c:pt>
                <c:pt idx="156">
                  <c:v>42837</c:v>
                </c:pt>
                <c:pt idx="157">
                  <c:v>42838</c:v>
                </c:pt>
                <c:pt idx="158">
                  <c:v>42839</c:v>
                </c:pt>
                <c:pt idx="159">
                  <c:v>42842</c:v>
                </c:pt>
                <c:pt idx="160">
                  <c:v>42843</c:v>
                </c:pt>
                <c:pt idx="161">
                  <c:v>42844</c:v>
                </c:pt>
                <c:pt idx="162">
                  <c:v>42845</c:v>
                </c:pt>
                <c:pt idx="163">
                  <c:v>42846</c:v>
                </c:pt>
                <c:pt idx="164">
                  <c:v>42849</c:v>
                </c:pt>
                <c:pt idx="165">
                  <c:v>42850</c:v>
                </c:pt>
                <c:pt idx="166">
                  <c:v>42851</c:v>
                </c:pt>
                <c:pt idx="167">
                  <c:v>42852</c:v>
                </c:pt>
                <c:pt idx="168">
                  <c:v>42853</c:v>
                </c:pt>
                <c:pt idx="169">
                  <c:v>42856</c:v>
                </c:pt>
                <c:pt idx="170">
                  <c:v>42857</c:v>
                </c:pt>
                <c:pt idx="171">
                  <c:v>42858</c:v>
                </c:pt>
                <c:pt idx="172">
                  <c:v>42859</c:v>
                </c:pt>
                <c:pt idx="173">
                  <c:v>42860</c:v>
                </c:pt>
                <c:pt idx="174">
                  <c:v>42863</c:v>
                </c:pt>
                <c:pt idx="175">
                  <c:v>42864</c:v>
                </c:pt>
                <c:pt idx="176">
                  <c:v>42865</c:v>
                </c:pt>
                <c:pt idx="177">
                  <c:v>42866</c:v>
                </c:pt>
                <c:pt idx="178">
                  <c:v>42867</c:v>
                </c:pt>
                <c:pt idx="179">
                  <c:v>42870</c:v>
                </c:pt>
                <c:pt idx="180">
                  <c:v>42871</c:v>
                </c:pt>
                <c:pt idx="181">
                  <c:v>42872</c:v>
                </c:pt>
                <c:pt idx="182">
                  <c:v>42873</c:v>
                </c:pt>
                <c:pt idx="183">
                  <c:v>42874</c:v>
                </c:pt>
                <c:pt idx="184">
                  <c:v>42877</c:v>
                </c:pt>
                <c:pt idx="185">
                  <c:v>42878</c:v>
                </c:pt>
                <c:pt idx="186">
                  <c:v>42879</c:v>
                </c:pt>
                <c:pt idx="187">
                  <c:v>42880</c:v>
                </c:pt>
                <c:pt idx="188">
                  <c:v>42881</c:v>
                </c:pt>
                <c:pt idx="189">
                  <c:v>42884</c:v>
                </c:pt>
                <c:pt idx="190">
                  <c:v>42885</c:v>
                </c:pt>
                <c:pt idx="191">
                  <c:v>42886</c:v>
                </c:pt>
                <c:pt idx="192">
                  <c:v>42887</c:v>
                </c:pt>
                <c:pt idx="193">
                  <c:v>42888</c:v>
                </c:pt>
                <c:pt idx="194">
                  <c:v>42891</c:v>
                </c:pt>
                <c:pt idx="195">
                  <c:v>42892</c:v>
                </c:pt>
                <c:pt idx="196">
                  <c:v>42893</c:v>
                </c:pt>
                <c:pt idx="197">
                  <c:v>42894</c:v>
                </c:pt>
                <c:pt idx="198">
                  <c:v>42895</c:v>
                </c:pt>
                <c:pt idx="199">
                  <c:v>42898</c:v>
                </c:pt>
                <c:pt idx="200">
                  <c:v>42899</c:v>
                </c:pt>
                <c:pt idx="201">
                  <c:v>42900</c:v>
                </c:pt>
                <c:pt idx="202">
                  <c:v>42901</c:v>
                </c:pt>
                <c:pt idx="203">
                  <c:v>42902</c:v>
                </c:pt>
                <c:pt idx="204">
                  <c:v>42905</c:v>
                </c:pt>
                <c:pt idx="205">
                  <c:v>42906</c:v>
                </c:pt>
                <c:pt idx="206">
                  <c:v>42907</c:v>
                </c:pt>
                <c:pt idx="207">
                  <c:v>42908</c:v>
                </c:pt>
                <c:pt idx="208">
                  <c:v>42909</c:v>
                </c:pt>
                <c:pt idx="209">
                  <c:v>42912</c:v>
                </c:pt>
                <c:pt idx="210">
                  <c:v>42913</c:v>
                </c:pt>
                <c:pt idx="211">
                  <c:v>42914</c:v>
                </c:pt>
                <c:pt idx="212">
                  <c:v>42915</c:v>
                </c:pt>
                <c:pt idx="213">
                  <c:v>42916</c:v>
                </c:pt>
                <c:pt idx="214">
                  <c:v>42919</c:v>
                </c:pt>
                <c:pt idx="215">
                  <c:v>42920</c:v>
                </c:pt>
                <c:pt idx="216">
                  <c:v>42921</c:v>
                </c:pt>
                <c:pt idx="217">
                  <c:v>42922</c:v>
                </c:pt>
                <c:pt idx="218">
                  <c:v>42923</c:v>
                </c:pt>
                <c:pt idx="219">
                  <c:v>42926</c:v>
                </c:pt>
                <c:pt idx="220">
                  <c:v>42927</c:v>
                </c:pt>
                <c:pt idx="221">
                  <c:v>42928</c:v>
                </c:pt>
                <c:pt idx="222">
                  <c:v>42929</c:v>
                </c:pt>
                <c:pt idx="223">
                  <c:v>42930</c:v>
                </c:pt>
                <c:pt idx="224">
                  <c:v>42933</c:v>
                </c:pt>
                <c:pt idx="225">
                  <c:v>42934</c:v>
                </c:pt>
                <c:pt idx="226">
                  <c:v>42935</c:v>
                </c:pt>
                <c:pt idx="227">
                  <c:v>42936</c:v>
                </c:pt>
                <c:pt idx="228">
                  <c:v>42937</c:v>
                </c:pt>
                <c:pt idx="229">
                  <c:v>42940</c:v>
                </c:pt>
                <c:pt idx="230">
                  <c:v>42941</c:v>
                </c:pt>
                <c:pt idx="231">
                  <c:v>42942</c:v>
                </c:pt>
                <c:pt idx="232">
                  <c:v>42943</c:v>
                </c:pt>
                <c:pt idx="233">
                  <c:v>42944</c:v>
                </c:pt>
                <c:pt idx="234">
                  <c:v>42947</c:v>
                </c:pt>
                <c:pt idx="235">
                  <c:v>42948</c:v>
                </c:pt>
                <c:pt idx="236">
                  <c:v>42949</c:v>
                </c:pt>
                <c:pt idx="237">
                  <c:v>42950</c:v>
                </c:pt>
                <c:pt idx="238">
                  <c:v>42951</c:v>
                </c:pt>
                <c:pt idx="239">
                  <c:v>42954</c:v>
                </c:pt>
                <c:pt idx="240">
                  <c:v>42955</c:v>
                </c:pt>
                <c:pt idx="241">
                  <c:v>42956</c:v>
                </c:pt>
                <c:pt idx="242">
                  <c:v>42957</c:v>
                </c:pt>
                <c:pt idx="243">
                  <c:v>42958</c:v>
                </c:pt>
                <c:pt idx="244">
                  <c:v>42961</c:v>
                </c:pt>
                <c:pt idx="245">
                  <c:v>42962</c:v>
                </c:pt>
                <c:pt idx="246">
                  <c:v>42963</c:v>
                </c:pt>
                <c:pt idx="247">
                  <c:v>42964</c:v>
                </c:pt>
                <c:pt idx="248">
                  <c:v>42965</c:v>
                </c:pt>
                <c:pt idx="249">
                  <c:v>42968</c:v>
                </c:pt>
                <c:pt idx="250">
                  <c:v>42969</c:v>
                </c:pt>
                <c:pt idx="251">
                  <c:v>42970</c:v>
                </c:pt>
                <c:pt idx="252">
                  <c:v>42971</c:v>
                </c:pt>
                <c:pt idx="253">
                  <c:v>42972</c:v>
                </c:pt>
                <c:pt idx="254">
                  <c:v>42975</c:v>
                </c:pt>
                <c:pt idx="255">
                  <c:v>42976</c:v>
                </c:pt>
                <c:pt idx="256">
                  <c:v>42977</c:v>
                </c:pt>
                <c:pt idx="257">
                  <c:v>42978</c:v>
                </c:pt>
                <c:pt idx="258">
                  <c:v>42979</c:v>
                </c:pt>
                <c:pt idx="259">
                  <c:v>42982</c:v>
                </c:pt>
                <c:pt idx="260">
                  <c:v>42983</c:v>
                </c:pt>
                <c:pt idx="261">
                  <c:v>42984</c:v>
                </c:pt>
                <c:pt idx="262">
                  <c:v>42985</c:v>
                </c:pt>
                <c:pt idx="263">
                  <c:v>42986</c:v>
                </c:pt>
                <c:pt idx="264">
                  <c:v>42989</c:v>
                </c:pt>
                <c:pt idx="265">
                  <c:v>42990</c:v>
                </c:pt>
                <c:pt idx="266">
                  <c:v>42991</c:v>
                </c:pt>
                <c:pt idx="267">
                  <c:v>42992</c:v>
                </c:pt>
                <c:pt idx="268">
                  <c:v>42993</c:v>
                </c:pt>
                <c:pt idx="269">
                  <c:v>42996</c:v>
                </c:pt>
                <c:pt idx="270">
                  <c:v>42997</c:v>
                </c:pt>
                <c:pt idx="271">
                  <c:v>42998</c:v>
                </c:pt>
                <c:pt idx="272">
                  <c:v>42999</c:v>
                </c:pt>
                <c:pt idx="273">
                  <c:v>43000</c:v>
                </c:pt>
                <c:pt idx="274">
                  <c:v>43003</c:v>
                </c:pt>
                <c:pt idx="275">
                  <c:v>43004</c:v>
                </c:pt>
                <c:pt idx="276">
                  <c:v>43005</c:v>
                </c:pt>
                <c:pt idx="277">
                  <c:v>43006</c:v>
                </c:pt>
                <c:pt idx="278">
                  <c:v>43007</c:v>
                </c:pt>
                <c:pt idx="279">
                  <c:v>43010</c:v>
                </c:pt>
                <c:pt idx="280">
                  <c:v>43011</c:v>
                </c:pt>
                <c:pt idx="281">
                  <c:v>43012</c:v>
                </c:pt>
                <c:pt idx="282">
                  <c:v>43013</c:v>
                </c:pt>
                <c:pt idx="283">
                  <c:v>43014</c:v>
                </c:pt>
                <c:pt idx="284">
                  <c:v>43017</c:v>
                </c:pt>
                <c:pt idx="285">
                  <c:v>43018</c:v>
                </c:pt>
                <c:pt idx="286">
                  <c:v>43019</c:v>
                </c:pt>
                <c:pt idx="287">
                  <c:v>43020</c:v>
                </c:pt>
                <c:pt idx="288">
                  <c:v>43021</c:v>
                </c:pt>
                <c:pt idx="289">
                  <c:v>43024</c:v>
                </c:pt>
                <c:pt idx="290">
                  <c:v>43025</c:v>
                </c:pt>
                <c:pt idx="291">
                  <c:v>43026</c:v>
                </c:pt>
                <c:pt idx="292">
                  <c:v>43027</c:v>
                </c:pt>
                <c:pt idx="293">
                  <c:v>43028</c:v>
                </c:pt>
                <c:pt idx="294">
                  <c:v>43031</c:v>
                </c:pt>
                <c:pt idx="295">
                  <c:v>43032</c:v>
                </c:pt>
                <c:pt idx="296">
                  <c:v>43033</c:v>
                </c:pt>
                <c:pt idx="297">
                  <c:v>43034</c:v>
                </c:pt>
                <c:pt idx="298">
                  <c:v>43035</c:v>
                </c:pt>
                <c:pt idx="299">
                  <c:v>43038</c:v>
                </c:pt>
                <c:pt idx="300">
                  <c:v>43039</c:v>
                </c:pt>
                <c:pt idx="301">
                  <c:v>43040</c:v>
                </c:pt>
                <c:pt idx="302">
                  <c:v>43041</c:v>
                </c:pt>
                <c:pt idx="303">
                  <c:v>43042</c:v>
                </c:pt>
                <c:pt idx="304">
                  <c:v>43045</c:v>
                </c:pt>
                <c:pt idx="305">
                  <c:v>43046</c:v>
                </c:pt>
                <c:pt idx="306">
                  <c:v>43047</c:v>
                </c:pt>
                <c:pt idx="307">
                  <c:v>43048</c:v>
                </c:pt>
                <c:pt idx="308">
                  <c:v>43049</c:v>
                </c:pt>
                <c:pt idx="309">
                  <c:v>43052</c:v>
                </c:pt>
                <c:pt idx="310">
                  <c:v>43053</c:v>
                </c:pt>
                <c:pt idx="311">
                  <c:v>43054</c:v>
                </c:pt>
                <c:pt idx="312">
                  <c:v>43055</c:v>
                </c:pt>
                <c:pt idx="313">
                  <c:v>43056</c:v>
                </c:pt>
                <c:pt idx="314">
                  <c:v>43059</c:v>
                </c:pt>
                <c:pt idx="315">
                  <c:v>43060</c:v>
                </c:pt>
                <c:pt idx="316">
                  <c:v>43061</c:v>
                </c:pt>
                <c:pt idx="317">
                  <c:v>43062</c:v>
                </c:pt>
                <c:pt idx="318">
                  <c:v>43063</c:v>
                </c:pt>
                <c:pt idx="319">
                  <c:v>43066</c:v>
                </c:pt>
                <c:pt idx="320">
                  <c:v>43067</c:v>
                </c:pt>
                <c:pt idx="321">
                  <c:v>43068</c:v>
                </c:pt>
                <c:pt idx="322">
                  <c:v>43069</c:v>
                </c:pt>
                <c:pt idx="323">
                  <c:v>43070</c:v>
                </c:pt>
                <c:pt idx="324">
                  <c:v>43073</c:v>
                </c:pt>
                <c:pt idx="325">
                  <c:v>43074</c:v>
                </c:pt>
                <c:pt idx="326">
                  <c:v>43075</c:v>
                </c:pt>
                <c:pt idx="327">
                  <c:v>43076</c:v>
                </c:pt>
                <c:pt idx="328">
                  <c:v>43077</c:v>
                </c:pt>
                <c:pt idx="329">
                  <c:v>43080</c:v>
                </c:pt>
                <c:pt idx="330">
                  <c:v>43081</c:v>
                </c:pt>
                <c:pt idx="331">
                  <c:v>43082</c:v>
                </c:pt>
                <c:pt idx="332">
                  <c:v>43083</c:v>
                </c:pt>
                <c:pt idx="333">
                  <c:v>43084</c:v>
                </c:pt>
                <c:pt idx="334">
                  <c:v>43087</c:v>
                </c:pt>
                <c:pt idx="335">
                  <c:v>43088</c:v>
                </c:pt>
                <c:pt idx="336">
                  <c:v>43089</c:v>
                </c:pt>
                <c:pt idx="337">
                  <c:v>43090</c:v>
                </c:pt>
                <c:pt idx="338">
                  <c:v>43091</c:v>
                </c:pt>
                <c:pt idx="339">
                  <c:v>43094</c:v>
                </c:pt>
                <c:pt idx="340">
                  <c:v>43095</c:v>
                </c:pt>
                <c:pt idx="341">
                  <c:v>43096</c:v>
                </c:pt>
                <c:pt idx="342">
                  <c:v>43097</c:v>
                </c:pt>
                <c:pt idx="343">
                  <c:v>43098</c:v>
                </c:pt>
                <c:pt idx="344">
                  <c:v>43101</c:v>
                </c:pt>
                <c:pt idx="345">
                  <c:v>43102</c:v>
                </c:pt>
                <c:pt idx="346">
                  <c:v>43103</c:v>
                </c:pt>
                <c:pt idx="347">
                  <c:v>43104</c:v>
                </c:pt>
                <c:pt idx="348">
                  <c:v>43105</c:v>
                </c:pt>
                <c:pt idx="349">
                  <c:v>43108</c:v>
                </c:pt>
                <c:pt idx="350">
                  <c:v>43109</c:v>
                </c:pt>
                <c:pt idx="351">
                  <c:v>43110</c:v>
                </c:pt>
                <c:pt idx="352">
                  <c:v>43111</c:v>
                </c:pt>
                <c:pt idx="353">
                  <c:v>43112</c:v>
                </c:pt>
                <c:pt idx="354">
                  <c:v>43115</c:v>
                </c:pt>
                <c:pt idx="355">
                  <c:v>43116</c:v>
                </c:pt>
                <c:pt idx="356">
                  <c:v>43117</c:v>
                </c:pt>
                <c:pt idx="357">
                  <c:v>43118</c:v>
                </c:pt>
                <c:pt idx="358">
                  <c:v>43119</c:v>
                </c:pt>
                <c:pt idx="359">
                  <c:v>43122</c:v>
                </c:pt>
                <c:pt idx="360">
                  <c:v>43123</c:v>
                </c:pt>
                <c:pt idx="361">
                  <c:v>43124</c:v>
                </c:pt>
                <c:pt idx="362">
                  <c:v>43125</c:v>
                </c:pt>
                <c:pt idx="363">
                  <c:v>43126</c:v>
                </c:pt>
                <c:pt idx="364">
                  <c:v>43129</c:v>
                </c:pt>
                <c:pt idx="365">
                  <c:v>43130</c:v>
                </c:pt>
                <c:pt idx="366">
                  <c:v>43131</c:v>
                </c:pt>
                <c:pt idx="367">
                  <c:v>43132</c:v>
                </c:pt>
                <c:pt idx="368">
                  <c:v>43133</c:v>
                </c:pt>
                <c:pt idx="369">
                  <c:v>43136</c:v>
                </c:pt>
                <c:pt idx="370">
                  <c:v>43137</c:v>
                </c:pt>
                <c:pt idx="371">
                  <c:v>43138</c:v>
                </c:pt>
                <c:pt idx="372">
                  <c:v>43139</c:v>
                </c:pt>
                <c:pt idx="373">
                  <c:v>43140</c:v>
                </c:pt>
                <c:pt idx="374">
                  <c:v>43143</c:v>
                </c:pt>
                <c:pt idx="375">
                  <c:v>43144</c:v>
                </c:pt>
                <c:pt idx="376">
                  <c:v>43145</c:v>
                </c:pt>
                <c:pt idx="377">
                  <c:v>43146</c:v>
                </c:pt>
                <c:pt idx="378">
                  <c:v>43147</c:v>
                </c:pt>
                <c:pt idx="379">
                  <c:v>43150</c:v>
                </c:pt>
                <c:pt idx="380">
                  <c:v>43151</c:v>
                </c:pt>
                <c:pt idx="381">
                  <c:v>43152</c:v>
                </c:pt>
                <c:pt idx="382">
                  <c:v>43153</c:v>
                </c:pt>
                <c:pt idx="383">
                  <c:v>43154</c:v>
                </c:pt>
                <c:pt idx="384">
                  <c:v>43157</c:v>
                </c:pt>
                <c:pt idx="385">
                  <c:v>43158</c:v>
                </c:pt>
                <c:pt idx="386">
                  <c:v>43159</c:v>
                </c:pt>
                <c:pt idx="387">
                  <c:v>43160</c:v>
                </c:pt>
                <c:pt idx="388">
                  <c:v>43161</c:v>
                </c:pt>
                <c:pt idx="389">
                  <c:v>43164</c:v>
                </c:pt>
                <c:pt idx="390">
                  <c:v>43165</c:v>
                </c:pt>
                <c:pt idx="391">
                  <c:v>43166</c:v>
                </c:pt>
                <c:pt idx="392">
                  <c:v>43167</c:v>
                </c:pt>
                <c:pt idx="393">
                  <c:v>43168</c:v>
                </c:pt>
                <c:pt idx="394">
                  <c:v>43171</c:v>
                </c:pt>
                <c:pt idx="395">
                  <c:v>43172</c:v>
                </c:pt>
                <c:pt idx="396">
                  <c:v>43173</c:v>
                </c:pt>
                <c:pt idx="397">
                  <c:v>43174</c:v>
                </c:pt>
                <c:pt idx="398">
                  <c:v>43175</c:v>
                </c:pt>
                <c:pt idx="399">
                  <c:v>43178</c:v>
                </c:pt>
                <c:pt idx="400">
                  <c:v>43179</c:v>
                </c:pt>
                <c:pt idx="401">
                  <c:v>43180</c:v>
                </c:pt>
                <c:pt idx="402">
                  <c:v>43181</c:v>
                </c:pt>
                <c:pt idx="403">
                  <c:v>43182</c:v>
                </c:pt>
                <c:pt idx="404">
                  <c:v>43185</c:v>
                </c:pt>
                <c:pt idx="405">
                  <c:v>43186</c:v>
                </c:pt>
                <c:pt idx="406">
                  <c:v>43187</c:v>
                </c:pt>
                <c:pt idx="407">
                  <c:v>43188</c:v>
                </c:pt>
                <c:pt idx="408">
                  <c:v>43189</c:v>
                </c:pt>
                <c:pt idx="409">
                  <c:v>43192</c:v>
                </c:pt>
                <c:pt idx="410">
                  <c:v>43193</c:v>
                </c:pt>
                <c:pt idx="411">
                  <c:v>43194</c:v>
                </c:pt>
                <c:pt idx="412">
                  <c:v>43195</c:v>
                </c:pt>
                <c:pt idx="413">
                  <c:v>43196</c:v>
                </c:pt>
                <c:pt idx="414">
                  <c:v>43199</c:v>
                </c:pt>
                <c:pt idx="415">
                  <c:v>43200</c:v>
                </c:pt>
                <c:pt idx="416">
                  <c:v>43201</c:v>
                </c:pt>
                <c:pt idx="417">
                  <c:v>43202</c:v>
                </c:pt>
                <c:pt idx="418">
                  <c:v>43203</c:v>
                </c:pt>
                <c:pt idx="419">
                  <c:v>43206</c:v>
                </c:pt>
                <c:pt idx="420">
                  <c:v>43207</c:v>
                </c:pt>
                <c:pt idx="421">
                  <c:v>43208</c:v>
                </c:pt>
                <c:pt idx="422">
                  <c:v>43209</c:v>
                </c:pt>
                <c:pt idx="423">
                  <c:v>43210</c:v>
                </c:pt>
                <c:pt idx="424">
                  <c:v>43213</c:v>
                </c:pt>
                <c:pt idx="425">
                  <c:v>43214</c:v>
                </c:pt>
                <c:pt idx="426">
                  <c:v>43215</c:v>
                </c:pt>
                <c:pt idx="427">
                  <c:v>43216</c:v>
                </c:pt>
                <c:pt idx="428">
                  <c:v>43217</c:v>
                </c:pt>
                <c:pt idx="429">
                  <c:v>43220</c:v>
                </c:pt>
                <c:pt idx="430">
                  <c:v>43221</c:v>
                </c:pt>
                <c:pt idx="431">
                  <c:v>43222</c:v>
                </c:pt>
                <c:pt idx="432">
                  <c:v>43223</c:v>
                </c:pt>
                <c:pt idx="433">
                  <c:v>43224</c:v>
                </c:pt>
                <c:pt idx="434">
                  <c:v>43227</c:v>
                </c:pt>
                <c:pt idx="435">
                  <c:v>43228</c:v>
                </c:pt>
                <c:pt idx="436">
                  <c:v>43229</c:v>
                </c:pt>
                <c:pt idx="437">
                  <c:v>43230</c:v>
                </c:pt>
                <c:pt idx="438">
                  <c:v>43231</c:v>
                </c:pt>
                <c:pt idx="439">
                  <c:v>43234</c:v>
                </c:pt>
                <c:pt idx="440">
                  <c:v>43235</c:v>
                </c:pt>
                <c:pt idx="441">
                  <c:v>43236</c:v>
                </c:pt>
                <c:pt idx="442">
                  <c:v>43237</c:v>
                </c:pt>
                <c:pt idx="443">
                  <c:v>43238</c:v>
                </c:pt>
                <c:pt idx="444">
                  <c:v>43241</c:v>
                </c:pt>
                <c:pt idx="445">
                  <c:v>43242</c:v>
                </c:pt>
                <c:pt idx="446">
                  <c:v>43243</c:v>
                </c:pt>
                <c:pt idx="447">
                  <c:v>43244</c:v>
                </c:pt>
                <c:pt idx="448">
                  <c:v>43245</c:v>
                </c:pt>
                <c:pt idx="449">
                  <c:v>43248</c:v>
                </c:pt>
                <c:pt idx="450">
                  <c:v>43249</c:v>
                </c:pt>
                <c:pt idx="451">
                  <c:v>43250</c:v>
                </c:pt>
                <c:pt idx="452">
                  <c:v>43251</c:v>
                </c:pt>
                <c:pt idx="453">
                  <c:v>43252</c:v>
                </c:pt>
                <c:pt idx="454">
                  <c:v>43255</c:v>
                </c:pt>
                <c:pt idx="455">
                  <c:v>43256</c:v>
                </c:pt>
                <c:pt idx="456">
                  <c:v>43257</c:v>
                </c:pt>
                <c:pt idx="457">
                  <c:v>43258</c:v>
                </c:pt>
                <c:pt idx="458">
                  <c:v>43259</c:v>
                </c:pt>
                <c:pt idx="459">
                  <c:v>43262</c:v>
                </c:pt>
                <c:pt idx="460">
                  <c:v>43263</c:v>
                </c:pt>
                <c:pt idx="461">
                  <c:v>43264</c:v>
                </c:pt>
                <c:pt idx="462">
                  <c:v>43265</c:v>
                </c:pt>
                <c:pt idx="463">
                  <c:v>43266</c:v>
                </c:pt>
                <c:pt idx="464">
                  <c:v>43269</c:v>
                </c:pt>
                <c:pt idx="465">
                  <c:v>43270</c:v>
                </c:pt>
                <c:pt idx="466">
                  <c:v>43271</c:v>
                </c:pt>
                <c:pt idx="467">
                  <c:v>43272</c:v>
                </c:pt>
                <c:pt idx="468">
                  <c:v>43273</c:v>
                </c:pt>
                <c:pt idx="469">
                  <c:v>43276</c:v>
                </c:pt>
                <c:pt idx="470">
                  <c:v>43277</c:v>
                </c:pt>
                <c:pt idx="471">
                  <c:v>43278</c:v>
                </c:pt>
                <c:pt idx="472">
                  <c:v>43279</c:v>
                </c:pt>
                <c:pt idx="473">
                  <c:v>43280</c:v>
                </c:pt>
                <c:pt idx="474">
                  <c:v>43283</c:v>
                </c:pt>
                <c:pt idx="475">
                  <c:v>43284</c:v>
                </c:pt>
                <c:pt idx="476">
                  <c:v>43285</c:v>
                </c:pt>
                <c:pt idx="477">
                  <c:v>43286</c:v>
                </c:pt>
                <c:pt idx="478">
                  <c:v>43287</c:v>
                </c:pt>
                <c:pt idx="479">
                  <c:v>43290</c:v>
                </c:pt>
                <c:pt idx="480">
                  <c:v>43291</c:v>
                </c:pt>
                <c:pt idx="481">
                  <c:v>43292</c:v>
                </c:pt>
                <c:pt idx="482">
                  <c:v>43293</c:v>
                </c:pt>
                <c:pt idx="483">
                  <c:v>43294</c:v>
                </c:pt>
                <c:pt idx="484">
                  <c:v>43297</c:v>
                </c:pt>
                <c:pt idx="485">
                  <c:v>43298</c:v>
                </c:pt>
                <c:pt idx="486">
                  <c:v>43299</c:v>
                </c:pt>
                <c:pt idx="487">
                  <c:v>43300</c:v>
                </c:pt>
                <c:pt idx="488">
                  <c:v>43301</c:v>
                </c:pt>
                <c:pt idx="489">
                  <c:v>43304</c:v>
                </c:pt>
                <c:pt idx="490">
                  <c:v>43305</c:v>
                </c:pt>
                <c:pt idx="491">
                  <c:v>43306</c:v>
                </c:pt>
                <c:pt idx="492">
                  <c:v>43307</c:v>
                </c:pt>
                <c:pt idx="493">
                  <c:v>43308</c:v>
                </c:pt>
                <c:pt idx="494">
                  <c:v>43311</c:v>
                </c:pt>
                <c:pt idx="495">
                  <c:v>43312</c:v>
                </c:pt>
                <c:pt idx="496">
                  <c:v>43313</c:v>
                </c:pt>
                <c:pt idx="497">
                  <c:v>43314</c:v>
                </c:pt>
                <c:pt idx="498">
                  <c:v>43315</c:v>
                </c:pt>
                <c:pt idx="499">
                  <c:v>43318</c:v>
                </c:pt>
                <c:pt idx="500">
                  <c:v>43319</c:v>
                </c:pt>
                <c:pt idx="501">
                  <c:v>43320</c:v>
                </c:pt>
                <c:pt idx="502">
                  <c:v>43321</c:v>
                </c:pt>
                <c:pt idx="503">
                  <c:v>43322</c:v>
                </c:pt>
                <c:pt idx="504">
                  <c:v>43325</c:v>
                </c:pt>
                <c:pt idx="505">
                  <c:v>43326</c:v>
                </c:pt>
                <c:pt idx="506">
                  <c:v>43327</c:v>
                </c:pt>
                <c:pt idx="507">
                  <c:v>43328</c:v>
                </c:pt>
                <c:pt idx="508">
                  <c:v>43329</c:v>
                </c:pt>
                <c:pt idx="509">
                  <c:v>43332</c:v>
                </c:pt>
                <c:pt idx="510">
                  <c:v>43333</c:v>
                </c:pt>
                <c:pt idx="511">
                  <c:v>43334</c:v>
                </c:pt>
                <c:pt idx="512">
                  <c:v>43335</c:v>
                </c:pt>
                <c:pt idx="513">
                  <c:v>43336</c:v>
                </c:pt>
                <c:pt idx="514">
                  <c:v>43339</c:v>
                </c:pt>
                <c:pt idx="515">
                  <c:v>43340</c:v>
                </c:pt>
                <c:pt idx="516">
                  <c:v>43341</c:v>
                </c:pt>
                <c:pt idx="517">
                  <c:v>43342</c:v>
                </c:pt>
                <c:pt idx="518">
                  <c:v>43343</c:v>
                </c:pt>
                <c:pt idx="519">
                  <c:v>43346</c:v>
                </c:pt>
                <c:pt idx="520">
                  <c:v>43347</c:v>
                </c:pt>
                <c:pt idx="521">
                  <c:v>43348</c:v>
                </c:pt>
                <c:pt idx="522">
                  <c:v>43349</c:v>
                </c:pt>
                <c:pt idx="523">
                  <c:v>43350</c:v>
                </c:pt>
                <c:pt idx="524">
                  <c:v>43353</c:v>
                </c:pt>
                <c:pt idx="525">
                  <c:v>43354</c:v>
                </c:pt>
                <c:pt idx="526">
                  <c:v>43355</c:v>
                </c:pt>
                <c:pt idx="527">
                  <c:v>43356</c:v>
                </c:pt>
                <c:pt idx="528">
                  <c:v>43357</c:v>
                </c:pt>
                <c:pt idx="529">
                  <c:v>43360</c:v>
                </c:pt>
                <c:pt idx="530">
                  <c:v>43361</c:v>
                </c:pt>
                <c:pt idx="531">
                  <c:v>43362</c:v>
                </c:pt>
                <c:pt idx="532">
                  <c:v>43363</c:v>
                </c:pt>
                <c:pt idx="533">
                  <c:v>43364</c:v>
                </c:pt>
                <c:pt idx="534">
                  <c:v>43367</c:v>
                </c:pt>
                <c:pt idx="535">
                  <c:v>43368</c:v>
                </c:pt>
                <c:pt idx="536">
                  <c:v>43369</c:v>
                </c:pt>
                <c:pt idx="537">
                  <c:v>43370</c:v>
                </c:pt>
                <c:pt idx="538">
                  <c:v>43371</c:v>
                </c:pt>
                <c:pt idx="539">
                  <c:v>43374</c:v>
                </c:pt>
                <c:pt idx="540">
                  <c:v>43375</c:v>
                </c:pt>
                <c:pt idx="541">
                  <c:v>43376</c:v>
                </c:pt>
                <c:pt idx="542">
                  <c:v>43377</c:v>
                </c:pt>
                <c:pt idx="543">
                  <c:v>43378</c:v>
                </c:pt>
                <c:pt idx="544">
                  <c:v>43381</c:v>
                </c:pt>
                <c:pt idx="545">
                  <c:v>43382</c:v>
                </c:pt>
                <c:pt idx="546">
                  <c:v>43383</c:v>
                </c:pt>
                <c:pt idx="547">
                  <c:v>43384</c:v>
                </c:pt>
                <c:pt idx="548">
                  <c:v>43385</c:v>
                </c:pt>
                <c:pt idx="549">
                  <c:v>43388</c:v>
                </c:pt>
                <c:pt idx="550">
                  <c:v>43389</c:v>
                </c:pt>
                <c:pt idx="551">
                  <c:v>43390</c:v>
                </c:pt>
                <c:pt idx="552">
                  <c:v>43391</c:v>
                </c:pt>
                <c:pt idx="553">
                  <c:v>43392</c:v>
                </c:pt>
                <c:pt idx="554">
                  <c:v>43395</c:v>
                </c:pt>
                <c:pt idx="555">
                  <c:v>43396</c:v>
                </c:pt>
                <c:pt idx="556">
                  <c:v>43397</c:v>
                </c:pt>
                <c:pt idx="557">
                  <c:v>43398</c:v>
                </c:pt>
                <c:pt idx="558">
                  <c:v>43399</c:v>
                </c:pt>
                <c:pt idx="559">
                  <c:v>43402</c:v>
                </c:pt>
                <c:pt idx="560">
                  <c:v>43403</c:v>
                </c:pt>
                <c:pt idx="561">
                  <c:v>43404</c:v>
                </c:pt>
                <c:pt idx="562">
                  <c:v>43405</c:v>
                </c:pt>
                <c:pt idx="563">
                  <c:v>43406</c:v>
                </c:pt>
                <c:pt idx="564">
                  <c:v>43409</c:v>
                </c:pt>
                <c:pt idx="565">
                  <c:v>43410</c:v>
                </c:pt>
                <c:pt idx="566">
                  <c:v>43411</c:v>
                </c:pt>
                <c:pt idx="567">
                  <c:v>43412</c:v>
                </c:pt>
                <c:pt idx="568">
                  <c:v>43413</c:v>
                </c:pt>
                <c:pt idx="569">
                  <c:v>43416</c:v>
                </c:pt>
                <c:pt idx="570">
                  <c:v>43417</c:v>
                </c:pt>
                <c:pt idx="571">
                  <c:v>43418</c:v>
                </c:pt>
                <c:pt idx="572">
                  <c:v>43419</c:v>
                </c:pt>
                <c:pt idx="573">
                  <c:v>43420</c:v>
                </c:pt>
                <c:pt idx="574">
                  <c:v>43423</c:v>
                </c:pt>
                <c:pt idx="575">
                  <c:v>43424</c:v>
                </c:pt>
                <c:pt idx="576">
                  <c:v>43425</c:v>
                </c:pt>
                <c:pt idx="577">
                  <c:v>43426</c:v>
                </c:pt>
                <c:pt idx="578">
                  <c:v>43427</c:v>
                </c:pt>
                <c:pt idx="579">
                  <c:v>43430</c:v>
                </c:pt>
                <c:pt idx="580">
                  <c:v>43431</c:v>
                </c:pt>
                <c:pt idx="581">
                  <c:v>43432</c:v>
                </c:pt>
                <c:pt idx="582">
                  <c:v>43433</c:v>
                </c:pt>
                <c:pt idx="583">
                  <c:v>43434</c:v>
                </c:pt>
                <c:pt idx="584">
                  <c:v>43437</c:v>
                </c:pt>
                <c:pt idx="585">
                  <c:v>43438</c:v>
                </c:pt>
                <c:pt idx="586">
                  <c:v>43439</c:v>
                </c:pt>
                <c:pt idx="587">
                  <c:v>43440</c:v>
                </c:pt>
                <c:pt idx="588">
                  <c:v>43441</c:v>
                </c:pt>
                <c:pt idx="589">
                  <c:v>43444</c:v>
                </c:pt>
                <c:pt idx="590">
                  <c:v>43445</c:v>
                </c:pt>
                <c:pt idx="591">
                  <c:v>43446</c:v>
                </c:pt>
                <c:pt idx="592">
                  <c:v>43447</c:v>
                </c:pt>
                <c:pt idx="593">
                  <c:v>43448</c:v>
                </c:pt>
                <c:pt idx="594">
                  <c:v>43451</c:v>
                </c:pt>
                <c:pt idx="595">
                  <c:v>43452</c:v>
                </c:pt>
                <c:pt idx="596">
                  <c:v>43453</c:v>
                </c:pt>
                <c:pt idx="597">
                  <c:v>43454</c:v>
                </c:pt>
                <c:pt idx="598">
                  <c:v>43455</c:v>
                </c:pt>
                <c:pt idx="599">
                  <c:v>43458</c:v>
                </c:pt>
                <c:pt idx="600">
                  <c:v>43459</c:v>
                </c:pt>
                <c:pt idx="601">
                  <c:v>43460</c:v>
                </c:pt>
                <c:pt idx="602">
                  <c:v>43461</c:v>
                </c:pt>
                <c:pt idx="603">
                  <c:v>43462</c:v>
                </c:pt>
                <c:pt idx="604">
                  <c:v>43465</c:v>
                </c:pt>
                <c:pt idx="605">
                  <c:v>43466</c:v>
                </c:pt>
                <c:pt idx="606">
                  <c:v>43467</c:v>
                </c:pt>
                <c:pt idx="607">
                  <c:v>43468</c:v>
                </c:pt>
                <c:pt idx="608">
                  <c:v>43469</c:v>
                </c:pt>
                <c:pt idx="609">
                  <c:v>43472</c:v>
                </c:pt>
                <c:pt idx="610">
                  <c:v>43473</c:v>
                </c:pt>
                <c:pt idx="611">
                  <c:v>43474</c:v>
                </c:pt>
                <c:pt idx="612">
                  <c:v>43475</c:v>
                </c:pt>
                <c:pt idx="613">
                  <c:v>43476</c:v>
                </c:pt>
                <c:pt idx="614">
                  <c:v>43479</c:v>
                </c:pt>
                <c:pt idx="615">
                  <c:v>43480</c:v>
                </c:pt>
                <c:pt idx="616">
                  <c:v>43481</c:v>
                </c:pt>
                <c:pt idx="617">
                  <c:v>43482</c:v>
                </c:pt>
                <c:pt idx="618">
                  <c:v>43483</c:v>
                </c:pt>
                <c:pt idx="619">
                  <c:v>43486</c:v>
                </c:pt>
                <c:pt idx="620">
                  <c:v>43487</c:v>
                </c:pt>
                <c:pt idx="621">
                  <c:v>43488</c:v>
                </c:pt>
                <c:pt idx="622">
                  <c:v>43489</c:v>
                </c:pt>
                <c:pt idx="623">
                  <c:v>43490</c:v>
                </c:pt>
                <c:pt idx="624">
                  <c:v>43493</c:v>
                </c:pt>
                <c:pt idx="625">
                  <c:v>43494</c:v>
                </c:pt>
                <c:pt idx="626">
                  <c:v>43495</c:v>
                </c:pt>
                <c:pt idx="627">
                  <c:v>43496</c:v>
                </c:pt>
                <c:pt idx="628">
                  <c:v>43497</c:v>
                </c:pt>
                <c:pt idx="629">
                  <c:v>43500</c:v>
                </c:pt>
                <c:pt idx="630">
                  <c:v>43501</c:v>
                </c:pt>
                <c:pt idx="631">
                  <c:v>43502</c:v>
                </c:pt>
                <c:pt idx="632">
                  <c:v>43503</c:v>
                </c:pt>
                <c:pt idx="633">
                  <c:v>43504</c:v>
                </c:pt>
                <c:pt idx="634">
                  <c:v>43507</c:v>
                </c:pt>
                <c:pt idx="635">
                  <c:v>43508</c:v>
                </c:pt>
                <c:pt idx="636">
                  <c:v>43509</c:v>
                </c:pt>
                <c:pt idx="637">
                  <c:v>43510</c:v>
                </c:pt>
                <c:pt idx="638">
                  <c:v>43511</c:v>
                </c:pt>
                <c:pt idx="639">
                  <c:v>43514</c:v>
                </c:pt>
                <c:pt idx="640">
                  <c:v>43515</c:v>
                </c:pt>
                <c:pt idx="641">
                  <c:v>43516</c:v>
                </c:pt>
                <c:pt idx="642">
                  <c:v>43517</c:v>
                </c:pt>
                <c:pt idx="643">
                  <c:v>43518</c:v>
                </c:pt>
                <c:pt idx="644">
                  <c:v>43521</c:v>
                </c:pt>
                <c:pt idx="645">
                  <c:v>43522</c:v>
                </c:pt>
                <c:pt idx="646">
                  <c:v>43523</c:v>
                </c:pt>
                <c:pt idx="647">
                  <c:v>43524</c:v>
                </c:pt>
                <c:pt idx="648">
                  <c:v>43525</c:v>
                </c:pt>
                <c:pt idx="649">
                  <c:v>43528</c:v>
                </c:pt>
                <c:pt idx="650">
                  <c:v>43529</c:v>
                </c:pt>
                <c:pt idx="651">
                  <c:v>43530</c:v>
                </c:pt>
                <c:pt idx="652">
                  <c:v>43531</c:v>
                </c:pt>
                <c:pt idx="653">
                  <c:v>43532</c:v>
                </c:pt>
                <c:pt idx="654">
                  <c:v>43535</c:v>
                </c:pt>
                <c:pt idx="655">
                  <c:v>43536</c:v>
                </c:pt>
                <c:pt idx="656">
                  <c:v>43537</c:v>
                </c:pt>
                <c:pt idx="657">
                  <c:v>43538</c:v>
                </c:pt>
                <c:pt idx="658">
                  <c:v>43539</c:v>
                </c:pt>
                <c:pt idx="659">
                  <c:v>43542</c:v>
                </c:pt>
                <c:pt idx="660">
                  <c:v>43543</c:v>
                </c:pt>
                <c:pt idx="661">
                  <c:v>43544</c:v>
                </c:pt>
                <c:pt idx="662">
                  <c:v>43545</c:v>
                </c:pt>
                <c:pt idx="663">
                  <c:v>43546</c:v>
                </c:pt>
                <c:pt idx="664">
                  <c:v>43549</c:v>
                </c:pt>
                <c:pt idx="665">
                  <c:v>43550</c:v>
                </c:pt>
                <c:pt idx="666">
                  <c:v>43551</c:v>
                </c:pt>
                <c:pt idx="667">
                  <c:v>43552</c:v>
                </c:pt>
                <c:pt idx="668">
                  <c:v>43553</c:v>
                </c:pt>
                <c:pt idx="669">
                  <c:v>43556</c:v>
                </c:pt>
                <c:pt idx="670">
                  <c:v>43557</c:v>
                </c:pt>
                <c:pt idx="671">
                  <c:v>43558</c:v>
                </c:pt>
                <c:pt idx="672">
                  <c:v>43559</c:v>
                </c:pt>
                <c:pt idx="673">
                  <c:v>43560</c:v>
                </c:pt>
                <c:pt idx="674">
                  <c:v>43563</c:v>
                </c:pt>
                <c:pt idx="675">
                  <c:v>43564</c:v>
                </c:pt>
                <c:pt idx="676">
                  <c:v>43565</c:v>
                </c:pt>
                <c:pt idx="677">
                  <c:v>43566</c:v>
                </c:pt>
                <c:pt idx="678">
                  <c:v>43567</c:v>
                </c:pt>
                <c:pt idx="679">
                  <c:v>43570</c:v>
                </c:pt>
                <c:pt idx="680">
                  <c:v>43571</c:v>
                </c:pt>
                <c:pt idx="681">
                  <c:v>43572</c:v>
                </c:pt>
                <c:pt idx="682">
                  <c:v>43573</c:v>
                </c:pt>
                <c:pt idx="683">
                  <c:v>43574</c:v>
                </c:pt>
                <c:pt idx="684">
                  <c:v>43577</c:v>
                </c:pt>
                <c:pt idx="685">
                  <c:v>43578</c:v>
                </c:pt>
                <c:pt idx="686">
                  <c:v>43579</c:v>
                </c:pt>
                <c:pt idx="687">
                  <c:v>43580</c:v>
                </c:pt>
                <c:pt idx="688">
                  <c:v>43581</c:v>
                </c:pt>
                <c:pt idx="689">
                  <c:v>43584</c:v>
                </c:pt>
                <c:pt idx="690">
                  <c:v>43585</c:v>
                </c:pt>
                <c:pt idx="691">
                  <c:v>43586</c:v>
                </c:pt>
                <c:pt idx="692">
                  <c:v>43587</c:v>
                </c:pt>
                <c:pt idx="693">
                  <c:v>43588</c:v>
                </c:pt>
                <c:pt idx="694">
                  <c:v>43591</c:v>
                </c:pt>
                <c:pt idx="695">
                  <c:v>43592</c:v>
                </c:pt>
                <c:pt idx="696">
                  <c:v>43593</c:v>
                </c:pt>
                <c:pt idx="697">
                  <c:v>43594</c:v>
                </c:pt>
                <c:pt idx="698">
                  <c:v>43595</c:v>
                </c:pt>
                <c:pt idx="699">
                  <c:v>43598</c:v>
                </c:pt>
                <c:pt idx="700">
                  <c:v>43599</c:v>
                </c:pt>
                <c:pt idx="701">
                  <c:v>43600</c:v>
                </c:pt>
                <c:pt idx="702">
                  <c:v>43601</c:v>
                </c:pt>
                <c:pt idx="703">
                  <c:v>43602</c:v>
                </c:pt>
                <c:pt idx="704">
                  <c:v>43605</c:v>
                </c:pt>
                <c:pt idx="705">
                  <c:v>43606</c:v>
                </c:pt>
                <c:pt idx="706">
                  <c:v>43607</c:v>
                </c:pt>
                <c:pt idx="707">
                  <c:v>43608</c:v>
                </c:pt>
                <c:pt idx="708">
                  <c:v>43609</c:v>
                </c:pt>
                <c:pt idx="709">
                  <c:v>43612</c:v>
                </c:pt>
                <c:pt idx="710">
                  <c:v>43613</c:v>
                </c:pt>
                <c:pt idx="711">
                  <c:v>43614</c:v>
                </c:pt>
                <c:pt idx="712">
                  <c:v>43615</c:v>
                </c:pt>
                <c:pt idx="713">
                  <c:v>43616</c:v>
                </c:pt>
                <c:pt idx="714">
                  <c:v>43619</c:v>
                </c:pt>
                <c:pt idx="715">
                  <c:v>43620</c:v>
                </c:pt>
                <c:pt idx="716">
                  <c:v>43621</c:v>
                </c:pt>
                <c:pt idx="717">
                  <c:v>43622</c:v>
                </c:pt>
                <c:pt idx="718">
                  <c:v>43623</c:v>
                </c:pt>
                <c:pt idx="719">
                  <c:v>43626</c:v>
                </c:pt>
                <c:pt idx="720">
                  <c:v>43627</c:v>
                </c:pt>
                <c:pt idx="721">
                  <c:v>43628</c:v>
                </c:pt>
                <c:pt idx="722">
                  <c:v>43629</c:v>
                </c:pt>
                <c:pt idx="723">
                  <c:v>43630</c:v>
                </c:pt>
                <c:pt idx="724">
                  <c:v>43633</c:v>
                </c:pt>
                <c:pt idx="725">
                  <c:v>43634</c:v>
                </c:pt>
                <c:pt idx="726">
                  <c:v>43635</c:v>
                </c:pt>
                <c:pt idx="727">
                  <c:v>43636</c:v>
                </c:pt>
                <c:pt idx="728">
                  <c:v>43637</c:v>
                </c:pt>
                <c:pt idx="729">
                  <c:v>43640</c:v>
                </c:pt>
                <c:pt idx="730">
                  <c:v>43641</c:v>
                </c:pt>
                <c:pt idx="731">
                  <c:v>43642</c:v>
                </c:pt>
                <c:pt idx="732">
                  <c:v>43643</c:v>
                </c:pt>
                <c:pt idx="733">
                  <c:v>43644</c:v>
                </c:pt>
                <c:pt idx="734">
                  <c:v>43647</c:v>
                </c:pt>
                <c:pt idx="735">
                  <c:v>43648</c:v>
                </c:pt>
                <c:pt idx="736">
                  <c:v>43649</c:v>
                </c:pt>
                <c:pt idx="737">
                  <c:v>43650</c:v>
                </c:pt>
                <c:pt idx="738">
                  <c:v>43651</c:v>
                </c:pt>
                <c:pt idx="739">
                  <c:v>43654</c:v>
                </c:pt>
                <c:pt idx="740">
                  <c:v>43655</c:v>
                </c:pt>
                <c:pt idx="741">
                  <c:v>43656</c:v>
                </c:pt>
                <c:pt idx="742">
                  <c:v>43657</c:v>
                </c:pt>
                <c:pt idx="743">
                  <c:v>43658</c:v>
                </c:pt>
                <c:pt idx="744">
                  <c:v>43661</c:v>
                </c:pt>
                <c:pt idx="745">
                  <c:v>43662</c:v>
                </c:pt>
                <c:pt idx="746">
                  <c:v>43663</c:v>
                </c:pt>
                <c:pt idx="747">
                  <c:v>43664</c:v>
                </c:pt>
                <c:pt idx="748">
                  <c:v>43665</c:v>
                </c:pt>
                <c:pt idx="749">
                  <c:v>43668</c:v>
                </c:pt>
                <c:pt idx="750">
                  <c:v>43669</c:v>
                </c:pt>
                <c:pt idx="751">
                  <c:v>43670</c:v>
                </c:pt>
                <c:pt idx="752">
                  <c:v>43671</c:v>
                </c:pt>
                <c:pt idx="753">
                  <c:v>43672</c:v>
                </c:pt>
                <c:pt idx="754">
                  <c:v>43675</c:v>
                </c:pt>
                <c:pt idx="755">
                  <c:v>43676</c:v>
                </c:pt>
                <c:pt idx="756">
                  <c:v>43677</c:v>
                </c:pt>
                <c:pt idx="757">
                  <c:v>43678</c:v>
                </c:pt>
                <c:pt idx="758">
                  <c:v>43679</c:v>
                </c:pt>
                <c:pt idx="759">
                  <c:v>43682</c:v>
                </c:pt>
                <c:pt idx="760">
                  <c:v>43683</c:v>
                </c:pt>
                <c:pt idx="761">
                  <c:v>43684</c:v>
                </c:pt>
                <c:pt idx="762">
                  <c:v>43685</c:v>
                </c:pt>
                <c:pt idx="763">
                  <c:v>43686</c:v>
                </c:pt>
                <c:pt idx="764">
                  <c:v>43689</c:v>
                </c:pt>
                <c:pt idx="765">
                  <c:v>43690</c:v>
                </c:pt>
                <c:pt idx="766">
                  <c:v>43691</c:v>
                </c:pt>
                <c:pt idx="767">
                  <c:v>43692</c:v>
                </c:pt>
                <c:pt idx="768">
                  <c:v>43693</c:v>
                </c:pt>
                <c:pt idx="769">
                  <c:v>43696</c:v>
                </c:pt>
                <c:pt idx="770">
                  <c:v>43697</c:v>
                </c:pt>
                <c:pt idx="771">
                  <c:v>43698</c:v>
                </c:pt>
                <c:pt idx="772">
                  <c:v>43699</c:v>
                </c:pt>
                <c:pt idx="773">
                  <c:v>43700</c:v>
                </c:pt>
                <c:pt idx="774">
                  <c:v>43703</c:v>
                </c:pt>
                <c:pt idx="775">
                  <c:v>43704</c:v>
                </c:pt>
                <c:pt idx="776">
                  <c:v>43705</c:v>
                </c:pt>
                <c:pt idx="777">
                  <c:v>43706</c:v>
                </c:pt>
                <c:pt idx="778">
                  <c:v>43707</c:v>
                </c:pt>
                <c:pt idx="779">
                  <c:v>43710</c:v>
                </c:pt>
                <c:pt idx="780">
                  <c:v>43711</c:v>
                </c:pt>
                <c:pt idx="781">
                  <c:v>43712</c:v>
                </c:pt>
                <c:pt idx="782">
                  <c:v>43713</c:v>
                </c:pt>
                <c:pt idx="783">
                  <c:v>43714</c:v>
                </c:pt>
                <c:pt idx="784">
                  <c:v>43717</c:v>
                </c:pt>
                <c:pt idx="785">
                  <c:v>43718</c:v>
                </c:pt>
                <c:pt idx="786">
                  <c:v>43719</c:v>
                </c:pt>
                <c:pt idx="787">
                  <c:v>43720</c:v>
                </c:pt>
                <c:pt idx="788">
                  <c:v>43721</c:v>
                </c:pt>
                <c:pt idx="789">
                  <c:v>43724</c:v>
                </c:pt>
                <c:pt idx="790">
                  <c:v>43725</c:v>
                </c:pt>
                <c:pt idx="791">
                  <c:v>43726</c:v>
                </c:pt>
                <c:pt idx="792">
                  <c:v>43727</c:v>
                </c:pt>
                <c:pt idx="793">
                  <c:v>43728</c:v>
                </c:pt>
                <c:pt idx="794">
                  <c:v>43731</c:v>
                </c:pt>
                <c:pt idx="795">
                  <c:v>43732</c:v>
                </c:pt>
                <c:pt idx="796">
                  <c:v>43733</c:v>
                </c:pt>
                <c:pt idx="797">
                  <c:v>43734</c:v>
                </c:pt>
                <c:pt idx="798">
                  <c:v>43735</c:v>
                </c:pt>
                <c:pt idx="799">
                  <c:v>43738</c:v>
                </c:pt>
                <c:pt idx="800">
                  <c:v>43739</c:v>
                </c:pt>
                <c:pt idx="801">
                  <c:v>43740</c:v>
                </c:pt>
                <c:pt idx="802">
                  <c:v>43741</c:v>
                </c:pt>
                <c:pt idx="803">
                  <c:v>43742</c:v>
                </c:pt>
                <c:pt idx="804">
                  <c:v>43745</c:v>
                </c:pt>
                <c:pt idx="805">
                  <c:v>43746</c:v>
                </c:pt>
                <c:pt idx="806">
                  <c:v>43747</c:v>
                </c:pt>
                <c:pt idx="807">
                  <c:v>43748</c:v>
                </c:pt>
                <c:pt idx="808">
                  <c:v>43749</c:v>
                </c:pt>
                <c:pt idx="809">
                  <c:v>43752</c:v>
                </c:pt>
                <c:pt idx="810">
                  <c:v>43753</c:v>
                </c:pt>
                <c:pt idx="811">
                  <c:v>43754</c:v>
                </c:pt>
                <c:pt idx="812">
                  <c:v>43755</c:v>
                </c:pt>
                <c:pt idx="813">
                  <c:v>43756</c:v>
                </c:pt>
                <c:pt idx="814">
                  <c:v>43759</c:v>
                </c:pt>
                <c:pt idx="815">
                  <c:v>43760</c:v>
                </c:pt>
                <c:pt idx="816">
                  <c:v>43761</c:v>
                </c:pt>
                <c:pt idx="817">
                  <c:v>43762</c:v>
                </c:pt>
                <c:pt idx="818">
                  <c:v>43763</c:v>
                </c:pt>
                <c:pt idx="819">
                  <c:v>43766</c:v>
                </c:pt>
                <c:pt idx="820">
                  <c:v>43767</c:v>
                </c:pt>
                <c:pt idx="821">
                  <c:v>43768</c:v>
                </c:pt>
                <c:pt idx="822">
                  <c:v>43769</c:v>
                </c:pt>
                <c:pt idx="823">
                  <c:v>43770</c:v>
                </c:pt>
                <c:pt idx="824">
                  <c:v>43773</c:v>
                </c:pt>
                <c:pt idx="825">
                  <c:v>43774</c:v>
                </c:pt>
                <c:pt idx="826">
                  <c:v>43775</c:v>
                </c:pt>
                <c:pt idx="827">
                  <c:v>43776</c:v>
                </c:pt>
                <c:pt idx="828">
                  <c:v>43777</c:v>
                </c:pt>
                <c:pt idx="829">
                  <c:v>43780</c:v>
                </c:pt>
                <c:pt idx="830">
                  <c:v>43781</c:v>
                </c:pt>
                <c:pt idx="831">
                  <c:v>43782</c:v>
                </c:pt>
                <c:pt idx="832">
                  <c:v>43783</c:v>
                </c:pt>
                <c:pt idx="833">
                  <c:v>43784</c:v>
                </c:pt>
                <c:pt idx="834">
                  <c:v>43787</c:v>
                </c:pt>
                <c:pt idx="835">
                  <c:v>43788</c:v>
                </c:pt>
                <c:pt idx="836">
                  <c:v>43789</c:v>
                </c:pt>
                <c:pt idx="837">
                  <c:v>43790</c:v>
                </c:pt>
                <c:pt idx="838">
                  <c:v>43791</c:v>
                </c:pt>
                <c:pt idx="839">
                  <c:v>43794</c:v>
                </c:pt>
                <c:pt idx="840">
                  <c:v>43795</c:v>
                </c:pt>
                <c:pt idx="841">
                  <c:v>43796</c:v>
                </c:pt>
                <c:pt idx="842">
                  <c:v>43797</c:v>
                </c:pt>
                <c:pt idx="843">
                  <c:v>43798</c:v>
                </c:pt>
                <c:pt idx="844">
                  <c:v>43801</c:v>
                </c:pt>
                <c:pt idx="845">
                  <c:v>43802</c:v>
                </c:pt>
                <c:pt idx="846">
                  <c:v>43803</c:v>
                </c:pt>
                <c:pt idx="847">
                  <c:v>43804</c:v>
                </c:pt>
                <c:pt idx="848">
                  <c:v>43805</c:v>
                </c:pt>
                <c:pt idx="849">
                  <c:v>43808</c:v>
                </c:pt>
                <c:pt idx="850">
                  <c:v>43809</c:v>
                </c:pt>
                <c:pt idx="851">
                  <c:v>43810</c:v>
                </c:pt>
                <c:pt idx="852">
                  <c:v>43811</c:v>
                </c:pt>
                <c:pt idx="853">
                  <c:v>43812</c:v>
                </c:pt>
                <c:pt idx="854">
                  <c:v>43815</c:v>
                </c:pt>
                <c:pt idx="855">
                  <c:v>43816</c:v>
                </c:pt>
                <c:pt idx="856">
                  <c:v>43817</c:v>
                </c:pt>
                <c:pt idx="857">
                  <c:v>43818</c:v>
                </c:pt>
                <c:pt idx="858">
                  <c:v>43819</c:v>
                </c:pt>
                <c:pt idx="859">
                  <c:v>43822</c:v>
                </c:pt>
                <c:pt idx="860">
                  <c:v>43823</c:v>
                </c:pt>
                <c:pt idx="861">
                  <c:v>43824</c:v>
                </c:pt>
                <c:pt idx="862">
                  <c:v>43825</c:v>
                </c:pt>
                <c:pt idx="863">
                  <c:v>43826</c:v>
                </c:pt>
                <c:pt idx="864">
                  <c:v>43829</c:v>
                </c:pt>
                <c:pt idx="865">
                  <c:v>43830</c:v>
                </c:pt>
                <c:pt idx="866">
                  <c:v>43831</c:v>
                </c:pt>
                <c:pt idx="867">
                  <c:v>43832</c:v>
                </c:pt>
                <c:pt idx="868">
                  <c:v>43833</c:v>
                </c:pt>
                <c:pt idx="869">
                  <c:v>43836</c:v>
                </c:pt>
                <c:pt idx="870">
                  <c:v>43837</c:v>
                </c:pt>
                <c:pt idx="871">
                  <c:v>43838</c:v>
                </c:pt>
                <c:pt idx="872">
                  <c:v>43839</c:v>
                </c:pt>
                <c:pt idx="873">
                  <c:v>43840</c:v>
                </c:pt>
                <c:pt idx="874">
                  <c:v>43843</c:v>
                </c:pt>
                <c:pt idx="875">
                  <c:v>43844</c:v>
                </c:pt>
                <c:pt idx="876">
                  <c:v>43845</c:v>
                </c:pt>
                <c:pt idx="877">
                  <c:v>43846</c:v>
                </c:pt>
                <c:pt idx="878">
                  <c:v>43847</c:v>
                </c:pt>
                <c:pt idx="879">
                  <c:v>43850</c:v>
                </c:pt>
                <c:pt idx="880">
                  <c:v>43851</c:v>
                </c:pt>
                <c:pt idx="881">
                  <c:v>43852</c:v>
                </c:pt>
                <c:pt idx="882">
                  <c:v>43853</c:v>
                </c:pt>
                <c:pt idx="883">
                  <c:v>43854</c:v>
                </c:pt>
                <c:pt idx="884">
                  <c:v>43857</c:v>
                </c:pt>
                <c:pt idx="885">
                  <c:v>43858</c:v>
                </c:pt>
                <c:pt idx="886">
                  <c:v>43859</c:v>
                </c:pt>
                <c:pt idx="887">
                  <c:v>43860</c:v>
                </c:pt>
                <c:pt idx="888">
                  <c:v>43861</c:v>
                </c:pt>
                <c:pt idx="889">
                  <c:v>43864</c:v>
                </c:pt>
                <c:pt idx="890">
                  <c:v>43865</c:v>
                </c:pt>
                <c:pt idx="891">
                  <c:v>43866</c:v>
                </c:pt>
                <c:pt idx="892">
                  <c:v>43867</c:v>
                </c:pt>
                <c:pt idx="893">
                  <c:v>43868</c:v>
                </c:pt>
                <c:pt idx="894">
                  <c:v>43871</c:v>
                </c:pt>
                <c:pt idx="895">
                  <c:v>43872</c:v>
                </c:pt>
                <c:pt idx="896">
                  <c:v>43873</c:v>
                </c:pt>
                <c:pt idx="897">
                  <c:v>43874</c:v>
                </c:pt>
                <c:pt idx="898">
                  <c:v>43875</c:v>
                </c:pt>
                <c:pt idx="899">
                  <c:v>43878</c:v>
                </c:pt>
                <c:pt idx="900">
                  <c:v>43879</c:v>
                </c:pt>
                <c:pt idx="901">
                  <c:v>43880</c:v>
                </c:pt>
                <c:pt idx="902">
                  <c:v>43881</c:v>
                </c:pt>
                <c:pt idx="903">
                  <c:v>43882</c:v>
                </c:pt>
                <c:pt idx="904">
                  <c:v>43885</c:v>
                </c:pt>
                <c:pt idx="905">
                  <c:v>43886</c:v>
                </c:pt>
                <c:pt idx="906">
                  <c:v>43887</c:v>
                </c:pt>
                <c:pt idx="907">
                  <c:v>43888</c:v>
                </c:pt>
                <c:pt idx="908">
                  <c:v>43889</c:v>
                </c:pt>
                <c:pt idx="909">
                  <c:v>43892</c:v>
                </c:pt>
                <c:pt idx="910">
                  <c:v>43893</c:v>
                </c:pt>
                <c:pt idx="911">
                  <c:v>43894</c:v>
                </c:pt>
                <c:pt idx="912">
                  <c:v>43895</c:v>
                </c:pt>
                <c:pt idx="913">
                  <c:v>43896</c:v>
                </c:pt>
                <c:pt idx="914">
                  <c:v>43899</c:v>
                </c:pt>
                <c:pt idx="915">
                  <c:v>43900</c:v>
                </c:pt>
                <c:pt idx="916">
                  <c:v>43901</c:v>
                </c:pt>
                <c:pt idx="917">
                  <c:v>43902</c:v>
                </c:pt>
                <c:pt idx="918">
                  <c:v>43903</c:v>
                </c:pt>
                <c:pt idx="919">
                  <c:v>43906</c:v>
                </c:pt>
                <c:pt idx="920">
                  <c:v>43907</c:v>
                </c:pt>
                <c:pt idx="921">
                  <c:v>43908</c:v>
                </c:pt>
                <c:pt idx="922">
                  <c:v>43909</c:v>
                </c:pt>
                <c:pt idx="923">
                  <c:v>43910</c:v>
                </c:pt>
                <c:pt idx="924">
                  <c:v>43913</c:v>
                </c:pt>
                <c:pt idx="925">
                  <c:v>43914</c:v>
                </c:pt>
                <c:pt idx="926">
                  <c:v>43915</c:v>
                </c:pt>
                <c:pt idx="927">
                  <c:v>43916</c:v>
                </c:pt>
                <c:pt idx="928">
                  <c:v>43917</c:v>
                </c:pt>
                <c:pt idx="929">
                  <c:v>43920</c:v>
                </c:pt>
                <c:pt idx="930">
                  <c:v>43921</c:v>
                </c:pt>
                <c:pt idx="931">
                  <c:v>43922</c:v>
                </c:pt>
                <c:pt idx="932">
                  <c:v>43923</c:v>
                </c:pt>
                <c:pt idx="933">
                  <c:v>43924</c:v>
                </c:pt>
                <c:pt idx="934">
                  <c:v>43927</c:v>
                </c:pt>
                <c:pt idx="935">
                  <c:v>43928</c:v>
                </c:pt>
                <c:pt idx="936">
                  <c:v>43929</c:v>
                </c:pt>
                <c:pt idx="937">
                  <c:v>43930</c:v>
                </c:pt>
                <c:pt idx="938">
                  <c:v>43931</c:v>
                </c:pt>
                <c:pt idx="939">
                  <c:v>43934</c:v>
                </c:pt>
                <c:pt idx="940">
                  <c:v>43935</c:v>
                </c:pt>
                <c:pt idx="941">
                  <c:v>43936</c:v>
                </c:pt>
                <c:pt idx="942">
                  <c:v>43937</c:v>
                </c:pt>
                <c:pt idx="943">
                  <c:v>43938</c:v>
                </c:pt>
                <c:pt idx="944">
                  <c:v>43941</c:v>
                </c:pt>
                <c:pt idx="945">
                  <c:v>43942</c:v>
                </c:pt>
                <c:pt idx="946">
                  <c:v>43943</c:v>
                </c:pt>
                <c:pt idx="947">
                  <c:v>43944</c:v>
                </c:pt>
                <c:pt idx="948">
                  <c:v>43945</c:v>
                </c:pt>
                <c:pt idx="949">
                  <c:v>43948</c:v>
                </c:pt>
                <c:pt idx="950">
                  <c:v>43949</c:v>
                </c:pt>
                <c:pt idx="951">
                  <c:v>43950</c:v>
                </c:pt>
                <c:pt idx="952">
                  <c:v>43951</c:v>
                </c:pt>
                <c:pt idx="953">
                  <c:v>43952</c:v>
                </c:pt>
                <c:pt idx="954">
                  <c:v>43955</c:v>
                </c:pt>
                <c:pt idx="955">
                  <c:v>43956</c:v>
                </c:pt>
                <c:pt idx="956">
                  <c:v>43957</c:v>
                </c:pt>
                <c:pt idx="957">
                  <c:v>43958</c:v>
                </c:pt>
                <c:pt idx="958">
                  <c:v>43959</c:v>
                </c:pt>
                <c:pt idx="959">
                  <c:v>43962</c:v>
                </c:pt>
                <c:pt idx="960">
                  <c:v>43963</c:v>
                </c:pt>
                <c:pt idx="961">
                  <c:v>43964</c:v>
                </c:pt>
                <c:pt idx="962">
                  <c:v>43965</c:v>
                </c:pt>
                <c:pt idx="963">
                  <c:v>43966</c:v>
                </c:pt>
                <c:pt idx="964">
                  <c:v>43969</c:v>
                </c:pt>
                <c:pt idx="965">
                  <c:v>43970</c:v>
                </c:pt>
                <c:pt idx="966">
                  <c:v>43971</c:v>
                </c:pt>
                <c:pt idx="967">
                  <c:v>43972</c:v>
                </c:pt>
                <c:pt idx="968">
                  <c:v>43973</c:v>
                </c:pt>
                <c:pt idx="969">
                  <c:v>43976</c:v>
                </c:pt>
                <c:pt idx="970">
                  <c:v>43977</c:v>
                </c:pt>
                <c:pt idx="971">
                  <c:v>43978</c:v>
                </c:pt>
                <c:pt idx="972">
                  <c:v>43979</c:v>
                </c:pt>
                <c:pt idx="973">
                  <c:v>43980</c:v>
                </c:pt>
                <c:pt idx="974">
                  <c:v>43983</c:v>
                </c:pt>
                <c:pt idx="975">
                  <c:v>43984</c:v>
                </c:pt>
                <c:pt idx="976">
                  <c:v>43985</c:v>
                </c:pt>
                <c:pt idx="977">
                  <c:v>43986</c:v>
                </c:pt>
                <c:pt idx="978">
                  <c:v>43987</c:v>
                </c:pt>
                <c:pt idx="979">
                  <c:v>43990</c:v>
                </c:pt>
                <c:pt idx="980">
                  <c:v>43991</c:v>
                </c:pt>
                <c:pt idx="981">
                  <c:v>43992</c:v>
                </c:pt>
                <c:pt idx="982">
                  <c:v>43993</c:v>
                </c:pt>
                <c:pt idx="983">
                  <c:v>43994</c:v>
                </c:pt>
                <c:pt idx="984">
                  <c:v>43997</c:v>
                </c:pt>
                <c:pt idx="985">
                  <c:v>43998</c:v>
                </c:pt>
                <c:pt idx="986">
                  <c:v>43999</c:v>
                </c:pt>
                <c:pt idx="987">
                  <c:v>44000</c:v>
                </c:pt>
                <c:pt idx="988">
                  <c:v>44001</c:v>
                </c:pt>
                <c:pt idx="989">
                  <c:v>44004</c:v>
                </c:pt>
                <c:pt idx="990">
                  <c:v>44005</c:v>
                </c:pt>
                <c:pt idx="991">
                  <c:v>44006</c:v>
                </c:pt>
                <c:pt idx="992">
                  <c:v>44007</c:v>
                </c:pt>
                <c:pt idx="993">
                  <c:v>44008</c:v>
                </c:pt>
                <c:pt idx="994">
                  <c:v>44011</c:v>
                </c:pt>
                <c:pt idx="995">
                  <c:v>44012</c:v>
                </c:pt>
                <c:pt idx="996">
                  <c:v>44013</c:v>
                </c:pt>
                <c:pt idx="997">
                  <c:v>44014</c:v>
                </c:pt>
                <c:pt idx="998">
                  <c:v>44015</c:v>
                </c:pt>
                <c:pt idx="999">
                  <c:v>44018</c:v>
                </c:pt>
                <c:pt idx="1000">
                  <c:v>44019</c:v>
                </c:pt>
                <c:pt idx="1001">
                  <c:v>44020</c:v>
                </c:pt>
                <c:pt idx="1002">
                  <c:v>44021</c:v>
                </c:pt>
                <c:pt idx="1003">
                  <c:v>44022</c:v>
                </c:pt>
                <c:pt idx="1004">
                  <c:v>44025</c:v>
                </c:pt>
                <c:pt idx="1005">
                  <c:v>44026</c:v>
                </c:pt>
                <c:pt idx="1006">
                  <c:v>44027</c:v>
                </c:pt>
                <c:pt idx="1007">
                  <c:v>44028</c:v>
                </c:pt>
                <c:pt idx="1008">
                  <c:v>44029</c:v>
                </c:pt>
                <c:pt idx="1009">
                  <c:v>44032</c:v>
                </c:pt>
                <c:pt idx="1010">
                  <c:v>44033</c:v>
                </c:pt>
                <c:pt idx="1011">
                  <c:v>44034</c:v>
                </c:pt>
                <c:pt idx="1012">
                  <c:v>44035</c:v>
                </c:pt>
                <c:pt idx="1013">
                  <c:v>44036</c:v>
                </c:pt>
                <c:pt idx="1014">
                  <c:v>44039</c:v>
                </c:pt>
                <c:pt idx="1015">
                  <c:v>44040</c:v>
                </c:pt>
                <c:pt idx="1016">
                  <c:v>44041</c:v>
                </c:pt>
                <c:pt idx="1017">
                  <c:v>44042</c:v>
                </c:pt>
                <c:pt idx="1018">
                  <c:v>44043</c:v>
                </c:pt>
                <c:pt idx="1019">
                  <c:v>44046</c:v>
                </c:pt>
                <c:pt idx="1020">
                  <c:v>44047</c:v>
                </c:pt>
                <c:pt idx="1021">
                  <c:v>44048</c:v>
                </c:pt>
                <c:pt idx="1022">
                  <c:v>44049</c:v>
                </c:pt>
                <c:pt idx="1023">
                  <c:v>44050</c:v>
                </c:pt>
                <c:pt idx="1024">
                  <c:v>44053</c:v>
                </c:pt>
                <c:pt idx="1025">
                  <c:v>44054</c:v>
                </c:pt>
                <c:pt idx="1026">
                  <c:v>44055</c:v>
                </c:pt>
                <c:pt idx="1027">
                  <c:v>44056</c:v>
                </c:pt>
                <c:pt idx="1028">
                  <c:v>44057</c:v>
                </c:pt>
                <c:pt idx="1029">
                  <c:v>44060</c:v>
                </c:pt>
                <c:pt idx="1030">
                  <c:v>44061</c:v>
                </c:pt>
                <c:pt idx="1031">
                  <c:v>44062</c:v>
                </c:pt>
                <c:pt idx="1032">
                  <c:v>44063</c:v>
                </c:pt>
                <c:pt idx="1033">
                  <c:v>44064</c:v>
                </c:pt>
                <c:pt idx="1034">
                  <c:v>44067</c:v>
                </c:pt>
                <c:pt idx="1035">
                  <c:v>44068</c:v>
                </c:pt>
                <c:pt idx="1036">
                  <c:v>44069</c:v>
                </c:pt>
                <c:pt idx="1037">
                  <c:v>44070</c:v>
                </c:pt>
                <c:pt idx="1038">
                  <c:v>44071</c:v>
                </c:pt>
                <c:pt idx="1039">
                  <c:v>44074</c:v>
                </c:pt>
                <c:pt idx="1040">
                  <c:v>44075</c:v>
                </c:pt>
                <c:pt idx="1041">
                  <c:v>44076</c:v>
                </c:pt>
                <c:pt idx="1042">
                  <c:v>44077</c:v>
                </c:pt>
                <c:pt idx="1043">
                  <c:v>44078</c:v>
                </c:pt>
                <c:pt idx="1044">
                  <c:v>44081</c:v>
                </c:pt>
                <c:pt idx="1045">
                  <c:v>44082</c:v>
                </c:pt>
                <c:pt idx="1046">
                  <c:v>44083</c:v>
                </c:pt>
                <c:pt idx="1047">
                  <c:v>44084</c:v>
                </c:pt>
                <c:pt idx="1048">
                  <c:v>44085</c:v>
                </c:pt>
                <c:pt idx="1049">
                  <c:v>44088</c:v>
                </c:pt>
                <c:pt idx="1050">
                  <c:v>44089</c:v>
                </c:pt>
                <c:pt idx="1051">
                  <c:v>44090</c:v>
                </c:pt>
                <c:pt idx="1052">
                  <c:v>44091</c:v>
                </c:pt>
                <c:pt idx="1053">
                  <c:v>44092</c:v>
                </c:pt>
                <c:pt idx="1054">
                  <c:v>44095</c:v>
                </c:pt>
                <c:pt idx="1055">
                  <c:v>44096</c:v>
                </c:pt>
                <c:pt idx="1056">
                  <c:v>44097</c:v>
                </c:pt>
                <c:pt idx="1057">
                  <c:v>44098</c:v>
                </c:pt>
                <c:pt idx="1058">
                  <c:v>44099</c:v>
                </c:pt>
                <c:pt idx="1059">
                  <c:v>44102</c:v>
                </c:pt>
                <c:pt idx="1060">
                  <c:v>44103</c:v>
                </c:pt>
                <c:pt idx="1061">
                  <c:v>44104</c:v>
                </c:pt>
                <c:pt idx="1062">
                  <c:v>44105</c:v>
                </c:pt>
                <c:pt idx="1063">
                  <c:v>44106</c:v>
                </c:pt>
                <c:pt idx="1064">
                  <c:v>44109</c:v>
                </c:pt>
                <c:pt idx="1065">
                  <c:v>44110</c:v>
                </c:pt>
                <c:pt idx="1066">
                  <c:v>44111</c:v>
                </c:pt>
                <c:pt idx="1067">
                  <c:v>44112</c:v>
                </c:pt>
                <c:pt idx="1068">
                  <c:v>44113</c:v>
                </c:pt>
                <c:pt idx="1069">
                  <c:v>44116</c:v>
                </c:pt>
                <c:pt idx="1070">
                  <c:v>44117</c:v>
                </c:pt>
                <c:pt idx="1071">
                  <c:v>44118</c:v>
                </c:pt>
                <c:pt idx="1072">
                  <c:v>44119</c:v>
                </c:pt>
                <c:pt idx="1073">
                  <c:v>44120</c:v>
                </c:pt>
                <c:pt idx="1074">
                  <c:v>44123</c:v>
                </c:pt>
                <c:pt idx="1075">
                  <c:v>44124</c:v>
                </c:pt>
                <c:pt idx="1076">
                  <c:v>44125</c:v>
                </c:pt>
                <c:pt idx="1077">
                  <c:v>44126</c:v>
                </c:pt>
                <c:pt idx="1078">
                  <c:v>44127</c:v>
                </c:pt>
                <c:pt idx="1079">
                  <c:v>44130</c:v>
                </c:pt>
                <c:pt idx="1080">
                  <c:v>44131</c:v>
                </c:pt>
                <c:pt idx="1081">
                  <c:v>44132</c:v>
                </c:pt>
                <c:pt idx="1082">
                  <c:v>44133</c:v>
                </c:pt>
                <c:pt idx="1083">
                  <c:v>44134</c:v>
                </c:pt>
                <c:pt idx="1084">
                  <c:v>44137</c:v>
                </c:pt>
                <c:pt idx="1085">
                  <c:v>44138</c:v>
                </c:pt>
                <c:pt idx="1086">
                  <c:v>44139</c:v>
                </c:pt>
                <c:pt idx="1087">
                  <c:v>44140</c:v>
                </c:pt>
                <c:pt idx="1088">
                  <c:v>44141</c:v>
                </c:pt>
                <c:pt idx="1089">
                  <c:v>44144</c:v>
                </c:pt>
                <c:pt idx="1090">
                  <c:v>44145</c:v>
                </c:pt>
                <c:pt idx="1091">
                  <c:v>44146</c:v>
                </c:pt>
                <c:pt idx="1092">
                  <c:v>44147</c:v>
                </c:pt>
                <c:pt idx="1093">
                  <c:v>44148</c:v>
                </c:pt>
                <c:pt idx="1094">
                  <c:v>44151</c:v>
                </c:pt>
                <c:pt idx="1095">
                  <c:v>44152</c:v>
                </c:pt>
                <c:pt idx="1096">
                  <c:v>44153</c:v>
                </c:pt>
                <c:pt idx="1097">
                  <c:v>44154</c:v>
                </c:pt>
                <c:pt idx="1098">
                  <c:v>44155</c:v>
                </c:pt>
                <c:pt idx="1099">
                  <c:v>44158</c:v>
                </c:pt>
                <c:pt idx="1100">
                  <c:v>44159</c:v>
                </c:pt>
                <c:pt idx="1101">
                  <c:v>44160</c:v>
                </c:pt>
                <c:pt idx="1102">
                  <c:v>44161</c:v>
                </c:pt>
                <c:pt idx="1103">
                  <c:v>44162</c:v>
                </c:pt>
                <c:pt idx="1104">
                  <c:v>44165</c:v>
                </c:pt>
                <c:pt idx="1105">
                  <c:v>44166</c:v>
                </c:pt>
                <c:pt idx="1106">
                  <c:v>44167</c:v>
                </c:pt>
                <c:pt idx="1107">
                  <c:v>44168</c:v>
                </c:pt>
                <c:pt idx="1108">
                  <c:v>44169</c:v>
                </c:pt>
                <c:pt idx="1109">
                  <c:v>44172</c:v>
                </c:pt>
                <c:pt idx="1110">
                  <c:v>44173</c:v>
                </c:pt>
                <c:pt idx="1111">
                  <c:v>44174</c:v>
                </c:pt>
                <c:pt idx="1112">
                  <c:v>44175</c:v>
                </c:pt>
                <c:pt idx="1113">
                  <c:v>44176</c:v>
                </c:pt>
                <c:pt idx="1114">
                  <c:v>44179</c:v>
                </c:pt>
                <c:pt idx="1115">
                  <c:v>44180</c:v>
                </c:pt>
                <c:pt idx="1116">
                  <c:v>44181</c:v>
                </c:pt>
                <c:pt idx="1117">
                  <c:v>44182</c:v>
                </c:pt>
                <c:pt idx="1118">
                  <c:v>44183</c:v>
                </c:pt>
                <c:pt idx="1119">
                  <c:v>44186</c:v>
                </c:pt>
                <c:pt idx="1120">
                  <c:v>44187</c:v>
                </c:pt>
                <c:pt idx="1121">
                  <c:v>44188</c:v>
                </c:pt>
                <c:pt idx="1122">
                  <c:v>44189</c:v>
                </c:pt>
                <c:pt idx="1123">
                  <c:v>44190</c:v>
                </c:pt>
                <c:pt idx="1124">
                  <c:v>44193</c:v>
                </c:pt>
                <c:pt idx="1125">
                  <c:v>44194</c:v>
                </c:pt>
                <c:pt idx="1126">
                  <c:v>44195</c:v>
                </c:pt>
                <c:pt idx="1127">
                  <c:v>44196</c:v>
                </c:pt>
                <c:pt idx="1128">
                  <c:v>44197</c:v>
                </c:pt>
                <c:pt idx="1129">
                  <c:v>44200</c:v>
                </c:pt>
                <c:pt idx="1130">
                  <c:v>44201</c:v>
                </c:pt>
                <c:pt idx="1131">
                  <c:v>44202</c:v>
                </c:pt>
                <c:pt idx="1132">
                  <c:v>44203</c:v>
                </c:pt>
                <c:pt idx="1133">
                  <c:v>44204</c:v>
                </c:pt>
                <c:pt idx="1134">
                  <c:v>44207</c:v>
                </c:pt>
                <c:pt idx="1135">
                  <c:v>44208</c:v>
                </c:pt>
                <c:pt idx="1136">
                  <c:v>44209</c:v>
                </c:pt>
                <c:pt idx="1137">
                  <c:v>44210</c:v>
                </c:pt>
                <c:pt idx="1138">
                  <c:v>44211</c:v>
                </c:pt>
                <c:pt idx="1139">
                  <c:v>44214</c:v>
                </c:pt>
                <c:pt idx="1140">
                  <c:v>44215</c:v>
                </c:pt>
                <c:pt idx="1141">
                  <c:v>44216</c:v>
                </c:pt>
                <c:pt idx="1142">
                  <c:v>44217</c:v>
                </c:pt>
                <c:pt idx="1143">
                  <c:v>44218</c:v>
                </c:pt>
                <c:pt idx="1144">
                  <c:v>44221</c:v>
                </c:pt>
                <c:pt idx="1145">
                  <c:v>44222</c:v>
                </c:pt>
                <c:pt idx="1146">
                  <c:v>44223</c:v>
                </c:pt>
                <c:pt idx="1147">
                  <c:v>44224</c:v>
                </c:pt>
                <c:pt idx="1148">
                  <c:v>44225</c:v>
                </c:pt>
                <c:pt idx="1149">
                  <c:v>44228</c:v>
                </c:pt>
                <c:pt idx="1150">
                  <c:v>44229</c:v>
                </c:pt>
                <c:pt idx="1151">
                  <c:v>44230</c:v>
                </c:pt>
                <c:pt idx="1152">
                  <c:v>44231</c:v>
                </c:pt>
                <c:pt idx="1153">
                  <c:v>44232</c:v>
                </c:pt>
                <c:pt idx="1154">
                  <c:v>44235</c:v>
                </c:pt>
                <c:pt idx="1155">
                  <c:v>44236</c:v>
                </c:pt>
                <c:pt idx="1156">
                  <c:v>44237</c:v>
                </c:pt>
                <c:pt idx="1157">
                  <c:v>44238</c:v>
                </c:pt>
                <c:pt idx="1158">
                  <c:v>44239</c:v>
                </c:pt>
                <c:pt idx="1159">
                  <c:v>44242</c:v>
                </c:pt>
                <c:pt idx="1160">
                  <c:v>44243</c:v>
                </c:pt>
                <c:pt idx="1161">
                  <c:v>44244</c:v>
                </c:pt>
                <c:pt idx="1162">
                  <c:v>44245</c:v>
                </c:pt>
                <c:pt idx="1163">
                  <c:v>44246</c:v>
                </c:pt>
                <c:pt idx="1164">
                  <c:v>44249</c:v>
                </c:pt>
                <c:pt idx="1165">
                  <c:v>44250</c:v>
                </c:pt>
                <c:pt idx="1166">
                  <c:v>44251</c:v>
                </c:pt>
                <c:pt idx="1167">
                  <c:v>44252</c:v>
                </c:pt>
                <c:pt idx="1168">
                  <c:v>44253</c:v>
                </c:pt>
                <c:pt idx="1169">
                  <c:v>44256</c:v>
                </c:pt>
                <c:pt idx="1170">
                  <c:v>44257</c:v>
                </c:pt>
                <c:pt idx="1171">
                  <c:v>44258</c:v>
                </c:pt>
                <c:pt idx="1172">
                  <c:v>44259</c:v>
                </c:pt>
                <c:pt idx="1173">
                  <c:v>44260</c:v>
                </c:pt>
                <c:pt idx="1174">
                  <c:v>44263</c:v>
                </c:pt>
                <c:pt idx="1175">
                  <c:v>44264</c:v>
                </c:pt>
                <c:pt idx="1176">
                  <c:v>44265</c:v>
                </c:pt>
                <c:pt idx="1177">
                  <c:v>44266</c:v>
                </c:pt>
                <c:pt idx="1178">
                  <c:v>44267</c:v>
                </c:pt>
                <c:pt idx="1179">
                  <c:v>44270</c:v>
                </c:pt>
                <c:pt idx="1180">
                  <c:v>44271</c:v>
                </c:pt>
                <c:pt idx="1181">
                  <c:v>44272</c:v>
                </c:pt>
                <c:pt idx="1182">
                  <c:v>44273</c:v>
                </c:pt>
                <c:pt idx="1183">
                  <c:v>44274</c:v>
                </c:pt>
                <c:pt idx="1184">
                  <c:v>44277</c:v>
                </c:pt>
                <c:pt idx="1185">
                  <c:v>44278</c:v>
                </c:pt>
                <c:pt idx="1186">
                  <c:v>44279</c:v>
                </c:pt>
                <c:pt idx="1187">
                  <c:v>44280</c:v>
                </c:pt>
                <c:pt idx="1188">
                  <c:v>44281</c:v>
                </c:pt>
                <c:pt idx="1189">
                  <c:v>44284</c:v>
                </c:pt>
                <c:pt idx="1190">
                  <c:v>44285</c:v>
                </c:pt>
                <c:pt idx="1191">
                  <c:v>44286</c:v>
                </c:pt>
                <c:pt idx="1192">
                  <c:v>44287</c:v>
                </c:pt>
                <c:pt idx="1193">
                  <c:v>44288</c:v>
                </c:pt>
                <c:pt idx="1194">
                  <c:v>44291</c:v>
                </c:pt>
                <c:pt idx="1195">
                  <c:v>44292</c:v>
                </c:pt>
                <c:pt idx="1196">
                  <c:v>44293</c:v>
                </c:pt>
                <c:pt idx="1197">
                  <c:v>44294</c:v>
                </c:pt>
                <c:pt idx="1198">
                  <c:v>44295</c:v>
                </c:pt>
                <c:pt idx="1199">
                  <c:v>44298</c:v>
                </c:pt>
                <c:pt idx="1200">
                  <c:v>44299</c:v>
                </c:pt>
                <c:pt idx="1201">
                  <c:v>44300</c:v>
                </c:pt>
                <c:pt idx="1202">
                  <c:v>44301</c:v>
                </c:pt>
                <c:pt idx="1203">
                  <c:v>44302</c:v>
                </c:pt>
                <c:pt idx="1204">
                  <c:v>44305</c:v>
                </c:pt>
                <c:pt idx="1205">
                  <c:v>44306</c:v>
                </c:pt>
                <c:pt idx="1206">
                  <c:v>44307</c:v>
                </c:pt>
                <c:pt idx="1207">
                  <c:v>44308</c:v>
                </c:pt>
                <c:pt idx="1208">
                  <c:v>44309</c:v>
                </c:pt>
                <c:pt idx="1209">
                  <c:v>44312</c:v>
                </c:pt>
                <c:pt idx="1210">
                  <c:v>44313</c:v>
                </c:pt>
                <c:pt idx="1211">
                  <c:v>44314</c:v>
                </c:pt>
                <c:pt idx="1212">
                  <c:v>44315</c:v>
                </c:pt>
                <c:pt idx="1213">
                  <c:v>44316</c:v>
                </c:pt>
                <c:pt idx="1214">
                  <c:v>44319</c:v>
                </c:pt>
                <c:pt idx="1215">
                  <c:v>44320</c:v>
                </c:pt>
                <c:pt idx="1216">
                  <c:v>44321</c:v>
                </c:pt>
                <c:pt idx="1217">
                  <c:v>44322</c:v>
                </c:pt>
                <c:pt idx="1218">
                  <c:v>44323</c:v>
                </c:pt>
                <c:pt idx="1219">
                  <c:v>44326</c:v>
                </c:pt>
                <c:pt idx="1220">
                  <c:v>44327</c:v>
                </c:pt>
                <c:pt idx="1221">
                  <c:v>44328</c:v>
                </c:pt>
                <c:pt idx="1222">
                  <c:v>44329</c:v>
                </c:pt>
                <c:pt idx="1223">
                  <c:v>44330</c:v>
                </c:pt>
                <c:pt idx="1224">
                  <c:v>44333</c:v>
                </c:pt>
                <c:pt idx="1225">
                  <c:v>44334</c:v>
                </c:pt>
                <c:pt idx="1226">
                  <c:v>44335</c:v>
                </c:pt>
                <c:pt idx="1227">
                  <c:v>44336</c:v>
                </c:pt>
                <c:pt idx="1228">
                  <c:v>44337</c:v>
                </c:pt>
                <c:pt idx="1229">
                  <c:v>44340</c:v>
                </c:pt>
                <c:pt idx="1230">
                  <c:v>44341</c:v>
                </c:pt>
                <c:pt idx="1231">
                  <c:v>44342</c:v>
                </c:pt>
                <c:pt idx="1232">
                  <c:v>44343</c:v>
                </c:pt>
                <c:pt idx="1233">
                  <c:v>44344</c:v>
                </c:pt>
                <c:pt idx="1234">
                  <c:v>44347</c:v>
                </c:pt>
                <c:pt idx="1235">
                  <c:v>44348</c:v>
                </c:pt>
                <c:pt idx="1236">
                  <c:v>44349</c:v>
                </c:pt>
                <c:pt idx="1237">
                  <c:v>44350</c:v>
                </c:pt>
                <c:pt idx="1238">
                  <c:v>44351</c:v>
                </c:pt>
                <c:pt idx="1239">
                  <c:v>44354</c:v>
                </c:pt>
                <c:pt idx="1240">
                  <c:v>44355</c:v>
                </c:pt>
                <c:pt idx="1241">
                  <c:v>44356</c:v>
                </c:pt>
                <c:pt idx="1242">
                  <c:v>44357</c:v>
                </c:pt>
                <c:pt idx="1243">
                  <c:v>44358</c:v>
                </c:pt>
                <c:pt idx="1244">
                  <c:v>44361</c:v>
                </c:pt>
                <c:pt idx="1245">
                  <c:v>44362</c:v>
                </c:pt>
                <c:pt idx="1246">
                  <c:v>44363</c:v>
                </c:pt>
                <c:pt idx="1247">
                  <c:v>44364</c:v>
                </c:pt>
                <c:pt idx="1248">
                  <c:v>44365</c:v>
                </c:pt>
                <c:pt idx="1249">
                  <c:v>44368</c:v>
                </c:pt>
                <c:pt idx="1250">
                  <c:v>44369</c:v>
                </c:pt>
                <c:pt idx="1251">
                  <c:v>44370</c:v>
                </c:pt>
                <c:pt idx="1252">
                  <c:v>44371</c:v>
                </c:pt>
                <c:pt idx="1253">
                  <c:v>44372</c:v>
                </c:pt>
                <c:pt idx="1254">
                  <c:v>44375</c:v>
                </c:pt>
                <c:pt idx="1255">
                  <c:v>44376</c:v>
                </c:pt>
                <c:pt idx="1256">
                  <c:v>44377</c:v>
                </c:pt>
                <c:pt idx="1257">
                  <c:v>44378</c:v>
                </c:pt>
                <c:pt idx="1258">
                  <c:v>44379</c:v>
                </c:pt>
                <c:pt idx="1259">
                  <c:v>44382</c:v>
                </c:pt>
                <c:pt idx="1260">
                  <c:v>44383</c:v>
                </c:pt>
                <c:pt idx="1261">
                  <c:v>44384</c:v>
                </c:pt>
                <c:pt idx="1262">
                  <c:v>44385</c:v>
                </c:pt>
                <c:pt idx="1263">
                  <c:v>44386</c:v>
                </c:pt>
                <c:pt idx="1264">
                  <c:v>44389</c:v>
                </c:pt>
                <c:pt idx="1265">
                  <c:v>44390</c:v>
                </c:pt>
                <c:pt idx="1266">
                  <c:v>44391</c:v>
                </c:pt>
                <c:pt idx="1267">
                  <c:v>44392</c:v>
                </c:pt>
                <c:pt idx="1268">
                  <c:v>44393</c:v>
                </c:pt>
                <c:pt idx="1269">
                  <c:v>44396</c:v>
                </c:pt>
                <c:pt idx="1270">
                  <c:v>44397</c:v>
                </c:pt>
                <c:pt idx="1271">
                  <c:v>44398</c:v>
                </c:pt>
                <c:pt idx="1272">
                  <c:v>44399</c:v>
                </c:pt>
                <c:pt idx="1273">
                  <c:v>44400</c:v>
                </c:pt>
                <c:pt idx="1274">
                  <c:v>44403</c:v>
                </c:pt>
                <c:pt idx="1275">
                  <c:v>44404</c:v>
                </c:pt>
                <c:pt idx="1276">
                  <c:v>44405</c:v>
                </c:pt>
                <c:pt idx="1277">
                  <c:v>44406</c:v>
                </c:pt>
                <c:pt idx="1278">
                  <c:v>44407</c:v>
                </c:pt>
                <c:pt idx="1279">
                  <c:v>44410</c:v>
                </c:pt>
                <c:pt idx="1280">
                  <c:v>44411</c:v>
                </c:pt>
                <c:pt idx="1281">
                  <c:v>44412</c:v>
                </c:pt>
                <c:pt idx="1282">
                  <c:v>44413</c:v>
                </c:pt>
                <c:pt idx="1283">
                  <c:v>44414</c:v>
                </c:pt>
                <c:pt idx="1284">
                  <c:v>44417</c:v>
                </c:pt>
                <c:pt idx="1285">
                  <c:v>44418</c:v>
                </c:pt>
                <c:pt idx="1286">
                  <c:v>44419</c:v>
                </c:pt>
                <c:pt idx="1287">
                  <c:v>44420</c:v>
                </c:pt>
                <c:pt idx="1288">
                  <c:v>44421</c:v>
                </c:pt>
                <c:pt idx="1289">
                  <c:v>44424</c:v>
                </c:pt>
                <c:pt idx="1290">
                  <c:v>44425</c:v>
                </c:pt>
                <c:pt idx="1291">
                  <c:v>44426</c:v>
                </c:pt>
                <c:pt idx="1292">
                  <c:v>44427</c:v>
                </c:pt>
                <c:pt idx="1293">
                  <c:v>44428</c:v>
                </c:pt>
                <c:pt idx="1294">
                  <c:v>44431</c:v>
                </c:pt>
                <c:pt idx="1295">
                  <c:v>44432</c:v>
                </c:pt>
                <c:pt idx="1296">
                  <c:v>44433</c:v>
                </c:pt>
                <c:pt idx="1297">
                  <c:v>44434</c:v>
                </c:pt>
                <c:pt idx="1298">
                  <c:v>44435</c:v>
                </c:pt>
                <c:pt idx="1299">
                  <c:v>44438</c:v>
                </c:pt>
                <c:pt idx="1300">
                  <c:v>44439</c:v>
                </c:pt>
                <c:pt idx="1301">
                  <c:v>44440</c:v>
                </c:pt>
                <c:pt idx="1302">
                  <c:v>44441</c:v>
                </c:pt>
                <c:pt idx="1303">
                  <c:v>44442</c:v>
                </c:pt>
                <c:pt idx="1304">
                  <c:v>44445</c:v>
                </c:pt>
                <c:pt idx="1305">
                  <c:v>44446</c:v>
                </c:pt>
                <c:pt idx="1306">
                  <c:v>44447</c:v>
                </c:pt>
                <c:pt idx="1307">
                  <c:v>44448</c:v>
                </c:pt>
                <c:pt idx="1308">
                  <c:v>44449</c:v>
                </c:pt>
                <c:pt idx="1309">
                  <c:v>44452</c:v>
                </c:pt>
                <c:pt idx="1310">
                  <c:v>44453</c:v>
                </c:pt>
                <c:pt idx="1311">
                  <c:v>44454</c:v>
                </c:pt>
                <c:pt idx="1312">
                  <c:v>44455</c:v>
                </c:pt>
                <c:pt idx="1313">
                  <c:v>44456</c:v>
                </c:pt>
                <c:pt idx="1314">
                  <c:v>44459</c:v>
                </c:pt>
                <c:pt idx="1315">
                  <c:v>44460</c:v>
                </c:pt>
                <c:pt idx="1316">
                  <c:v>44461</c:v>
                </c:pt>
                <c:pt idx="1317">
                  <c:v>44462</c:v>
                </c:pt>
                <c:pt idx="1318">
                  <c:v>44463</c:v>
                </c:pt>
                <c:pt idx="1319">
                  <c:v>44466</c:v>
                </c:pt>
                <c:pt idx="1320">
                  <c:v>44467</c:v>
                </c:pt>
                <c:pt idx="1321">
                  <c:v>44468</c:v>
                </c:pt>
                <c:pt idx="1322">
                  <c:v>44469</c:v>
                </c:pt>
                <c:pt idx="1323">
                  <c:v>44470</c:v>
                </c:pt>
                <c:pt idx="1324">
                  <c:v>44473</c:v>
                </c:pt>
                <c:pt idx="1325">
                  <c:v>44474</c:v>
                </c:pt>
                <c:pt idx="1326">
                  <c:v>44475</c:v>
                </c:pt>
                <c:pt idx="1327">
                  <c:v>44476</c:v>
                </c:pt>
                <c:pt idx="1328">
                  <c:v>44477</c:v>
                </c:pt>
                <c:pt idx="1329">
                  <c:v>44480</c:v>
                </c:pt>
                <c:pt idx="1330">
                  <c:v>44481</c:v>
                </c:pt>
                <c:pt idx="1331">
                  <c:v>44482</c:v>
                </c:pt>
                <c:pt idx="1332">
                  <c:v>44483</c:v>
                </c:pt>
                <c:pt idx="1333">
                  <c:v>44484</c:v>
                </c:pt>
                <c:pt idx="1334">
                  <c:v>44487</c:v>
                </c:pt>
                <c:pt idx="1335">
                  <c:v>44488</c:v>
                </c:pt>
                <c:pt idx="1336">
                  <c:v>44489</c:v>
                </c:pt>
                <c:pt idx="1337">
                  <c:v>44490</c:v>
                </c:pt>
                <c:pt idx="1338">
                  <c:v>44491</c:v>
                </c:pt>
                <c:pt idx="1339">
                  <c:v>44494</c:v>
                </c:pt>
                <c:pt idx="1340">
                  <c:v>44495</c:v>
                </c:pt>
                <c:pt idx="1341">
                  <c:v>44496</c:v>
                </c:pt>
                <c:pt idx="1342">
                  <c:v>44497</c:v>
                </c:pt>
                <c:pt idx="1343">
                  <c:v>44498</c:v>
                </c:pt>
                <c:pt idx="1344">
                  <c:v>44501</c:v>
                </c:pt>
                <c:pt idx="1345">
                  <c:v>44502</c:v>
                </c:pt>
                <c:pt idx="1346">
                  <c:v>44503</c:v>
                </c:pt>
                <c:pt idx="1347">
                  <c:v>44504</c:v>
                </c:pt>
                <c:pt idx="1348">
                  <c:v>44505</c:v>
                </c:pt>
                <c:pt idx="1349">
                  <c:v>44508</c:v>
                </c:pt>
                <c:pt idx="1350">
                  <c:v>44509</c:v>
                </c:pt>
                <c:pt idx="1351">
                  <c:v>44510</c:v>
                </c:pt>
                <c:pt idx="1352">
                  <c:v>44511</c:v>
                </c:pt>
                <c:pt idx="1353">
                  <c:v>44512</c:v>
                </c:pt>
                <c:pt idx="1354">
                  <c:v>44515</c:v>
                </c:pt>
                <c:pt idx="1355">
                  <c:v>44516</c:v>
                </c:pt>
                <c:pt idx="1356">
                  <c:v>44517</c:v>
                </c:pt>
                <c:pt idx="1357">
                  <c:v>44518</c:v>
                </c:pt>
                <c:pt idx="1358">
                  <c:v>44519</c:v>
                </c:pt>
                <c:pt idx="1359">
                  <c:v>44522</c:v>
                </c:pt>
                <c:pt idx="1360">
                  <c:v>44523</c:v>
                </c:pt>
                <c:pt idx="1361">
                  <c:v>44524</c:v>
                </c:pt>
                <c:pt idx="1362">
                  <c:v>44525</c:v>
                </c:pt>
                <c:pt idx="1363">
                  <c:v>44526</c:v>
                </c:pt>
                <c:pt idx="1364">
                  <c:v>44529</c:v>
                </c:pt>
                <c:pt idx="1365">
                  <c:v>44530</c:v>
                </c:pt>
                <c:pt idx="1366">
                  <c:v>44531</c:v>
                </c:pt>
                <c:pt idx="1367">
                  <c:v>44532</c:v>
                </c:pt>
                <c:pt idx="1368">
                  <c:v>44533</c:v>
                </c:pt>
                <c:pt idx="1369">
                  <c:v>44536</c:v>
                </c:pt>
                <c:pt idx="1370">
                  <c:v>44537</c:v>
                </c:pt>
                <c:pt idx="1371">
                  <c:v>44538</c:v>
                </c:pt>
                <c:pt idx="1372">
                  <c:v>44539</c:v>
                </c:pt>
                <c:pt idx="1373">
                  <c:v>44540</c:v>
                </c:pt>
                <c:pt idx="1374">
                  <c:v>44543</c:v>
                </c:pt>
                <c:pt idx="1375">
                  <c:v>44544</c:v>
                </c:pt>
                <c:pt idx="1376">
                  <c:v>44545</c:v>
                </c:pt>
                <c:pt idx="1377">
                  <c:v>44546</c:v>
                </c:pt>
                <c:pt idx="1378">
                  <c:v>44547</c:v>
                </c:pt>
                <c:pt idx="1379">
                  <c:v>44550</c:v>
                </c:pt>
                <c:pt idx="1380">
                  <c:v>44551</c:v>
                </c:pt>
                <c:pt idx="1381">
                  <c:v>44552</c:v>
                </c:pt>
                <c:pt idx="1382">
                  <c:v>44553</c:v>
                </c:pt>
                <c:pt idx="1383">
                  <c:v>44554</c:v>
                </c:pt>
                <c:pt idx="1384">
                  <c:v>44557</c:v>
                </c:pt>
                <c:pt idx="1385">
                  <c:v>44558</c:v>
                </c:pt>
                <c:pt idx="1386">
                  <c:v>44559</c:v>
                </c:pt>
                <c:pt idx="1387">
                  <c:v>44560</c:v>
                </c:pt>
                <c:pt idx="1388">
                  <c:v>44561</c:v>
                </c:pt>
                <c:pt idx="1389">
                  <c:v>44564</c:v>
                </c:pt>
                <c:pt idx="1390">
                  <c:v>44565</c:v>
                </c:pt>
                <c:pt idx="1391">
                  <c:v>44566</c:v>
                </c:pt>
                <c:pt idx="1392">
                  <c:v>44567</c:v>
                </c:pt>
                <c:pt idx="1393">
                  <c:v>44568</c:v>
                </c:pt>
                <c:pt idx="1394">
                  <c:v>44571</c:v>
                </c:pt>
                <c:pt idx="1395">
                  <c:v>44572</c:v>
                </c:pt>
                <c:pt idx="1396">
                  <c:v>44573</c:v>
                </c:pt>
                <c:pt idx="1397">
                  <c:v>44574</c:v>
                </c:pt>
                <c:pt idx="1398">
                  <c:v>44575</c:v>
                </c:pt>
                <c:pt idx="1399">
                  <c:v>44578</c:v>
                </c:pt>
                <c:pt idx="1400">
                  <c:v>44579</c:v>
                </c:pt>
                <c:pt idx="1401">
                  <c:v>44580</c:v>
                </c:pt>
                <c:pt idx="1402">
                  <c:v>44581</c:v>
                </c:pt>
                <c:pt idx="1403">
                  <c:v>44582</c:v>
                </c:pt>
                <c:pt idx="1404">
                  <c:v>44585</c:v>
                </c:pt>
                <c:pt idx="1405">
                  <c:v>44586</c:v>
                </c:pt>
                <c:pt idx="1406">
                  <c:v>44587</c:v>
                </c:pt>
                <c:pt idx="1407">
                  <c:v>44588</c:v>
                </c:pt>
                <c:pt idx="1408">
                  <c:v>44589</c:v>
                </c:pt>
                <c:pt idx="1409">
                  <c:v>44592</c:v>
                </c:pt>
                <c:pt idx="1410">
                  <c:v>44593</c:v>
                </c:pt>
                <c:pt idx="1411">
                  <c:v>44594</c:v>
                </c:pt>
                <c:pt idx="1412">
                  <c:v>44595</c:v>
                </c:pt>
                <c:pt idx="1413">
                  <c:v>44596</c:v>
                </c:pt>
                <c:pt idx="1414">
                  <c:v>44599</c:v>
                </c:pt>
                <c:pt idx="1415">
                  <c:v>44600</c:v>
                </c:pt>
                <c:pt idx="1416">
                  <c:v>44601</c:v>
                </c:pt>
                <c:pt idx="1417">
                  <c:v>44602</c:v>
                </c:pt>
                <c:pt idx="1418">
                  <c:v>44603</c:v>
                </c:pt>
                <c:pt idx="1419">
                  <c:v>44606</c:v>
                </c:pt>
                <c:pt idx="1420">
                  <c:v>44607</c:v>
                </c:pt>
                <c:pt idx="1421">
                  <c:v>44608</c:v>
                </c:pt>
                <c:pt idx="1422">
                  <c:v>44609</c:v>
                </c:pt>
                <c:pt idx="1423">
                  <c:v>44610</c:v>
                </c:pt>
                <c:pt idx="1424">
                  <c:v>44613</c:v>
                </c:pt>
                <c:pt idx="1425">
                  <c:v>44614</c:v>
                </c:pt>
                <c:pt idx="1426">
                  <c:v>44615</c:v>
                </c:pt>
                <c:pt idx="1427">
                  <c:v>44616</c:v>
                </c:pt>
                <c:pt idx="1428">
                  <c:v>44617</c:v>
                </c:pt>
                <c:pt idx="1429">
                  <c:v>44620</c:v>
                </c:pt>
                <c:pt idx="1430">
                  <c:v>44621</c:v>
                </c:pt>
                <c:pt idx="1431">
                  <c:v>44622</c:v>
                </c:pt>
                <c:pt idx="1432">
                  <c:v>44623</c:v>
                </c:pt>
                <c:pt idx="1433">
                  <c:v>44624</c:v>
                </c:pt>
                <c:pt idx="1434">
                  <c:v>44627</c:v>
                </c:pt>
                <c:pt idx="1435">
                  <c:v>44628</c:v>
                </c:pt>
                <c:pt idx="1436">
                  <c:v>44629</c:v>
                </c:pt>
                <c:pt idx="1437">
                  <c:v>44630</c:v>
                </c:pt>
                <c:pt idx="1438">
                  <c:v>44631</c:v>
                </c:pt>
                <c:pt idx="1439">
                  <c:v>44634</c:v>
                </c:pt>
                <c:pt idx="1440">
                  <c:v>44635</c:v>
                </c:pt>
                <c:pt idx="1441">
                  <c:v>44636</c:v>
                </c:pt>
                <c:pt idx="1442">
                  <c:v>44637</c:v>
                </c:pt>
                <c:pt idx="1443">
                  <c:v>44638</c:v>
                </c:pt>
                <c:pt idx="1444">
                  <c:v>44641</c:v>
                </c:pt>
                <c:pt idx="1445">
                  <c:v>44642</c:v>
                </c:pt>
                <c:pt idx="1446">
                  <c:v>44643</c:v>
                </c:pt>
                <c:pt idx="1447">
                  <c:v>44644</c:v>
                </c:pt>
                <c:pt idx="1448">
                  <c:v>44645</c:v>
                </c:pt>
                <c:pt idx="1449">
                  <c:v>44648</c:v>
                </c:pt>
                <c:pt idx="1450">
                  <c:v>44649</c:v>
                </c:pt>
                <c:pt idx="1451">
                  <c:v>44650</c:v>
                </c:pt>
                <c:pt idx="1452">
                  <c:v>44651</c:v>
                </c:pt>
                <c:pt idx="1453">
                  <c:v>44652</c:v>
                </c:pt>
                <c:pt idx="1454">
                  <c:v>44655</c:v>
                </c:pt>
                <c:pt idx="1455">
                  <c:v>44656</c:v>
                </c:pt>
                <c:pt idx="1456">
                  <c:v>44657</c:v>
                </c:pt>
                <c:pt idx="1457">
                  <c:v>44658</c:v>
                </c:pt>
                <c:pt idx="1458">
                  <c:v>44659</c:v>
                </c:pt>
                <c:pt idx="1459">
                  <c:v>44662</c:v>
                </c:pt>
                <c:pt idx="1460">
                  <c:v>44663</c:v>
                </c:pt>
                <c:pt idx="1461">
                  <c:v>44664</c:v>
                </c:pt>
                <c:pt idx="1462">
                  <c:v>44665</c:v>
                </c:pt>
                <c:pt idx="1463">
                  <c:v>44666</c:v>
                </c:pt>
                <c:pt idx="1464">
                  <c:v>44669</c:v>
                </c:pt>
                <c:pt idx="1465">
                  <c:v>44670</c:v>
                </c:pt>
                <c:pt idx="1466">
                  <c:v>44671</c:v>
                </c:pt>
                <c:pt idx="1467">
                  <c:v>44672</c:v>
                </c:pt>
                <c:pt idx="1468">
                  <c:v>44673</c:v>
                </c:pt>
                <c:pt idx="1469">
                  <c:v>44676</c:v>
                </c:pt>
                <c:pt idx="1470">
                  <c:v>44677</c:v>
                </c:pt>
                <c:pt idx="1471">
                  <c:v>44678</c:v>
                </c:pt>
                <c:pt idx="1472">
                  <c:v>44679</c:v>
                </c:pt>
                <c:pt idx="1473">
                  <c:v>44680</c:v>
                </c:pt>
                <c:pt idx="1474">
                  <c:v>44683</c:v>
                </c:pt>
                <c:pt idx="1475">
                  <c:v>44684</c:v>
                </c:pt>
                <c:pt idx="1476">
                  <c:v>44685</c:v>
                </c:pt>
                <c:pt idx="1477">
                  <c:v>44686</c:v>
                </c:pt>
                <c:pt idx="1478">
                  <c:v>44687</c:v>
                </c:pt>
                <c:pt idx="1479">
                  <c:v>44690</c:v>
                </c:pt>
                <c:pt idx="1480">
                  <c:v>44691</c:v>
                </c:pt>
                <c:pt idx="1481">
                  <c:v>44692</c:v>
                </c:pt>
                <c:pt idx="1482">
                  <c:v>44693</c:v>
                </c:pt>
                <c:pt idx="1483">
                  <c:v>44694</c:v>
                </c:pt>
                <c:pt idx="1484">
                  <c:v>44697</c:v>
                </c:pt>
                <c:pt idx="1485">
                  <c:v>44698</c:v>
                </c:pt>
                <c:pt idx="1486">
                  <c:v>44699</c:v>
                </c:pt>
                <c:pt idx="1487">
                  <c:v>44700</c:v>
                </c:pt>
                <c:pt idx="1488">
                  <c:v>44701</c:v>
                </c:pt>
                <c:pt idx="1489">
                  <c:v>44704</c:v>
                </c:pt>
                <c:pt idx="1490">
                  <c:v>44705</c:v>
                </c:pt>
                <c:pt idx="1491">
                  <c:v>44706</c:v>
                </c:pt>
                <c:pt idx="1492">
                  <c:v>44707</c:v>
                </c:pt>
                <c:pt idx="1493">
                  <c:v>44708</c:v>
                </c:pt>
                <c:pt idx="1494">
                  <c:v>44711</c:v>
                </c:pt>
                <c:pt idx="1495">
                  <c:v>44712</c:v>
                </c:pt>
                <c:pt idx="1496">
                  <c:v>44713</c:v>
                </c:pt>
                <c:pt idx="1497">
                  <c:v>44714</c:v>
                </c:pt>
                <c:pt idx="1498">
                  <c:v>44715</c:v>
                </c:pt>
                <c:pt idx="1499">
                  <c:v>44718</c:v>
                </c:pt>
                <c:pt idx="1500">
                  <c:v>44719</c:v>
                </c:pt>
                <c:pt idx="1501">
                  <c:v>44720</c:v>
                </c:pt>
                <c:pt idx="1502">
                  <c:v>44721</c:v>
                </c:pt>
                <c:pt idx="1503">
                  <c:v>44722</c:v>
                </c:pt>
                <c:pt idx="1504">
                  <c:v>44725</c:v>
                </c:pt>
                <c:pt idx="1505">
                  <c:v>44726</c:v>
                </c:pt>
                <c:pt idx="1506">
                  <c:v>44727</c:v>
                </c:pt>
                <c:pt idx="1507">
                  <c:v>44728</c:v>
                </c:pt>
                <c:pt idx="1508">
                  <c:v>44729</c:v>
                </c:pt>
                <c:pt idx="1509">
                  <c:v>44732</c:v>
                </c:pt>
                <c:pt idx="1510">
                  <c:v>44733</c:v>
                </c:pt>
                <c:pt idx="1511">
                  <c:v>44734</c:v>
                </c:pt>
                <c:pt idx="1512">
                  <c:v>44735</c:v>
                </c:pt>
                <c:pt idx="1513">
                  <c:v>44736</c:v>
                </c:pt>
                <c:pt idx="1514">
                  <c:v>44739</c:v>
                </c:pt>
                <c:pt idx="1515">
                  <c:v>44740</c:v>
                </c:pt>
                <c:pt idx="1516">
                  <c:v>44741</c:v>
                </c:pt>
                <c:pt idx="1517">
                  <c:v>44742</c:v>
                </c:pt>
                <c:pt idx="1518">
                  <c:v>44743</c:v>
                </c:pt>
                <c:pt idx="1519">
                  <c:v>44746</c:v>
                </c:pt>
                <c:pt idx="1520">
                  <c:v>44747</c:v>
                </c:pt>
                <c:pt idx="1521">
                  <c:v>44748</c:v>
                </c:pt>
                <c:pt idx="1522">
                  <c:v>44749</c:v>
                </c:pt>
                <c:pt idx="1523">
                  <c:v>44750</c:v>
                </c:pt>
                <c:pt idx="1524">
                  <c:v>44753</c:v>
                </c:pt>
                <c:pt idx="1525">
                  <c:v>44754</c:v>
                </c:pt>
                <c:pt idx="1526">
                  <c:v>44755</c:v>
                </c:pt>
                <c:pt idx="1527">
                  <c:v>44756</c:v>
                </c:pt>
                <c:pt idx="1528">
                  <c:v>44757</c:v>
                </c:pt>
                <c:pt idx="1529">
                  <c:v>44760</c:v>
                </c:pt>
                <c:pt idx="1530">
                  <c:v>44761</c:v>
                </c:pt>
                <c:pt idx="1531">
                  <c:v>44762</c:v>
                </c:pt>
                <c:pt idx="1532">
                  <c:v>44763</c:v>
                </c:pt>
                <c:pt idx="1533">
                  <c:v>44764</c:v>
                </c:pt>
                <c:pt idx="1534">
                  <c:v>44767</c:v>
                </c:pt>
                <c:pt idx="1535">
                  <c:v>44768</c:v>
                </c:pt>
                <c:pt idx="1536">
                  <c:v>44769</c:v>
                </c:pt>
                <c:pt idx="1537">
                  <c:v>44770</c:v>
                </c:pt>
                <c:pt idx="1538">
                  <c:v>44771</c:v>
                </c:pt>
                <c:pt idx="1539">
                  <c:v>44774</c:v>
                </c:pt>
                <c:pt idx="1540">
                  <c:v>44775</c:v>
                </c:pt>
                <c:pt idx="1541">
                  <c:v>44776</c:v>
                </c:pt>
                <c:pt idx="1542">
                  <c:v>44777</c:v>
                </c:pt>
                <c:pt idx="1543">
                  <c:v>44778</c:v>
                </c:pt>
                <c:pt idx="1544">
                  <c:v>44781</c:v>
                </c:pt>
                <c:pt idx="1545">
                  <c:v>44782</c:v>
                </c:pt>
                <c:pt idx="1546">
                  <c:v>44783</c:v>
                </c:pt>
                <c:pt idx="1547">
                  <c:v>44784</c:v>
                </c:pt>
                <c:pt idx="1548">
                  <c:v>44785</c:v>
                </c:pt>
                <c:pt idx="1549">
                  <c:v>44788</c:v>
                </c:pt>
                <c:pt idx="1550">
                  <c:v>44789</c:v>
                </c:pt>
                <c:pt idx="1551">
                  <c:v>44790</c:v>
                </c:pt>
                <c:pt idx="1552">
                  <c:v>44791</c:v>
                </c:pt>
                <c:pt idx="1553">
                  <c:v>44792</c:v>
                </c:pt>
                <c:pt idx="1554">
                  <c:v>44795</c:v>
                </c:pt>
                <c:pt idx="1555">
                  <c:v>44796</c:v>
                </c:pt>
                <c:pt idx="1556">
                  <c:v>44797</c:v>
                </c:pt>
                <c:pt idx="1557">
                  <c:v>44798</c:v>
                </c:pt>
                <c:pt idx="1558">
                  <c:v>44799</c:v>
                </c:pt>
                <c:pt idx="1559">
                  <c:v>44802</c:v>
                </c:pt>
                <c:pt idx="1560">
                  <c:v>44803</c:v>
                </c:pt>
                <c:pt idx="1561">
                  <c:v>44804</c:v>
                </c:pt>
                <c:pt idx="1562">
                  <c:v>44805</c:v>
                </c:pt>
                <c:pt idx="1563">
                  <c:v>44806</c:v>
                </c:pt>
                <c:pt idx="1564">
                  <c:v>44809</c:v>
                </c:pt>
                <c:pt idx="1565">
                  <c:v>44810</c:v>
                </c:pt>
                <c:pt idx="1566">
                  <c:v>44811</c:v>
                </c:pt>
                <c:pt idx="1567">
                  <c:v>44812</c:v>
                </c:pt>
                <c:pt idx="1568">
                  <c:v>44813</c:v>
                </c:pt>
                <c:pt idx="1569">
                  <c:v>44816</c:v>
                </c:pt>
                <c:pt idx="1570">
                  <c:v>44817</c:v>
                </c:pt>
                <c:pt idx="1571">
                  <c:v>44818</c:v>
                </c:pt>
                <c:pt idx="1572">
                  <c:v>44819</c:v>
                </c:pt>
                <c:pt idx="1573">
                  <c:v>44820</c:v>
                </c:pt>
                <c:pt idx="1574">
                  <c:v>44823</c:v>
                </c:pt>
                <c:pt idx="1575">
                  <c:v>44824</c:v>
                </c:pt>
                <c:pt idx="1576">
                  <c:v>44825</c:v>
                </c:pt>
                <c:pt idx="1577">
                  <c:v>44826</c:v>
                </c:pt>
                <c:pt idx="1578">
                  <c:v>44827</c:v>
                </c:pt>
                <c:pt idx="1579">
                  <c:v>44830</c:v>
                </c:pt>
                <c:pt idx="1580">
                  <c:v>44831</c:v>
                </c:pt>
                <c:pt idx="1581">
                  <c:v>44832</c:v>
                </c:pt>
                <c:pt idx="1582">
                  <c:v>44833</c:v>
                </c:pt>
                <c:pt idx="1583">
                  <c:v>44834</c:v>
                </c:pt>
                <c:pt idx="1584">
                  <c:v>44837</c:v>
                </c:pt>
                <c:pt idx="1585">
                  <c:v>44838</c:v>
                </c:pt>
                <c:pt idx="1586">
                  <c:v>44839</c:v>
                </c:pt>
                <c:pt idx="1587">
                  <c:v>44840</c:v>
                </c:pt>
                <c:pt idx="1588">
                  <c:v>44841</c:v>
                </c:pt>
                <c:pt idx="1589">
                  <c:v>44844</c:v>
                </c:pt>
                <c:pt idx="1590">
                  <c:v>44845</c:v>
                </c:pt>
                <c:pt idx="1591">
                  <c:v>44846</c:v>
                </c:pt>
                <c:pt idx="1592">
                  <c:v>44847</c:v>
                </c:pt>
                <c:pt idx="1593">
                  <c:v>44848</c:v>
                </c:pt>
                <c:pt idx="1594">
                  <c:v>44851</c:v>
                </c:pt>
                <c:pt idx="1595">
                  <c:v>44852</c:v>
                </c:pt>
                <c:pt idx="1596">
                  <c:v>44853</c:v>
                </c:pt>
                <c:pt idx="1597">
                  <c:v>44854</c:v>
                </c:pt>
                <c:pt idx="1598">
                  <c:v>44855</c:v>
                </c:pt>
                <c:pt idx="1599">
                  <c:v>44858</c:v>
                </c:pt>
                <c:pt idx="1600">
                  <c:v>44859</c:v>
                </c:pt>
                <c:pt idx="1601">
                  <c:v>44860</c:v>
                </c:pt>
                <c:pt idx="1602">
                  <c:v>44861</c:v>
                </c:pt>
                <c:pt idx="1603">
                  <c:v>44862</c:v>
                </c:pt>
                <c:pt idx="1604">
                  <c:v>44865</c:v>
                </c:pt>
                <c:pt idx="1605">
                  <c:v>44866</c:v>
                </c:pt>
                <c:pt idx="1606">
                  <c:v>44867</c:v>
                </c:pt>
                <c:pt idx="1607">
                  <c:v>44868</c:v>
                </c:pt>
                <c:pt idx="1608">
                  <c:v>44869</c:v>
                </c:pt>
                <c:pt idx="1609">
                  <c:v>44872</c:v>
                </c:pt>
                <c:pt idx="1610">
                  <c:v>44873</c:v>
                </c:pt>
                <c:pt idx="1611">
                  <c:v>44874</c:v>
                </c:pt>
                <c:pt idx="1612">
                  <c:v>44875</c:v>
                </c:pt>
                <c:pt idx="1613">
                  <c:v>44876</c:v>
                </c:pt>
                <c:pt idx="1614">
                  <c:v>44879</c:v>
                </c:pt>
                <c:pt idx="1615">
                  <c:v>44880</c:v>
                </c:pt>
                <c:pt idx="1616">
                  <c:v>44881</c:v>
                </c:pt>
                <c:pt idx="1617">
                  <c:v>44882</c:v>
                </c:pt>
                <c:pt idx="1618">
                  <c:v>44883</c:v>
                </c:pt>
                <c:pt idx="1619">
                  <c:v>44886</c:v>
                </c:pt>
                <c:pt idx="1620">
                  <c:v>44887</c:v>
                </c:pt>
                <c:pt idx="1621">
                  <c:v>44888</c:v>
                </c:pt>
                <c:pt idx="1622">
                  <c:v>44889</c:v>
                </c:pt>
                <c:pt idx="1623">
                  <c:v>44890</c:v>
                </c:pt>
                <c:pt idx="1624">
                  <c:v>44893</c:v>
                </c:pt>
                <c:pt idx="1625">
                  <c:v>44894</c:v>
                </c:pt>
                <c:pt idx="1626">
                  <c:v>44895</c:v>
                </c:pt>
                <c:pt idx="1627">
                  <c:v>44896</c:v>
                </c:pt>
                <c:pt idx="1628">
                  <c:v>44897</c:v>
                </c:pt>
                <c:pt idx="1629">
                  <c:v>44900</c:v>
                </c:pt>
                <c:pt idx="1630">
                  <c:v>44901</c:v>
                </c:pt>
                <c:pt idx="1631">
                  <c:v>44902</c:v>
                </c:pt>
                <c:pt idx="1632">
                  <c:v>44903</c:v>
                </c:pt>
                <c:pt idx="1633">
                  <c:v>44904</c:v>
                </c:pt>
                <c:pt idx="1634">
                  <c:v>44907</c:v>
                </c:pt>
                <c:pt idx="1635">
                  <c:v>44908</c:v>
                </c:pt>
                <c:pt idx="1636">
                  <c:v>44909</c:v>
                </c:pt>
                <c:pt idx="1637">
                  <c:v>44910</c:v>
                </c:pt>
                <c:pt idx="1638">
                  <c:v>44911</c:v>
                </c:pt>
                <c:pt idx="1639">
                  <c:v>44914</c:v>
                </c:pt>
                <c:pt idx="1640">
                  <c:v>44915</c:v>
                </c:pt>
                <c:pt idx="1641">
                  <c:v>44916</c:v>
                </c:pt>
                <c:pt idx="1642">
                  <c:v>44917</c:v>
                </c:pt>
                <c:pt idx="1643">
                  <c:v>44918</c:v>
                </c:pt>
                <c:pt idx="1644">
                  <c:v>44921</c:v>
                </c:pt>
                <c:pt idx="1645">
                  <c:v>44922</c:v>
                </c:pt>
                <c:pt idx="1646">
                  <c:v>44923</c:v>
                </c:pt>
                <c:pt idx="1647">
                  <c:v>44924</c:v>
                </c:pt>
                <c:pt idx="1648">
                  <c:v>44925</c:v>
                </c:pt>
                <c:pt idx="1649">
                  <c:v>44928</c:v>
                </c:pt>
                <c:pt idx="1650">
                  <c:v>44929</c:v>
                </c:pt>
                <c:pt idx="1651">
                  <c:v>44930</c:v>
                </c:pt>
                <c:pt idx="1652">
                  <c:v>44931</c:v>
                </c:pt>
                <c:pt idx="1653">
                  <c:v>44932</c:v>
                </c:pt>
                <c:pt idx="1654">
                  <c:v>44935</c:v>
                </c:pt>
                <c:pt idx="1655">
                  <c:v>44936</c:v>
                </c:pt>
                <c:pt idx="1656">
                  <c:v>44937</c:v>
                </c:pt>
                <c:pt idx="1657">
                  <c:v>44938</c:v>
                </c:pt>
                <c:pt idx="1658">
                  <c:v>44939</c:v>
                </c:pt>
                <c:pt idx="1659">
                  <c:v>44942</c:v>
                </c:pt>
                <c:pt idx="1660">
                  <c:v>44943</c:v>
                </c:pt>
                <c:pt idx="1661">
                  <c:v>44944</c:v>
                </c:pt>
                <c:pt idx="1662">
                  <c:v>44945</c:v>
                </c:pt>
                <c:pt idx="1663">
                  <c:v>44946</c:v>
                </c:pt>
                <c:pt idx="1664">
                  <c:v>44949</c:v>
                </c:pt>
                <c:pt idx="1665">
                  <c:v>44950</c:v>
                </c:pt>
                <c:pt idx="1666">
                  <c:v>44951</c:v>
                </c:pt>
                <c:pt idx="1667">
                  <c:v>44952</c:v>
                </c:pt>
                <c:pt idx="1668">
                  <c:v>44953</c:v>
                </c:pt>
                <c:pt idx="1669">
                  <c:v>44956</c:v>
                </c:pt>
                <c:pt idx="1670">
                  <c:v>44957</c:v>
                </c:pt>
                <c:pt idx="1671">
                  <c:v>44958</c:v>
                </c:pt>
                <c:pt idx="1672">
                  <c:v>44959</c:v>
                </c:pt>
                <c:pt idx="1673">
                  <c:v>44960</c:v>
                </c:pt>
                <c:pt idx="1674">
                  <c:v>44963</c:v>
                </c:pt>
                <c:pt idx="1675">
                  <c:v>44964</c:v>
                </c:pt>
                <c:pt idx="1676">
                  <c:v>44965</c:v>
                </c:pt>
                <c:pt idx="1677">
                  <c:v>44966</c:v>
                </c:pt>
                <c:pt idx="1678">
                  <c:v>44967</c:v>
                </c:pt>
                <c:pt idx="1679">
                  <c:v>44970</c:v>
                </c:pt>
                <c:pt idx="1680">
                  <c:v>44971</c:v>
                </c:pt>
                <c:pt idx="1681">
                  <c:v>44972</c:v>
                </c:pt>
                <c:pt idx="1682">
                  <c:v>44973</c:v>
                </c:pt>
                <c:pt idx="1683">
                  <c:v>44974</c:v>
                </c:pt>
                <c:pt idx="1684">
                  <c:v>44977</c:v>
                </c:pt>
                <c:pt idx="1685">
                  <c:v>44978</c:v>
                </c:pt>
                <c:pt idx="1686">
                  <c:v>44979</c:v>
                </c:pt>
                <c:pt idx="1687">
                  <c:v>44980</c:v>
                </c:pt>
                <c:pt idx="1688">
                  <c:v>44981</c:v>
                </c:pt>
                <c:pt idx="1689">
                  <c:v>44984</c:v>
                </c:pt>
                <c:pt idx="1690">
                  <c:v>44985</c:v>
                </c:pt>
                <c:pt idx="1691">
                  <c:v>44986</c:v>
                </c:pt>
                <c:pt idx="1692">
                  <c:v>44987</c:v>
                </c:pt>
                <c:pt idx="1693">
                  <c:v>44988</c:v>
                </c:pt>
                <c:pt idx="1694">
                  <c:v>44991</c:v>
                </c:pt>
                <c:pt idx="1695">
                  <c:v>44992</c:v>
                </c:pt>
                <c:pt idx="1696">
                  <c:v>44993</c:v>
                </c:pt>
                <c:pt idx="1697">
                  <c:v>44994</c:v>
                </c:pt>
                <c:pt idx="1698">
                  <c:v>44995</c:v>
                </c:pt>
                <c:pt idx="1699">
                  <c:v>44998</c:v>
                </c:pt>
                <c:pt idx="1700">
                  <c:v>44999</c:v>
                </c:pt>
                <c:pt idx="1701">
                  <c:v>45000</c:v>
                </c:pt>
                <c:pt idx="1702">
                  <c:v>45001</c:v>
                </c:pt>
                <c:pt idx="1703">
                  <c:v>45002</c:v>
                </c:pt>
                <c:pt idx="1704">
                  <c:v>45005</c:v>
                </c:pt>
                <c:pt idx="1705">
                  <c:v>45006</c:v>
                </c:pt>
                <c:pt idx="1706">
                  <c:v>45007</c:v>
                </c:pt>
                <c:pt idx="1707">
                  <c:v>45008</c:v>
                </c:pt>
                <c:pt idx="1708">
                  <c:v>45009</c:v>
                </c:pt>
                <c:pt idx="1709">
                  <c:v>45012</c:v>
                </c:pt>
                <c:pt idx="1710">
                  <c:v>45013</c:v>
                </c:pt>
                <c:pt idx="1711">
                  <c:v>45014</c:v>
                </c:pt>
                <c:pt idx="1712">
                  <c:v>45015</c:v>
                </c:pt>
                <c:pt idx="1713">
                  <c:v>45016</c:v>
                </c:pt>
                <c:pt idx="1714">
                  <c:v>45019</c:v>
                </c:pt>
                <c:pt idx="1715">
                  <c:v>45020</c:v>
                </c:pt>
                <c:pt idx="1716">
                  <c:v>45021</c:v>
                </c:pt>
                <c:pt idx="1717">
                  <c:v>45022</c:v>
                </c:pt>
                <c:pt idx="1718">
                  <c:v>45023</c:v>
                </c:pt>
                <c:pt idx="1719">
                  <c:v>45026</c:v>
                </c:pt>
                <c:pt idx="1720">
                  <c:v>45027</c:v>
                </c:pt>
                <c:pt idx="1721">
                  <c:v>45028</c:v>
                </c:pt>
                <c:pt idx="1722">
                  <c:v>45029</c:v>
                </c:pt>
                <c:pt idx="1723">
                  <c:v>45030</c:v>
                </c:pt>
                <c:pt idx="1724">
                  <c:v>45033</c:v>
                </c:pt>
                <c:pt idx="1725">
                  <c:v>45034</c:v>
                </c:pt>
                <c:pt idx="1726">
                  <c:v>45035</c:v>
                </c:pt>
                <c:pt idx="1727">
                  <c:v>45036</c:v>
                </c:pt>
                <c:pt idx="1728">
                  <c:v>45037</c:v>
                </c:pt>
                <c:pt idx="1729">
                  <c:v>45040</c:v>
                </c:pt>
                <c:pt idx="1730">
                  <c:v>45041</c:v>
                </c:pt>
                <c:pt idx="1731">
                  <c:v>45042</c:v>
                </c:pt>
                <c:pt idx="1732">
                  <c:v>45043</c:v>
                </c:pt>
                <c:pt idx="1733">
                  <c:v>45044</c:v>
                </c:pt>
                <c:pt idx="1734">
                  <c:v>45047</c:v>
                </c:pt>
                <c:pt idx="1735">
                  <c:v>45048</c:v>
                </c:pt>
                <c:pt idx="1736">
                  <c:v>45049</c:v>
                </c:pt>
                <c:pt idx="1737">
                  <c:v>45050</c:v>
                </c:pt>
                <c:pt idx="1738">
                  <c:v>45051</c:v>
                </c:pt>
                <c:pt idx="1739">
                  <c:v>45054</c:v>
                </c:pt>
                <c:pt idx="1740">
                  <c:v>45055</c:v>
                </c:pt>
                <c:pt idx="1741">
                  <c:v>45056</c:v>
                </c:pt>
                <c:pt idx="1742">
                  <c:v>45057</c:v>
                </c:pt>
                <c:pt idx="1743">
                  <c:v>45058</c:v>
                </c:pt>
                <c:pt idx="1744">
                  <c:v>45061</c:v>
                </c:pt>
                <c:pt idx="1745">
                  <c:v>45062</c:v>
                </c:pt>
                <c:pt idx="1746">
                  <c:v>45063</c:v>
                </c:pt>
                <c:pt idx="1747">
                  <c:v>45064</c:v>
                </c:pt>
                <c:pt idx="1748">
                  <c:v>45065</c:v>
                </c:pt>
                <c:pt idx="1749">
                  <c:v>45068</c:v>
                </c:pt>
                <c:pt idx="1750">
                  <c:v>45069</c:v>
                </c:pt>
                <c:pt idx="1751">
                  <c:v>45070</c:v>
                </c:pt>
                <c:pt idx="1752">
                  <c:v>45071</c:v>
                </c:pt>
                <c:pt idx="1753">
                  <c:v>45072</c:v>
                </c:pt>
                <c:pt idx="1754">
                  <c:v>45075</c:v>
                </c:pt>
                <c:pt idx="1755">
                  <c:v>45076</c:v>
                </c:pt>
                <c:pt idx="1756">
                  <c:v>45077</c:v>
                </c:pt>
                <c:pt idx="1757">
                  <c:v>45078</c:v>
                </c:pt>
                <c:pt idx="1758">
                  <c:v>45079</c:v>
                </c:pt>
                <c:pt idx="1759">
                  <c:v>45082</c:v>
                </c:pt>
                <c:pt idx="1760">
                  <c:v>45083</c:v>
                </c:pt>
                <c:pt idx="1761">
                  <c:v>45084</c:v>
                </c:pt>
                <c:pt idx="1762">
                  <c:v>45085</c:v>
                </c:pt>
                <c:pt idx="1763">
                  <c:v>45086</c:v>
                </c:pt>
                <c:pt idx="1764">
                  <c:v>45089</c:v>
                </c:pt>
                <c:pt idx="1765">
                  <c:v>45090</c:v>
                </c:pt>
                <c:pt idx="1766">
                  <c:v>45091</c:v>
                </c:pt>
                <c:pt idx="1767">
                  <c:v>45092</c:v>
                </c:pt>
                <c:pt idx="1768">
                  <c:v>45093</c:v>
                </c:pt>
                <c:pt idx="1769">
                  <c:v>45096</c:v>
                </c:pt>
                <c:pt idx="1770">
                  <c:v>45097</c:v>
                </c:pt>
                <c:pt idx="1771">
                  <c:v>45098</c:v>
                </c:pt>
                <c:pt idx="1772">
                  <c:v>45099</c:v>
                </c:pt>
                <c:pt idx="1773">
                  <c:v>45100</c:v>
                </c:pt>
                <c:pt idx="1774">
                  <c:v>45103</c:v>
                </c:pt>
                <c:pt idx="1775">
                  <c:v>45104</c:v>
                </c:pt>
                <c:pt idx="1776">
                  <c:v>45105</c:v>
                </c:pt>
                <c:pt idx="1777">
                  <c:v>45106</c:v>
                </c:pt>
                <c:pt idx="1778">
                  <c:v>45107</c:v>
                </c:pt>
                <c:pt idx="1779">
                  <c:v>45110</c:v>
                </c:pt>
                <c:pt idx="1780">
                  <c:v>45111</c:v>
                </c:pt>
                <c:pt idx="1781">
                  <c:v>45112</c:v>
                </c:pt>
                <c:pt idx="1782">
                  <c:v>45113</c:v>
                </c:pt>
                <c:pt idx="1783">
                  <c:v>45114</c:v>
                </c:pt>
                <c:pt idx="1784">
                  <c:v>45117</c:v>
                </c:pt>
                <c:pt idx="1785">
                  <c:v>45118</c:v>
                </c:pt>
                <c:pt idx="1786">
                  <c:v>45119</c:v>
                </c:pt>
                <c:pt idx="1787">
                  <c:v>45120</c:v>
                </c:pt>
                <c:pt idx="1788">
                  <c:v>45121</c:v>
                </c:pt>
                <c:pt idx="1789">
                  <c:v>45124</c:v>
                </c:pt>
                <c:pt idx="1790">
                  <c:v>45125</c:v>
                </c:pt>
                <c:pt idx="1791">
                  <c:v>45126</c:v>
                </c:pt>
                <c:pt idx="1792">
                  <c:v>45127</c:v>
                </c:pt>
                <c:pt idx="1793">
                  <c:v>45128</c:v>
                </c:pt>
                <c:pt idx="1794">
                  <c:v>45131</c:v>
                </c:pt>
                <c:pt idx="1795">
                  <c:v>45132</c:v>
                </c:pt>
                <c:pt idx="1796">
                  <c:v>45133</c:v>
                </c:pt>
                <c:pt idx="1797">
                  <c:v>45134</c:v>
                </c:pt>
                <c:pt idx="1798">
                  <c:v>45135</c:v>
                </c:pt>
                <c:pt idx="1799">
                  <c:v>45138</c:v>
                </c:pt>
                <c:pt idx="1800">
                  <c:v>45139</c:v>
                </c:pt>
                <c:pt idx="1801">
                  <c:v>45140</c:v>
                </c:pt>
                <c:pt idx="1802">
                  <c:v>45141</c:v>
                </c:pt>
                <c:pt idx="1803">
                  <c:v>45142</c:v>
                </c:pt>
                <c:pt idx="1804">
                  <c:v>45145</c:v>
                </c:pt>
                <c:pt idx="1805">
                  <c:v>45146</c:v>
                </c:pt>
                <c:pt idx="1806">
                  <c:v>45147</c:v>
                </c:pt>
                <c:pt idx="1807">
                  <c:v>45148</c:v>
                </c:pt>
                <c:pt idx="1808">
                  <c:v>45149</c:v>
                </c:pt>
                <c:pt idx="1809">
                  <c:v>45152</c:v>
                </c:pt>
                <c:pt idx="1810">
                  <c:v>45153</c:v>
                </c:pt>
                <c:pt idx="1811">
                  <c:v>45154</c:v>
                </c:pt>
                <c:pt idx="1812">
                  <c:v>45155</c:v>
                </c:pt>
                <c:pt idx="1813">
                  <c:v>45156</c:v>
                </c:pt>
                <c:pt idx="1814">
                  <c:v>45159</c:v>
                </c:pt>
                <c:pt idx="1815">
                  <c:v>45160</c:v>
                </c:pt>
                <c:pt idx="1816">
                  <c:v>45161</c:v>
                </c:pt>
                <c:pt idx="1817">
                  <c:v>45162</c:v>
                </c:pt>
                <c:pt idx="1818">
                  <c:v>45163</c:v>
                </c:pt>
                <c:pt idx="1819">
                  <c:v>45166</c:v>
                </c:pt>
                <c:pt idx="1820">
                  <c:v>45167</c:v>
                </c:pt>
                <c:pt idx="1821">
                  <c:v>45168</c:v>
                </c:pt>
                <c:pt idx="1822">
                  <c:v>45169</c:v>
                </c:pt>
                <c:pt idx="1823">
                  <c:v>45170</c:v>
                </c:pt>
                <c:pt idx="1824">
                  <c:v>45173</c:v>
                </c:pt>
                <c:pt idx="1825">
                  <c:v>45174</c:v>
                </c:pt>
                <c:pt idx="1826">
                  <c:v>45175</c:v>
                </c:pt>
                <c:pt idx="1827">
                  <c:v>45176</c:v>
                </c:pt>
                <c:pt idx="1828">
                  <c:v>45177</c:v>
                </c:pt>
                <c:pt idx="1829">
                  <c:v>45180</c:v>
                </c:pt>
                <c:pt idx="1830">
                  <c:v>45181</c:v>
                </c:pt>
                <c:pt idx="1831">
                  <c:v>45182</c:v>
                </c:pt>
                <c:pt idx="1832">
                  <c:v>45183</c:v>
                </c:pt>
                <c:pt idx="1833">
                  <c:v>45184</c:v>
                </c:pt>
                <c:pt idx="1834">
                  <c:v>45187</c:v>
                </c:pt>
                <c:pt idx="1835">
                  <c:v>45188</c:v>
                </c:pt>
                <c:pt idx="1836">
                  <c:v>45189</c:v>
                </c:pt>
                <c:pt idx="1837">
                  <c:v>45190</c:v>
                </c:pt>
                <c:pt idx="1838">
                  <c:v>45191</c:v>
                </c:pt>
                <c:pt idx="1839">
                  <c:v>45194</c:v>
                </c:pt>
                <c:pt idx="1840">
                  <c:v>45195</c:v>
                </c:pt>
                <c:pt idx="1841">
                  <c:v>45196</c:v>
                </c:pt>
                <c:pt idx="1842">
                  <c:v>45197</c:v>
                </c:pt>
                <c:pt idx="1843">
                  <c:v>45198</c:v>
                </c:pt>
                <c:pt idx="1844">
                  <c:v>45201</c:v>
                </c:pt>
                <c:pt idx="1845">
                  <c:v>45202</c:v>
                </c:pt>
                <c:pt idx="1846">
                  <c:v>45203</c:v>
                </c:pt>
                <c:pt idx="1847">
                  <c:v>45204</c:v>
                </c:pt>
                <c:pt idx="1848">
                  <c:v>45205</c:v>
                </c:pt>
                <c:pt idx="1849">
                  <c:v>45208</c:v>
                </c:pt>
                <c:pt idx="1850">
                  <c:v>45209</c:v>
                </c:pt>
                <c:pt idx="1851">
                  <c:v>45210</c:v>
                </c:pt>
                <c:pt idx="1852">
                  <c:v>45211</c:v>
                </c:pt>
                <c:pt idx="1853">
                  <c:v>45212</c:v>
                </c:pt>
                <c:pt idx="1854">
                  <c:v>45215</c:v>
                </c:pt>
                <c:pt idx="1855">
                  <c:v>45216</c:v>
                </c:pt>
                <c:pt idx="1856">
                  <c:v>45217</c:v>
                </c:pt>
                <c:pt idx="1857">
                  <c:v>45218</c:v>
                </c:pt>
                <c:pt idx="1858">
                  <c:v>45219</c:v>
                </c:pt>
                <c:pt idx="1859">
                  <c:v>45222</c:v>
                </c:pt>
                <c:pt idx="1860">
                  <c:v>45223</c:v>
                </c:pt>
                <c:pt idx="1861">
                  <c:v>45224</c:v>
                </c:pt>
                <c:pt idx="1862">
                  <c:v>45225</c:v>
                </c:pt>
                <c:pt idx="1863">
                  <c:v>45226</c:v>
                </c:pt>
                <c:pt idx="1864">
                  <c:v>45229</c:v>
                </c:pt>
                <c:pt idx="1865">
                  <c:v>45230</c:v>
                </c:pt>
                <c:pt idx="1866">
                  <c:v>45231</c:v>
                </c:pt>
                <c:pt idx="1867">
                  <c:v>45232</c:v>
                </c:pt>
                <c:pt idx="1868">
                  <c:v>45233</c:v>
                </c:pt>
                <c:pt idx="1869">
                  <c:v>45236</c:v>
                </c:pt>
                <c:pt idx="1870">
                  <c:v>45237</c:v>
                </c:pt>
                <c:pt idx="1871">
                  <c:v>45238</c:v>
                </c:pt>
                <c:pt idx="1872">
                  <c:v>45239</c:v>
                </c:pt>
                <c:pt idx="1873">
                  <c:v>45240</c:v>
                </c:pt>
                <c:pt idx="1874">
                  <c:v>45243</c:v>
                </c:pt>
                <c:pt idx="1875">
                  <c:v>45244</c:v>
                </c:pt>
                <c:pt idx="1876">
                  <c:v>45245</c:v>
                </c:pt>
                <c:pt idx="1877">
                  <c:v>45246</c:v>
                </c:pt>
                <c:pt idx="1878">
                  <c:v>45247</c:v>
                </c:pt>
                <c:pt idx="1879">
                  <c:v>45250</c:v>
                </c:pt>
                <c:pt idx="1880">
                  <c:v>45251</c:v>
                </c:pt>
                <c:pt idx="1881">
                  <c:v>45252</c:v>
                </c:pt>
                <c:pt idx="1882">
                  <c:v>45253</c:v>
                </c:pt>
                <c:pt idx="1883">
                  <c:v>45254</c:v>
                </c:pt>
                <c:pt idx="1884">
                  <c:v>45257</c:v>
                </c:pt>
                <c:pt idx="1885">
                  <c:v>45258</c:v>
                </c:pt>
                <c:pt idx="1886">
                  <c:v>45259</c:v>
                </c:pt>
                <c:pt idx="1887">
                  <c:v>45260</c:v>
                </c:pt>
                <c:pt idx="1888">
                  <c:v>45261</c:v>
                </c:pt>
                <c:pt idx="1889">
                  <c:v>45264</c:v>
                </c:pt>
                <c:pt idx="1890">
                  <c:v>45265</c:v>
                </c:pt>
                <c:pt idx="1891">
                  <c:v>45266</c:v>
                </c:pt>
                <c:pt idx="1892">
                  <c:v>45267</c:v>
                </c:pt>
                <c:pt idx="1893">
                  <c:v>45268</c:v>
                </c:pt>
                <c:pt idx="1894">
                  <c:v>45271</c:v>
                </c:pt>
                <c:pt idx="1895">
                  <c:v>45272</c:v>
                </c:pt>
                <c:pt idx="1896">
                  <c:v>45273</c:v>
                </c:pt>
                <c:pt idx="1897">
                  <c:v>45274</c:v>
                </c:pt>
                <c:pt idx="1898">
                  <c:v>45275</c:v>
                </c:pt>
                <c:pt idx="1899">
                  <c:v>45278</c:v>
                </c:pt>
                <c:pt idx="1900">
                  <c:v>45279</c:v>
                </c:pt>
                <c:pt idx="1901">
                  <c:v>45280</c:v>
                </c:pt>
                <c:pt idx="1902">
                  <c:v>45281</c:v>
                </c:pt>
                <c:pt idx="1903">
                  <c:v>45282</c:v>
                </c:pt>
                <c:pt idx="1904">
                  <c:v>45285</c:v>
                </c:pt>
                <c:pt idx="1905">
                  <c:v>45286</c:v>
                </c:pt>
                <c:pt idx="1906">
                  <c:v>45287</c:v>
                </c:pt>
                <c:pt idx="1907">
                  <c:v>45288</c:v>
                </c:pt>
                <c:pt idx="1908">
                  <c:v>45289</c:v>
                </c:pt>
                <c:pt idx="1909">
                  <c:v>45292</c:v>
                </c:pt>
                <c:pt idx="1910">
                  <c:v>45293</c:v>
                </c:pt>
                <c:pt idx="1911">
                  <c:v>45294</c:v>
                </c:pt>
                <c:pt idx="1912">
                  <c:v>45295</c:v>
                </c:pt>
                <c:pt idx="1913">
                  <c:v>45296</c:v>
                </c:pt>
                <c:pt idx="1914">
                  <c:v>45299</c:v>
                </c:pt>
                <c:pt idx="1915">
                  <c:v>45300</c:v>
                </c:pt>
                <c:pt idx="1916">
                  <c:v>45301</c:v>
                </c:pt>
                <c:pt idx="1917">
                  <c:v>45302</c:v>
                </c:pt>
                <c:pt idx="1918">
                  <c:v>45303</c:v>
                </c:pt>
                <c:pt idx="1919">
                  <c:v>45306</c:v>
                </c:pt>
                <c:pt idx="1920">
                  <c:v>45307</c:v>
                </c:pt>
                <c:pt idx="1921">
                  <c:v>45308</c:v>
                </c:pt>
                <c:pt idx="1922">
                  <c:v>45309</c:v>
                </c:pt>
                <c:pt idx="1923">
                  <c:v>45310</c:v>
                </c:pt>
                <c:pt idx="1924">
                  <c:v>45313</c:v>
                </c:pt>
                <c:pt idx="1925">
                  <c:v>45314</c:v>
                </c:pt>
                <c:pt idx="1926">
                  <c:v>45315</c:v>
                </c:pt>
                <c:pt idx="1927">
                  <c:v>45316</c:v>
                </c:pt>
                <c:pt idx="1928">
                  <c:v>45317</c:v>
                </c:pt>
                <c:pt idx="1929">
                  <c:v>45320</c:v>
                </c:pt>
                <c:pt idx="1930">
                  <c:v>45321</c:v>
                </c:pt>
                <c:pt idx="1931">
                  <c:v>45322</c:v>
                </c:pt>
                <c:pt idx="1932">
                  <c:v>45323</c:v>
                </c:pt>
                <c:pt idx="1933">
                  <c:v>45324</c:v>
                </c:pt>
                <c:pt idx="1934">
                  <c:v>45327</c:v>
                </c:pt>
                <c:pt idx="1935">
                  <c:v>45328</c:v>
                </c:pt>
                <c:pt idx="1936">
                  <c:v>45329</c:v>
                </c:pt>
                <c:pt idx="1937">
                  <c:v>45330</c:v>
                </c:pt>
                <c:pt idx="1938">
                  <c:v>45331</c:v>
                </c:pt>
                <c:pt idx="1939">
                  <c:v>45334</c:v>
                </c:pt>
                <c:pt idx="1940">
                  <c:v>45335</c:v>
                </c:pt>
                <c:pt idx="1941">
                  <c:v>45336</c:v>
                </c:pt>
                <c:pt idx="1942">
                  <c:v>45337</c:v>
                </c:pt>
                <c:pt idx="1943">
                  <c:v>45338</c:v>
                </c:pt>
                <c:pt idx="1944">
                  <c:v>45341</c:v>
                </c:pt>
                <c:pt idx="1945">
                  <c:v>45342</c:v>
                </c:pt>
                <c:pt idx="1946">
                  <c:v>45343</c:v>
                </c:pt>
                <c:pt idx="1947">
                  <c:v>45344</c:v>
                </c:pt>
                <c:pt idx="1948">
                  <c:v>45345</c:v>
                </c:pt>
                <c:pt idx="1949">
                  <c:v>45348</c:v>
                </c:pt>
                <c:pt idx="1950">
                  <c:v>45349</c:v>
                </c:pt>
                <c:pt idx="1951">
                  <c:v>45350</c:v>
                </c:pt>
                <c:pt idx="1952">
                  <c:v>45351</c:v>
                </c:pt>
                <c:pt idx="1953">
                  <c:v>45352</c:v>
                </c:pt>
                <c:pt idx="1954">
                  <c:v>45355</c:v>
                </c:pt>
                <c:pt idx="1955">
                  <c:v>45356</c:v>
                </c:pt>
                <c:pt idx="1956">
                  <c:v>45357</c:v>
                </c:pt>
                <c:pt idx="1957">
                  <c:v>45358</c:v>
                </c:pt>
                <c:pt idx="1958">
                  <c:v>45359</c:v>
                </c:pt>
                <c:pt idx="1959">
                  <c:v>45362</c:v>
                </c:pt>
                <c:pt idx="1960">
                  <c:v>45363</c:v>
                </c:pt>
                <c:pt idx="1961">
                  <c:v>45364</c:v>
                </c:pt>
                <c:pt idx="1962">
                  <c:v>45365</c:v>
                </c:pt>
                <c:pt idx="1963">
                  <c:v>45366</c:v>
                </c:pt>
                <c:pt idx="1964">
                  <c:v>45369</c:v>
                </c:pt>
                <c:pt idx="1965">
                  <c:v>45370</c:v>
                </c:pt>
                <c:pt idx="1966">
                  <c:v>45371</c:v>
                </c:pt>
                <c:pt idx="1967">
                  <c:v>45372</c:v>
                </c:pt>
                <c:pt idx="1968">
                  <c:v>45373</c:v>
                </c:pt>
                <c:pt idx="1969">
                  <c:v>45376</c:v>
                </c:pt>
                <c:pt idx="1970">
                  <c:v>45377</c:v>
                </c:pt>
                <c:pt idx="1971">
                  <c:v>45378</c:v>
                </c:pt>
                <c:pt idx="1972">
                  <c:v>45379</c:v>
                </c:pt>
                <c:pt idx="1973">
                  <c:v>45380</c:v>
                </c:pt>
                <c:pt idx="1974">
                  <c:v>45383</c:v>
                </c:pt>
                <c:pt idx="1975">
                  <c:v>45384</c:v>
                </c:pt>
                <c:pt idx="1976">
                  <c:v>45385</c:v>
                </c:pt>
                <c:pt idx="1977">
                  <c:v>45386</c:v>
                </c:pt>
                <c:pt idx="1978">
                  <c:v>45387</c:v>
                </c:pt>
                <c:pt idx="1979">
                  <c:v>45390</c:v>
                </c:pt>
                <c:pt idx="1980">
                  <c:v>45391</c:v>
                </c:pt>
                <c:pt idx="1981">
                  <c:v>45392</c:v>
                </c:pt>
                <c:pt idx="1982">
                  <c:v>45393</c:v>
                </c:pt>
                <c:pt idx="1983">
                  <c:v>45394</c:v>
                </c:pt>
                <c:pt idx="1984">
                  <c:v>45397</c:v>
                </c:pt>
                <c:pt idx="1985">
                  <c:v>45398</c:v>
                </c:pt>
                <c:pt idx="1986">
                  <c:v>45399</c:v>
                </c:pt>
                <c:pt idx="1987">
                  <c:v>45400</c:v>
                </c:pt>
                <c:pt idx="1988">
                  <c:v>45401</c:v>
                </c:pt>
                <c:pt idx="1989">
                  <c:v>45404</c:v>
                </c:pt>
                <c:pt idx="1990">
                  <c:v>45405</c:v>
                </c:pt>
                <c:pt idx="1991">
                  <c:v>45406</c:v>
                </c:pt>
                <c:pt idx="1992">
                  <c:v>45407</c:v>
                </c:pt>
                <c:pt idx="1993">
                  <c:v>45408</c:v>
                </c:pt>
                <c:pt idx="1994">
                  <c:v>45411</c:v>
                </c:pt>
                <c:pt idx="1995">
                  <c:v>45412</c:v>
                </c:pt>
                <c:pt idx="1996">
                  <c:v>45413</c:v>
                </c:pt>
                <c:pt idx="1997">
                  <c:v>45414</c:v>
                </c:pt>
                <c:pt idx="1998">
                  <c:v>45415</c:v>
                </c:pt>
                <c:pt idx="1999">
                  <c:v>45418</c:v>
                </c:pt>
                <c:pt idx="2000">
                  <c:v>45419</c:v>
                </c:pt>
                <c:pt idx="2001">
                  <c:v>45420</c:v>
                </c:pt>
                <c:pt idx="2002">
                  <c:v>45421</c:v>
                </c:pt>
                <c:pt idx="2003">
                  <c:v>45422</c:v>
                </c:pt>
                <c:pt idx="2004">
                  <c:v>45425</c:v>
                </c:pt>
                <c:pt idx="2005">
                  <c:v>45426</c:v>
                </c:pt>
                <c:pt idx="2006">
                  <c:v>45427</c:v>
                </c:pt>
                <c:pt idx="2007">
                  <c:v>45428</c:v>
                </c:pt>
                <c:pt idx="2008">
                  <c:v>45429</c:v>
                </c:pt>
                <c:pt idx="2009">
                  <c:v>45432</c:v>
                </c:pt>
                <c:pt idx="2010">
                  <c:v>45433</c:v>
                </c:pt>
                <c:pt idx="2011">
                  <c:v>45434</c:v>
                </c:pt>
                <c:pt idx="2012">
                  <c:v>45435</c:v>
                </c:pt>
                <c:pt idx="2013">
                  <c:v>45436</c:v>
                </c:pt>
                <c:pt idx="2014">
                  <c:v>45439</c:v>
                </c:pt>
                <c:pt idx="2015">
                  <c:v>45440</c:v>
                </c:pt>
                <c:pt idx="2016">
                  <c:v>45441</c:v>
                </c:pt>
                <c:pt idx="2017">
                  <c:v>45442</c:v>
                </c:pt>
                <c:pt idx="2018">
                  <c:v>45443</c:v>
                </c:pt>
                <c:pt idx="2019">
                  <c:v>45446</c:v>
                </c:pt>
                <c:pt idx="2020">
                  <c:v>45447</c:v>
                </c:pt>
                <c:pt idx="2021">
                  <c:v>45448</c:v>
                </c:pt>
                <c:pt idx="2022">
                  <c:v>45449</c:v>
                </c:pt>
                <c:pt idx="2023">
                  <c:v>45450</c:v>
                </c:pt>
                <c:pt idx="2024">
                  <c:v>45453</c:v>
                </c:pt>
                <c:pt idx="2025">
                  <c:v>45454</c:v>
                </c:pt>
                <c:pt idx="2026">
                  <c:v>45455</c:v>
                </c:pt>
                <c:pt idx="2027">
                  <c:v>45456</c:v>
                </c:pt>
                <c:pt idx="2028">
                  <c:v>45457</c:v>
                </c:pt>
                <c:pt idx="2029">
                  <c:v>45460</c:v>
                </c:pt>
                <c:pt idx="2030">
                  <c:v>45461</c:v>
                </c:pt>
                <c:pt idx="2031">
                  <c:v>45462</c:v>
                </c:pt>
                <c:pt idx="2032">
                  <c:v>45463</c:v>
                </c:pt>
                <c:pt idx="2033">
                  <c:v>45464</c:v>
                </c:pt>
                <c:pt idx="2034">
                  <c:v>45467</c:v>
                </c:pt>
                <c:pt idx="2035">
                  <c:v>45468</c:v>
                </c:pt>
                <c:pt idx="2036">
                  <c:v>45469</c:v>
                </c:pt>
                <c:pt idx="2037">
                  <c:v>45470</c:v>
                </c:pt>
                <c:pt idx="2038">
                  <c:v>45471</c:v>
                </c:pt>
                <c:pt idx="2039">
                  <c:v>45474</c:v>
                </c:pt>
                <c:pt idx="2040">
                  <c:v>45475</c:v>
                </c:pt>
                <c:pt idx="2041">
                  <c:v>45476</c:v>
                </c:pt>
                <c:pt idx="2042">
                  <c:v>45477</c:v>
                </c:pt>
                <c:pt idx="2043">
                  <c:v>45478</c:v>
                </c:pt>
                <c:pt idx="2044">
                  <c:v>45481</c:v>
                </c:pt>
                <c:pt idx="2045">
                  <c:v>45482</c:v>
                </c:pt>
                <c:pt idx="2046">
                  <c:v>45483</c:v>
                </c:pt>
                <c:pt idx="2047">
                  <c:v>45484</c:v>
                </c:pt>
                <c:pt idx="2048">
                  <c:v>45485</c:v>
                </c:pt>
                <c:pt idx="2049">
                  <c:v>45488</c:v>
                </c:pt>
                <c:pt idx="2050">
                  <c:v>45489</c:v>
                </c:pt>
                <c:pt idx="2051">
                  <c:v>45490</c:v>
                </c:pt>
                <c:pt idx="2052">
                  <c:v>45491</c:v>
                </c:pt>
                <c:pt idx="2053">
                  <c:v>45492</c:v>
                </c:pt>
                <c:pt idx="2054">
                  <c:v>45495</c:v>
                </c:pt>
                <c:pt idx="2055">
                  <c:v>45496</c:v>
                </c:pt>
                <c:pt idx="2056">
                  <c:v>45497</c:v>
                </c:pt>
                <c:pt idx="2057">
                  <c:v>45498</c:v>
                </c:pt>
                <c:pt idx="2058">
                  <c:v>45499</c:v>
                </c:pt>
                <c:pt idx="2059">
                  <c:v>45502</c:v>
                </c:pt>
                <c:pt idx="2060">
                  <c:v>45503</c:v>
                </c:pt>
                <c:pt idx="2061">
                  <c:v>45504</c:v>
                </c:pt>
                <c:pt idx="2062">
                  <c:v>45505</c:v>
                </c:pt>
                <c:pt idx="2063">
                  <c:v>45506</c:v>
                </c:pt>
                <c:pt idx="2064">
                  <c:v>45509</c:v>
                </c:pt>
                <c:pt idx="2065">
                  <c:v>45510</c:v>
                </c:pt>
                <c:pt idx="2066">
                  <c:v>45511</c:v>
                </c:pt>
                <c:pt idx="2067">
                  <c:v>45512</c:v>
                </c:pt>
                <c:pt idx="2068">
                  <c:v>45513</c:v>
                </c:pt>
                <c:pt idx="2069">
                  <c:v>45516</c:v>
                </c:pt>
                <c:pt idx="2070">
                  <c:v>45517</c:v>
                </c:pt>
                <c:pt idx="2071">
                  <c:v>45518</c:v>
                </c:pt>
                <c:pt idx="2072">
                  <c:v>45519</c:v>
                </c:pt>
                <c:pt idx="2073">
                  <c:v>45520</c:v>
                </c:pt>
                <c:pt idx="2074">
                  <c:v>45523</c:v>
                </c:pt>
                <c:pt idx="2075">
                  <c:v>45524</c:v>
                </c:pt>
                <c:pt idx="2076">
                  <c:v>45525</c:v>
                </c:pt>
                <c:pt idx="2077">
                  <c:v>45526</c:v>
                </c:pt>
                <c:pt idx="2078">
                  <c:v>45527</c:v>
                </c:pt>
                <c:pt idx="2079">
                  <c:v>45530</c:v>
                </c:pt>
                <c:pt idx="2080">
                  <c:v>45531</c:v>
                </c:pt>
                <c:pt idx="2081">
                  <c:v>45532</c:v>
                </c:pt>
                <c:pt idx="2082">
                  <c:v>45533</c:v>
                </c:pt>
                <c:pt idx="2083">
                  <c:v>45534</c:v>
                </c:pt>
                <c:pt idx="2084">
                  <c:v>45537</c:v>
                </c:pt>
                <c:pt idx="2085">
                  <c:v>45538</c:v>
                </c:pt>
                <c:pt idx="2086">
                  <c:v>45539</c:v>
                </c:pt>
                <c:pt idx="2087">
                  <c:v>45540</c:v>
                </c:pt>
                <c:pt idx="2088">
                  <c:v>45541</c:v>
                </c:pt>
                <c:pt idx="2089">
                  <c:v>45544</c:v>
                </c:pt>
                <c:pt idx="2090">
                  <c:v>45545</c:v>
                </c:pt>
                <c:pt idx="2091">
                  <c:v>45546</c:v>
                </c:pt>
                <c:pt idx="2092">
                  <c:v>45547</c:v>
                </c:pt>
                <c:pt idx="2093">
                  <c:v>45548</c:v>
                </c:pt>
                <c:pt idx="2094">
                  <c:v>45551</c:v>
                </c:pt>
                <c:pt idx="2095">
                  <c:v>45552</c:v>
                </c:pt>
                <c:pt idx="2096">
                  <c:v>45553</c:v>
                </c:pt>
                <c:pt idx="2097">
                  <c:v>45554</c:v>
                </c:pt>
                <c:pt idx="2098">
                  <c:v>45555</c:v>
                </c:pt>
                <c:pt idx="2099">
                  <c:v>45558</c:v>
                </c:pt>
                <c:pt idx="2100">
                  <c:v>45559</c:v>
                </c:pt>
                <c:pt idx="2101">
                  <c:v>45560</c:v>
                </c:pt>
                <c:pt idx="2102">
                  <c:v>45561</c:v>
                </c:pt>
                <c:pt idx="2103">
                  <c:v>45562</c:v>
                </c:pt>
                <c:pt idx="2104">
                  <c:v>45565</c:v>
                </c:pt>
                <c:pt idx="2105">
                  <c:v>45566</c:v>
                </c:pt>
                <c:pt idx="2106">
                  <c:v>45567</c:v>
                </c:pt>
                <c:pt idx="2107">
                  <c:v>45568</c:v>
                </c:pt>
                <c:pt idx="2108">
                  <c:v>45569</c:v>
                </c:pt>
                <c:pt idx="2109">
                  <c:v>45572</c:v>
                </c:pt>
                <c:pt idx="2110">
                  <c:v>45573</c:v>
                </c:pt>
                <c:pt idx="2111">
                  <c:v>45574</c:v>
                </c:pt>
                <c:pt idx="2112">
                  <c:v>45575</c:v>
                </c:pt>
                <c:pt idx="2113">
                  <c:v>45576</c:v>
                </c:pt>
                <c:pt idx="2114">
                  <c:v>45579</c:v>
                </c:pt>
                <c:pt idx="2115">
                  <c:v>45580</c:v>
                </c:pt>
                <c:pt idx="2116">
                  <c:v>45581</c:v>
                </c:pt>
                <c:pt idx="2117">
                  <c:v>45582</c:v>
                </c:pt>
                <c:pt idx="2118">
                  <c:v>45583</c:v>
                </c:pt>
                <c:pt idx="2119">
                  <c:v>45586</c:v>
                </c:pt>
                <c:pt idx="2120">
                  <c:v>45587</c:v>
                </c:pt>
                <c:pt idx="2121">
                  <c:v>45588</c:v>
                </c:pt>
                <c:pt idx="2122">
                  <c:v>45589</c:v>
                </c:pt>
                <c:pt idx="2123">
                  <c:v>45590</c:v>
                </c:pt>
                <c:pt idx="2124">
                  <c:v>45593</c:v>
                </c:pt>
                <c:pt idx="2125">
                  <c:v>45594</c:v>
                </c:pt>
                <c:pt idx="2126">
                  <c:v>45595</c:v>
                </c:pt>
                <c:pt idx="2127">
                  <c:v>45596</c:v>
                </c:pt>
                <c:pt idx="2128">
                  <c:v>45597</c:v>
                </c:pt>
                <c:pt idx="2129">
                  <c:v>45600</c:v>
                </c:pt>
                <c:pt idx="2130">
                  <c:v>45601</c:v>
                </c:pt>
                <c:pt idx="2131">
                  <c:v>45602</c:v>
                </c:pt>
                <c:pt idx="2132">
                  <c:v>45603</c:v>
                </c:pt>
                <c:pt idx="2133">
                  <c:v>45604</c:v>
                </c:pt>
                <c:pt idx="2134">
                  <c:v>45607</c:v>
                </c:pt>
                <c:pt idx="2135">
                  <c:v>45608</c:v>
                </c:pt>
                <c:pt idx="2136">
                  <c:v>45609</c:v>
                </c:pt>
                <c:pt idx="2137">
                  <c:v>45610</c:v>
                </c:pt>
                <c:pt idx="2138">
                  <c:v>45611</c:v>
                </c:pt>
                <c:pt idx="2139">
                  <c:v>45614</c:v>
                </c:pt>
                <c:pt idx="2140">
                  <c:v>45615</c:v>
                </c:pt>
                <c:pt idx="2141">
                  <c:v>45616</c:v>
                </c:pt>
                <c:pt idx="2142">
                  <c:v>45617</c:v>
                </c:pt>
                <c:pt idx="2143">
                  <c:v>45618</c:v>
                </c:pt>
                <c:pt idx="2144">
                  <c:v>45621</c:v>
                </c:pt>
                <c:pt idx="2145">
                  <c:v>45622</c:v>
                </c:pt>
                <c:pt idx="2146">
                  <c:v>45623</c:v>
                </c:pt>
                <c:pt idx="2147">
                  <c:v>45624</c:v>
                </c:pt>
                <c:pt idx="2148">
                  <c:v>45625</c:v>
                </c:pt>
                <c:pt idx="2149">
                  <c:v>45628</c:v>
                </c:pt>
                <c:pt idx="2150">
                  <c:v>45629</c:v>
                </c:pt>
                <c:pt idx="2151">
                  <c:v>45630</c:v>
                </c:pt>
                <c:pt idx="2152">
                  <c:v>45631</c:v>
                </c:pt>
                <c:pt idx="2153">
                  <c:v>45632</c:v>
                </c:pt>
                <c:pt idx="2154">
                  <c:v>45635</c:v>
                </c:pt>
                <c:pt idx="2155">
                  <c:v>45636</c:v>
                </c:pt>
                <c:pt idx="2156">
                  <c:v>45637</c:v>
                </c:pt>
                <c:pt idx="2157">
                  <c:v>45638</c:v>
                </c:pt>
                <c:pt idx="2158">
                  <c:v>45639</c:v>
                </c:pt>
                <c:pt idx="2159">
                  <c:v>45642</c:v>
                </c:pt>
                <c:pt idx="2160">
                  <c:v>45643</c:v>
                </c:pt>
                <c:pt idx="2161">
                  <c:v>45644</c:v>
                </c:pt>
                <c:pt idx="2162">
                  <c:v>45645</c:v>
                </c:pt>
                <c:pt idx="2163">
                  <c:v>45646</c:v>
                </c:pt>
                <c:pt idx="2164">
                  <c:v>45649</c:v>
                </c:pt>
                <c:pt idx="2165">
                  <c:v>45650</c:v>
                </c:pt>
                <c:pt idx="2166">
                  <c:v>45651</c:v>
                </c:pt>
                <c:pt idx="2167">
                  <c:v>45652</c:v>
                </c:pt>
                <c:pt idx="2168">
                  <c:v>45653</c:v>
                </c:pt>
                <c:pt idx="2169">
                  <c:v>45656</c:v>
                </c:pt>
                <c:pt idx="2170">
                  <c:v>45657</c:v>
                </c:pt>
                <c:pt idx="2171">
                  <c:v>45658</c:v>
                </c:pt>
                <c:pt idx="2172">
                  <c:v>45659</c:v>
                </c:pt>
                <c:pt idx="2173">
                  <c:v>45660</c:v>
                </c:pt>
                <c:pt idx="2174">
                  <c:v>45663</c:v>
                </c:pt>
                <c:pt idx="2175">
                  <c:v>45664</c:v>
                </c:pt>
                <c:pt idx="2176">
                  <c:v>45665</c:v>
                </c:pt>
                <c:pt idx="2177">
                  <c:v>45666</c:v>
                </c:pt>
                <c:pt idx="2178">
                  <c:v>45667</c:v>
                </c:pt>
                <c:pt idx="2179">
                  <c:v>45670</c:v>
                </c:pt>
                <c:pt idx="2180">
                  <c:v>45671</c:v>
                </c:pt>
                <c:pt idx="2181">
                  <c:v>45672</c:v>
                </c:pt>
                <c:pt idx="2182">
                  <c:v>45673</c:v>
                </c:pt>
                <c:pt idx="2183">
                  <c:v>45674</c:v>
                </c:pt>
                <c:pt idx="2184">
                  <c:v>45677</c:v>
                </c:pt>
                <c:pt idx="2185">
                  <c:v>45678</c:v>
                </c:pt>
                <c:pt idx="2186">
                  <c:v>45679</c:v>
                </c:pt>
                <c:pt idx="2187">
                  <c:v>45680</c:v>
                </c:pt>
                <c:pt idx="2188">
                  <c:v>45681</c:v>
                </c:pt>
                <c:pt idx="2189">
                  <c:v>45684</c:v>
                </c:pt>
                <c:pt idx="2190">
                  <c:v>45685</c:v>
                </c:pt>
                <c:pt idx="2191">
                  <c:v>45686</c:v>
                </c:pt>
                <c:pt idx="2192">
                  <c:v>45687</c:v>
                </c:pt>
                <c:pt idx="2193">
                  <c:v>45688</c:v>
                </c:pt>
                <c:pt idx="2194">
                  <c:v>45691</c:v>
                </c:pt>
                <c:pt idx="2195">
                  <c:v>45692</c:v>
                </c:pt>
                <c:pt idx="2196">
                  <c:v>45693</c:v>
                </c:pt>
                <c:pt idx="2197">
                  <c:v>45694</c:v>
                </c:pt>
                <c:pt idx="2198">
                  <c:v>45695</c:v>
                </c:pt>
                <c:pt idx="2199">
                  <c:v>45698</c:v>
                </c:pt>
                <c:pt idx="2200">
                  <c:v>45699</c:v>
                </c:pt>
                <c:pt idx="2201">
                  <c:v>45700</c:v>
                </c:pt>
                <c:pt idx="2202">
                  <c:v>45701</c:v>
                </c:pt>
                <c:pt idx="2203">
                  <c:v>45702</c:v>
                </c:pt>
                <c:pt idx="2204">
                  <c:v>45705</c:v>
                </c:pt>
                <c:pt idx="2205">
                  <c:v>45706</c:v>
                </c:pt>
                <c:pt idx="2206">
                  <c:v>45707</c:v>
                </c:pt>
                <c:pt idx="2207">
                  <c:v>45708</c:v>
                </c:pt>
                <c:pt idx="2208">
                  <c:v>45709</c:v>
                </c:pt>
                <c:pt idx="2209">
                  <c:v>45712</c:v>
                </c:pt>
                <c:pt idx="2210">
                  <c:v>45713</c:v>
                </c:pt>
                <c:pt idx="2211">
                  <c:v>45714</c:v>
                </c:pt>
                <c:pt idx="2212">
                  <c:v>45715</c:v>
                </c:pt>
                <c:pt idx="2213">
                  <c:v>45716</c:v>
                </c:pt>
                <c:pt idx="2214">
                  <c:v>45719</c:v>
                </c:pt>
                <c:pt idx="2215">
                  <c:v>45720</c:v>
                </c:pt>
                <c:pt idx="2216">
                  <c:v>45721</c:v>
                </c:pt>
                <c:pt idx="2217">
                  <c:v>45722</c:v>
                </c:pt>
                <c:pt idx="2218">
                  <c:v>45723</c:v>
                </c:pt>
                <c:pt idx="2219">
                  <c:v>45726</c:v>
                </c:pt>
                <c:pt idx="2220">
                  <c:v>45727</c:v>
                </c:pt>
                <c:pt idx="2221">
                  <c:v>45728</c:v>
                </c:pt>
                <c:pt idx="2222">
                  <c:v>45729</c:v>
                </c:pt>
                <c:pt idx="2223">
                  <c:v>45730</c:v>
                </c:pt>
                <c:pt idx="2224">
                  <c:v>45733</c:v>
                </c:pt>
                <c:pt idx="2225">
                  <c:v>45734</c:v>
                </c:pt>
                <c:pt idx="2226">
                  <c:v>45735</c:v>
                </c:pt>
                <c:pt idx="2227">
                  <c:v>45736</c:v>
                </c:pt>
                <c:pt idx="2228">
                  <c:v>45737</c:v>
                </c:pt>
                <c:pt idx="2229">
                  <c:v>45740</c:v>
                </c:pt>
                <c:pt idx="2230">
                  <c:v>45741</c:v>
                </c:pt>
                <c:pt idx="2231">
                  <c:v>45742</c:v>
                </c:pt>
                <c:pt idx="2232">
                  <c:v>45743</c:v>
                </c:pt>
                <c:pt idx="2233">
                  <c:v>45744</c:v>
                </c:pt>
                <c:pt idx="2234">
                  <c:v>45747</c:v>
                </c:pt>
                <c:pt idx="2235">
                  <c:v>45748</c:v>
                </c:pt>
                <c:pt idx="2236">
                  <c:v>45749</c:v>
                </c:pt>
                <c:pt idx="2237">
                  <c:v>45750</c:v>
                </c:pt>
                <c:pt idx="2238">
                  <c:v>45751</c:v>
                </c:pt>
                <c:pt idx="2239">
                  <c:v>45754</c:v>
                </c:pt>
                <c:pt idx="2240">
                  <c:v>45755</c:v>
                </c:pt>
                <c:pt idx="2241">
                  <c:v>45756</c:v>
                </c:pt>
                <c:pt idx="2242">
                  <c:v>45757</c:v>
                </c:pt>
                <c:pt idx="2243">
                  <c:v>45758</c:v>
                </c:pt>
                <c:pt idx="2244">
                  <c:v>45761</c:v>
                </c:pt>
                <c:pt idx="2245">
                  <c:v>45762</c:v>
                </c:pt>
                <c:pt idx="2246">
                  <c:v>45763</c:v>
                </c:pt>
                <c:pt idx="2247">
                  <c:v>45764</c:v>
                </c:pt>
                <c:pt idx="2248">
                  <c:v>45765</c:v>
                </c:pt>
                <c:pt idx="2249">
                  <c:v>45768</c:v>
                </c:pt>
                <c:pt idx="2250">
                  <c:v>45769</c:v>
                </c:pt>
                <c:pt idx="2251">
                  <c:v>45770</c:v>
                </c:pt>
                <c:pt idx="2252">
                  <c:v>45771</c:v>
                </c:pt>
                <c:pt idx="2253">
                  <c:v>45772</c:v>
                </c:pt>
                <c:pt idx="2254">
                  <c:v>45775</c:v>
                </c:pt>
                <c:pt idx="2255">
                  <c:v>45776</c:v>
                </c:pt>
                <c:pt idx="2256">
                  <c:v>45777</c:v>
                </c:pt>
                <c:pt idx="2257">
                  <c:v>45778</c:v>
                </c:pt>
                <c:pt idx="2258">
                  <c:v>45779</c:v>
                </c:pt>
                <c:pt idx="2259">
                  <c:v>45782</c:v>
                </c:pt>
                <c:pt idx="2260">
                  <c:v>45783</c:v>
                </c:pt>
                <c:pt idx="2261">
                  <c:v>45784</c:v>
                </c:pt>
                <c:pt idx="2262">
                  <c:v>45785</c:v>
                </c:pt>
                <c:pt idx="2263">
                  <c:v>45786</c:v>
                </c:pt>
                <c:pt idx="2264">
                  <c:v>45789</c:v>
                </c:pt>
                <c:pt idx="2265">
                  <c:v>45790</c:v>
                </c:pt>
                <c:pt idx="2266">
                  <c:v>45791</c:v>
                </c:pt>
                <c:pt idx="2267">
                  <c:v>45792</c:v>
                </c:pt>
                <c:pt idx="2268">
                  <c:v>45793</c:v>
                </c:pt>
                <c:pt idx="2269">
                  <c:v>45796</c:v>
                </c:pt>
                <c:pt idx="2270">
                  <c:v>45797</c:v>
                </c:pt>
                <c:pt idx="2271">
                  <c:v>45798</c:v>
                </c:pt>
                <c:pt idx="2272">
                  <c:v>45799</c:v>
                </c:pt>
                <c:pt idx="2273">
                  <c:v>45800</c:v>
                </c:pt>
                <c:pt idx="2274">
                  <c:v>45803</c:v>
                </c:pt>
                <c:pt idx="2275">
                  <c:v>45804</c:v>
                </c:pt>
                <c:pt idx="2276">
                  <c:v>45805</c:v>
                </c:pt>
                <c:pt idx="2277">
                  <c:v>45806</c:v>
                </c:pt>
                <c:pt idx="2278">
                  <c:v>45807</c:v>
                </c:pt>
                <c:pt idx="2279">
                  <c:v>45810</c:v>
                </c:pt>
                <c:pt idx="2280">
                  <c:v>45811</c:v>
                </c:pt>
                <c:pt idx="2281">
                  <c:v>45812</c:v>
                </c:pt>
                <c:pt idx="2282">
                  <c:v>45813</c:v>
                </c:pt>
                <c:pt idx="2283">
                  <c:v>45814</c:v>
                </c:pt>
                <c:pt idx="2284">
                  <c:v>45817</c:v>
                </c:pt>
                <c:pt idx="2285">
                  <c:v>45818</c:v>
                </c:pt>
                <c:pt idx="2286">
                  <c:v>45819</c:v>
                </c:pt>
                <c:pt idx="2287">
                  <c:v>45820</c:v>
                </c:pt>
                <c:pt idx="2288">
                  <c:v>45821</c:v>
                </c:pt>
                <c:pt idx="2289">
                  <c:v>45824</c:v>
                </c:pt>
                <c:pt idx="2290">
                  <c:v>45825</c:v>
                </c:pt>
                <c:pt idx="2291">
                  <c:v>45826</c:v>
                </c:pt>
                <c:pt idx="2292">
                  <c:v>45827</c:v>
                </c:pt>
                <c:pt idx="2293">
                  <c:v>45828</c:v>
                </c:pt>
                <c:pt idx="2294">
                  <c:v>45831</c:v>
                </c:pt>
                <c:pt idx="2295">
                  <c:v>45832</c:v>
                </c:pt>
                <c:pt idx="2296">
                  <c:v>45833</c:v>
                </c:pt>
                <c:pt idx="2297">
                  <c:v>45834</c:v>
                </c:pt>
                <c:pt idx="2298">
                  <c:v>45835</c:v>
                </c:pt>
                <c:pt idx="2299">
                  <c:v>45838</c:v>
                </c:pt>
                <c:pt idx="2300">
                  <c:v>45839</c:v>
                </c:pt>
                <c:pt idx="2301">
                  <c:v>45840</c:v>
                </c:pt>
                <c:pt idx="2302">
                  <c:v>45841</c:v>
                </c:pt>
                <c:pt idx="2303">
                  <c:v>45842</c:v>
                </c:pt>
                <c:pt idx="2304">
                  <c:v>45845</c:v>
                </c:pt>
                <c:pt idx="2305">
                  <c:v>45846</c:v>
                </c:pt>
                <c:pt idx="2306">
                  <c:v>45847</c:v>
                </c:pt>
                <c:pt idx="2307">
                  <c:v>45848</c:v>
                </c:pt>
                <c:pt idx="2308">
                  <c:v>45849</c:v>
                </c:pt>
                <c:pt idx="2309">
                  <c:v>45852</c:v>
                </c:pt>
                <c:pt idx="2310">
                  <c:v>45853</c:v>
                </c:pt>
                <c:pt idx="2311">
                  <c:v>45854</c:v>
                </c:pt>
                <c:pt idx="2312">
                  <c:v>45855</c:v>
                </c:pt>
                <c:pt idx="2313">
                  <c:v>45856</c:v>
                </c:pt>
                <c:pt idx="2314">
                  <c:v>45859</c:v>
                </c:pt>
                <c:pt idx="2315">
                  <c:v>45860</c:v>
                </c:pt>
                <c:pt idx="2316">
                  <c:v>45861</c:v>
                </c:pt>
                <c:pt idx="2317">
                  <c:v>45862</c:v>
                </c:pt>
                <c:pt idx="2318">
                  <c:v>45863</c:v>
                </c:pt>
                <c:pt idx="2319">
                  <c:v>45866</c:v>
                </c:pt>
                <c:pt idx="2320">
                  <c:v>45867</c:v>
                </c:pt>
                <c:pt idx="2321">
                  <c:v>45868</c:v>
                </c:pt>
                <c:pt idx="2322">
                  <c:v>45869</c:v>
                </c:pt>
                <c:pt idx="2323">
                  <c:v>45870</c:v>
                </c:pt>
                <c:pt idx="2324">
                  <c:v>45873</c:v>
                </c:pt>
                <c:pt idx="2325">
                  <c:v>45874</c:v>
                </c:pt>
                <c:pt idx="2326">
                  <c:v>45875</c:v>
                </c:pt>
                <c:pt idx="2327">
                  <c:v>45876</c:v>
                </c:pt>
                <c:pt idx="2328">
                  <c:v>45877</c:v>
                </c:pt>
                <c:pt idx="2329">
                  <c:v>45880</c:v>
                </c:pt>
                <c:pt idx="2330">
                  <c:v>45881</c:v>
                </c:pt>
                <c:pt idx="2331">
                  <c:v>45882</c:v>
                </c:pt>
                <c:pt idx="2332">
                  <c:v>45883</c:v>
                </c:pt>
                <c:pt idx="2333">
                  <c:v>45884</c:v>
                </c:pt>
                <c:pt idx="2334">
                  <c:v>45887</c:v>
                </c:pt>
                <c:pt idx="2335">
                  <c:v>45888</c:v>
                </c:pt>
                <c:pt idx="2336">
                  <c:v>45889</c:v>
                </c:pt>
                <c:pt idx="2337">
                  <c:v>45890</c:v>
                </c:pt>
                <c:pt idx="2338">
                  <c:v>45891</c:v>
                </c:pt>
                <c:pt idx="2339">
                  <c:v>45894</c:v>
                </c:pt>
                <c:pt idx="2340">
                  <c:v>45895</c:v>
                </c:pt>
                <c:pt idx="2341">
                  <c:v>45896</c:v>
                </c:pt>
                <c:pt idx="2342">
                  <c:v>45897</c:v>
                </c:pt>
                <c:pt idx="2343">
                  <c:v>45898</c:v>
                </c:pt>
                <c:pt idx="2344">
                  <c:v>45901</c:v>
                </c:pt>
                <c:pt idx="2345">
                  <c:v>45902</c:v>
                </c:pt>
                <c:pt idx="2346">
                  <c:v>45903</c:v>
                </c:pt>
                <c:pt idx="2347">
                  <c:v>45904</c:v>
                </c:pt>
                <c:pt idx="2348">
                  <c:v>45905</c:v>
                </c:pt>
                <c:pt idx="2349">
                  <c:v>45908</c:v>
                </c:pt>
                <c:pt idx="2350">
                  <c:v>45909</c:v>
                </c:pt>
                <c:pt idx="2351">
                  <c:v>45910</c:v>
                </c:pt>
                <c:pt idx="2352">
                  <c:v>45911</c:v>
                </c:pt>
                <c:pt idx="2353">
                  <c:v>45912</c:v>
                </c:pt>
                <c:pt idx="2354">
                  <c:v>45915</c:v>
                </c:pt>
                <c:pt idx="2355">
                  <c:v>45916</c:v>
                </c:pt>
                <c:pt idx="2356">
                  <c:v>45917</c:v>
                </c:pt>
                <c:pt idx="2357">
                  <c:v>45918</c:v>
                </c:pt>
                <c:pt idx="2358">
                  <c:v>45919</c:v>
                </c:pt>
                <c:pt idx="2359">
                  <c:v>45922</c:v>
                </c:pt>
                <c:pt idx="2360">
                  <c:v>45923</c:v>
                </c:pt>
                <c:pt idx="2361">
                  <c:v>45924</c:v>
                </c:pt>
                <c:pt idx="2362">
                  <c:v>45925</c:v>
                </c:pt>
                <c:pt idx="2363">
                  <c:v>45926</c:v>
                </c:pt>
                <c:pt idx="2364">
                  <c:v>45929</c:v>
                </c:pt>
                <c:pt idx="2365">
                  <c:v>45930</c:v>
                </c:pt>
                <c:pt idx="2366">
                  <c:v>45931</c:v>
                </c:pt>
                <c:pt idx="2367">
                  <c:v>45932</c:v>
                </c:pt>
                <c:pt idx="2368">
                  <c:v>45933</c:v>
                </c:pt>
                <c:pt idx="2369">
                  <c:v>45936</c:v>
                </c:pt>
                <c:pt idx="2370">
                  <c:v>45937</c:v>
                </c:pt>
                <c:pt idx="2371">
                  <c:v>45938</c:v>
                </c:pt>
                <c:pt idx="2372">
                  <c:v>45939</c:v>
                </c:pt>
                <c:pt idx="2373">
                  <c:v>45940</c:v>
                </c:pt>
                <c:pt idx="2374">
                  <c:v>45943</c:v>
                </c:pt>
                <c:pt idx="2375">
                  <c:v>45944</c:v>
                </c:pt>
                <c:pt idx="2376">
                  <c:v>45945</c:v>
                </c:pt>
                <c:pt idx="2377">
                  <c:v>45946</c:v>
                </c:pt>
                <c:pt idx="2378">
                  <c:v>45947</c:v>
                </c:pt>
                <c:pt idx="2379">
                  <c:v>45950</c:v>
                </c:pt>
                <c:pt idx="2380">
                  <c:v>45951</c:v>
                </c:pt>
                <c:pt idx="2381">
                  <c:v>45952</c:v>
                </c:pt>
                <c:pt idx="2382">
                  <c:v>45953</c:v>
                </c:pt>
                <c:pt idx="2383">
                  <c:v>45954</c:v>
                </c:pt>
                <c:pt idx="2384">
                  <c:v>45957</c:v>
                </c:pt>
                <c:pt idx="2385">
                  <c:v>45958</c:v>
                </c:pt>
                <c:pt idx="2386">
                  <c:v>45959</c:v>
                </c:pt>
                <c:pt idx="2387">
                  <c:v>45960</c:v>
                </c:pt>
                <c:pt idx="2388">
                  <c:v>45961</c:v>
                </c:pt>
                <c:pt idx="2389">
                  <c:v>45964</c:v>
                </c:pt>
                <c:pt idx="2390">
                  <c:v>45965</c:v>
                </c:pt>
                <c:pt idx="2391">
                  <c:v>45966</c:v>
                </c:pt>
                <c:pt idx="2392">
                  <c:v>45967</c:v>
                </c:pt>
                <c:pt idx="2393">
                  <c:v>45968</c:v>
                </c:pt>
                <c:pt idx="2394">
                  <c:v>45971</c:v>
                </c:pt>
                <c:pt idx="2395">
                  <c:v>45972</c:v>
                </c:pt>
                <c:pt idx="2396">
                  <c:v>45973</c:v>
                </c:pt>
                <c:pt idx="2397">
                  <c:v>45974</c:v>
                </c:pt>
                <c:pt idx="2398">
                  <c:v>45975</c:v>
                </c:pt>
                <c:pt idx="2399">
                  <c:v>45978</c:v>
                </c:pt>
                <c:pt idx="2400">
                  <c:v>45979</c:v>
                </c:pt>
                <c:pt idx="2401">
                  <c:v>45980</c:v>
                </c:pt>
                <c:pt idx="2402">
                  <c:v>45981</c:v>
                </c:pt>
                <c:pt idx="2403">
                  <c:v>45982</c:v>
                </c:pt>
                <c:pt idx="2404">
                  <c:v>45985</c:v>
                </c:pt>
                <c:pt idx="2405">
                  <c:v>45986</c:v>
                </c:pt>
                <c:pt idx="2406">
                  <c:v>45987</c:v>
                </c:pt>
                <c:pt idx="2407">
                  <c:v>45988</c:v>
                </c:pt>
                <c:pt idx="2408">
                  <c:v>45989</c:v>
                </c:pt>
                <c:pt idx="2409">
                  <c:v>45992</c:v>
                </c:pt>
                <c:pt idx="2410">
                  <c:v>45993</c:v>
                </c:pt>
                <c:pt idx="2411">
                  <c:v>45994</c:v>
                </c:pt>
                <c:pt idx="2412">
                  <c:v>45995</c:v>
                </c:pt>
                <c:pt idx="2413">
                  <c:v>45996</c:v>
                </c:pt>
                <c:pt idx="2414">
                  <c:v>45999</c:v>
                </c:pt>
                <c:pt idx="2415">
                  <c:v>46000</c:v>
                </c:pt>
                <c:pt idx="2416">
                  <c:v>46001</c:v>
                </c:pt>
                <c:pt idx="2417">
                  <c:v>46002</c:v>
                </c:pt>
                <c:pt idx="2418">
                  <c:v>46003</c:v>
                </c:pt>
                <c:pt idx="2419">
                  <c:v>46006</c:v>
                </c:pt>
                <c:pt idx="2420">
                  <c:v>46007</c:v>
                </c:pt>
                <c:pt idx="2421">
                  <c:v>46008</c:v>
                </c:pt>
                <c:pt idx="2422">
                  <c:v>46009</c:v>
                </c:pt>
                <c:pt idx="2423">
                  <c:v>46010</c:v>
                </c:pt>
                <c:pt idx="2424">
                  <c:v>46013</c:v>
                </c:pt>
                <c:pt idx="2425">
                  <c:v>46014</c:v>
                </c:pt>
                <c:pt idx="2426">
                  <c:v>46015</c:v>
                </c:pt>
                <c:pt idx="2427">
                  <c:v>46016</c:v>
                </c:pt>
                <c:pt idx="2428">
                  <c:v>46017</c:v>
                </c:pt>
                <c:pt idx="2429">
                  <c:v>46020</c:v>
                </c:pt>
                <c:pt idx="2430">
                  <c:v>46021</c:v>
                </c:pt>
                <c:pt idx="2431">
                  <c:v>46022</c:v>
                </c:pt>
                <c:pt idx="2432">
                  <c:v>46023</c:v>
                </c:pt>
                <c:pt idx="2433">
                  <c:v>46024</c:v>
                </c:pt>
                <c:pt idx="2434">
                  <c:v>46027</c:v>
                </c:pt>
                <c:pt idx="2435">
                  <c:v>46028</c:v>
                </c:pt>
                <c:pt idx="2436">
                  <c:v>46029</c:v>
                </c:pt>
                <c:pt idx="2437">
                  <c:v>46030</c:v>
                </c:pt>
                <c:pt idx="2438">
                  <c:v>46031</c:v>
                </c:pt>
                <c:pt idx="2439">
                  <c:v>46034</c:v>
                </c:pt>
                <c:pt idx="2440">
                  <c:v>46035</c:v>
                </c:pt>
                <c:pt idx="2441">
                  <c:v>46036</c:v>
                </c:pt>
                <c:pt idx="2442">
                  <c:v>46037</c:v>
                </c:pt>
                <c:pt idx="2443">
                  <c:v>46038</c:v>
                </c:pt>
                <c:pt idx="2444">
                  <c:v>46041</c:v>
                </c:pt>
                <c:pt idx="2445">
                  <c:v>46042</c:v>
                </c:pt>
                <c:pt idx="2446">
                  <c:v>46043</c:v>
                </c:pt>
                <c:pt idx="2447">
                  <c:v>46044</c:v>
                </c:pt>
                <c:pt idx="2448">
                  <c:v>46045</c:v>
                </c:pt>
                <c:pt idx="2449">
                  <c:v>46048</c:v>
                </c:pt>
                <c:pt idx="2450">
                  <c:v>46049</c:v>
                </c:pt>
                <c:pt idx="2451">
                  <c:v>46050</c:v>
                </c:pt>
                <c:pt idx="2452">
                  <c:v>46051</c:v>
                </c:pt>
                <c:pt idx="2453">
                  <c:v>46052</c:v>
                </c:pt>
                <c:pt idx="2454">
                  <c:v>46055</c:v>
                </c:pt>
                <c:pt idx="2455">
                  <c:v>46056</c:v>
                </c:pt>
                <c:pt idx="2456">
                  <c:v>46057</c:v>
                </c:pt>
                <c:pt idx="2457">
                  <c:v>46058</c:v>
                </c:pt>
                <c:pt idx="2458">
                  <c:v>46059</c:v>
                </c:pt>
                <c:pt idx="2459">
                  <c:v>46062</c:v>
                </c:pt>
                <c:pt idx="2460">
                  <c:v>46063</c:v>
                </c:pt>
                <c:pt idx="2461">
                  <c:v>46064</c:v>
                </c:pt>
                <c:pt idx="2462">
                  <c:v>46065</c:v>
                </c:pt>
                <c:pt idx="2463">
                  <c:v>46066</c:v>
                </c:pt>
                <c:pt idx="2464">
                  <c:v>46069</c:v>
                </c:pt>
                <c:pt idx="2465">
                  <c:v>46070</c:v>
                </c:pt>
                <c:pt idx="2466">
                  <c:v>46071</c:v>
                </c:pt>
                <c:pt idx="2467">
                  <c:v>46072</c:v>
                </c:pt>
                <c:pt idx="2468">
                  <c:v>46073</c:v>
                </c:pt>
                <c:pt idx="2469">
                  <c:v>46076</c:v>
                </c:pt>
                <c:pt idx="2470">
                  <c:v>46077</c:v>
                </c:pt>
                <c:pt idx="2471">
                  <c:v>46078</c:v>
                </c:pt>
                <c:pt idx="2472">
                  <c:v>46079</c:v>
                </c:pt>
                <c:pt idx="2473">
                  <c:v>46080</c:v>
                </c:pt>
                <c:pt idx="2474">
                  <c:v>46083</c:v>
                </c:pt>
                <c:pt idx="2475">
                  <c:v>46084</c:v>
                </c:pt>
                <c:pt idx="2476">
                  <c:v>46085</c:v>
                </c:pt>
                <c:pt idx="2477">
                  <c:v>46086</c:v>
                </c:pt>
                <c:pt idx="2478">
                  <c:v>46087</c:v>
                </c:pt>
                <c:pt idx="2479">
                  <c:v>46090</c:v>
                </c:pt>
                <c:pt idx="2480">
                  <c:v>46091</c:v>
                </c:pt>
                <c:pt idx="2481">
                  <c:v>46092</c:v>
                </c:pt>
                <c:pt idx="2482">
                  <c:v>46093</c:v>
                </c:pt>
                <c:pt idx="2483">
                  <c:v>46094</c:v>
                </c:pt>
                <c:pt idx="2484">
                  <c:v>46097</c:v>
                </c:pt>
                <c:pt idx="2485">
                  <c:v>46098</c:v>
                </c:pt>
                <c:pt idx="2486">
                  <c:v>46099</c:v>
                </c:pt>
                <c:pt idx="2487">
                  <c:v>46100</c:v>
                </c:pt>
                <c:pt idx="2488">
                  <c:v>46101</c:v>
                </c:pt>
                <c:pt idx="2489">
                  <c:v>46104</c:v>
                </c:pt>
                <c:pt idx="2490">
                  <c:v>46105</c:v>
                </c:pt>
                <c:pt idx="2491">
                  <c:v>46106</c:v>
                </c:pt>
                <c:pt idx="2492">
                  <c:v>46107</c:v>
                </c:pt>
                <c:pt idx="2493">
                  <c:v>46108</c:v>
                </c:pt>
                <c:pt idx="2494">
                  <c:v>46111</c:v>
                </c:pt>
                <c:pt idx="2495">
                  <c:v>46112</c:v>
                </c:pt>
                <c:pt idx="2496">
                  <c:v>46113</c:v>
                </c:pt>
                <c:pt idx="2497">
                  <c:v>46114</c:v>
                </c:pt>
                <c:pt idx="2498">
                  <c:v>46115</c:v>
                </c:pt>
                <c:pt idx="2499">
                  <c:v>46118</c:v>
                </c:pt>
                <c:pt idx="2500">
                  <c:v>46119</c:v>
                </c:pt>
                <c:pt idx="2501">
                  <c:v>46120</c:v>
                </c:pt>
                <c:pt idx="2502">
                  <c:v>46121</c:v>
                </c:pt>
                <c:pt idx="2503">
                  <c:v>46122</c:v>
                </c:pt>
                <c:pt idx="2504">
                  <c:v>46125</c:v>
                </c:pt>
                <c:pt idx="2505">
                  <c:v>46126</c:v>
                </c:pt>
                <c:pt idx="2506">
                  <c:v>46127</c:v>
                </c:pt>
                <c:pt idx="2507">
                  <c:v>46128</c:v>
                </c:pt>
                <c:pt idx="2508">
                  <c:v>46129</c:v>
                </c:pt>
                <c:pt idx="2509">
                  <c:v>46132</c:v>
                </c:pt>
                <c:pt idx="2510">
                  <c:v>46133</c:v>
                </c:pt>
                <c:pt idx="2511">
                  <c:v>46134</c:v>
                </c:pt>
                <c:pt idx="2512">
                  <c:v>46135</c:v>
                </c:pt>
                <c:pt idx="2513">
                  <c:v>46136</c:v>
                </c:pt>
                <c:pt idx="2514">
                  <c:v>46139</c:v>
                </c:pt>
                <c:pt idx="2515">
                  <c:v>46140</c:v>
                </c:pt>
                <c:pt idx="2516">
                  <c:v>46141</c:v>
                </c:pt>
                <c:pt idx="2517">
                  <c:v>46142</c:v>
                </c:pt>
                <c:pt idx="2518">
                  <c:v>46143</c:v>
                </c:pt>
                <c:pt idx="2519">
                  <c:v>46146</c:v>
                </c:pt>
                <c:pt idx="2520">
                  <c:v>46147</c:v>
                </c:pt>
                <c:pt idx="2521">
                  <c:v>46148</c:v>
                </c:pt>
                <c:pt idx="2522">
                  <c:v>46149</c:v>
                </c:pt>
                <c:pt idx="2523">
                  <c:v>46150</c:v>
                </c:pt>
                <c:pt idx="2524">
                  <c:v>46153</c:v>
                </c:pt>
                <c:pt idx="2525">
                  <c:v>46154</c:v>
                </c:pt>
                <c:pt idx="2526">
                  <c:v>46155</c:v>
                </c:pt>
                <c:pt idx="2527">
                  <c:v>46156</c:v>
                </c:pt>
                <c:pt idx="2528">
                  <c:v>46157</c:v>
                </c:pt>
                <c:pt idx="2529">
                  <c:v>46160</c:v>
                </c:pt>
                <c:pt idx="2530">
                  <c:v>46161</c:v>
                </c:pt>
                <c:pt idx="2531">
                  <c:v>46162</c:v>
                </c:pt>
                <c:pt idx="2532">
                  <c:v>46163</c:v>
                </c:pt>
                <c:pt idx="2533">
                  <c:v>46164</c:v>
                </c:pt>
                <c:pt idx="2534">
                  <c:v>46167</c:v>
                </c:pt>
                <c:pt idx="2535">
                  <c:v>46168</c:v>
                </c:pt>
                <c:pt idx="2536">
                  <c:v>46169</c:v>
                </c:pt>
                <c:pt idx="2537">
                  <c:v>46170</c:v>
                </c:pt>
                <c:pt idx="2538">
                  <c:v>46171</c:v>
                </c:pt>
                <c:pt idx="2539">
                  <c:v>46174</c:v>
                </c:pt>
                <c:pt idx="2540">
                  <c:v>46175</c:v>
                </c:pt>
                <c:pt idx="2541">
                  <c:v>46176</c:v>
                </c:pt>
                <c:pt idx="2542">
                  <c:v>46177</c:v>
                </c:pt>
                <c:pt idx="2543">
                  <c:v>46178</c:v>
                </c:pt>
                <c:pt idx="2544">
                  <c:v>46181</c:v>
                </c:pt>
                <c:pt idx="2545">
                  <c:v>46182</c:v>
                </c:pt>
                <c:pt idx="2546">
                  <c:v>46183</c:v>
                </c:pt>
                <c:pt idx="2547">
                  <c:v>46184</c:v>
                </c:pt>
                <c:pt idx="2548">
                  <c:v>46185</c:v>
                </c:pt>
                <c:pt idx="2549">
                  <c:v>46188</c:v>
                </c:pt>
                <c:pt idx="2550">
                  <c:v>46189</c:v>
                </c:pt>
                <c:pt idx="2551">
                  <c:v>46190</c:v>
                </c:pt>
                <c:pt idx="2552">
                  <c:v>46191</c:v>
                </c:pt>
                <c:pt idx="2553">
                  <c:v>46192</c:v>
                </c:pt>
                <c:pt idx="2554">
                  <c:v>46195</c:v>
                </c:pt>
                <c:pt idx="2555">
                  <c:v>46196</c:v>
                </c:pt>
                <c:pt idx="2556">
                  <c:v>46197</c:v>
                </c:pt>
                <c:pt idx="2557">
                  <c:v>46198</c:v>
                </c:pt>
                <c:pt idx="2558">
                  <c:v>46199</c:v>
                </c:pt>
                <c:pt idx="2559">
                  <c:v>46202</c:v>
                </c:pt>
                <c:pt idx="2560">
                  <c:v>46203</c:v>
                </c:pt>
                <c:pt idx="2561">
                  <c:v>46204</c:v>
                </c:pt>
                <c:pt idx="2562">
                  <c:v>46205</c:v>
                </c:pt>
                <c:pt idx="2563">
                  <c:v>46206</c:v>
                </c:pt>
                <c:pt idx="2564">
                  <c:v>46209</c:v>
                </c:pt>
                <c:pt idx="2565">
                  <c:v>46210</c:v>
                </c:pt>
                <c:pt idx="2566">
                  <c:v>46211</c:v>
                </c:pt>
                <c:pt idx="2567">
                  <c:v>46212</c:v>
                </c:pt>
                <c:pt idx="2568">
                  <c:v>46213</c:v>
                </c:pt>
                <c:pt idx="2569">
                  <c:v>46216</c:v>
                </c:pt>
                <c:pt idx="2570">
                  <c:v>46217</c:v>
                </c:pt>
                <c:pt idx="2571">
                  <c:v>46218</c:v>
                </c:pt>
                <c:pt idx="2572">
                  <c:v>46219</c:v>
                </c:pt>
                <c:pt idx="2573">
                  <c:v>46220</c:v>
                </c:pt>
                <c:pt idx="2574">
                  <c:v>46223</c:v>
                </c:pt>
                <c:pt idx="2575">
                  <c:v>46224</c:v>
                </c:pt>
                <c:pt idx="2576">
                  <c:v>46225</c:v>
                </c:pt>
                <c:pt idx="2577">
                  <c:v>46226</c:v>
                </c:pt>
                <c:pt idx="2578">
                  <c:v>46227</c:v>
                </c:pt>
                <c:pt idx="2579">
                  <c:v>46230</c:v>
                </c:pt>
                <c:pt idx="2580">
                  <c:v>46231</c:v>
                </c:pt>
                <c:pt idx="2581">
                  <c:v>46232</c:v>
                </c:pt>
                <c:pt idx="2582">
                  <c:v>46233</c:v>
                </c:pt>
                <c:pt idx="2583">
                  <c:v>46234</c:v>
                </c:pt>
                <c:pt idx="2584">
                  <c:v>46237</c:v>
                </c:pt>
                <c:pt idx="2585">
                  <c:v>46238</c:v>
                </c:pt>
                <c:pt idx="2586">
                  <c:v>46239</c:v>
                </c:pt>
                <c:pt idx="2587">
                  <c:v>46240</c:v>
                </c:pt>
                <c:pt idx="2588">
                  <c:v>46241</c:v>
                </c:pt>
                <c:pt idx="2589">
                  <c:v>46244</c:v>
                </c:pt>
                <c:pt idx="2590">
                  <c:v>46245</c:v>
                </c:pt>
                <c:pt idx="2591">
                  <c:v>46246</c:v>
                </c:pt>
                <c:pt idx="2592">
                  <c:v>46247</c:v>
                </c:pt>
                <c:pt idx="2593">
                  <c:v>46248</c:v>
                </c:pt>
                <c:pt idx="2594">
                  <c:v>46251</c:v>
                </c:pt>
                <c:pt idx="2595">
                  <c:v>46252</c:v>
                </c:pt>
                <c:pt idx="2596">
                  <c:v>46253</c:v>
                </c:pt>
                <c:pt idx="2597">
                  <c:v>46254</c:v>
                </c:pt>
                <c:pt idx="2598">
                  <c:v>46255</c:v>
                </c:pt>
                <c:pt idx="2599">
                  <c:v>46258</c:v>
                </c:pt>
                <c:pt idx="2600">
                  <c:v>46259</c:v>
                </c:pt>
                <c:pt idx="2601">
                  <c:v>46260</c:v>
                </c:pt>
                <c:pt idx="2602">
                  <c:v>46261</c:v>
                </c:pt>
                <c:pt idx="2603">
                  <c:v>46262</c:v>
                </c:pt>
                <c:pt idx="2604">
                  <c:v>46265</c:v>
                </c:pt>
                <c:pt idx="2605">
                  <c:v>46266</c:v>
                </c:pt>
                <c:pt idx="2606">
                  <c:v>46267</c:v>
                </c:pt>
                <c:pt idx="2607">
                  <c:v>46268</c:v>
                </c:pt>
              </c:numCache>
            </c:numRef>
          </c:cat>
          <c:val>
            <c:numRef>
              <c:f>US!$W$4:$W$2611</c:f>
              <c:numCache>
                <c:formatCode>0.00</c:formatCode>
                <c:ptCount val="2608"/>
                <c:pt idx="0">
                  <c:v>1.55</c:v>
                </c:pt>
                <c:pt idx="1">
                  <c:v>1.54</c:v>
                </c:pt>
                <c:pt idx="2">
                  <c:v>1.61</c:v>
                </c:pt>
                <c:pt idx="3">
                  <c:v>1.67</c:v>
                </c:pt>
                <c:pt idx="4">
                  <c:v>1.68</c:v>
                </c:pt>
                <c:pt idx="5">
                  <c:v>1.73</c:v>
                </c:pt>
                <c:pt idx="6">
                  <c:v>1.7</c:v>
                </c:pt>
                <c:pt idx="7">
                  <c:v>1.71</c:v>
                </c:pt>
                <c:pt idx="8">
                  <c:v>1.7</c:v>
                </c:pt>
                <c:pt idx="9">
                  <c:v>1.7</c:v>
                </c:pt>
                <c:pt idx="10">
                  <c:v>1.69</c:v>
                </c:pt>
                <c:pt idx="11">
                  <c:v>1.66</c:v>
                </c:pt>
                <c:pt idx="12">
                  <c:v>1.63</c:v>
                </c:pt>
                <c:pt idx="13">
                  <c:v>1.62</c:v>
                </c:pt>
                <c:pt idx="14">
                  <c:v>1.59</c:v>
                </c:pt>
                <c:pt idx="15">
                  <c:v>1.56</c:v>
                </c:pt>
                <c:pt idx="16">
                  <c:v>1.57</c:v>
                </c:pt>
                <c:pt idx="17">
                  <c:v>1.56</c:v>
                </c:pt>
                <c:pt idx="18">
                  <c:v>1.6</c:v>
                </c:pt>
                <c:pt idx="19">
                  <c:v>1.63</c:v>
                </c:pt>
                <c:pt idx="20">
                  <c:v>1.69</c:v>
                </c:pt>
                <c:pt idx="21">
                  <c:v>1.72</c:v>
                </c:pt>
                <c:pt idx="22">
                  <c:v>1.75</c:v>
                </c:pt>
                <c:pt idx="23">
                  <c:v>1.73</c:v>
                </c:pt>
                <c:pt idx="25">
                  <c:v>1.77</c:v>
                </c:pt>
                <c:pt idx="26">
                  <c:v>1.79</c:v>
                </c:pt>
                <c:pt idx="27">
                  <c:v>1.75</c:v>
                </c:pt>
                <c:pt idx="28">
                  <c:v>1.8</c:v>
                </c:pt>
                <c:pt idx="29">
                  <c:v>1.77</c:v>
                </c:pt>
                <c:pt idx="30">
                  <c:v>1.75</c:v>
                </c:pt>
                <c:pt idx="31">
                  <c:v>1.76</c:v>
                </c:pt>
                <c:pt idx="32">
                  <c:v>1.76</c:v>
                </c:pt>
                <c:pt idx="33">
                  <c:v>1.74</c:v>
                </c:pt>
                <c:pt idx="34">
                  <c:v>1.77</c:v>
                </c:pt>
                <c:pt idx="35">
                  <c:v>1.77</c:v>
                </c:pt>
                <c:pt idx="36">
                  <c:v>1.79</c:v>
                </c:pt>
                <c:pt idx="37">
                  <c:v>1.85</c:v>
                </c:pt>
                <c:pt idx="38">
                  <c:v>1.86</c:v>
                </c:pt>
                <c:pt idx="39">
                  <c:v>1.84</c:v>
                </c:pt>
                <c:pt idx="40">
                  <c:v>1.83</c:v>
                </c:pt>
                <c:pt idx="41">
                  <c:v>1.81</c:v>
                </c:pt>
                <c:pt idx="42">
                  <c:v>1.82</c:v>
                </c:pt>
                <c:pt idx="43">
                  <c:v>1.79</c:v>
                </c:pt>
                <c:pt idx="44">
                  <c:v>1.83</c:v>
                </c:pt>
                <c:pt idx="45">
                  <c:v>1.88</c:v>
                </c:pt>
                <c:pt idx="46">
                  <c:v>2.0699999999999998</c:v>
                </c:pt>
                <c:pt idx="47">
                  <c:v>2.15</c:v>
                </c:pt>
                <c:pt idx="49">
                  <c:v>2.23</c:v>
                </c:pt>
                <c:pt idx="50">
                  <c:v>2.23</c:v>
                </c:pt>
                <c:pt idx="51">
                  <c:v>2.2200000000000002</c:v>
                </c:pt>
                <c:pt idx="52">
                  <c:v>2.29</c:v>
                </c:pt>
                <c:pt idx="53">
                  <c:v>2.34</c:v>
                </c:pt>
                <c:pt idx="54">
                  <c:v>2.33</c:v>
                </c:pt>
                <c:pt idx="55">
                  <c:v>2.31</c:v>
                </c:pt>
                <c:pt idx="56">
                  <c:v>2.36</c:v>
                </c:pt>
                <c:pt idx="58">
                  <c:v>2.36</c:v>
                </c:pt>
                <c:pt idx="59">
                  <c:v>2.3199999999999998</c:v>
                </c:pt>
                <c:pt idx="60">
                  <c:v>2.2999999999999998</c:v>
                </c:pt>
                <c:pt idx="61">
                  <c:v>2.37</c:v>
                </c:pt>
                <c:pt idx="62">
                  <c:v>2.4500000000000002</c:v>
                </c:pt>
                <c:pt idx="63">
                  <c:v>2.4</c:v>
                </c:pt>
                <c:pt idx="64">
                  <c:v>2.39</c:v>
                </c:pt>
                <c:pt idx="65">
                  <c:v>2.39</c:v>
                </c:pt>
                <c:pt idx="66">
                  <c:v>2.34</c:v>
                </c:pt>
                <c:pt idx="67">
                  <c:v>2.4</c:v>
                </c:pt>
                <c:pt idx="68">
                  <c:v>2.4700000000000002</c:v>
                </c:pt>
                <c:pt idx="69">
                  <c:v>2.4900000000000002</c:v>
                </c:pt>
                <c:pt idx="70">
                  <c:v>2.48</c:v>
                </c:pt>
                <c:pt idx="71">
                  <c:v>2.54</c:v>
                </c:pt>
                <c:pt idx="72">
                  <c:v>2.6</c:v>
                </c:pt>
                <c:pt idx="73">
                  <c:v>2.6</c:v>
                </c:pt>
                <c:pt idx="74">
                  <c:v>2.54</c:v>
                </c:pt>
                <c:pt idx="75">
                  <c:v>2.57</c:v>
                </c:pt>
                <c:pt idx="76">
                  <c:v>2.5499999999999998</c:v>
                </c:pt>
                <c:pt idx="77">
                  <c:v>2.5499999999999998</c:v>
                </c:pt>
                <c:pt idx="78">
                  <c:v>2.5499999999999998</c:v>
                </c:pt>
                <c:pt idx="80">
                  <c:v>2.57</c:v>
                </c:pt>
                <c:pt idx="81">
                  <c:v>2.5099999999999998</c:v>
                </c:pt>
                <c:pt idx="82">
                  <c:v>2.4900000000000002</c:v>
                </c:pt>
                <c:pt idx="83">
                  <c:v>2.4500000000000002</c:v>
                </c:pt>
                <c:pt idx="85">
                  <c:v>2.4500000000000002</c:v>
                </c:pt>
                <c:pt idx="86">
                  <c:v>2.46</c:v>
                </c:pt>
                <c:pt idx="87">
                  <c:v>2.37</c:v>
                </c:pt>
                <c:pt idx="88">
                  <c:v>2.42</c:v>
                </c:pt>
                <c:pt idx="89">
                  <c:v>2.38</c:v>
                </c:pt>
                <c:pt idx="90">
                  <c:v>2.38</c:v>
                </c:pt>
                <c:pt idx="91">
                  <c:v>2.38</c:v>
                </c:pt>
                <c:pt idx="92">
                  <c:v>2.36</c:v>
                </c:pt>
                <c:pt idx="93">
                  <c:v>2.4</c:v>
                </c:pt>
                <c:pt idx="95">
                  <c:v>2.33</c:v>
                </c:pt>
                <c:pt idx="96">
                  <c:v>2.42</c:v>
                </c:pt>
                <c:pt idx="97">
                  <c:v>2.4700000000000002</c:v>
                </c:pt>
                <c:pt idx="98">
                  <c:v>2.48</c:v>
                </c:pt>
                <c:pt idx="99">
                  <c:v>2.41</c:v>
                </c:pt>
                <c:pt idx="100">
                  <c:v>2.4700000000000002</c:v>
                </c:pt>
                <c:pt idx="101">
                  <c:v>2.5299999999999998</c:v>
                </c:pt>
                <c:pt idx="102">
                  <c:v>2.5099999999999998</c:v>
                </c:pt>
                <c:pt idx="103">
                  <c:v>2.4900000000000002</c:v>
                </c:pt>
                <c:pt idx="104">
                  <c:v>2.4900000000000002</c:v>
                </c:pt>
                <c:pt idx="105">
                  <c:v>2.4500000000000002</c:v>
                </c:pt>
                <c:pt idx="106">
                  <c:v>2.48</c:v>
                </c:pt>
                <c:pt idx="107">
                  <c:v>2.48</c:v>
                </c:pt>
                <c:pt idx="108">
                  <c:v>2.4900000000000002</c:v>
                </c:pt>
                <c:pt idx="109">
                  <c:v>2.42</c:v>
                </c:pt>
                <c:pt idx="110">
                  <c:v>2.4</c:v>
                </c:pt>
                <c:pt idx="111">
                  <c:v>2.34</c:v>
                </c:pt>
                <c:pt idx="112">
                  <c:v>2.4</c:v>
                </c:pt>
                <c:pt idx="113">
                  <c:v>2.41</c:v>
                </c:pt>
                <c:pt idx="114">
                  <c:v>2.4300000000000002</c:v>
                </c:pt>
                <c:pt idx="115">
                  <c:v>2.4700000000000002</c:v>
                </c:pt>
                <c:pt idx="116">
                  <c:v>2.5099999999999998</c:v>
                </c:pt>
                <c:pt idx="117">
                  <c:v>2.4500000000000002</c:v>
                </c:pt>
                <c:pt idx="118">
                  <c:v>2.42</c:v>
                </c:pt>
                <c:pt idx="120">
                  <c:v>2.4300000000000002</c:v>
                </c:pt>
                <c:pt idx="121">
                  <c:v>2.42</c:v>
                </c:pt>
                <c:pt idx="122">
                  <c:v>2.38</c:v>
                </c:pt>
                <c:pt idx="123">
                  <c:v>2.31</c:v>
                </c:pt>
                <c:pt idx="124">
                  <c:v>2.36</c:v>
                </c:pt>
                <c:pt idx="125">
                  <c:v>2.36</c:v>
                </c:pt>
                <c:pt idx="126">
                  <c:v>2.46</c:v>
                </c:pt>
                <c:pt idx="127">
                  <c:v>2.4900000000000002</c:v>
                </c:pt>
                <c:pt idx="128">
                  <c:v>2.4900000000000002</c:v>
                </c:pt>
                <c:pt idx="129">
                  <c:v>2.4900000000000002</c:v>
                </c:pt>
                <c:pt idx="130">
                  <c:v>2.52</c:v>
                </c:pt>
                <c:pt idx="131">
                  <c:v>2.57</c:v>
                </c:pt>
                <c:pt idx="132">
                  <c:v>2.6</c:v>
                </c:pt>
                <c:pt idx="133">
                  <c:v>2.58</c:v>
                </c:pt>
                <c:pt idx="134">
                  <c:v>2.62</c:v>
                </c:pt>
                <c:pt idx="135">
                  <c:v>2.6</c:v>
                </c:pt>
                <c:pt idx="136">
                  <c:v>2.5099999999999998</c:v>
                </c:pt>
                <c:pt idx="137">
                  <c:v>2.5299999999999998</c:v>
                </c:pt>
                <c:pt idx="138">
                  <c:v>2.5</c:v>
                </c:pt>
                <c:pt idx="139">
                  <c:v>2.4700000000000002</c:v>
                </c:pt>
                <c:pt idx="140">
                  <c:v>2.4300000000000002</c:v>
                </c:pt>
                <c:pt idx="141">
                  <c:v>2.4</c:v>
                </c:pt>
                <c:pt idx="142">
                  <c:v>2.41</c:v>
                </c:pt>
                <c:pt idx="143">
                  <c:v>2.4</c:v>
                </c:pt>
                <c:pt idx="144">
                  <c:v>2.38</c:v>
                </c:pt>
                <c:pt idx="145">
                  <c:v>2.42</c:v>
                </c:pt>
                <c:pt idx="146">
                  <c:v>2.39</c:v>
                </c:pt>
                <c:pt idx="147">
                  <c:v>2.42</c:v>
                </c:pt>
                <c:pt idx="148">
                  <c:v>2.4</c:v>
                </c:pt>
                <c:pt idx="149">
                  <c:v>2.35</c:v>
                </c:pt>
                <c:pt idx="150">
                  <c:v>2.36</c:v>
                </c:pt>
                <c:pt idx="151">
                  <c:v>2.34</c:v>
                </c:pt>
                <c:pt idx="152">
                  <c:v>2.34</c:v>
                </c:pt>
                <c:pt idx="153">
                  <c:v>2.38</c:v>
                </c:pt>
                <c:pt idx="154">
                  <c:v>2.37</c:v>
                </c:pt>
                <c:pt idx="155">
                  <c:v>2.3199999999999998</c:v>
                </c:pt>
                <c:pt idx="156">
                  <c:v>2.2799999999999998</c:v>
                </c:pt>
                <c:pt idx="157">
                  <c:v>2.2400000000000002</c:v>
                </c:pt>
                <c:pt idx="159">
                  <c:v>2.2599999999999998</c:v>
                </c:pt>
                <c:pt idx="160">
                  <c:v>2.1800000000000002</c:v>
                </c:pt>
                <c:pt idx="161">
                  <c:v>2.21</c:v>
                </c:pt>
                <c:pt idx="162">
                  <c:v>2.2400000000000002</c:v>
                </c:pt>
                <c:pt idx="163">
                  <c:v>2.2400000000000002</c:v>
                </c:pt>
                <c:pt idx="164">
                  <c:v>2.2799999999999998</c:v>
                </c:pt>
                <c:pt idx="165">
                  <c:v>2.35</c:v>
                </c:pt>
                <c:pt idx="166">
                  <c:v>2.3199999999999998</c:v>
                </c:pt>
                <c:pt idx="167">
                  <c:v>2.2999999999999998</c:v>
                </c:pt>
                <c:pt idx="168">
                  <c:v>2.29</c:v>
                </c:pt>
                <c:pt idx="169">
                  <c:v>2.33</c:v>
                </c:pt>
                <c:pt idx="170">
                  <c:v>2.29</c:v>
                </c:pt>
                <c:pt idx="171">
                  <c:v>2.33</c:v>
                </c:pt>
                <c:pt idx="172">
                  <c:v>2.36</c:v>
                </c:pt>
                <c:pt idx="173">
                  <c:v>2.36</c:v>
                </c:pt>
                <c:pt idx="174">
                  <c:v>2.39</c:v>
                </c:pt>
                <c:pt idx="175">
                  <c:v>2.42</c:v>
                </c:pt>
                <c:pt idx="176">
                  <c:v>2.41</c:v>
                </c:pt>
                <c:pt idx="177">
                  <c:v>2.39</c:v>
                </c:pt>
                <c:pt idx="178">
                  <c:v>2.33</c:v>
                </c:pt>
                <c:pt idx="179">
                  <c:v>2.34</c:v>
                </c:pt>
                <c:pt idx="180">
                  <c:v>2.33</c:v>
                </c:pt>
                <c:pt idx="181">
                  <c:v>2.2200000000000002</c:v>
                </c:pt>
                <c:pt idx="182">
                  <c:v>2.23</c:v>
                </c:pt>
                <c:pt idx="183">
                  <c:v>2.23</c:v>
                </c:pt>
                <c:pt idx="184">
                  <c:v>2.25</c:v>
                </c:pt>
                <c:pt idx="185">
                  <c:v>2.29</c:v>
                </c:pt>
                <c:pt idx="186">
                  <c:v>2.2599999999999998</c:v>
                </c:pt>
                <c:pt idx="187">
                  <c:v>2.25</c:v>
                </c:pt>
                <c:pt idx="188">
                  <c:v>2.25</c:v>
                </c:pt>
                <c:pt idx="190">
                  <c:v>2.21</c:v>
                </c:pt>
                <c:pt idx="191">
                  <c:v>2.21</c:v>
                </c:pt>
                <c:pt idx="192">
                  <c:v>2.21</c:v>
                </c:pt>
                <c:pt idx="193">
                  <c:v>2.15</c:v>
                </c:pt>
                <c:pt idx="194">
                  <c:v>2.1800000000000002</c:v>
                </c:pt>
                <c:pt idx="195">
                  <c:v>2.14</c:v>
                </c:pt>
                <c:pt idx="196">
                  <c:v>2.1800000000000002</c:v>
                </c:pt>
                <c:pt idx="197">
                  <c:v>2.19</c:v>
                </c:pt>
                <c:pt idx="198">
                  <c:v>2.21</c:v>
                </c:pt>
                <c:pt idx="199">
                  <c:v>2.21</c:v>
                </c:pt>
                <c:pt idx="200">
                  <c:v>2.21</c:v>
                </c:pt>
                <c:pt idx="201">
                  <c:v>2.15</c:v>
                </c:pt>
                <c:pt idx="202">
                  <c:v>2.16</c:v>
                </c:pt>
                <c:pt idx="203">
                  <c:v>2.16</c:v>
                </c:pt>
                <c:pt idx="204">
                  <c:v>2.19</c:v>
                </c:pt>
                <c:pt idx="205">
                  <c:v>2.16</c:v>
                </c:pt>
                <c:pt idx="206">
                  <c:v>2.16</c:v>
                </c:pt>
                <c:pt idx="207">
                  <c:v>2.15</c:v>
                </c:pt>
                <c:pt idx="208">
                  <c:v>2.15</c:v>
                </c:pt>
                <c:pt idx="209">
                  <c:v>2.14</c:v>
                </c:pt>
                <c:pt idx="210">
                  <c:v>2.21</c:v>
                </c:pt>
                <c:pt idx="211">
                  <c:v>2.2200000000000002</c:v>
                </c:pt>
                <c:pt idx="212">
                  <c:v>2.27</c:v>
                </c:pt>
                <c:pt idx="213">
                  <c:v>2.31</c:v>
                </c:pt>
                <c:pt idx="214">
                  <c:v>2.35</c:v>
                </c:pt>
                <c:pt idx="216">
                  <c:v>2.33</c:v>
                </c:pt>
                <c:pt idx="217">
                  <c:v>2.37</c:v>
                </c:pt>
                <c:pt idx="218">
                  <c:v>2.39</c:v>
                </c:pt>
                <c:pt idx="219">
                  <c:v>2.38</c:v>
                </c:pt>
                <c:pt idx="220">
                  <c:v>2.37</c:v>
                </c:pt>
                <c:pt idx="221">
                  <c:v>2.33</c:v>
                </c:pt>
                <c:pt idx="222">
                  <c:v>2.35</c:v>
                </c:pt>
                <c:pt idx="223">
                  <c:v>2.33</c:v>
                </c:pt>
                <c:pt idx="224">
                  <c:v>2.31</c:v>
                </c:pt>
                <c:pt idx="225">
                  <c:v>2.27</c:v>
                </c:pt>
                <c:pt idx="226">
                  <c:v>2.27</c:v>
                </c:pt>
                <c:pt idx="227">
                  <c:v>2.27</c:v>
                </c:pt>
                <c:pt idx="228">
                  <c:v>2.2400000000000002</c:v>
                </c:pt>
                <c:pt idx="229">
                  <c:v>2.2599999999999998</c:v>
                </c:pt>
                <c:pt idx="230">
                  <c:v>2.33</c:v>
                </c:pt>
                <c:pt idx="231">
                  <c:v>2.29</c:v>
                </c:pt>
                <c:pt idx="232">
                  <c:v>2.3199999999999998</c:v>
                </c:pt>
                <c:pt idx="233">
                  <c:v>2.2999999999999998</c:v>
                </c:pt>
                <c:pt idx="234">
                  <c:v>2.2999999999999998</c:v>
                </c:pt>
                <c:pt idx="235">
                  <c:v>2.2599999999999998</c:v>
                </c:pt>
                <c:pt idx="236">
                  <c:v>2.27</c:v>
                </c:pt>
                <c:pt idx="237">
                  <c:v>2.2400000000000002</c:v>
                </c:pt>
                <c:pt idx="238">
                  <c:v>2.27</c:v>
                </c:pt>
                <c:pt idx="239">
                  <c:v>2.2599999999999998</c:v>
                </c:pt>
                <c:pt idx="240">
                  <c:v>2.29</c:v>
                </c:pt>
                <c:pt idx="241">
                  <c:v>2.2400000000000002</c:v>
                </c:pt>
                <c:pt idx="242">
                  <c:v>2.2000000000000002</c:v>
                </c:pt>
                <c:pt idx="243">
                  <c:v>2.19</c:v>
                </c:pt>
                <c:pt idx="244">
                  <c:v>2.2200000000000002</c:v>
                </c:pt>
                <c:pt idx="245">
                  <c:v>2.27</c:v>
                </c:pt>
                <c:pt idx="246">
                  <c:v>2.23</c:v>
                </c:pt>
                <c:pt idx="247">
                  <c:v>2.19</c:v>
                </c:pt>
                <c:pt idx="248">
                  <c:v>2.19</c:v>
                </c:pt>
                <c:pt idx="249">
                  <c:v>2.1800000000000002</c:v>
                </c:pt>
                <c:pt idx="250">
                  <c:v>2.2200000000000002</c:v>
                </c:pt>
                <c:pt idx="251">
                  <c:v>2.17</c:v>
                </c:pt>
                <c:pt idx="252">
                  <c:v>2.19</c:v>
                </c:pt>
                <c:pt idx="253">
                  <c:v>2.17</c:v>
                </c:pt>
                <c:pt idx="254">
                  <c:v>2.16</c:v>
                </c:pt>
                <c:pt idx="255">
                  <c:v>2.13</c:v>
                </c:pt>
                <c:pt idx="256">
                  <c:v>2.15</c:v>
                </c:pt>
                <c:pt idx="257">
                  <c:v>2.12</c:v>
                </c:pt>
                <c:pt idx="258">
                  <c:v>2.16</c:v>
                </c:pt>
                <c:pt idx="260">
                  <c:v>2.0699999999999998</c:v>
                </c:pt>
                <c:pt idx="261">
                  <c:v>2.1</c:v>
                </c:pt>
                <c:pt idx="262">
                  <c:v>2.0499999999999998</c:v>
                </c:pt>
                <c:pt idx="263">
                  <c:v>2.06</c:v>
                </c:pt>
                <c:pt idx="264">
                  <c:v>2.14</c:v>
                </c:pt>
                <c:pt idx="265">
                  <c:v>2.17</c:v>
                </c:pt>
                <c:pt idx="266">
                  <c:v>2.2000000000000002</c:v>
                </c:pt>
                <c:pt idx="267">
                  <c:v>2.2000000000000002</c:v>
                </c:pt>
                <c:pt idx="268">
                  <c:v>2.2000000000000002</c:v>
                </c:pt>
                <c:pt idx="269">
                  <c:v>2.23</c:v>
                </c:pt>
                <c:pt idx="270">
                  <c:v>2.2400000000000002</c:v>
                </c:pt>
                <c:pt idx="271">
                  <c:v>2.2799999999999998</c:v>
                </c:pt>
                <c:pt idx="272">
                  <c:v>2.27</c:v>
                </c:pt>
                <c:pt idx="273">
                  <c:v>2.2599999999999998</c:v>
                </c:pt>
                <c:pt idx="274">
                  <c:v>2.2200000000000002</c:v>
                </c:pt>
                <c:pt idx="275">
                  <c:v>2.2400000000000002</c:v>
                </c:pt>
                <c:pt idx="276">
                  <c:v>2.31</c:v>
                </c:pt>
                <c:pt idx="277">
                  <c:v>2.31</c:v>
                </c:pt>
                <c:pt idx="278">
                  <c:v>2.33</c:v>
                </c:pt>
                <c:pt idx="279">
                  <c:v>2.34</c:v>
                </c:pt>
                <c:pt idx="280">
                  <c:v>2.33</c:v>
                </c:pt>
                <c:pt idx="281">
                  <c:v>2.33</c:v>
                </c:pt>
                <c:pt idx="282">
                  <c:v>2.35</c:v>
                </c:pt>
                <c:pt idx="283">
                  <c:v>2.37</c:v>
                </c:pt>
                <c:pt idx="285">
                  <c:v>2.35</c:v>
                </c:pt>
                <c:pt idx="286">
                  <c:v>2.35</c:v>
                </c:pt>
                <c:pt idx="287">
                  <c:v>2.33</c:v>
                </c:pt>
                <c:pt idx="288">
                  <c:v>2.2799999999999998</c:v>
                </c:pt>
                <c:pt idx="289">
                  <c:v>2.2999999999999998</c:v>
                </c:pt>
                <c:pt idx="290">
                  <c:v>2.2999999999999998</c:v>
                </c:pt>
                <c:pt idx="291">
                  <c:v>2.34</c:v>
                </c:pt>
                <c:pt idx="292">
                  <c:v>2.33</c:v>
                </c:pt>
                <c:pt idx="293">
                  <c:v>2.39</c:v>
                </c:pt>
                <c:pt idx="294">
                  <c:v>2.38</c:v>
                </c:pt>
                <c:pt idx="295">
                  <c:v>2.42</c:v>
                </c:pt>
                <c:pt idx="296">
                  <c:v>2.44</c:v>
                </c:pt>
                <c:pt idx="297">
                  <c:v>2.46</c:v>
                </c:pt>
                <c:pt idx="298">
                  <c:v>2.42</c:v>
                </c:pt>
                <c:pt idx="299">
                  <c:v>2.37</c:v>
                </c:pt>
                <c:pt idx="300">
                  <c:v>2.38</c:v>
                </c:pt>
                <c:pt idx="301">
                  <c:v>2.37</c:v>
                </c:pt>
                <c:pt idx="302">
                  <c:v>2.35</c:v>
                </c:pt>
                <c:pt idx="303">
                  <c:v>2.34</c:v>
                </c:pt>
                <c:pt idx="304">
                  <c:v>2.3199999999999998</c:v>
                </c:pt>
                <c:pt idx="305">
                  <c:v>2.3199999999999998</c:v>
                </c:pt>
                <c:pt idx="306">
                  <c:v>2.3199999999999998</c:v>
                </c:pt>
                <c:pt idx="307">
                  <c:v>2.33</c:v>
                </c:pt>
                <c:pt idx="308">
                  <c:v>2.4</c:v>
                </c:pt>
                <c:pt idx="309">
                  <c:v>2.4</c:v>
                </c:pt>
                <c:pt idx="310">
                  <c:v>2.38</c:v>
                </c:pt>
                <c:pt idx="311">
                  <c:v>2.33</c:v>
                </c:pt>
                <c:pt idx="312">
                  <c:v>2.37</c:v>
                </c:pt>
                <c:pt idx="313">
                  <c:v>2.35</c:v>
                </c:pt>
                <c:pt idx="314">
                  <c:v>2.37</c:v>
                </c:pt>
                <c:pt idx="315">
                  <c:v>2.36</c:v>
                </c:pt>
                <c:pt idx="316">
                  <c:v>2.3199999999999998</c:v>
                </c:pt>
                <c:pt idx="318">
                  <c:v>2.34</c:v>
                </c:pt>
                <c:pt idx="319">
                  <c:v>2.3199999999999998</c:v>
                </c:pt>
                <c:pt idx="320">
                  <c:v>2.34</c:v>
                </c:pt>
                <c:pt idx="321">
                  <c:v>2.37</c:v>
                </c:pt>
                <c:pt idx="322">
                  <c:v>2.42</c:v>
                </c:pt>
                <c:pt idx="323">
                  <c:v>2.37</c:v>
                </c:pt>
                <c:pt idx="324">
                  <c:v>2.37</c:v>
                </c:pt>
                <c:pt idx="325">
                  <c:v>2.36</c:v>
                </c:pt>
                <c:pt idx="326">
                  <c:v>2.33</c:v>
                </c:pt>
                <c:pt idx="327">
                  <c:v>2.37</c:v>
                </c:pt>
                <c:pt idx="328">
                  <c:v>2.38</c:v>
                </c:pt>
                <c:pt idx="329">
                  <c:v>2.39</c:v>
                </c:pt>
                <c:pt idx="330">
                  <c:v>2.4</c:v>
                </c:pt>
                <c:pt idx="331">
                  <c:v>2.36</c:v>
                </c:pt>
                <c:pt idx="332">
                  <c:v>2.35</c:v>
                </c:pt>
                <c:pt idx="333">
                  <c:v>2.35</c:v>
                </c:pt>
                <c:pt idx="334">
                  <c:v>2.39</c:v>
                </c:pt>
                <c:pt idx="335">
                  <c:v>2.46</c:v>
                </c:pt>
                <c:pt idx="336">
                  <c:v>2.4900000000000002</c:v>
                </c:pt>
                <c:pt idx="337">
                  <c:v>2.48</c:v>
                </c:pt>
                <c:pt idx="338">
                  <c:v>2.48</c:v>
                </c:pt>
                <c:pt idx="340">
                  <c:v>2.4700000000000002</c:v>
                </c:pt>
                <c:pt idx="341">
                  <c:v>2.42</c:v>
                </c:pt>
                <c:pt idx="342">
                  <c:v>2.4300000000000002</c:v>
                </c:pt>
                <c:pt idx="343">
                  <c:v>2.4</c:v>
                </c:pt>
                <c:pt idx="345">
                  <c:v>2.46</c:v>
                </c:pt>
                <c:pt idx="346">
                  <c:v>2.44</c:v>
                </c:pt>
                <c:pt idx="347">
                  <c:v>2.46</c:v>
                </c:pt>
                <c:pt idx="348">
                  <c:v>2.4700000000000002</c:v>
                </c:pt>
                <c:pt idx="349">
                  <c:v>2.4900000000000002</c:v>
                </c:pt>
                <c:pt idx="350">
                  <c:v>2.5499999999999998</c:v>
                </c:pt>
                <c:pt idx="351">
                  <c:v>2.5499999999999998</c:v>
                </c:pt>
                <c:pt idx="352">
                  <c:v>2.54</c:v>
                </c:pt>
                <c:pt idx="353">
                  <c:v>2.5499999999999998</c:v>
                </c:pt>
                <c:pt idx="355">
                  <c:v>2.54</c:v>
                </c:pt>
                <c:pt idx="356">
                  <c:v>2.57</c:v>
                </c:pt>
                <c:pt idx="357">
                  <c:v>2.62</c:v>
                </c:pt>
                <c:pt idx="358">
                  <c:v>2.64</c:v>
                </c:pt>
                <c:pt idx="359">
                  <c:v>2.66</c:v>
                </c:pt>
                <c:pt idx="360">
                  <c:v>2.63</c:v>
                </c:pt>
                <c:pt idx="361">
                  <c:v>2.65</c:v>
                </c:pt>
                <c:pt idx="362">
                  <c:v>2.63</c:v>
                </c:pt>
                <c:pt idx="363">
                  <c:v>2.66</c:v>
                </c:pt>
                <c:pt idx="364">
                  <c:v>2.7</c:v>
                </c:pt>
                <c:pt idx="365">
                  <c:v>2.73</c:v>
                </c:pt>
                <c:pt idx="366">
                  <c:v>2.72</c:v>
                </c:pt>
                <c:pt idx="367">
                  <c:v>2.78</c:v>
                </c:pt>
                <c:pt idx="368">
                  <c:v>2.84</c:v>
                </c:pt>
                <c:pt idx="369">
                  <c:v>2.77</c:v>
                </c:pt>
                <c:pt idx="370">
                  <c:v>2.79</c:v>
                </c:pt>
                <c:pt idx="371">
                  <c:v>2.84</c:v>
                </c:pt>
                <c:pt idx="372">
                  <c:v>2.85</c:v>
                </c:pt>
                <c:pt idx="373">
                  <c:v>2.83</c:v>
                </c:pt>
                <c:pt idx="374">
                  <c:v>2.86</c:v>
                </c:pt>
                <c:pt idx="375">
                  <c:v>2.83</c:v>
                </c:pt>
                <c:pt idx="376">
                  <c:v>2.91</c:v>
                </c:pt>
                <c:pt idx="377">
                  <c:v>2.9</c:v>
                </c:pt>
                <c:pt idx="378">
                  <c:v>2.87</c:v>
                </c:pt>
                <c:pt idx="380">
                  <c:v>2.88</c:v>
                </c:pt>
                <c:pt idx="381">
                  <c:v>2.94</c:v>
                </c:pt>
                <c:pt idx="382">
                  <c:v>2.92</c:v>
                </c:pt>
                <c:pt idx="383">
                  <c:v>2.88</c:v>
                </c:pt>
                <c:pt idx="384">
                  <c:v>2.86</c:v>
                </c:pt>
                <c:pt idx="385">
                  <c:v>2.9</c:v>
                </c:pt>
                <c:pt idx="386">
                  <c:v>2.87</c:v>
                </c:pt>
                <c:pt idx="387">
                  <c:v>2.81</c:v>
                </c:pt>
                <c:pt idx="388">
                  <c:v>2.86</c:v>
                </c:pt>
                <c:pt idx="389">
                  <c:v>2.88</c:v>
                </c:pt>
                <c:pt idx="390">
                  <c:v>2.88</c:v>
                </c:pt>
                <c:pt idx="391">
                  <c:v>2.89</c:v>
                </c:pt>
                <c:pt idx="392">
                  <c:v>2.86</c:v>
                </c:pt>
                <c:pt idx="393">
                  <c:v>2.9</c:v>
                </c:pt>
                <c:pt idx="394">
                  <c:v>2.87</c:v>
                </c:pt>
                <c:pt idx="395">
                  <c:v>2.84</c:v>
                </c:pt>
                <c:pt idx="396">
                  <c:v>2.81</c:v>
                </c:pt>
                <c:pt idx="397">
                  <c:v>2.82</c:v>
                </c:pt>
                <c:pt idx="398">
                  <c:v>2.85</c:v>
                </c:pt>
                <c:pt idx="399">
                  <c:v>2.85</c:v>
                </c:pt>
                <c:pt idx="400">
                  <c:v>2.89</c:v>
                </c:pt>
                <c:pt idx="401">
                  <c:v>2.89</c:v>
                </c:pt>
                <c:pt idx="402">
                  <c:v>2.83</c:v>
                </c:pt>
                <c:pt idx="403">
                  <c:v>2.82</c:v>
                </c:pt>
                <c:pt idx="404">
                  <c:v>2.85</c:v>
                </c:pt>
                <c:pt idx="405">
                  <c:v>2.78</c:v>
                </c:pt>
                <c:pt idx="406">
                  <c:v>2.77</c:v>
                </c:pt>
                <c:pt idx="407">
                  <c:v>2.74</c:v>
                </c:pt>
                <c:pt idx="409">
                  <c:v>2.73</c:v>
                </c:pt>
                <c:pt idx="410">
                  <c:v>2.79</c:v>
                </c:pt>
                <c:pt idx="411">
                  <c:v>2.79</c:v>
                </c:pt>
                <c:pt idx="412">
                  <c:v>2.83</c:v>
                </c:pt>
                <c:pt idx="413">
                  <c:v>2.77</c:v>
                </c:pt>
                <c:pt idx="414">
                  <c:v>2.78</c:v>
                </c:pt>
                <c:pt idx="415">
                  <c:v>2.8</c:v>
                </c:pt>
                <c:pt idx="416">
                  <c:v>2.79</c:v>
                </c:pt>
                <c:pt idx="417">
                  <c:v>2.83</c:v>
                </c:pt>
                <c:pt idx="418">
                  <c:v>2.82</c:v>
                </c:pt>
                <c:pt idx="419">
                  <c:v>2.83</c:v>
                </c:pt>
                <c:pt idx="420">
                  <c:v>2.82</c:v>
                </c:pt>
                <c:pt idx="421">
                  <c:v>2.87</c:v>
                </c:pt>
                <c:pt idx="422">
                  <c:v>2.92</c:v>
                </c:pt>
                <c:pt idx="423">
                  <c:v>2.96</c:v>
                </c:pt>
                <c:pt idx="424">
                  <c:v>2.98</c:v>
                </c:pt>
                <c:pt idx="425">
                  <c:v>3</c:v>
                </c:pt>
                <c:pt idx="426">
                  <c:v>3.03</c:v>
                </c:pt>
                <c:pt idx="427">
                  <c:v>3</c:v>
                </c:pt>
                <c:pt idx="428">
                  <c:v>2.96</c:v>
                </c:pt>
                <c:pt idx="429">
                  <c:v>2.95</c:v>
                </c:pt>
                <c:pt idx="430">
                  <c:v>2.97</c:v>
                </c:pt>
                <c:pt idx="431">
                  <c:v>2.97</c:v>
                </c:pt>
                <c:pt idx="432">
                  <c:v>2.94</c:v>
                </c:pt>
                <c:pt idx="433">
                  <c:v>2.95</c:v>
                </c:pt>
                <c:pt idx="434">
                  <c:v>2.95</c:v>
                </c:pt>
                <c:pt idx="435">
                  <c:v>2.97</c:v>
                </c:pt>
                <c:pt idx="436">
                  <c:v>3</c:v>
                </c:pt>
                <c:pt idx="437">
                  <c:v>2.97</c:v>
                </c:pt>
                <c:pt idx="438">
                  <c:v>2.97</c:v>
                </c:pt>
                <c:pt idx="439">
                  <c:v>3</c:v>
                </c:pt>
                <c:pt idx="440">
                  <c:v>3.08</c:v>
                </c:pt>
                <c:pt idx="441">
                  <c:v>3.09</c:v>
                </c:pt>
                <c:pt idx="442">
                  <c:v>3.11</c:v>
                </c:pt>
                <c:pt idx="443">
                  <c:v>3.06</c:v>
                </c:pt>
                <c:pt idx="444">
                  <c:v>3.06</c:v>
                </c:pt>
                <c:pt idx="445">
                  <c:v>3.06</c:v>
                </c:pt>
                <c:pt idx="446">
                  <c:v>3.01</c:v>
                </c:pt>
                <c:pt idx="447">
                  <c:v>2.98</c:v>
                </c:pt>
                <c:pt idx="448">
                  <c:v>2.93</c:v>
                </c:pt>
                <c:pt idx="450">
                  <c:v>2.77</c:v>
                </c:pt>
                <c:pt idx="451">
                  <c:v>2.84</c:v>
                </c:pt>
                <c:pt idx="452">
                  <c:v>2.83</c:v>
                </c:pt>
                <c:pt idx="453">
                  <c:v>2.89</c:v>
                </c:pt>
                <c:pt idx="454">
                  <c:v>2.94</c:v>
                </c:pt>
                <c:pt idx="455">
                  <c:v>2.92</c:v>
                </c:pt>
                <c:pt idx="456">
                  <c:v>2.97</c:v>
                </c:pt>
                <c:pt idx="457">
                  <c:v>2.93</c:v>
                </c:pt>
                <c:pt idx="458">
                  <c:v>2.93</c:v>
                </c:pt>
                <c:pt idx="459">
                  <c:v>2.96</c:v>
                </c:pt>
                <c:pt idx="460">
                  <c:v>2.96</c:v>
                </c:pt>
                <c:pt idx="461">
                  <c:v>2.98</c:v>
                </c:pt>
                <c:pt idx="462">
                  <c:v>2.94</c:v>
                </c:pt>
                <c:pt idx="463">
                  <c:v>2.93</c:v>
                </c:pt>
                <c:pt idx="464">
                  <c:v>2.92</c:v>
                </c:pt>
                <c:pt idx="465">
                  <c:v>2.89</c:v>
                </c:pt>
                <c:pt idx="466">
                  <c:v>2.93</c:v>
                </c:pt>
                <c:pt idx="467">
                  <c:v>2.9</c:v>
                </c:pt>
                <c:pt idx="468">
                  <c:v>2.9</c:v>
                </c:pt>
                <c:pt idx="469">
                  <c:v>2.87</c:v>
                </c:pt>
                <c:pt idx="470">
                  <c:v>2.88</c:v>
                </c:pt>
                <c:pt idx="471">
                  <c:v>2.83</c:v>
                </c:pt>
                <c:pt idx="472">
                  <c:v>2.84</c:v>
                </c:pt>
                <c:pt idx="473">
                  <c:v>2.85</c:v>
                </c:pt>
                <c:pt idx="474">
                  <c:v>2.87</c:v>
                </c:pt>
                <c:pt idx="475">
                  <c:v>2.83</c:v>
                </c:pt>
                <c:pt idx="477">
                  <c:v>2.84</c:v>
                </c:pt>
                <c:pt idx="478">
                  <c:v>2.82</c:v>
                </c:pt>
                <c:pt idx="479">
                  <c:v>2.86</c:v>
                </c:pt>
                <c:pt idx="480">
                  <c:v>2.87</c:v>
                </c:pt>
                <c:pt idx="481">
                  <c:v>2.85</c:v>
                </c:pt>
                <c:pt idx="482">
                  <c:v>2.85</c:v>
                </c:pt>
                <c:pt idx="483">
                  <c:v>2.83</c:v>
                </c:pt>
                <c:pt idx="484">
                  <c:v>2.85</c:v>
                </c:pt>
                <c:pt idx="485">
                  <c:v>2.86</c:v>
                </c:pt>
                <c:pt idx="486">
                  <c:v>2.88</c:v>
                </c:pt>
                <c:pt idx="487">
                  <c:v>2.84</c:v>
                </c:pt>
                <c:pt idx="488">
                  <c:v>2.89</c:v>
                </c:pt>
                <c:pt idx="489">
                  <c:v>2.96</c:v>
                </c:pt>
                <c:pt idx="490">
                  <c:v>2.95</c:v>
                </c:pt>
                <c:pt idx="491">
                  <c:v>2.94</c:v>
                </c:pt>
                <c:pt idx="492">
                  <c:v>2.98</c:v>
                </c:pt>
                <c:pt idx="493">
                  <c:v>2.96</c:v>
                </c:pt>
                <c:pt idx="494">
                  <c:v>2.98</c:v>
                </c:pt>
                <c:pt idx="495">
                  <c:v>2.96</c:v>
                </c:pt>
                <c:pt idx="496">
                  <c:v>3</c:v>
                </c:pt>
                <c:pt idx="497">
                  <c:v>2.98</c:v>
                </c:pt>
                <c:pt idx="498">
                  <c:v>2.95</c:v>
                </c:pt>
                <c:pt idx="499">
                  <c:v>2.94</c:v>
                </c:pt>
                <c:pt idx="500">
                  <c:v>2.98</c:v>
                </c:pt>
                <c:pt idx="501">
                  <c:v>2.96</c:v>
                </c:pt>
                <c:pt idx="502">
                  <c:v>2.93</c:v>
                </c:pt>
                <c:pt idx="503">
                  <c:v>2.87</c:v>
                </c:pt>
                <c:pt idx="504">
                  <c:v>2.88</c:v>
                </c:pt>
                <c:pt idx="505">
                  <c:v>2.89</c:v>
                </c:pt>
                <c:pt idx="506">
                  <c:v>2.86</c:v>
                </c:pt>
                <c:pt idx="507">
                  <c:v>2.87</c:v>
                </c:pt>
                <c:pt idx="508">
                  <c:v>2.87</c:v>
                </c:pt>
                <c:pt idx="509">
                  <c:v>2.82</c:v>
                </c:pt>
                <c:pt idx="510">
                  <c:v>2.85</c:v>
                </c:pt>
                <c:pt idx="511">
                  <c:v>2.82</c:v>
                </c:pt>
                <c:pt idx="512">
                  <c:v>2.82</c:v>
                </c:pt>
                <c:pt idx="513">
                  <c:v>2.82</c:v>
                </c:pt>
                <c:pt idx="514">
                  <c:v>2.85</c:v>
                </c:pt>
                <c:pt idx="515">
                  <c:v>2.88</c:v>
                </c:pt>
                <c:pt idx="516">
                  <c:v>2.89</c:v>
                </c:pt>
                <c:pt idx="517">
                  <c:v>2.86</c:v>
                </c:pt>
                <c:pt idx="518">
                  <c:v>2.86</c:v>
                </c:pt>
                <c:pt idx="520">
                  <c:v>2.9</c:v>
                </c:pt>
                <c:pt idx="521">
                  <c:v>2.9</c:v>
                </c:pt>
                <c:pt idx="522">
                  <c:v>2.88</c:v>
                </c:pt>
                <c:pt idx="523">
                  <c:v>2.94</c:v>
                </c:pt>
                <c:pt idx="524">
                  <c:v>2.94</c:v>
                </c:pt>
                <c:pt idx="525">
                  <c:v>2.98</c:v>
                </c:pt>
                <c:pt idx="526">
                  <c:v>2.97</c:v>
                </c:pt>
                <c:pt idx="527">
                  <c:v>2.97</c:v>
                </c:pt>
                <c:pt idx="528">
                  <c:v>2.99</c:v>
                </c:pt>
                <c:pt idx="529">
                  <c:v>2.99</c:v>
                </c:pt>
                <c:pt idx="530">
                  <c:v>3.05</c:v>
                </c:pt>
                <c:pt idx="531">
                  <c:v>3.08</c:v>
                </c:pt>
                <c:pt idx="532">
                  <c:v>3.07</c:v>
                </c:pt>
                <c:pt idx="533">
                  <c:v>3.07</c:v>
                </c:pt>
                <c:pt idx="534">
                  <c:v>3.08</c:v>
                </c:pt>
                <c:pt idx="535">
                  <c:v>3.1</c:v>
                </c:pt>
                <c:pt idx="536">
                  <c:v>3.06</c:v>
                </c:pt>
                <c:pt idx="537">
                  <c:v>3.06</c:v>
                </c:pt>
                <c:pt idx="538">
                  <c:v>3.05</c:v>
                </c:pt>
                <c:pt idx="539">
                  <c:v>3.09</c:v>
                </c:pt>
                <c:pt idx="540">
                  <c:v>3.05</c:v>
                </c:pt>
                <c:pt idx="541">
                  <c:v>3.15</c:v>
                </c:pt>
                <c:pt idx="542">
                  <c:v>3.19</c:v>
                </c:pt>
                <c:pt idx="543">
                  <c:v>3.23</c:v>
                </c:pt>
                <c:pt idx="545">
                  <c:v>3.21</c:v>
                </c:pt>
                <c:pt idx="546">
                  <c:v>3.22</c:v>
                </c:pt>
                <c:pt idx="547">
                  <c:v>3.14</c:v>
                </c:pt>
                <c:pt idx="548">
                  <c:v>3.15</c:v>
                </c:pt>
                <c:pt idx="549">
                  <c:v>3.16</c:v>
                </c:pt>
                <c:pt idx="550">
                  <c:v>3.16</c:v>
                </c:pt>
                <c:pt idx="551">
                  <c:v>3.19</c:v>
                </c:pt>
                <c:pt idx="552">
                  <c:v>3.17</c:v>
                </c:pt>
                <c:pt idx="553">
                  <c:v>3.2</c:v>
                </c:pt>
                <c:pt idx="554">
                  <c:v>3.2</c:v>
                </c:pt>
                <c:pt idx="555">
                  <c:v>3.17</c:v>
                </c:pt>
                <c:pt idx="556">
                  <c:v>3.1</c:v>
                </c:pt>
                <c:pt idx="557">
                  <c:v>3.14</c:v>
                </c:pt>
                <c:pt idx="558">
                  <c:v>3.08</c:v>
                </c:pt>
                <c:pt idx="559">
                  <c:v>3.08</c:v>
                </c:pt>
                <c:pt idx="560">
                  <c:v>3.12</c:v>
                </c:pt>
                <c:pt idx="561">
                  <c:v>3.15</c:v>
                </c:pt>
                <c:pt idx="562">
                  <c:v>3.14</c:v>
                </c:pt>
                <c:pt idx="563">
                  <c:v>3.22</c:v>
                </c:pt>
                <c:pt idx="564">
                  <c:v>3.2</c:v>
                </c:pt>
                <c:pt idx="565">
                  <c:v>3.22</c:v>
                </c:pt>
                <c:pt idx="566">
                  <c:v>3.22</c:v>
                </c:pt>
                <c:pt idx="567">
                  <c:v>3.24</c:v>
                </c:pt>
                <c:pt idx="568">
                  <c:v>3.19</c:v>
                </c:pt>
                <c:pt idx="570">
                  <c:v>3.14</c:v>
                </c:pt>
                <c:pt idx="571">
                  <c:v>3.12</c:v>
                </c:pt>
                <c:pt idx="572">
                  <c:v>3.11</c:v>
                </c:pt>
                <c:pt idx="573">
                  <c:v>3.08</c:v>
                </c:pt>
                <c:pt idx="574">
                  <c:v>3.06</c:v>
                </c:pt>
                <c:pt idx="575">
                  <c:v>3.06</c:v>
                </c:pt>
                <c:pt idx="576">
                  <c:v>3.06</c:v>
                </c:pt>
                <c:pt idx="578">
                  <c:v>3.05</c:v>
                </c:pt>
                <c:pt idx="579">
                  <c:v>3.07</c:v>
                </c:pt>
                <c:pt idx="580">
                  <c:v>3.06</c:v>
                </c:pt>
                <c:pt idx="581">
                  <c:v>3.06</c:v>
                </c:pt>
                <c:pt idx="582">
                  <c:v>3.03</c:v>
                </c:pt>
                <c:pt idx="583">
                  <c:v>3.01</c:v>
                </c:pt>
                <c:pt idx="584">
                  <c:v>2.98</c:v>
                </c:pt>
                <c:pt idx="585">
                  <c:v>2.91</c:v>
                </c:pt>
                <c:pt idx="587">
                  <c:v>2.87</c:v>
                </c:pt>
                <c:pt idx="588">
                  <c:v>2.85</c:v>
                </c:pt>
                <c:pt idx="589">
                  <c:v>2.85</c:v>
                </c:pt>
                <c:pt idx="590">
                  <c:v>2.89</c:v>
                </c:pt>
                <c:pt idx="591">
                  <c:v>2.91</c:v>
                </c:pt>
                <c:pt idx="592">
                  <c:v>2.91</c:v>
                </c:pt>
                <c:pt idx="593">
                  <c:v>2.89</c:v>
                </c:pt>
                <c:pt idx="594">
                  <c:v>2.86</c:v>
                </c:pt>
                <c:pt idx="595">
                  <c:v>2.82</c:v>
                </c:pt>
                <c:pt idx="596">
                  <c:v>2.77</c:v>
                </c:pt>
                <c:pt idx="597">
                  <c:v>2.79</c:v>
                </c:pt>
                <c:pt idx="598">
                  <c:v>2.79</c:v>
                </c:pt>
                <c:pt idx="599">
                  <c:v>2.74</c:v>
                </c:pt>
                <c:pt idx="601">
                  <c:v>2.81</c:v>
                </c:pt>
                <c:pt idx="602">
                  <c:v>2.77</c:v>
                </c:pt>
                <c:pt idx="603">
                  <c:v>2.72</c:v>
                </c:pt>
                <c:pt idx="604">
                  <c:v>2.69</c:v>
                </c:pt>
                <c:pt idx="606">
                  <c:v>2.66</c:v>
                </c:pt>
                <c:pt idx="607">
                  <c:v>2.56</c:v>
                </c:pt>
                <c:pt idx="608">
                  <c:v>2.67</c:v>
                </c:pt>
                <c:pt idx="609">
                  <c:v>2.7</c:v>
                </c:pt>
                <c:pt idx="610">
                  <c:v>2.73</c:v>
                </c:pt>
                <c:pt idx="611">
                  <c:v>2.74</c:v>
                </c:pt>
                <c:pt idx="612">
                  <c:v>2.74</c:v>
                </c:pt>
                <c:pt idx="613">
                  <c:v>2.71</c:v>
                </c:pt>
                <c:pt idx="614">
                  <c:v>2.71</c:v>
                </c:pt>
                <c:pt idx="615">
                  <c:v>2.72</c:v>
                </c:pt>
                <c:pt idx="616">
                  <c:v>2.73</c:v>
                </c:pt>
                <c:pt idx="617">
                  <c:v>2.75</c:v>
                </c:pt>
                <c:pt idx="618">
                  <c:v>2.79</c:v>
                </c:pt>
                <c:pt idx="620">
                  <c:v>2.74</c:v>
                </c:pt>
                <c:pt idx="621">
                  <c:v>2.76</c:v>
                </c:pt>
                <c:pt idx="622">
                  <c:v>2.72</c:v>
                </c:pt>
                <c:pt idx="623">
                  <c:v>2.76</c:v>
                </c:pt>
                <c:pt idx="624">
                  <c:v>2.75</c:v>
                </c:pt>
                <c:pt idx="625">
                  <c:v>2.72</c:v>
                </c:pt>
                <c:pt idx="626">
                  <c:v>2.7</c:v>
                </c:pt>
                <c:pt idx="627">
                  <c:v>2.63</c:v>
                </c:pt>
                <c:pt idx="628">
                  <c:v>2.7</c:v>
                </c:pt>
                <c:pt idx="629">
                  <c:v>2.73</c:v>
                </c:pt>
                <c:pt idx="630">
                  <c:v>2.71</c:v>
                </c:pt>
                <c:pt idx="631">
                  <c:v>2.7</c:v>
                </c:pt>
                <c:pt idx="632">
                  <c:v>2.65</c:v>
                </c:pt>
                <c:pt idx="633">
                  <c:v>2.63</c:v>
                </c:pt>
                <c:pt idx="634">
                  <c:v>2.65</c:v>
                </c:pt>
                <c:pt idx="635">
                  <c:v>2.68</c:v>
                </c:pt>
                <c:pt idx="636">
                  <c:v>2.71</c:v>
                </c:pt>
                <c:pt idx="637">
                  <c:v>2.66</c:v>
                </c:pt>
                <c:pt idx="638">
                  <c:v>2.66</c:v>
                </c:pt>
                <c:pt idx="640">
                  <c:v>2.65</c:v>
                </c:pt>
                <c:pt idx="641">
                  <c:v>2.65</c:v>
                </c:pt>
                <c:pt idx="642">
                  <c:v>2.69</c:v>
                </c:pt>
                <c:pt idx="643">
                  <c:v>2.65</c:v>
                </c:pt>
                <c:pt idx="644">
                  <c:v>2.67</c:v>
                </c:pt>
                <c:pt idx="645">
                  <c:v>2.64</c:v>
                </c:pt>
                <c:pt idx="646">
                  <c:v>2.69</c:v>
                </c:pt>
                <c:pt idx="647">
                  <c:v>2.73</c:v>
                </c:pt>
                <c:pt idx="648">
                  <c:v>2.76</c:v>
                </c:pt>
                <c:pt idx="649">
                  <c:v>2.72</c:v>
                </c:pt>
                <c:pt idx="650">
                  <c:v>2.72</c:v>
                </c:pt>
                <c:pt idx="651">
                  <c:v>2.69</c:v>
                </c:pt>
                <c:pt idx="652">
                  <c:v>2.64</c:v>
                </c:pt>
                <c:pt idx="653">
                  <c:v>2.62</c:v>
                </c:pt>
                <c:pt idx="654">
                  <c:v>2.64</c:v>
                </c:pt>
                <c:pt idx="655">
                  <c:v>2.61</c:v>
                </c:pt>
                <c:pt idx="656">
                  <c:v>2.61</c:v>
                </c:pt>
                <c:pt idx="657">
                  <c:v>2.63</c:v>
                </c:pt>
                <c:pt idx="658">
                  <c:v>2.59</c:v>
                </c:pt>
                <c:pt idx="659">
                  <c:v>2.6</c:v>
                </c:pt>
                <c:pt idx="660">
                  <c:v>2.61</c:v>
                </c:pt>
                <c:pt idx="661">
                  <c:v>2.54</c:v>
                </c:pt>
                <c:pt idx="662">
                  <c:v>2.54</c:v>
                </c:pt>
                <c:pt idx="663">
                  <c:v>2.44</c:v>
                </c:pt>
                <c:pt idx="664">
                  <c:v>2.4300000000000002</c:v>
                </c:pt>
                <c:pt idx="665">
                  <c:v>2.41</c:v>
                </c:pt>
                <c:pt idx="666">
                  <c:v>2.39</c:v>
                </c:pt>
                <c:pt idx="667">
                  <c:v>2.39</c:v>
                </c:pt>
                <c:pt idx="668">
                  <c:v>2.41</c:v>
                </c:pt>
                <c:pt idx="669">
                  <c:v>2.4900000000000002</c:v>
                </c:pt>
                <c:pt idx="670">
                  <c:v>2.48</c:v>
                </c:pt>
                <c:pt idx="671">
                  <c:v>2.52</c:v>
                </c:pt>
                <c:pt idx="672">
                  <c:v>2.5099999999999998</c:v>
                </c:pt>
                <c:pt idx="673">
                  <c:v>2.5</c:v>
                </c:pt>
                <c:pt idx="674">
                  <c:v>2.52</c:v>
                </c:pt>
                <c:pt idx="675">
                  <c:v>2.5099999999999998</c:v>
                </c:pt>
                <c:pt idx="676">
                  <c:v>2.48</c:v>
                </c:pt>
                <c:pt idx="677">
                  <c:v>2.5099999999999998</c:v>
                </c:pt>
                <c:pt idx="678">
                  <c:v>2.56</c:v>
                </c:pt>
                <c:pt idx="679">
                  <c:v>2.5499999999999998</c:v>
                </c:pt>
                <c:pt idx="680">
                  <c:v>2.6</c:v>
                </c:pt>
                <c:pt idx="681">
                  <c:v>2.59</c:v>
                </c:pt>
                <c:pt idx="682">
                  <c:v>2.57</c:v>
                </c:pt>
                <c:pt idx="684">
                  <c:v>2.59</c:v>
                </c:pt>
                <c:pt idx="685">
                  <c:v>2.57</c:v>
                </c:pt>
                <c:pt idx="686">
                  <c:v>2.5299999999999998</c:v>
                </c:pt>
                <c:pt idx="687">
                  <c:v>2.54</c:v>
                </c:pt>
                <c:pt idx="688">
                  <c:v>2.5099999999999998</c:v>
                </c:pt>
                <c:pt idx="689">
                  <c:v>2.54</c:v>
                </c:pt>
                <c:pt idx="690">
                  <c:v>2.5099999999999998</c:v>
                </c:pt>
                <c:pt idx="691">
                  <c:v>2.52</c:v>
                </c:pt>
                <c:pt idx="692">
                  <c:v>2.5499999999999998</c:v>
                </c:pt>
                <c:pt idx="693">
                  <c:v>2.54</c:v>
                </c:pt>
                <c:pt idx="694">
                  <c:v>2.5099999999999998</c:v>
                </c:pt>
                <c:pt idx="695">
                  <c:v>2.4500000000000002</c:v>
                </c:pt>
                <c:pt idx="696">
                  <c:v>2.4900000000000002</c:v>
                </c:pt>
                <c:pt idx="697">
                  <c:v>2.4500000000000002</c:v>
                </c:pt>
                <c:pt idx="698">
                  <c:v>2.4700000000000002</c:v>
                </c:pt>
                <c:pt idx="699">
                  <c:v>2.4</c:v>
                </c:pt>
                <c:pt idx="700">
                  <c:v>2.42</c:v>
                </c:pt>
                <c:pt idx="701">
                  <c:v>2.37</c:v>
                </c:pt>
                <c:pt idx="702">
                  <c:v>2.4</c:v>
                </c:pt>
                <c:pt idx="703">
                  <c:v>2.39</c:v>
                </c:pt>
                <c:pt idx="704">
                  <c:v>2.41</c:v>
                </c:pt>
                <c:pt idx="705">
                  <c:v>2.4300000000000002</c:v>
                </c:pt>
                <c:pt idx="706">
                  <c:v>2.39</c:v>
                </c:pt>
                <c:pt idx="707">
                  <c:v>2.31</c:v>
                </c:pt>
                <c:pt idx="708">
                  <c:v>2.3199999999999998</c:v>
                </c:pt>
                <c:pt idx="710">
                  <c:v>2.2599999999999998</c:v>
                </c:pt>
                <c:pt idx="711">
                  <c:v>2.25</c:v>
                </c:pt>
                <c:pt idx="712">
                  <c:v>2.2200000000000002</c:v>
                </c:pt>
                <c:pt idx="713">
                  <c:v>2.14</c:v>
                </c:pt>
                <c:pt idx="714">
                  <c:v>2.0699999999999998</c:v>
                </c:pt>
                <c:pt idx="715">
                  <c:v>2.12</c:v>
                </c:pt>
                <c:pt idx="716">
                  <c:v>2.12</c:v>
                </c:pt>
                <c:pt idx="717">
                  <c:v>2.12</c:v>
                </c:pt>
                <c:pt idx="718">
                  <c:v>2.09</c:v>
                </c:pt>
                <c:pt idx="719">
                  <c:v>2.15</c:v>
                </c:pt>
                <c:pt idx="720">
                  <c:v>2.15</c:v>
                </c:pt>
                <c:pt idx="721">
                  <c:v>2.13</c:v>
                </c:pt>
                <c:pt idx="722">
                  <c:v>2.1</c:v>
                </c:pt>
                <c:pt idx="723">
                  <c:v>2.09</c:v>
                </c:pt>
                <c:pt idx="724">
                  <c:v>2.09</c:v>
                </c:pt>
                <c:pt idx="725">
                  <c:v>2.06</c:v>
                </c:pt>
                <c:pt idx="726">
                  <c:v>2.0299999999999998</c:v>
                </c:pt>
                <c:pt idx="727">
                  <c:v>2.0099999999999998</c:v>
                </c:pt>
                <c:pt idx="728">
                  <c:v>2.0699999999999998</c:v>
                </c:pt>
                <c:pt idx="729">
                  <c:v>2.02</c:v>
                </c:pt>
                <c:pt idx="730">
                  <c:v>2</c:v>
                </c:pt>
                <c:pt idx="731">
                  <c:v>2.0499999999999998</c:v>
                </c:pt>
                <c:pt idx="732">
                  <c:v>2.0099999999999998</c:v>
                </c:pt>
                <c:pt idx="733">
                  <c:v>2</c:v>
                </c:pt>
                <c:pt idx="734">
                  <c:v>2.0299999999999998</c:v>
                </c:pt>
                <c:pt idx="735">
                  <c:v>1.98</c:v>
                </c:pt>
                <c:pt idx="736">
                  <c:v>1.96</c:v>
                </c:pt>
                <c:pt idx="738">
                  <c:v>2.04</c:v>
                </c:pt>
                <c:pt idx="739">
                  <c:v>2.0499999999999998</c:v>
                </c:pt>
                <c:pt idx="740">
                  <c:v>2.0699999999999998</c:v>
                </c:pt>
                <c:pt idx="741">
                  <c:v>2.0699999999999998</c:v>
                </c:pt>
                <c:pt idx="742">
                  <c:v>2.13</c:v>
                </c:pt>
                <c:pt idx="743">
                  <c:v>2.12</c:v>
                </c:pt>
                <c:pt idx="744">
                  <c:v>2.09</c:v>
                </c:pt>
                <c:pt idx="745">
                  <c:v>2.13</c:v>
                </c:pt>
                <c:pt idx="746">
                  <c:v>2.06</c:v>
                </c:pt>
                <c:pt idx="747">
                  <c:v>2.04</c:v>
                </c:pt>
                <c:pt idx="748">
                  <c:v>2.0499999999999998</c:v>
                </c:pt>
                <c:pt idx="749">
                  <c:v>2.0499999999999998</c:v>
                </c:pt>
                <c:pt idx="750">
                  <c:v>2.08</c:v>
                </c:pt>
                <c:pt idx="751">
                  <c:v>2.0499999999999998</c:v>
                </c:pt>
                <c:pt idx="752">
                  <c:v>2.08</c:v>
                </c:pt>
                <c:pt idx="753">
                  <c:v>2.08</c:v>
                </c:pt>
                <c:pt idx="754">
                  <c:v>2.06</c:v>
                </c:pt>
                <c:pt idx="755">
                  <c:v>2.06</c:v>
                </c:pt>
                <c:pt idx="756">
                  <c:v>2.02</c:v>
                </c:pt>
                <c:pt idx="757">
                  <c:v>1.9</c:v>
                </c:pt>
                <c:pt idx="758">
                  <c:v>1.86</c:v>
                </c:pt>
                <c:pt idx="759">
                  <c:v>1.75</c:v>
                </c:pt>
                <c:pt idx="760">
                  <c:v>1.73</c:v>
                </c:pt>
                <c:pt idx="761">
                  <c:v>1.71</c:v>
                </c:pt>
                <c:pt idx="762">
                  <c:v>1.72</c:v>
                </c:pt>
                <c:pt idx="763">
                  <c:v>1.74</c:v>
                </c:pt>
                <c:pt idx="764">
                  <c:v>1.65</c:v>
                </c:pt>
                <c:pt idx="765">
                  <c:v>1.68</c:v>
                </c:pt>
                <c:pt idx="766">
                  <c:v>1.59</c:v>
                </c:pt>
                <c:pt idx="767">
                  <c:v>1.52</c:v>
                </c:pt>
                <c:pt idx="768">
                  <c:v>1.55</c:v>
                </c:pt>
                <c:pt idx="769">
                  <c:v>1.6</c:v>
                </c:pt>
                <c:pt idx="770">
                  <c:v>1.55</c:v>
                </c:pt>
                <c:pt idx="771">
                  <c:v>1.59</c:v>
                </c:pt>
                <c:pt idx="772">
                  <c:v>1.62</c:v>
                </c:pt>
                <c:pt idx="773">
                  <c:v>1.52</c:v>
                </c:pt>
                <c:pt idx="774">
                  <c:v>1.54</c:v>
                </c:pt>
                <c:pt idx="775">
                  <c:v>1.49</c:v>
                </c:pt>
                <c:pt idx="776">
                  <c:v>1.47</c:v>
                </c:pt>
                <c:pt idx="777">
                  <c:v>1.5</c:v>
                </c:pt>
                <c:pt idx="778">
                  <c:v>1.5</c:v>
                </c:pt>
                <c:pt idx="780">
                  <c:v>1.47</c:v>
                </c:pt>
                <c:pt idx="781">
                  <c:v>1.47</c:v>
                </c:pt>
                <c:pt idx="782">
                  <c:v>1.57</c:v>
                </c:pt>
                <c:pt idx="783">
                  <c:v>1.55</c:v>
                </c:pt>
                <c:pt idx="784">
                  <c:v>1.63</c:v>
                </c:pt>
                <c:pt idx="785">
                  <c:v>1.72</c:v>
                </c:pt>
                <c:pt idx="786">
                  <c:v>1.75</c:v>
                </c:pt>
                <c:pt idx="787">
                  <c:v>1.79</c:v>
                </c:pt>
                <c:pt idx="788">
                  <c:v>1.9</c:v>
                </c:pt>
                <c:pt idx="789">
                  <c:v>1.84</c:v>
                </c:pt>
                <c:pt idx="790">
                  <c:v>1.81</c:v>
                </c:pt>
                <c:pt idx="791">
                  <c:v>1.8</c:v>
                </c:pt>
                <c:pt idx="792">
                  <c:v>1.79</c:v>
                </c:pt>
                <c:pt idx="793">
                  <c:v>1.74</c:v>
                </c:pt>
                <c:pt idx="794">
                  <c:v>1.72</c:v>
                </c:pt>
                <c:pt idx="795">
                  <c:v>1.64</c:v>
                </c:pt>
                <c:pt idx="796">
                  <c:v>1.73</c:v>
                </c:pt>
                <c:pt idx="797">
                  <c:v>1.7</c:v>
                </c:pt>
                <c:pt idx="798">
                  <c:v>1.69</c:v>
                </c:pt>
                <c:pt idx="799">
                  <c:v>1.68</c:v>
                </c:pt>
                <c:pt idx="800">
                  <c:v>1.65</c:v>
                </c:pt>
                <c:pt idx="801">
                  <c:v>1.6</c:v>
                </c:pt>
                <c:pt idx="802">
                  <c:v>1.54</c:v>
                </c:pt>
                <c:pt idx="803">
                  <c:v>1.52</c:v>
                </c:pt>
                <c:pt idx="804">
                  <c:v>1.56</c:v>
                </c:pt>
                <c:pt idx="805">
                  <c:v>1.54</c:v>
                </c:pt>
                <c:pt idx="806">
                  <c:v>1.59</c:v>
                </c:pt>
                <c:pt idx="807">
                  <c:v>1.67</c:v>
                </c:pt>
                <c:pt idx="808">
                  <c:v>1.76</c:v>
                </c:pt>
                <c:pt idx="810">
                  <c:v>1.77</c:v>
                </c:pt>
                <c:pt idx="811">
                  <c:v>1.75</c:v>
                </c:pt>
                <c:pt idx="812">
                  <c:v>1.76</c:v>
                </c:pt>
                <c:pt idx="813">
                  <c:v>1.76</c:v>
                </c:pt>
                <c:pt idx="814">
                  <c:v>1.8</c:v>
                </c:pt>
                <c:pt idx="815">
                  <c:v>1.78</c:v>
                </c:pt>
                <c:pt idx="816">
                  <c:v>1.77</c:v>
                </c:pt>
                <c:pt idx="817">
                  <c:v>1.77</c:v>
                </c:pt>
                <c:pt idx="818">
                  <c:v>1.8</c:v>
                </c:pt>
                <c:pt idx="819">
                  <c:v>1.85</c:v>
                </c:pt>
                <c:pt idx="820">
                  <c:v>1.84</c:v>
                </c:pt>
                <c:pt idx="821">
                  <c:v>1.78</c:v>
                </c:pt>
                <c:pt idx="822">
                  <c:v>1.69</c:v>
                </c:pt>
                <c:pt idx="823">
                  <c:v>1.73</c:v>
                </c:pt>
                <c:pt idx="824">
                  <c:v>1.79</c:v>
                </c:pt>
                <c:pt idx="825">
                  <c:v>1.86</c:v>
                </c:pt>
                <c:pt idx="826">
                  <c:v>1.81</c:v>
                </c:pt>
                <c:pt idx="827">
                  <c:v>1.92</c:v>
                </c:pt>
                <c:pt idx="828">
                  <c:v>1.94</c:v>
                </c:pt>
                <c:pt idx="830">
                  <c:v>1.92</c:v>
                </c:pt>
                <c:pt idx="831">
                  <c:v>1.88</c:v>
                </c:pt>
                <c:pt idx="832">
                  <c:v>1.82</c:v>
                </c:pt>
                <c:pt idx="833">
                  <c:v>1.84</c:v>
                </c:pt>
                <c:pt idx="834">
                  <c:v>1.81</c:v>
                </c:pt>
                <c:pt idx="835">
                  <c:v>1.79</c:v>
                </c:pt>
                <c:pt idx="836">
                  <c:v>1.73</c:v>
                </c:pt>
                <c:pt idx="837">
                  <c:v>1.77</c:v>
                </c:pt>
                <c:pt idx="838">
                  <c:v>1.77</c:v>
                </c:pt>
                <c:pt idx="839">
                  <c:v>1.76</c:v>
                </c:pt>
                <c:pt idx="840">
                  <c:v>1.74</c:v>
                </c:pt>
                <c:pt idx="841">
                  <c:v>1.77</c:v>
                </c:pt>
                <c:pt idx="843">
                  <c:v>1.78</c:v>
                </c:pt>
                <c:pt idx="844">
                  <c:v>1.83</c:v>
                </c:pt>
                <c:pt idx="845">
                  <c:v>1.72</c:v>
                </c:pt>
                <c:pt idx="846">
                  <c:v>1.77</c:v>
                </c:pt>
                <c:pt idx="847">
                  <c:v>1.8</c:v>
                </c:pt>
                <c:pt idx="848">
                  <c:v>1.84</c:v>
                </c:pt>
                <c:pt idx="849">
                  <c:v>1.83</c:v>
                </c:pt>
                <c:pt idx="850">
                  <c:v>1.85</c:v>
                </c:pt>
                <c:pt idx="851">
                  <c:v>1.79</c:v>
                </c:pt>
                <c:pt idx="852">
                  <c:v>1.9</c:v>
                </c:pt>
                <c:pt idx="853">
                  <c:v>1.82</c:v>
                </c:pt>
                <c:pt idx="854">
                  <c:v>1.89</c:v>
                </c:pt>
                <c:pt idx="855">
                  <c:v>1.89</c:v>
                </c:pt>
                <c:pt idx="856">
                  <c:v>1.92</c:v>
                </c:pt>
                <c:pt idx="857">
                  <c:v>1.92</c:v>
                </c:pt>
                <c:pt idx="858">
                  <c:v>1.92</c:v>
                </c:pt>
                <c:pt idx="859">
                  <c:v>1.93</c:v>
                </c:pt>
                <c:pt idx="860">
                  <c:v>1.9</c:v>
                </c:pt>
                <c:pt idx="862">
                  <c:v>1.9</c:v>
                </c:pt>
                <c:pt idx="863">
                  <c:v>1.88</c:v>
                </c:pt>
                <c:pt idx="864">
                  <c:v>1.9</c:v>
                </c:pt>
                <c:pt idx="865">
                  <c:v>1.92</c:v>
                </c:pt>
                <c:pt idx="867">
                  <c:v>1.88</c:v>
                </c:pt>
                <c:pt idx="868">
                  <c:v>1.8</c:v>
                </c:pt>
                <c:pt idx="869">
                  <c:v>1.81</c:v>
                </c:pt>
                <c:pt idx="870">
                  <c:v>1.83</c:v>
                </c:pt>
                <c:pt idx="871">
                  <c:v>1.87</c:v>
                </c:pt>
                <c:pt idx="872">
                  <c:v>1.85</c:v>
                </c:pt>
                <c:pt idx="873">
                  <c:v>1.83</c:v>
                </c:pt>
                <c:pt idx="874">
                  <c:v>1.85</c:v>
                </c:pt>
                <c:pt idx="875">
                  <c:v>1.82</c:v>
                </c:pt>
                <c:pt idx="876">
                  <c:v>1.79</c:v>
                </c:pt>
                <c:pt idx="877">
                  <c:v>1.81</c:v>
                </c:pt>
                <c:pt idx="878">
                  <c:v>1.84</c:v>
                </c:pt>
                <c:pt idx="880">
                  <c:v>1.78</c:v>
                </c:pt>
                <c:pt idx="881">
                  <c:v>1.77</c:v>
                </c:pt>
                <c:pt idx="882">
                  <c:v>1.74</c:v>
                </c:pt>
                <c:pt idx="883">
                  <c:v>1.7</c:v>
                </c:pt>
                <c:pt idx="884">
                  <c:v>1.61</c:v>
                </c:pt>
                <c:pt idx="885">
                  <c:v>1.65</c:v>
                </c:pt>
                <c:pt idx="886">
                  <c:v>1.6</c:v>
                </c:pt>
                <c:pt idx="887">
                  <c:v>1.57</c:v>
                </c:pt>
                <c:pt idx="888">
                  <c:v>1.51</c:v>
                </c:pt>
                <c:pt idx="889">
                  <c:v>1.54</c:v>
                </c:pt>
                <c:pt idx="890">
                  <c:v>1.61</c:v>
                </c:pt>
                <c:pt idx="891">
                  <c:v>1.66</c:v>
                </c:pt>
                <c:pt idx="892">
                  <c:v>1.65</c:v>
                </c:pt>
                <c:pt idx="893">
                  <c:v>1.59</c:v>
                </c:pt>
                <c:pt idx="894">
                  <c:v>1.56</c:v>
                </c:pt>
                <c:pt idx="895">
                  <c:v>1.59</c:v>
                </c:pt>
                <c:pt idx="896">
                  <c:v>1.62</c:v>
                </c:pt>
                <c:pt idx="897">
                  <c:v>1.61</c:v>
                </c:pt>
                <c:pt idx="898">
                  <c:v>1.59</c:v>
                </c:pt>
                <c:pt idx="900">
                  <c:v>1.55</c:v>
                </c:pt>
                <c:pt idx="901">
                  <c:v>1.56</c:v>
                </c:pt>
                <c:pt idx="902">
                  <c:v>1.52</c:v>
                </c:pt>
                <c:pt idx="903">
                  <c:v>1.46</c:v>
                </c:pt>
                <c:pt idx="904">
                  <c:v>1.38</c:v>
                </c:pt>
                <c:pt idx="905">
                  <c:v>1.33</c:v>
                </c:pt>
                <c:pt idx="906">
                  <c:v>1.33</c:v>
                </c:pt>
                <c:pt idx="907">
                  <c:v>1.3</c:v>
                </c:pt>
                <c:pt idx="908">
                  <c:v>1.1299999999999999</c:v>
                </c:pt>
                <c:pt idx="909">
                  <c:v>1.1000000000000001</c:v>
                </c:pt>
                <c:pt idx="910">
                  <c:v>1.02</c:v>
                </c:pt>
                <c:pt idx="911">
                  <c:v>1.02</c:v>
                </c:pt>
                <c:pt idx="912">
                  <c:v>0.92</c:v>
                </c:pt>
                <c:pt idx="913">
                  <c:v>0.74</c:v>
                </c:pt>
                <c:pt idx="914">
                  <c:v>0.54</c:v>
                </c:pt>
                <c:pt idx="915">
                  <c:v>0.76</c:v>
                </c:pt>
                <c:pt idx="916">
                  <c:v>0.82</c:v>
                </c:pt>
                <c:pt idx="917">
                  <c:v>0.88</c:v>
                </c:pt>
                <c:pt idx="918">
                  <c:v>0.94</c:v>
                </c:pt>
                <c:pt idx="919">
                  <c:v>0.73</c:v>
                </c:pt>
                <c:pt idx="920">
                  <c:v>1.02</c:v>
                </c:pt>
                <c:pt idx="921">
                  <c:v>1.18</c:v>
                </c:pt>
                <c:pt idx="922">
                  <c:v>1.1200000000000001</c:v>
                </c:pt>
                <c:pt idx="923">
                  <c:v>0.92</c:v>
                </c:pt>
                <c:pt idx="924">
                  <c:v>0.76</c:v>
                </c:pt>
                <c:pt idx="925">
                  <c:v>0.84</c:v>
                </c:pt>
                <c:pt idx="926">
                  <c:v>0.88</c:v>
                </c:pt>
                <c:pt idx="927">
                  <c:v>0.83</c:v>
                </c:pt>
                <c:pt idx="928">
                  <c:v>0.72</c:v>
                </c:pt>
                <c:pt idx="929">
                  <c:v>0.7</c:v>
                </c:pt>
                <c:pt idx="930">
                  <c:v>0.7</c:v>
                </c:pt>
                <c:pt idx="931">
                  <c:v>0.62</c:v>
                </c:pt>
                <c:pt idx="932">
                  <c:v>0.63</c:v>
                </c:pt>
                <c:pt idx="933">
                  <c:v>0.62</c:v>
                </c:pt>
                <c:pt idx="934">
                  <c:v>0.67</c:v>
                </c:pt>
                <c:pt idx="935">
                  <c:v>0.75</c:v>
                </c:pt>
                <c:pt idx="936">
                  <c:v>0.77</c:v>
                </c:pt>
                <c:pt idx="937">
                  <c:v>0.73</c:v>
                </c:pt>
                <c:pt idx="939">
                  <c:v>0.76</c:v>
                </c:pt>
                <c:pt idx="940">
                  <c:v>0.76</c:v>
                </c:pt>
                <c:pt idx="941">
                  <c:v>0.63</c:v>
                </c:pt>
                <c:pt idx="942">
                  <c:v>0.61</c:v>
                </c:pt>
                <c:pt idx="943">
                  <c:v>0.65</c:v>
                </c:pt>
                <c:pt idx="944">
                  <c:v>0.63</c:v>
                </c:pt>
                <c:pt idx="945">
                  <c:v>0.57999999999999996</c:v>
                </c:pt>
                <c:pt idx="946">
                  <c:v>0.63</c:v>
                </c:pt>
                <c:pt idx="947">
                  <c:v>0.61</c:v>
                </c:pt>
                <c:pt idx="948">
                  <c:v>0.6</c:v>
                </c:pt>
                <c:pt idx="949">
                  <c:v>0.67</c:v>
                </c:pt>
                <c:pt idx="950">
                  <c:v>0.62</c:v>
                </c:pt>
                <c:pt idx="951">
                  <c:v>0.63</c:v>
                </c:pt>
                <c:pt idx="952">
                  <c:v>0.64</c:v>
                </c:pt>
                <c:pt idx="953">
                  <c:v>0.64</c:v>
                </c:pt>
                <c:pt idx="954">
                  <c:v>0.64</c:v>
                </c:pt>
                <c:pt idx="955">
                  <c:v>0.66</c:v>
                </c:pt>
                <c:pt idx="956">
                  <c:v>0.72</c:v>
                </c:pt>
                <c:pt idx="957">
                  <c:v>0.63</c:v>
                </c:pt>
                <c:pt idx="958">
                  <c:v>0.69</c:v>
                </c:pt>
                <c:pt idx="959">
                  <c:v>0.73</c:v>
                </c:pt>
                <c:pt idx="960">
                  <c:v>0.69</c:v>
                </c:pt>
                <c:pt idx="961">
                  <c:v>0.64</c:v>
                </c:pt>
                <c:pt idx="962">
                  <c:v>0.63</c:v>
                </c:pt>
                <c:pt idx="963">
                  <c:v>0.64</c:v>
                </c:pt>
                <c:pt idx="964">
                  <c:v>0.73</c:v>
                </c:pt>
                <c:pt idx="965">
                  <c:v>0.7</c:v>
                </c:pt>
                <c:pt idx="966">
                  <c:v>0.68</c:v>
                </c:pt>
                <c:pt idx="967">
                  <c:v>0.68</c:v>
                </c:pt>
                <c:pt idx="968">
                  <c:v>0.66</c:v>
                </c:pt>
                <c:pt idx="970">
                  <c:v>0.69</c:v>
                </c:pt>
                <c:pt idx="971">
                  <c:v>0.68</c:v>
                </c:pt>
                <c:pt idx="972">
                  <c:v>0.7</c:v>
                </c:pt>
                <c:pt idx="973">
                  <c:v>0.65</c:v>
                </c:pt>
                <c:pt idx="974">
                  <c:v>0.66</c:v>
                </c:pt>
                <c:pt idx="975">
                  <c:v>0.68</c:v>
                </c:pt>
                <c:pt idx="976">
                  <c:v>0.77</c:v>
                </c:pt>
                <c:pt idx="977">
                  <c:v>0.82</c:v>
                </c:pt>
                <c:pt idx="978">
                  <c:v>0.91</c:v>
                </c:pt>
                <c:pt idx="979">
                  <c:v>0.88</c:v>
                </c:pt>
                <c:pt idx="980">
                  <c:v>0.84</c:v>
                </c:pt>
                <c:pt idx="981">
                  <c:v>0.75</c:v>
                </c:pt>
                <c:pt idx="982">
                  <c:v>0.66</c:v>
                </c:pt>
                <c:pt idx="983">
                  <c:v>0.71</c:v>
                </c:pt>
                <c:pt idx="984">
                  <c:v>0.71</c:v>
                </c:pt>
                <c:pt idx="985">
                  <c:v>0.75</c:v>
                </c:pt>
                <c:pt idx="986">
                  <c:v>0.74</c:v>
                </c:pt>
                <c:pt idx="987">
                  <c:v>0.71</c:v>
                </c:pt>
                <c:pt idx="988">
                  <c:v>0.7</c:v>
                </c:pt>
                <c:pt idx="989">
                  <c:v>0.71</c:v>
                </c:pt>
                <c:pt idx="990">
                  <c:v>0.72</c:v>
                </c:pt>
                <c:pt idx="991">
                  <c:v>0.69</c:v>
                </c:pt>
                <c:pt idx="992">
                  <c:v>0.68</c:v>
                </c:pt>
                <c:pt idx="993">
                  <c:v>0.64</c:v>
                </c:pt>
                <c:pt idx="994">
                  <c:v>0.64</c:v>
                </c:pt>
                <c:pt idx="995">
                  <c:v>0.66</c:v>
                </c:pt>
                <c:pt idx="996">
                  <c:v>0.69</c:v>
                </c:pt>
                <c:pt idx="997">
                  <c:v>0.68</c:v>
                </c:pt>
                <c:pt idx="999">
                  <c:v>0.69</c:v>
                </c:pt>
                <c:pt idx="1000">
                  <c:v>0.65</c:v>
                </c:pt>
                <c:pt idx="1001">
                  <c:v>0.67</c:v>
                </c:pt>
                <c:pt idx="1002">
                  <c:v>0.62</c:v>
                </c:pt>
                <c:pt idx="1003">
                  <c:v>0.65</c:v>
                </c:pt>
                <c:pt idx="1004">
                  <c:v>0.64</c:v>
                </c:pt>
                <c:pt idx="1005">
                  <c:v>0.63</c:v>
                </c:pt>
                <c:pt idx="1006">
                  <c:v>0.64</c:v>
                </c:pt>
                <c:pt idx="1007">
                  <c:v>0.62</c:v>
                </c:pt>
                <c:pt idx="1008">
                  <c:v>0.64</c:v>
                </c:pt>
                <c:pt idx="1009">
                  <c:v>0.62</c:v>
                </c:pt>
                <c:pt idx="1010">
                  <c:v>0.61</c:v>
                </c:pt>
                <c:pt idx="1011">
                  <c:v>0.6</c:v>
                </c:pt>
                <c:pt idx="1012">
                  <c:v>0.59</c:v>
                </c:pt>
                <c:pt idx="1013">
                  <c:v>0.59</c:v>
                </c:pt>
                <c:pt idx="1014">
                  <c:v>0.62</c:v>
                </c:pt>
                <c:pt idx="1015">
                  <c:v>0.59</c:v>
                </c:pt>
                <c:pt idx="1016">
                  <c:v>0.57999999999999996</c:v>
                </c:pt>
                <c:pt idx="1017">
                  <c:v>0.55000000000000004</c:v>
                </c:pt>
                <c:pt idx="1018">
                  <c:v>0.55000000000000004</c:v>
                </c:pt>
                <c:pt idx="1019">
                  <c:v>0.56000000000000005</c:v>
                </c:pt>
                <c:pt idx="1020">
                  <c:v>0.52</c:v>
                </c:pt>
                <c:pt idx="1021">
                  <c:v>0.55000000000000004</c:v>
                </c:pt>
                <c:pt idx="1022">
                  <c:v>0.55000000000000004</c:v>
                </c:pt>
                <c:pt idx="1023">
                  <c:v>0.56999999999999995</c:v>
                </c:pt>
                <c:pt idx="1024">
                  <c:v>0.59</c:v>
                </c:pt>
                <c:pt idx="1025">
                  <c:v>0.64</c:v>
                </c:pt>
                <c:pt idx="1026">
                  <c:v>0.69</c:v>
                </c:pt>
                <c:pt idx="1027">
                  <c:v>0.71</c:v>
                </c:pt>
                <c:pt idx="1028">
                  <c:v>0.71</c:v>
                </c:pt>
                <c:pt idx="1029">
                  <c:v>0.69</c:v>
                </c:pt>
                <c:pt idx="1030">
                  <c:v>0.67</c:v>
                </c:pt>
                <c:pt idx="1031">
                  <c:v>0.68</c:v>
                </c:pt>
                <c:pt idx="1032">
                  <c:v>0.65</c:v>
                </c:pt>
                <c:pt idx="1033">
                  <c:v>0.64</c:v>
                </c:pt>
                <c:pt idx="1034">
                  <c:v>0.65</c:v>
                </c:pt>
                <c:pt idx="1035">
                  <c:v>0.69</c:v>
                </c:pt>
                <c:pt idx="1036">
                  <c:v>0.69</c:v>
                </c:pt>
                <c:pt idx="1037">
                  <c:v>0.74</c:v>
                </c:pt>
                <c:pt idx="1038">
                  <c:v>0.74</c:v>
                </c:pt>
                <c:pt idx="1039">
                  <c:v>0.72</c:v>
                </c:pt>
                <c:pt idx="1040">
                  <c:v>0.68</c:v>
                </c:pt>
                <c:pt idx="1041">
                  <c:v>0.66</c:v>
                </c:pt>
                <c:pt idx="1042">
                  <c:v>0.63</c:v>
                </c:pt>
                <c:pt idx="1043">
                  <c:v>0.72</c:v>
                </c:pt>
                <c:pt idx="1045">
                  <c:v>0.69</c:v>
                </c:pt>
                <c:pt idx="1046">
                  <c:v>0.71</c:v>
                </c:pt>
                <c:pt idx="1047">
                  <c:v>0.68</c:v>
                </c:pt>
                <c:pt idx="1048">
                  <c:v>0.67</c:v>
                </c:pt>
                <c:pt idx="1049">
                  <c:v>0.68</c:v>
                </c:pt>
                <c:pt idx="1050">
                  <c:v>0.68</c:v>
                </c:pt>
                <c:pt idx="1051">
                  <c:v>0.69</c:v>
                </c:pt>
                <c:pt idx="1052">
                  <c:v>0.69</c:v>
                </c:pt>
                <c:pt idx="1053">
                  <c:v>0.7</c:v>
                </c:pt>
                <c:pt idx="1054">
                  <c:v>0.68</c:v>
                </c:pt>
                <c:pt idx="1055">
                  <c:v>0.68</c:v>
                </c:pt>
                <c:pt idx="1056">
                  <c:v>0.68</c:v>
                </c:pt>
                <c:pt idx="1057">
                  <c:v>0.67</c:v>
                </c:pt>
                <c:pt idx="1058">
                  <c:v>0.66</c:v>
                </c:pt>
                <c:pt idx="1059">
                  <c:v>0.67</c:v>
                </c:pt>
                <c:pt idx="1060">
                  <c:v>0.66</c:v>
                </c:pt>
                <c:pt idx="1061">
                  <c:v>0.69</c:v>
                </c:pt>
                <c:pt idx="1062">
                  <c:v>0.68</c:v>
                </c:pt>
                <c:pt idx="1063">
                  <c:v>0.7</c:v>
                </c:pt>
                <c:pt idx="1064">
                  <c:v>0.78</c:v>
                </c:pt>
                <c:pt idx="1065">
                  <c:v>0.76</c:v>
                </c:pt>
                <c:pt idx="1066">
                  <c:v>0.81</c:v>
                </c:pt>
                <c:pt idx="1067">
                  <c:v>0.78</c:v>
                </c:pt>
                <c:pt idx="1068">
                  <c:v>0.79</c:v>
                </c:pt>
                <c:pt idx="1070">
                  <c:v>0.74</c:v>
                </c:pt>
                <c:pt idx="1071">
                  <c:v>0.73</c:v>
                </c:pt>
                <c:pt idx="1072">
                  <c:v>0.74</c:v>
                </c:pt>
                <c:pt idx="1073">
                  <c:v>0.76</c:v>
                </c:pt>
                <c:pt idx="1074">
                  <c:v>0.78</c:v>
                </c:pt>
                <c:pt idx="1075">
                  <c:v>0.81</c:v>
                </c:pt>
                <c:pt idx="1076">
                  <c:v>0.83</c:v>
                </c:pt>
                <c:pt idx="1077">
                  <c:v>0.87</c:v>
                </c:pt>
                <c:pt idx="1078">
                  <c:v>0.85</c:v>
                </c:pt>
                <c:pt idx="1079">
                  <c:v>0.81</c:v>
                </c:pt>
                <c:pt idx="1080">
                  <c:v>0.79</c:v>
                </c:pt>
                <c:pt idx="1081">
                  <c:v>0.79</c:v>
                </c:pt>
                <c:pt idx="1082">
                  <c:v>0.85</c:v>
                </c:pt>
                <c:pt idx="1083">
                  <c:v>0.88</c:v>
                </c:pt>
                <c:pt idx="1084">
                  <c:v>0.87</c:v>
                </c:pt>
                <c:pt idx="1085">
                  <c:v>0.9</c:v>
                </c:pt>
                <c:pt idx="1086">
                  <c:v>0.78</c:v>
                </c:pt>
                <c:pt idx="1087">
                  <c:v>0.79</c:v>
                </c:pt>
                <c:pt idx="1088">
                  <c:v>0.83</c:v>
                </c:pt>
                <c:pt idx="1089">
                  <c:v>0.96</c:v>
                </c:pt>
                <c:pt idx="1090">
                  <c:v>0.98</c:v>
                </c:pt>
                <c:pt idx="1092">
                  <c:v>0.88</c:v>
                </c:pt>
                <c:pt idx="1093">
                  <c:v>0.89</c:v>
                </c:pt>
                <c:pt idx="1094">
                  <c:v>0.91</c:v>
                </c:pt>
                <c:pt idx="1095">
                  <c:v>0.87</c:v>
                </c:pt>
                <c:pt idx="1096">
                  <c:v>0.88</c:v>
                </c:pt>
                <c:pt idx="1097">
                  <c:v>0.86</c:v>
                </c:pt>
                <c:pt idx="1098">
                  <c:v>0.83</c:v>
                </c:pt>
                <c:pt idx="1099">
                  <c:v>0.86</c:v>
                </c:pt>
                <c:pt idx="1100">
                  <c:v>0.88</c:v>
                </c:pt>
                <c:pt idx="1101">
                  <c:v>0.88</c:v>
                </c:pt>
                <c:pt idx="1103">
                  <c:v>0.84</c:v>
                </c:pt>
                <c:pt idx="1104">
                  <c:v>0.84</c:v>
                </c:pt>
                <c:pt idx="1105">
                  <c:v>0.92</c:v>
                </c:pt>
                <c:pt idx="1106">
                  <c:v>0.95</c:v>
                </c:pt>
                <c:pt idx="1107">
                  <c:v>0.92</c:v>
                </c:pt>
                <c:pt idx="1108">
                  <c:v>0.97</c:v>
                </c:pt>
                <c:pt idx="1109">
                  <c:v>0.94</c:v>
                </c:pt>
                <c:pt idx="1110">
                  <c:v>0.92</c:v>
                </c:pt>
                <c:pt idx="1111">
                  <c:v>0.95</c:v>
                </c:pt>
                <c:pt idx="1112">
                  <c:v>0.92</c:v>
                </c:pt>
                <c:pt idx="1113">
                  <c:v>0.9</c:v>
                </c:pt>
                <c:pt idx="1114">
                  <c:v>0.9</c:v>
                </c:pt>
                <c:pt idx="1115">
                  <c:v>0.92</c:v>
                </c:pt>
                <c:pt idx="1116">
                  <c:v>0.92</c:v>
                </c:pt>
                <c:pt idx="1117">
                  <c:v>0.94</c:v>
                </c:pt>
                <c:pt idx="1118">
                  <c:v>0.95</c:v>
                </c:pt>
                <c:pt idx="1119">
                  <c:v>0.95</c:v>
                </c:pt>
                <c:pt idx="1120">
                  <c:v>0.93</c:v>
                </c:pt>
                <c:pt idx="1121">
                  <c:v>0.96</c:v>
                </c:pt>
                <c:pt idx="1122">
                  <c:v>0.94</c:v>
                </c:pt>
                <c:pt idx="1124">
                  <c:v>0.94</c:v>
                </c:pt>
                <c:pt idx="1125">
                  <c:v>0.94</c:v>
                </c:pt>
                <c:pt idx="1126">
                  <c:v>0.93</c:v>
                </c:pt>
                <c:pt idx="1127">
                  <c:v>0.93</c:v>
                </c:pt>
                <c:pt idx="1129">
                  <c:v>0.93</c:v>
                </c:pt>
                <c:pt idx="1130">
                  <c:v>0.96</c:v>
                </c:pt>
                <c:pt idx="1131">
                  <c:v>1.04</c:v>
                </c:pt>
                <c:pt idx="1132">
                  <c:v>1.08</c:v>
                </c:pt>
                <c:pt idx="1133">
                  <c:v>1.1299999999999999</c:v>
                </c:pt>
                <c:pt idx="1134">
                  <c:v>1.1499999999999999</c:v>
                </c:pt>
                <c:pt idx="1135">
                  <c:v>1.1499999999999999</c:v>
                </c:pt>
                <c:pt idx="1136">
                  <c:v>1.1000000000000001</c:v>
                </c:pt>
                <c:pt idx="1137">
                  <c:v>1.1499999999999999</c:v>
                </c:pt>
                <c:pt idx="1138">
                  <c:v>1.1100000000000001</c:v>
                </c:pt>
                <c:pt idx="1140">
                  <c:v>1.1000000000000001</c:v>
                </c:pt>
                <c:pt idx="1141">
                  <c:v>1.1000000000000001</c:v>
                </c:pt>
                <c:pt idx="1142">
                  <c:v>1.1200000000000001</c:v>
                </c:pt>
                <c:pt idx="1143">
                  <c:v>1.1000000000000001</c:v>
                </c:pt>
                <c:pt idx="1144">
                  <c:v>1.05</c:v>
                </c:pt>
                <c:pt idx="1145">
                  <c:v>1.05</c:v>
                </c:pt>
                <c:pt idx="1146">
                  <c:v>1.04</c:v>
                </c:pt>
                <c:pt idx="1147">
                  <c:v>1.07</c:v>
                </c:pt>
                <c:pt idx="1148">
                  <c:v>1.1100000000000001</c:v>
                </c:pt>
                <c:pt idx="1149">
                  <c:v>1.0900000000000001</c:v>
                </c:pt>
                <c:pt idx="1150">
                  <c:v>1.1200000000000001</c:v>
                </c:pt>
                <c:pt idx="1151">
                  <c:v>1.1499999999999999</c:v>
                </c:pt>
                <c:pt idx="1152">
                  <c:v>1.1499999999999999</c:v>
                </c:pt>
                <c:pt idx="1153">
                  <c:v>1.19</c:v>
                </c:pt>
                <c:pt idx="1154">
                  <c:v>1.19</c:v>
                </c:pt>
                <c:pt idx="1155">
                  <c:v>1.18</c:v>
                </c:pt>
                <c:pt idx="1156">
                  <c:v>1.1499999999999999</c:v>
                </c:pt>
                <c:pt idx="1157">
                  <c:v>1.1599999999999999</c:v>
                </c:pt>
                <c:pt idx="1158">
                  <c:v>1.2</c:v>
                </c:pt>
                <c:pt idx="1160">
                  <c:v>1.3</c:v>
                </c:pt>
                <c:pt idx="1161">
                  <c:v>1.29</c:v>
                </c:pt>
                <c:pt idx="1162">
                  <c:v>1.29</c:v>
                </c:pt>
                <c:pt idx="1163">
                  <c:v>1.34</c:v>
                </c:pt>
                <c:pt idx="1164">
                  <c:v>1.37</c:v>
                </c:pt>
                <c:pt idx="1165">
                  <c:v>1.37</c:v>
                </c:pt>
                <c:pt idx="1166">
                  <c:v>1.38</c:v>
                </c:pt>
                <c:pt idx="1167">
                  <c:v>1.54</c:v>
                </c:pt>
                <c:pt idx="1168">
                  <c:v>1.44</c:v>
                </c:pt>
                <c:pt idx="1169">
                  <c:v>1.45</c:v>
                </c:pt>
                <c:pt idx="1170">
                  <c:v>1.42</c:v>
                </c:pt>
                <c:pt idx="1171">
                  <c:v>1.47</c:v>
                </c:pt>
                <c:pt idx="1172">
                  <c:v>1.54</c:v>
                </c:pt>
                <c:pt idx="1173">
                  <c:v>1.56</c:v>
                </c:pt>
                <c:pt idx="1174">
                  <c:v>1.59</c:v>
                </c:pt>
                <c:pt idx="1175">
                  <c:v>1.55</c:v>
                </c:pt>
                <c:pt idx="1176">
                  <c:v>1.53</c:v>
                </c:pt>
                <c:pt idx="1177">
                  <c:v>1.54</c:v>
                </c:pt>
                <c:pt idx="1178">
                  <c:v>1.64</c:v>
                </c:pt>
                <c:pt idx="1179">
                  <c:v>1.62</c:v>
                </c:pt>
                <c:pt idx="1180">
                  <c:v>1.62</c:v>
                </c:pt>
                <c:pt idx="1181">
                  <c:v>1.63</c:v>
                </c:pt>
                <c:pt idx="1182">
                  <c:v>1.71</c:v>
                </c:pt>
                <c:pt idx="1183">
                  <c:v>1.74</c:v>
                </c:pt>
                <c:pt idx="1184">
                  <c:v>1.69</c:v>
                </c:pt>
                <c:pt idx="1185">
                  <c:v>1.63</c:v>
                </c:pt>
                <c:pt idx="1186">
                  <c:v>1.62</c:v>
                </c:pt>
                <c:pt idx="1187">
                  <c:v>1.63</c:v>
                </c:pt>
                <c:pt idx="1188">
                  <c:v>1.67</c:v>
                </c:pt>
                <c:pt idx="1189">
                  <c:v>1.73</c:v>
                </c:pt>
                <c:pt idx="1190">
                  <c:v>1.73</c:v>
                </c:pt>
                <c:pt idx="1191">
                  <c:v>1.74</c:v>
                </c:pt>
                <c:pt idx="1192">
                  <c:v>1.69</c:v>
                </c:pt>
                <c:pt idx="1193">
                  <c:v>1.72</c:v>
                </c:pt>
                <c:pt idx="1194">
                  <c:v>1.73</c:v>
                </c:pt>
                <c:pt idx="1195">
                  <c:v>1.67</c:v>
                </c:pt>
                <c:pt idx="1196">
                  <c:v>1.68</c:v>
                </c:pt>
                <c:pt idx="1197">
                  <c:v>1.64</c:v>
                </c:pt>
                <c:pt idx="1198">
                  <c:v>1.67</c:v>
                </c:pt>
                <c:pt idx="1199">
                  <c:v>1.69</c:v>
                </c:pt>
                <c:pt idx="1200">
                  <c:v>1.64</c:v>
                </c:pt>
                <c:pt idx="1201">
                  <c:v>1.64</c:v>
                </c:pt>
                <c:pt idx="1202">
                  <c:v>1.56</c:v>
                </c:pt>
                <c:pt idx="1203">
                  <c:v>1.59</c:v>
                </c:pt>
                <c:pt idx="1204">
                  <c:v>1.61</c:v>
                </c:pt>
                <c:pt idx="1205">
                  <c:v>1.58</c:v>
                </c:pt>
                <c:pt idx="1206">
                  <c:v>1.57</c:v>
                </c:pt>
                <c:pt idx="1207">
                  <c:v>1.57</c:v>
                </c:pt>
                <c:pt idx="1208">
                  <c:v>1.58</c:v>
                </c:pt>
                <c:pt idx="1209">
                  <c:v>1.58</c:v>
                </c:pt>
                <c:pt idx="1210">
                  <c:v>1.63</c:v>
                </c:pt>
                <c:pt idx="1211">
                  <c:v>1.63</c:v>
                </c:pt>
                <c:pt idx="1212">
                  <c:v>1.65</c:v>
                </c:pt>
                <c:pt idx="1213">
                  <c:v>1.65</c:v>
                </c:pt>
                <c:pt idx="1214">
                  <c:v>1.63</c:v>
                </c:pt>
                <c:pt idx="1215">
                  <c:v>1.61</c:v>
                </c:pt>
                <c:pt idx="1216">
                  <c:v>1.59</c:v>
                </c:pt>
                <c:pt idx="1217">
                  <c:v>1.58</c:v>
                </c:pt>
                <c:pt idx="1218">
                  <c:v>1.6</c:v>
                </c:pt>
                <c:pt idx="1219">
                  <c:v>1.63</c:v>
                </c:pt>
                <c:pt idx="1220">
                  <c:v>1.64</c:v>
                </c:pt>
                <c:pt idx="1221">
                  <c:v>1.69</c:v>
                </c:pt>
                <c:pt idx="1222">
                  <c:v>1.66</c:v>
                </c:pt>
                <c:pt idx="1223">
                  <c:v>1.63</c:v>
                </c:pt>
                <c:pt idx="1224">
                  <c:v>1.64</c:v>
                </c:pt>
                <c:pt idx="1225">
                  <c:v>1.64</c:v>
                </c:pt>
                <c:pt idx="1226">
                  <c:v>1.68</c:v>
                </c:pt>
                <c:pt idx="1227">
                  <c:v>1.63</c:v>
                </c:pt>
                <c:pt idx="1228">
                  <c:v>1.63</c:v>
                </c:pt>
                <c:pt idx="1229">
                  <c:v>1.61</c:v>
                </c:pt>
                <c:pt idx="1230">
                  <c:v>1.56</c:v>
                </c:pt>
                <c:pt idx="1231">
                  <c:v>1.58</c:v>
                </c:pt>
                <c:pt idx="1232">
                  <c:v>1.61</c:v>
                </c:pt>
                <c:pt idx="1233">
                  <c:v>1.58</c:v>
                </c:pt>
                <c:pt idx="1235">
                  <c:v>1.62</c:v>
                </c:pt>
                <c:pt idx="1236">
                  <c:v>1.59</c:v>
                </c:pt>
                <c:pt idx="1237">
                  <c:v>1.63</c:v>
                </c:pt>
                <c:pt idx="1238">
                  <c:v>1.56</c:v>
                </c:pt>
                <c:pt idx="1239">
                  <c:v>1.57</c:v>
                </c:pt>
                <c:pt idx="1240">
                  <c:v>1.53</c:v>
                </c:pt>
                <c:pt idx="1241">
                  <c:v>1.5</c:v>
                </c:pt>
                <c:pt idx="1242">
                  <c:v>1.45</c:v>
                </c:pt>
                <c:pt idx="1243">
                  <c:v>1.47</c:v>
                </c:pt>
                <c:pt idx="1244">
                  <c:v>1.51</c:v>
                </c:pt>
                <c:pt idx="1245">
                  <c:v>1.51</c:v>
                </c:pt>
                <c:pt idx="1246">
                  <c:v>1.57</c:v>
                </c:pt>
                <c:pt idx="1247">
                  <c:v>1.52</c:v>
                </c:pt>
                <c:pt idx="1248">
                  <c:v>1.45</c:v>
                </c:pt>
                <c:pt idx="1249">
                  <c:v>1.5</c:v>
                </c:pt>
                <c:pt idx="1250">
                  <c:v>1.48</c:v>
                </c:pt>
                <c:pt idx="1251">
                  <c:v>1.5</c:v>
                </c:pt>
                <c:pt idx="1252">
                  <c:v>1.49</c:v>
                </c:pt>
                <c:pt idx="1253">
                  <c:v>1.54</c:v>
                </c:pt>
                <c:pt idx="1254">
                  <c:v>1.49</c:v>
                </c:pt>
                <c:pt idx="1255">
                  <c:v>1.49</c:v>
                </c:pt>
                <c:pt idx="1256">
                  <c:v>1.45</c:v>
                </c:pt>
                <c:pt idx="1257">
                  <c:v>1.48</c:v>
                </c:pt>
                <c:pt idx="1258">
                  <c:v>1.44</c:v>
                </c:pt>
                <c:pt idx="1260">
                  <c:v>1.37</c:v>
                </c:pt>
                <c:pt idx="1261">
                  <c:v>1.33</c:v>
                </c:pt>
                <c:pt idx="1262">
                  <c:v>1.3</c:v>
                </c:pt>
                <c:pt idx="1263">
                  <c:v>1.37</c:v>
                </c:pt>
                <c:pt idx="1264">
                  <c:v>1.38</c:v>
                </c:pt>
                <c:pt idx="1265">
                  <c:v>1.42</c:v>
                </c:pt>
                <c:pt idx="1266">
                  <c:v>1.37</c:v>
                </c:pt>
                <c:pt idx="1267">
                  <c:v>1.31</c:v>
                </c:pt>
                <c:pt idx="1268">
                  <c:v>1.31</c:v>
                </c:pt>
                <c:pt idx="1269">
                  <c:v>1.19</c:v>
                </c:pt>
                <c:pt idx="1270">
                  <c:v>1.23</c:v>
                </c:pt>
                <c:pt idx="1271">
                  <c:v>1.3</c:v>
                </c:pt>
                <c:pt idx="1272">
                  <c:v>1.27</c:v>
                </c:pt>
                <c:pt idx="1273">
                  <c:v>1.3</c:v>
                </c:pt>
                <c:pt idx="1274">
                  <c:v>1.29</c:v>
                </c:pt>
                <c:pt idx="1275">
                  <c:v>1.25</c:v>
                </c:pt>
                <c:pt idx="1276">
                  <c:v>1.26</c:v>
                </c:pt>
                <c:pt idx="1277">
                  <c:v>1.28</c:v>
                </c:pt>
                <c:pt idx="1278">
                  <c:v>1.24</c:v>
                </c:pt>
                <c:pt idx="1279">
                  <c:v>1.2</c:v>
                </c:pt>
                <c:pt idx="1280">
                  <c:v>1.19</c:v>
                </c:pt>
                <c:pt idx="1281">
                  <c:v>1.19</c:v>
                </c:pt>
                <c:pt idx="1282">
                  <c:v>1.23</c:v>
                </c:pt>
                <c:pt idx="1283">
                  <c:v>1.31</c:v>
                </c:pt>
                <c:pt idx="1284">
                  <c:v>1.33</c:v>
                </c:pt>
                <c:pt idx="1285">
                  <c:v>1.36</c:v>
                </c:pt>
                <c:pt idx="1286">
                  <c:v>1.35</c:v>
                </c:pt>
                <c:pt idx="1287">
                  <c:v>1.36</c:v>
                </c:pt>
                <c:pt idx="1288">
                  <c:v>1.29</c:v>
                </c:pt>
                <c:pt idx="1289">
                  <c:v>1.26</c:v>
                </c:pt>
                <c:pt idx="1290">
                  <c:v>1.26</c:v>
                </c:pt>
                <c:pt idx="1291">
                  <c:v>1.27</c:v>
                </c:pt>
                <c:pt idx="1292">
                  <c:v>1.24</c:v>
                </c:pt>
                <c:pt idx="1293">
                  <c:v>1.26</c:v>
                </c:pt>
                <c:pt idx="1294">
                  <c:v>1.25</c:v>
                </c:pt>
                <c:pt idx="1295">
                  <c:v>1.29</c:v>
                </c:pt>
                <c:pt idx="1296">
                  <c:v>1.35</c:v>
                </c:pt>
                <c:pt idx="1297">
                  <c:v>1.34</c:v>
                </c:pt>
                <c:pt idx="1298">
                  <c:v>1.31</c:v>
                </c:pt>
                <c:pt idx="1299">
                  <c:v>1.29</c:v>
                </c:pt>
                <c:pt idx="1300">
                  <c:v>1.3</c:v>
                </c:pt>
                <c:pt idx="1301">
                  <c:v>1.31</c:v>
                </c:pt>
                <c:pt idx="1302">
                  <c:v>1.29</c:v>
                </c:pt>
                <c:pt idx="1303">
                  <c:v>1.33</c:v>
                </c:pt>
                <c:pt idx="1305">
                  <c:v>1.38</c:v>
                </c:pt>
                <c:pt idx="1306">
                  <c:v>1.35</c:v>
                </c:pt>
                <c:pt idx="1307">
                  <c:v>1.3</c:v>
                </c:pt>
                <c:pt idx="1308">
                  <c:v>1.35</c:v>
                </c:pt>
                <c:pt idx="1309">
                  <c:v>1.33</c:v>
                </c:pt>
                <c:pt idx="1310">
                  <c:v>1.28</c:v>
                </c:pt>
                <c:pt idx="1311">
                  <c:v>1.31</c:v>
                </c:pt>
                <c:pt idx="1312">
                  <c:v>1.34</c:v>
                </c:pt>
                <c:pt idx="1313">
                  <c:v>1.37</c:v>
                </c:pt>
                <c:pt idx="1314">
                  <c:v>1.31</c:v>
                </c:pt>
                <c:pt idx="1315">
                  <c:v>1.33</c:v>
                </c:pt>
                <c:pt idx="1316">
                  <c:v>1.32</c:v>
                </c:pt>
                <c:pt idx="1317">
                  <c:v>1.41</c:v>
                </c:pt>
                <c:pt idx="1318">
                  <c:v>1.47</c:v>
                </c:pt>
                <c:pt idx="1319">
                  <c:v>1.48</c:v>
                </c:pt>
                <c:pt idx="1320">
                  <c:v>1.54</c:v>
                </c:pt>
                <c:pt idx="1321">
                  <c:v>1.55</c:v>
                </c:pt>
                <c:pt idx="1322">
                  <c:v>1.52</c:v>
                </c:pt>
                <c:pt idx="1323">
                  <c:v>1.48</c:v>
                </c:pt>
                <c:pt idx="1324">
                  <c:v>1.49</c:v>
                </c:pt>
                <c:pt idx="1325">
                  <c:v>1.54</c:v>
                </c:pt>
                <c:pt idx="1326">
                  <c:v>1.53</c:v>
                </c:pt>
                <c:pt idx="1327">
                  <c:v>1.58</c:v>
                </c:pt>
                <c:pt idx="1328">
                  <c:v>1.61</c:v>
                </c:pt>
                <c:pt idx="1330">
                  <c:v>1.59</c:v>
                </c:pt>
                <c:pt idx="1331">
                  <c:v>1.56</c:v>
                </c:pt>
                <c:pt idx="1332">
                  <c:v>1.52</c:v>
                </c:pt>
                <c:pt idx="1333">
                  <c:v>1.59</c:v>
                </c:pt>
                <c:pt idx="1334">
                  <c:v>1.59</c:v>
                </c:pt>
                <c:pt idx="1335">
                  <c:v>1.65</c:v>
                </c:pt>
                <c:pt idx="1336">
                  <c:v>1.65</c:v>
                </c:pt>
                <c:pt idx="1337">
                  <c:v>1.68</c:v>
                </c:pt>
                <c:pt idx="1338">
                  <c:v>1.66</c:v>
                </c:pt>
                <c:pt idx="1339">
                  <c:v>1.64</c:v>
                </c:pt>
                <c:pt idx="1340">
                  <c:v>1.63</c:v>
                </c:pt>
                <c:pt idx="1341">
                  <c:v>1.54</c:v>
                </c:pt>
                <c:pt idx="1342">
                  <c:v>1.57</c:v>
                </c:pt>
                <c:pt idx="1343">
                  <c:v>1.55</c:v>
                </c:pt>
                <c:pt idx="1344">
                  <c:v>1.58</c:v>
                </c:pt>
                <c:pt idx="1345">
                  <c:v>1.56</c:v>
                </c:pt>
                <c:pt idx="1346">
                  <c:v>1.6</c:v>
                </c:pt>
                <c:pt idx="1347">
                  <c:v>1.53</c:v>
                </c:pt>
                <c:pt idx="1348">
                  <c:v>1.45</c:v>
                </c:pt>
                <c:pt idx="1349">
                  <c:v>1.51</c:v>
                </c:pt>
                <c:pt idx="1350">
                  <c:v>1.46</c:v>
                </c:pt>
                <c:pt idx="1351">
                  <c:v>1.56</c:v>
                </c:pt>
                <c:pt idx="1353">
                  <c:v>1.58</c:v>
                </c:pt>
                <c:pt idx="1354">
                  <c:v>1.63</c:v>
                </c:pt>
                <c:pt idx="1355">
                  <c:v>1.63</c:v>
                </c:pt>
                <c:pt idx="1356">
                  <c:v>1.6</c:v>
                </c:pt>
                <c:pt idx="1357">
                  <c:v>1.59</c:v>
                </c:pt>
                <c:pt idx="1358">
                  <c:v>1.54</c:v>
                </c:pt>
                <c:pt idx="1359">
                  <c:v>1.63</c:v>
                </c:pt>
                <c:pt idx="1360">
                  <c:v>1.67</c:v>
                </c:pt>
                <c:pt idx="1361">
                  <c:v>1.64</c:v>
                </c:pt>
                <c:pt idx="1363">
                  <c:v>1.48</c:v>
                </c:pt>
                <c:pt idx="1364">
                  <c:v>1.52</c:v>
                </c:pt>
                <c:pt idx="1365">
                  <c:v>1.43</c:v>
                </c:pt>
                <c:pt idx="1366">
                  <c:v>1.43</c:v>
                </c:pt>
                <c:pt idx="1367">
                  <c:v>1.44</c:v>
                </c:pt>
                <c:pt idx="1368">
                  <c:v>1.35</c:v>
                </c:pt>
                <c:pt idx="1369">
                  <c:v>1.43</c:v>
                </c:pt>
                <c:pt idx="1370">
                  <c:v>1.48</c:v>
                </c:pt>
                <c:pt idx="1371">
                  <c:v>1.52</c:v>
                </c:pt>
                <c:pt idx="1372">
                  <c:v>1.49</c:v>
                </c:pt>
                <c:pt idx="1373">
                  <c:v>1.48</c:v>
                </c:pt>
                <c:pt idx="1374">
                  <c:v>1.42</c:v>
                </c:pt>
                <c:pt idx="1375">
                  <c:v>1.44</c:v>
                </c:pt>
                <c:pt idx="1376">
                  <c:v>1.47</c:v>
                </c:pt>
                <c:pt idx="1377">
                  <c:v>1.44</c:v>
                </c:pt>
                <c:pt idx="1378">
                  <c:v>1.41</c:v>
                </c:pt>
                <c:pt idx="1379">
                  <c:v>1.43</c:v>
                </c:pt>
                <c:pt idx="1380">
                  <c:v>1.48</c:v>
                </c:pt>
                <c:pt idx="1381">
                  <c:v>1.46</c:v>
                </c:pt>
                <c:pt idx="1382">
                  <c:v>1.5</c:v>
                </c:pt>
                <c:pt idx="1384">
                  <c:v>1.48</c:v>
                </c:pt>
                <c:pt idx="1385">
                  <c:v>1.49</c:v>
                </c:pt>
                <c:pt idx="1386">
                  <c:v>1.55</c:v>
                </c:pt>
                <c:pt idx="1387">
                  <c:v>1.52</c:v>
                </c:pt>
                <c:pt idx="1388">
                  <c:v>1.52</c:v>
                </c:pt>
                <c:pt idx="1389">
                  <c:v>1.63</c:v>
                </c:pt>
                <c:pt idx="1390">
                  <c:v>1.66</c:v>
                </c:pt>
                <c:pt idx="1391">
                  <c:v>1.71</c:v>
                </c:pt>
                <c:pt idx="1392">
                  <c:v>1.73</c:v>
                </c:pt>
                <c:pt idx="1393">
                  <c:v>1.76</c:v>
                </c:pt>
                <c:pt idx="1394">
                  <c:v>1.78</c:v>
                </c:pt>
                <c:pt idx="1395">
                  <c:v>1.75</c:v>
                </c:pt>
                <c:pt idx="1396">
                  <c:v>1.74</c:v>
                </c:pt>
                <c:pt idx="1397">
                  <c:v>1.7</c:v>
                </c:pt>
                <c:pt idx="1398">
                  <c:v>1.78</c:v>
                </c:pt>
                <c:pt idx="1400">
                  <c:v>1.87</c:v>
                </c:pt>
                <c:pt idx="1401">
                  <c:v>1.83</c:v>
                </c:pt>
                <c:pt idx="1402">
                  <c:v>1.83</c:v>
                </c:pt>
                <c:pt idx="1403">
                  <c:v>1.75</c:v>
                </c:pt>
                <c:pt idx="1404">
                  <c:v>1.75</c:v>
                </c:pt>
                <c:pt idx="1405">
                  <c:v>1.78</c:v>
                </c:pt>
                <c:pt idx="1406">
                  <c:v>1.85</c:v>
                </c:pt>
                <c:pt idx="1407">
                  <c:v>1.81</c:v>
                </c:pt>
                <c:pt idx="1408">
                  <c:v>1.78</c:v>
                </c:pt>
                <c:pt idx="1409">
                  <c:v>1.79</c:v>
                </c:pt>
                <c:pt idx="1410">
                  <c:v>1.81</c:v>
                </c:pt>
                <c:pt idx="1411">
                  <c:v>1.78</c:v>
                </c:pt>
                <c:pt idx="1412">
                  <c:v>1.82</c:v>
                </c:pt>
                <c:pt idx="1413">
                  <c:v>1.93</c:v>
                </c:pt>
                <c:pt idx="1414">
                  <c:v>1.92</c:v>
                </c:pt>
                <c:pt idx="1415">
                  <c:v>1.96</c:v>
                </c:pt>
                <c:pt idx="1416">
                  <c:v>1.94</c:v>
                </c:pt>
                <c:pt idx="1417">
                  <c:v>2.0299999999999998</c:v>
                </c:pt>
                <c:pt idx="1418">
                  <c:v>1.92</c:v>
                </c:pt>
                <c:pt idx="1419">
                  <c:v>1.98</c:v>
                </c:pt>
                <c:pt idx="1420">
                  <c:v>2.0499999999999998</c:v>
                </c:pt>
                <c:pt idx="1421">
                  <c:v>2.0299999999999998</c:v>
                </c:pt>
                <c:pt idx="1422">
                  <c:v>1.97</c:v>
                </c:pt>
                <c:pt idx="1423">
                  <c:v>1.92</c:v>
                </c:pt>
                <c:pt idx="1425">
                  <c:v>1.94</c:v>
                </c:pt>
                <c:pt idx="1426">
                  <c:v>1.99</c:v>
                </c:pt>
                <c:pt idx="1427">
                  <c:v>1.96</c:v>
                </c:pt>
                <c:pt idx="1428">
                  <c:v>1.97</c:v>
                </c:pt>
                <c:pt idx="1429">
                  <c:v>1.83</c:v>
                </c:pt>
                <c:pt idx="1430">
                  <c:v>1.72</c:v>
                </c:pt>
                <c:pt idx="1431">
                  <c:v>1.86</c:v>
                </c:pt>
                <c:pt idx="1432">
                  <c:v>1.86</c:v>
                </c:pt>
                <c:pt idx="1433">
                  <c:v>1.74</c:v>
                </c:pt>
                <c:pt idx="1434">
                  <c:v>1.78</c:v>
                </c:pt>
                <c:pt idx="1435">
                  <c:v>1.86</c:v>
                </c:pt>
                <c:pt idx="1436">
                  <c:v>1.94</c:v>
                </c:pt>
                <c:pt idx="1437">
                  <c:v>1.98</c:v>
                </c:pt>
                <c:pt idx="1438">
                  <c:v>2</c:v>
                </c:pt>
                <c:pt idx="1439">
                  <c:v>2.14</c:v>
                </c:pt>
                <c:pt idx="1440">
                  <c:v>2.15</c:v>
                </c:pt>
                <c:pt idx="1441">
                  <c:v>2.19</c:v>
                </c:pt>
                <c:pt idx="1442">
                  <c:v>2.2000000000000002</c:v>
                </c:pt>
                <c:pt idx="1443">
                  <c:v>2.14</c:v>
                </c:pt>
                <c:pt idx="1444">
                  <c:v>2.3199999999999998</c:v>
                </c:pt>
                <c:pt idx="1445">
                  <c:v>2.38</c:v>
                </c:pt>
                <c:pt idx="1446">
                  <c:v>2.3199999999999998</c:v>
                </c:pt>
                <c:pt idx="1447">
                  <c:v>2.34</c:v>
                </c:pt>
                <c:pt idx="1448">
                  <c:v>2.48</c:v>
                </c:pt>
                <c:pt idx="1449">
                  <c:v>2.46</c:v>
                </c:pt>
                <c:pt idx="1450">
                  <c:v>2.41</c:v>
                </c:pt>
                <c:pt idx="1451">
                  <c:v>2.35</c:v>
                </c:pt>
                <c:pt idx="1452">
                  <c:v>2.3199999999999998</c:v>
                </c:pt>
                <c:pt idx="1453">
                  <c:v>2.39</c:v>
                </c:pt>
                <c:pt idx="1454">
                  <c:v>2.42</c:v>
                </c:pt>
                <c:pt idx="1455">
                  <c:v>2.54</c:v>
                </c:pt>
                <c:pt idx="1456">
                  <c:v>2.61</c:v>
                </c:pt>
                <c:pt idx="1457">
                  <c:v>2.66</c:v>
                </c:pt>
                <c:pt idx="1458">
                  <c:v>2.72</c:v>
                </c:pt>
                <c:pt idx="1459">
                  <c:v>2.79</c:v>
                </c:pt>
                <c:pt idx="1460">
                  <c:v>2.72</c:v>
                </c:pt>
                <c:pt idx="1461">
                  <c:v>2.7</c:v>
                </c:pt>
                <c:pt idx="1462">
                  <c:v>2.83</c:v>
                </c:pt>
                <c:pt idx="1464">
                  <c:v>2.85</c:v>
                </c:pt>
                <c:pt idx="1465">
                  <c:v>2.93</c:v>
                </c:pt>
                <c:pt idx="1466">
                  <c:v>2.85</c:v>
                </c:pt>
                <c:pt idx="1467">
                  <c:v>2.9</c:v>
                </c:pt>
                <c:pt idx="1468">
                  <c:v>2.9</c:v>
                </c:pt>
                <c:pt idx="1469">
                  <c:v>2.81</c:v>
                </c:pt>
                <c:pt idx="1470">
                  <c:v>2.77</c:v>
                </c:pt>
                <c:pt idx="1471">
                  <c:v>2.82</c:v>
                </c:pt>
                <c:pt idx="1472">
                  <c:v>2.85</c:v>
                </c:pt>
                <c:pt idx="1473">
                  <c:v>2.89</c:v>
                </c:pt>
                <c:pt idx="1474">
                  <c:v>2.99</c:v>
                </c:pt>
                <c:pt idx="1475">
                  <c:v>2.97</c:v>
                </c:pt>
                <c:pt idx="1476">
                  <c:v>2.93</c:v>
                </c:pt>
                <c:pt idx="1477">
                  <c:v>3.05</c:v>
                </c:pt>
                <c:pt idx="1478">
                  <c:v>3.12</c:v>
                </c:pt>
                <c:pt idx="1479">
                  <c:v>3.05</c:v>
                </c:pt>
                <c:pt idx="1480">
                  <c:v>2.99</c:v>
                </c:pt>
                <c:pt idx="1481">
                  <c:v>2.91</c:v>
                </c:pt>
                <c:pt idx="1482">
                  <c:v>2.84</c:v>
                </c:pt>
                <c:pt idx="1483">
                  <c:v>2.93</c:v>
                </c:pt>
                <c:pt idx="1484">
                  <c:v>2.88</c:v>
                </c:pt>
                <c:pt idx="1485">
                  <c:v>2.98</c:v>
                </c:pt>
                <c:pt idx="1486">
                  <c:v>2.89</c:v>
                </c:pt>
                <c:pt idx="1487">
                  <c:v>2.84</c:v>
                </c:pt>
                <c:pt idx="1488">
                  <c:v>2.78</c:v>
                </c:pt>
                <c:pt idx="1489">
                  <c:v>2.86</c:v>
                </c:pt>
                <c:pt idx="1490">
                  <c:v>2.76</c:v>
                </c:pt>
                <c:pt idx="1491">
                  <c:v>2.75</c:v>
                </c:pt>
                <c:pt idx="1492">
                  <c:v>2.75</c:v>
                </c:pt>
                <c:pt idx="1493">
                  <c:v>2.74</c:v>
                </c:pt>
                <c:pt idx="1495">
                  <c:v>2.85</c:v>
                </c:pt>
                <c:pt idx="1496">
                  <c:v>2.94</c:v>
                </c:pt>
                <c:pt idx="1497">
                  <c:v>2.92</c:v>
                </c:pt>
                <c:pt idx="1498">
                  <c:v>2.96</c:v>
                </c:pt>
                <c:pt idx="1499">
                  <c:v>3.04</c:v>
                </c:pt>
                <c:pt idx="1500">
                  <c:v>2.98</c:v>
                </c:pt>
                <c:pt idx="1501">
                  <c:v>3.03</c:v>
                </c:pt>
                <c:pt idx="1502">
                  <c:v>3.04</c:v>
                </c:pt>
                <c:pt idx="1503">
                  <c:v>3.15</c:v>
                </c:pt>
                <c:pt idx="1504">
                  <c:v>3.43</c:v>
                </c:pt>
                <c:pt idx="1505">
                  <c:v>3.49</c:v>
                </c:pt>
                <c:pt idx="1506">
                  <c:v>3.33</c:v>
                </c:pt>
                <c:pt idx="1507">
                  <c:v>3.28</c:v>
                </c:pt>
                <c:pt idx="1508">
                  <c:v>3.25</c:v>
                </c:pt>
                <c:pt idx="1510">
                  <c:v>3.31</c:v>
                </c:pt>
                <c:pt idx="1511">
                  <c:v>3.16</c:v>
                </c:pt>
                <c:pt idx="1512">
                  <c:v>3.09</c:v>
                </c:pt>
                <c:pt idx="1513">
                  <c:v>3.13</c:v>
                </c:pt>
                <c:pt idx="1514">
                  <c:v>3.2</c:v>
                </c:pt>
                <c:pt idx="1515">
                  <c:v>3.2</c:v>
                </c:pt>
                <c:pt idx="1516">
                  <c:v>3.1</c:v>
                </c:pt>
                <c:pt idx="1517">
                  <c:v>2.98</c:v>
                </c:pt>
                <c:pt idx="1518">
                  <c:v>2.88</c:v>
                </c:pt>
                <c:pt idx="1520">
                  <c:v>2.82</c:v>
                </c:pt>
                <c:pt idx="1521">
                  <c:v>2.93</c:v>
                </c:pt>
                <c:pt idx="1522">
                  <c:v>3.01</c:v>
                </c:pt>
                <c:pt idx="1523">
                  <c:v>3.09</c:v>
                </c:pt>
                <c:pt idx="1524">
                  <c:v>2.99</c:v>
                </c:pt>
                <c:pt idx="1525">
                  <c:v>2.96</c:v>
                </c:pt>
                <c:pt idx="1526">
                  <c:v>2.91</c:v>
                </c:pt>
                <c:pt idx="1527">
                  <c:v>2.96</c:v>
                </c:pt>
                <c:pt idx="1528">
                  <c:v>2.93</c:v>
                </c:pt>
                <c:pt idx="1529">
                  <c:v>2.96</c:v>
                </c:pt>
                <c:pt idx="1530">
                  <c:v>3.01</c:v>
                </c:pt>
                <c:pt idx="1531">
                  <c:v>3.04</c:v>
                </c:pt>
                <c:pt idx="1532">
                  <c:v>2.91</c:v>
                </c:pt>
                <c:pt idx="1533">
                  <c:v>2.77</c:v>
                </c:pt>
                <c:pt idx="1534">
                  <c:v>2.81</c:v>
                </c:pt>
                <c:pt idx="1535">
                  <c:v>2.81</c:v>
                </c:pt>
                <c:pt idx="1536">
                  <c:v>2.78</c:v>
                </c:pt>
                <c:pt idx="1537">
                  <c:v>2.68</c:v>
                </c:pt>
                <c:pt idx="1538">
                  <c:v>2.67</c:v>
                </c:pt>
                <c:pt idx="1539">
                  <c:v>2.6</c:v>
                </c:pt>
                <c:pt idx="1540">
                  <c:v>2.75</c:v>
                </c:pt>
                <c:pt idx="1541">
                  <c:v>2.73</c:v>
                </c:pt>
                <c:pt idx="1542">
                  <c:v>2.68</c:v>
                </c:pt>
                <c:pt idx="1543">
                  <c:v>2.83</c:v>
                </c:pt>
                <c:pt idx="1544">
                  <c:v>2.77</c:v>
                </c:pt>
                <c:pt idx="1545">
                  <c:v>2.8</c:v>
                </c:pt>
                <c:pt idx="1546">
                  <c:v>2.78</c:v>
                </c:pt>
                <c:pt idx="1547">
                  <c:v>2.87</c:v>
                </c:pt>
                <c:pt idx="1548">
                  <c:v>2.84</c:v>
                </c:pt>
                <c:pt idx="1549">
                  <c:v>2.79</c:v>
                </c:pt>
                <c:pt idx="1550">
                  <c:v>2.82</c:v>
                </c:pt>
                <c:pt idx="1551">
                  <c:v>2.89</c:v>
                </c:pt>
                <c:pt idx="1552">
                  <c:v>2.88</c:v>
                </c:pt>
                <c:pt idx="1553">
                  <c:v>2.98</c:v>
                </c:pt>
                <c:pt idx="1554">
                  <c:v>3.03</c:v>
                </c:pt>
                <c:pt idx="1555">
                  <c:v>3.05</c:v>
                </c:pt>
                <c:pt idx="1556">
                  <c:v>3.11</c:v>
                </c:pt>
                <c:pt idx="1557">
                  <c:v>3.03</c:v>
                </c:pt>
                <c:pt idx="1558">
                  <c:v>3.04</c:v>
                </c:pt>
                <c:pt idx="1559">
                  <c:v>3.12</c:v>
                </c:pt>
                <c:pt idx="1560">
                  <c:v>3.11</c:v>
                </c:pt>
                <c:pt idx="1561">
                  <c:v>3.15</c:v>
                </c:pt>
                <c:pt idx="1562">
                  <c:v>3.26</c:v>
                </c:pt>
                <c:pt idx="1563">
                  <c:v>3.2</c:v>
                </c:pt>
                <c:pt idx="1565">
                  <c:v>3.33</c:v>
                </c:pt>
                <c:pt idx="1566">
                  <c:v>3.27</c:v>
                </c:pt>
                <c:pt idx="1567">
                  <c:v>3.29</c:v>
                </c:pt>
                <c:pt idx="1568">
                  <c:v>3.33</c:v>
                </c:pt>
                <c:pt idx="1569">
                  <c:v>3.37</c:v>
                </c:pt>
                <c:pt idx="1570">
                  <c:v>3.42</c:v>
                </c:pt>
                <c:pt idx="1571">
                  <c:v>3.41</c:v>
                </c:pt>
                <c:pt idx="1572">
                  <c:v>3.45</c:v>
                </c:pt>
                <c:pt idx="1573">
                  <c:v>3.45</c:v>
                </c:pt>
                <c:pt idx="1574">
                  <c:v>3.49</c:v>
                </c:pt>
                <c:pt idx="1575">
                  <c:v>3.57</c:v>
                </c:pt>
                <c:pt idx="1576">
                  <c:v>3.51</c:v>
                </c:pt>
                <c:pt idx="1577">
                  <c:v>3.7</c:v>
                </c:pt>
                <c:pt idx="1578">
                  <c:v>3.69</c:v>
                </c:pt>
                <c:pt idx="1579">
                  <c:v>3.88</c:v>
                </c:pt>
                <c:pt idx="1580">
                  <c:v>3.97</c:v>
                </c:pt>
                <c:pt idx="1581">
                  <c:v>3.72</c:v>
                </c:pt>
                <c:pt idx="1582">
                  <c:v>3.76</c:v>
                </c:pt>
                <c:pt idx="1583">
                  <c:v>3.83</c:v>
                </c:pt>
                <c:pt idx="1584">
                  <c:v>3.67</c:v>
                </c:pt>
                <c:pt idx="1585">
                  <c:v>3.62</c:v>
                </c:pt>
                <c:pt idx="1586">
                  <c:v>3.76</c:v>
                </c:pt>
                <c:pt idx="1587">
                  <c:v>3.83</c:v>
                </c:pt>
                <c:pt idx="1588">
                  <c:v>3.89</c:v>
                </c:pt>
                <c:pt idx="1590">
                  <c:v>3.93</c:v>
                </c:pt>
                <c:pt idx="1591">
                  <c:v>3.91</c:v>
                </c:pt>
                <c:pt idx="1592">
                  <c:v>3.97</c:v>
                </c:pt>
                <c:pt idx="1593">
                  <c:v>4</c:v>
                </c:pt>
                <c:pt idx="1594">
                  <c:v>4.0199999999999996</c:v>
                </c:pt>
                <c:pt idx="1595">
                  <c:v>4.01</c:v>
                </c:pt>
                <c:pt idx="1596">
                  <c:v>4.1399999999999997</c:v>
                </c:pt>
                <c:pt idx="1597">
                  <c:v>4.24</c:v>
                </c:pt>
                <c:pt idx="1598">
                  <c:v>4.21</c:v>
                </c:pt>
                <c:pt idx="1599">
                  <c:v>4.25</c:v>
                </c:pt>
                <c:pt idx="1600">
                  <c:v>4.0999999999999996</c:v>
                </c:pt>
                <c:pt idx="1601">
                  <c:v>4.04</c:v>
                </c:pt>
                <c:pt idx="1602">
                  <c:v>3.96</c:v>
                </c:pt>
                <c:pt idx="1603">
                  <c:v>4.0199999999999996</c:v>
                </c:pt>
                <c:pt idx="1604">
                  <c:v>4.0999999999999996</c:v>
                </c:pt>
                <c:pt idx="1605">
                  <c:v>4.07</c:v>
                </c:pt>
                <c:pt idx="1606">
                  <c:v>4.0999999999999996</c:v>
                </c:pt>
                <c:pt idx="1607">
                  <c:v>4.1399999999999997</c:v>
                </c:pt>
                <c:pt idx="1608">
                  <c:v>4.17</c:v>
                </c:pt>
                <c:pt idx="1609">
                  <c:v>4.22</c:v>
                </c:pt>
                <c:pt idx="1610">
                  <c:v>4.1399999999999997</c:v>
                </c:pt>
                <c:pt idx="1611">
                  <c:v>4.12</c:v>
                </c:pt>
                <c:pt idx="1612">
                  <c:v>3.82</c:v>
                </c:pt>
                <c:pt idx="1614">
                  <c:v>3.88</c:v>
                </c:pt>
                <c:pt idx="1615">
                  <c:v>3.8</c:v>
                </c:pt>
                <c:pt idx="1616">
                  <c:v>3.67</c:v>
                </c:pt>
                <c:pt idx="1617">
                  <c:v>3.77</c:v>
                </c:pt>
                <c:pt idx="1618">
                  <c:v>3.82</c:v>
                </c:pt>
                <c:pt idx="1619">
                  <c:v>3.83</c:v>
                </c:pt>
                <c:pt idx="1620">
                  <c:v>3.76</c:v>
                </c:pt>
                <c:pt idx="1621">
                  <c:v>3.71</c:v>
                </c:pt>
                <c:pt idx="1623">
                  <c:v>3.68</c:v>
                </c:pt>
                <c:pt idx="1624">
                  <c:v>3.69</c:v>
                </c:pt>
                <c:pt idx="1625">
                  <c:v>3.75</c:v>
                </c:pt>
                <c:pt idx="1626">
                  <c:v>3.68</c:v>
                </c:pt>
                <c:pt idx="1627">
                  <c:v>3.53</c:v>
                </c:pt>
                <c:pt idx="1628">
                  <c:v>3.51</c:v>
                </c:pt>
                <c:pt idx="1629">
                  <c:v>3.6</c:v>
                </c:pt>
                <c:pt idx="1630">
                  <c:v>3.51</c:v>
                </c:pt>
                <c:pt idx="1631">
                  <c:v>3.42</c:v>
                </c:pt>
                <c:pt idx="1632">
                  <c:v>3.48</c:v>
                </c:pt>
                <c:pt idx="1633">
                  <c:v>3.57</c:v>
                </c:pt>
                <c:pt idx="1634">
                  <c:v>3.61</c:v>
                </c:pt>
                <c:pt idx="1635">
                  <c:v>3.51</c:v>
                </c:pt>
                <c:pt idx="1636">
                  <c:v>3.49</c:v>
                </c:pt>
                <c:pt idx="1637">
                  <c:v>3.44</c:v>
                </c:pt>
                <c:pt idx="1638">
                  <c:v>3.48</c:v>
                </c:pt>
                <c:pt idx="1639">
                  <c:v>3.57</c:v>
                </c:pt>
                <c:pt idx="1640">
                  <c:v>3.69</c:v>
                </c:pt>
                <c:pt idx="1641">
                  <c:v>3.68</c:v>
                </c:pt>
                <c:pt idx="1642">
                  <c:v>3.67</c:v>
                </c:pt>
                <c:pt idx="1643">
                  <c:v>3.75</c:v>
                </c:pt>
                <c:pt idx="1645">
                  <c:v>3.84</c:v>
                </c:pt>
                <c:pt idx="1646">
                  <c:v>3.88</c:v>
                </c:pt>
                <c:pt idx="1647">
                  <c:v>3.83</c:v>
                </c:pt>
                <c:pt idx="1648">
                  <c:v>3.88</c:v>
                </c:pt>
                <c:pt idx="1650">
                  <c:v>3.79</c:v>
                </c:pt>
                <c:pt idx="1651">
                  <c:v>3.69</c:v>
                </c:pt>
                <c:pt idx="1652">
                  <c:v>3.71</c:v>
                </c:pt>
                <c:pt idx="1653">
                  <c:v>3.55</c:v>
                </c:pt>
                <c:pt idx="1654">
                  <c:v>3.53</c:v>
                </c:pt>
                <c:pt idx="1655">
                  <c:v>3.61</c:v>
                </c:pt>
                <c:pt idx="1656">
                  <c:v>3.54</c:v>
                </c:pt>
                <c:pt idx="1657">
                  <c:v>3.43</c:v>
                </c:pt>
                <c:pt idx="1658">
                  <c:v>3.49</c:v>
                </c:pt>
                <c:pt idx="1660">
                  <c:v>3.53</c:v>
                </c:pt>
                <c:pt idx="1661">
                  <c:v>3.37</c:v>
                </c:pt>
                <c:pt idx="1662">
                  <c:v>3.39</c:v>
                </c:pt>
                <c:pt idx="1663">
                  <c:v>3.48</c:v>
                </c:pt>
                <c:pt idx="1664">
                  <c:v>3.52</c:v>
                </c:pt>
                <c:pt idx="1665">
                  <c:v>3.46</c:v>
                </c:pt>
                <c:pt idx="1666">
                  <c:v>3.46</c:v>
                </c:pt>
                <c:pt idx="1667">
                  <c:v>3.49</c:v>
                </c:pt>
                <c:pt idx="1668">
                  <c:v>3.52</c:v>
                </c:pt>
                <c:pt idx="1669">
                  <c:v>3.55</c:v>
                </c:pt>
                <c:pt idx="1670">
                  <c:v>3.52</c:v>
                </c:pt>
                <c:pt idx="1671">
                  <c:v>3.39</c:v>
                </c:pt>
                <c:pt idx="1672">
                  <c:v>3.4</c:v>
                </c:pt>
                <c:pt idx="1673">
                  <c:v>3.53</c:v>
                </c:pt>
                <c:pt idx="1674">
                  <c:v>3.63</c:v>
                </c:pt>
                <c:pt idx="1675">
                  <c:v>3.67</c:v>
                </c:pt>
                <c:pt idx="1676">
                  <c:v>3.63</c:v>
                </c:pt>
                <c:pt idx="1677">
                  <c:v>3.67</c:v>
                </c:pt>
                <c:pt idx="1678">
                  <c:v>3.74</c:v>
                </c:pt>
                <c:pt idx="1679">
                  <c:v>3.72</c:v>
                </c:pt>
                <c:pt idx="1680">
                  <c:v>3.77</c:v>
                </c:pt>
                <c:pt idx="1681">
                  <c:v>3.81</c:v>
                </c:pt>
                <c:pt idx="1682">
                  <c:v>3.86</c:v>
                </c:pt>
                <c:pt idx="1683">
                  <c:v>3.82</c:v>
                </c:pt>
                <c:pt idx="1685">
                  <c:v>3.95</c:v>
                </c:pt>
                <c:pt idx="1686">
                  <c:v>3.93</c:v>
                </c:pt>
                <c:pt idx="1687">
                  <c:v>3.88</c:v>
                </c:pt>
                <c:pt idx="1688">
                  <c:v>3.95</c:v>
                </c:pt>
                <c:pt idx="1689">
                  <c:v>3.92</c:v>
                </c:pt>
                <c:pt idx="1690">
                  <c:v>3.92</c:v>
                </c:pt>
                <c:pt idx="1691">
                  <c:v>4.01</c:v>
                </c:pt>
                <c:pt idx="1692">
                  <c:v>4.08</c:v>
                </c:pt>
                <c:pt idx="1693">
                  <c:v>3.97</c:v>
                </c:pt>
                <c:pt idx="1694">
                  <c:v>3.98</c:v>
                </c:pt>
                <c:pt idx="1695">
                  <c:v>3.97</c:v>
                </c:pt>
                <c:pt idx="1696">
                  <c:v>3.98</c:v>
                </c:pt>
                <c:pt idx="1697">
                  <c:v>3.93</c:v>
                </c:pt>
                <c:pt idx="1698">
                  <c:v>3.7</c:v>
                </c:pt>
                <c:pt idx="1699">
                  <c:v>3.55</c:v>
                </c:pt>
                <c:pt idx="1700">
                  <c:v>3.64</c:v>
                </c:pt>
                <c:pt idx="1701">
                  <c:v>3.51</c:v>
                </c:pt>
                <c:pt idx="1702">
                  <c:v>3.56</c:v>
                </c:pt>
                <c:pt idx="1703">
                  <c:v>3.39</c:v>
                </c:pt>
                <c:pt idx="1704">
                  <c:v>3.47</c:v>
                </c:pt>
                <c:pt idx="1705">
                  <c:v>3.59</c:v>
                </c:pt>
                <c:pt idx="1706">
                  <c:v>3.48</c:v>
                </c:pt>
                <c:pt idx="1707">
                  <c:v>3.38</c:v>
                </c:pt>
                <c:pt idx="1708">
                  <c:v>3.38</c:v>
                </c:pt>
                <c:pt idx="1709">
                  <c:v>3.53</c:v>
                </c:pt>
                <c:pt idx="1710">
                  <c:v>3.55</c:v>
                </c:pt>
                <c:pt idx="1711">
                  <c:v>3.57</c:v>
                </c:pt>
                <c:pt idx="1712">
                  <c:v>3.55</c:v>
                </c:pt>
                <c:pt idx="1713">
                  <c:v>3.48</c:v>
                </c:pt>
                <c:pt idx="1714">
                  <c:v>3.43</c:v>
                </c:pt>
                <c:pt idx="1715">
                  <c:v>3.35</c:v>
                </c:pt>
                <c:pt idx="1716">
                  <c:v>3.3</c:v>
                </c:pt>
                <c:pt idx="1717">
                  <c:v>3.3</c:v>
                </c:pt>
                <c:pt idx="1718">
                  <c:v>3.39</c:v>
                </c:pt>
                <c:pt idx="1719">
                  <c:v>3.41</c:v>
                </c:pt>
                <c:pt idx="1720">
                  <c:v>3.43</c:v>
                </c:pt>
                <c:pt idx="1721">
                  <c:v>3.41</c:v>
                </c:pt>
                <c:pt idx="1722">
                  <c:v>3.45</c:v>
                </c:pt>
                <c:pt idx="1723">
                  <c:v>3.52</c:v>
                </c:pt>
                <c:pt idx="1724">
                  <c:v>3.6</c:v>
                </c:pt>
                <c:pt idx="1725">
                  <c:v>3.58</c:v>
                </c:pt>
                <c:pt idx="1726">
                  <c:v>3.6</c:v>
                </c:pt>
                <c:pt idx="1727">
                  <c:v>3.54</c:v>
                </c:pt>
                <c:pt idx="1728">
                  <c:v>3.57</c:v>
                </c:pt>
                <c:pt idx="1729">
                  <c:v>3.52</c:v>
                </c:pt>
                <c:pt idx="1730">
                  <c:v>3.4</c:v>
                </c:pt>
                <c:pt idx="1731">
                  <c:v>3.43</c:v>
                </c:pt>
                <c:pt idx="1732">
                  <c:v>3.53</c:v>
                </c:pt>
                <c:pt idx="1733">
                  <c:v>3.44</c:v>
                </c:pt>
                <c:pt idx="1734">
                  <c:v>3.59</c:v>
                </c:pt>
                <c:pt idx="1735">
                  <c:v>3.44</c:v>
                </c:pt>
                <c:pt idx="1736">
                  <c:v>3.38</c:v>
                </c:pt>
                <c:pt idx="1737">
                  <c:v>3.37</c:v>
                </c:pt>
                <c:pt idx="1738">
                  <c:v>3.44</c:v>
                </c:pt>
                <c:pt idx="1739">
                  <c:v>3.52</c:v>
                </c:pt>
                <c:pt idx="1740">
                  <c:v>3.53</c:v>
                </c:pt>
                <c:pt idx="1741">
                  <c:v>3.43</c:v>
                </c:pt>
                <c:pt idx="1742">
                  <c:v>3.39</c:v>
                </c:pt>
                <c:pt idx="1743">
                  <c:v>3.46</c:v>
                </c:pt>
                <c:pt idx="1744">
                  <c:v>3.5</c:v>
                </c:pt>
                <c:pt idx="1745">
                  <c:v>3.54</c:v>
                </c:pt>
                <c:pt idx="1746">
                  <c:v>3.57</c:v>
                </c:pt>
                <c:pt idx="1747">
                  <c:v>3.65</c:v>
                </c:pt>
                <c:pt idx="1748">
                  <c:v>3.7</c:v>
                </c:pt>
                <c:pt idx="1749">
                  <c:v>3.72</c:v>
                </c:pt>
                <c:pt idx="1750">
                  <c:v>3.7</c:v>
                </c:pt>
                <c:pt idx="1751">
                  <c:v>3.73</c:v>
                </c:pt>
                <c:pt idx="1752">
                  <c:v>3.83</c:v>
                </c:pt>
                <c:pt idx="1753">
                  <c:v>3.8</c:v>
                </c:pt>
                <c:pt idx="1755">
                  <c:v>3.69</c:v>
                </c:pt>
                <c:pt idx="1756">
                  <c:v>3.64</c:v>
                </c:pt>
                <c:pt idx="1757">
                  <c:v>3.61</c:v>
                </c:pt>
                <c:pt idx="1758">
                  <c:v>3.69</c:v>
                </c:pt>
                <c:pt idx="1759">
                  <c:v>3.69</c:v>
                </c:pt>
                <c:pt idx="1760">
                  <c:v>3.7</c:v>
                </c:pt>
                <c:pt idx="1761">
                  <c:v>3.79</c:v>
                </c:pt>
                <c:pt idx="1762">
                  <c:v>3.73</c:v>
                </c:pt>
                <c:pt idx="1763">
                  <c:v>3.75</c:v>
                </c:pt>
                <c:pt idx="1764">
                  <c:v>3.73</c:v>
                </c:pt>
                <c:pt idx="1765">
                  <c:v>3.84</c:v>
                </c:pt>
                <c:pt idx="1766">
                  <c:v>3.83</c:v>
                </c:pt>
                <c:pt idx="1767">
                  <c:v>3.72</c:v>
                </c:pt>
                <c:pt idx="1768">
                  <c:v>3.77</c:v>
                </c:pt>
                <c:pt idx="1770">
                  <c:v>3.74</c:v>
                </c:pt>
                <c:pt idx="1771">
                  <c:v>3.72</c:v>
                </c:pt>
                <c:pt idx="1772">
                  <c:v>3.8</c:v>
                </c:pt>
                <c:pt idx="1773">
                  <c:v>3.74</c:v>
                </c:pt>
                <c:pt idx="1774">
                  <c:v>3.72</c:v>
                </c:pt>
                <c:pt idx="1775">
                  <c:v>3.77</c:v>
                </c:pt>
                <c:pt idx="1776">
                  <c:v>3.71</c:v>
                </c:pt>
                <c:pt idx="1777">
                  <c:v>3.85</c:v>
                </c:pt>
                <c:pt idx="1778">
                  <c:v>3.81</c:v>
                </c:pt>
                <c:pt idx="1779">
                  <c:v>3.86</c:v>
                </c:pt>
                <c:pt idx="1781">
                  <c:v>3.95</c:v>
                </c:pt>
                <c:pt idx="1782">
                  <c:v>4.05</c:v>
                </c:pt>
                <c:pt idx="1783">
                  <c:v>4.0599999999999996</c:v>
                </c:pt>
                <c:pt idx="1784">
                  <c:v>4.01</c:v>
                </c:pt>
                <c:pt idx="1785">
                  <c:v>3.99</c:v>
                </c:pt>
                <c:pt idx="1786">
                  <c:v>3.86</c:v>
                </c:pt>
                <c:pt idx="1787">
                  <c:v>3.76</c:v>
                </c:pt>
                <c:pt idx="1788">
                  <c:v>3.83</c:v>
                </c:pt>
                <c:pt idx="1789">
                  <c:v>3.81</c:v>
                </c:pt>
                <c:pt idx="1790">
                  <c:v>3.8</c:v>
                </c:pt>
                <c:pt idx="1791">
                  <c:v>3.75</c:v>
                </c:pt>
                <c:pt idx="1792">
                  <c:v>3.85</c:v>
                </c:pt>
                <c:pt idx="1793">
                  <c:v>3.84</c:v>
                </c:pt>
                <c:pt idx="1794">
                  <c:v>3.86</c:v>
                </c:pt>
                <c:pt idx="1795">
                  <c:v>3.91</c:v>
                </c:pt>
                <c:pt idx="1796">
                  <c:v>3.86</c:v>
                </c:pt>
                <c:pt idx="1797">
                  <c:v>4.01</c:v>
                </c:pt>
                <c:pt idx="1798">
                  <c:v>3.96</c:v>
                </c:pt>
                <c:pt idx="1799">
                  <c:v>3.97</c:v>
                </c:pt>
                <c:pt idx="1800">
                  <c:v>4.05</c:v>
                </c:pt>
                <c:pt idx="1801">
                  <c:v>4.08</c:v>
                </c:pt>
                <c:pt idx="1802">
                  <c:v>4.2</c:v>
                </c:pt>
                <c:pt idx="1803">
                  <c:v>4.05</c:v>
                </c:pt>
                <c:pt idx="1804">
                  <c:v>4.09</c:v>
                </c:pt>
                <c:pt idx="1805">
                  <c:v>4.0199999999999996</c:v>
                </c:pt>
                <c:pt idx="1806">
                  <c:v>4</c:v>
                </c:pt>
                <c:pt idx="1807">
                  <c:v>4.09</c:v>
                </c:pt>
                <c:pt idx="1808">
                  <c:v>4.16</c:v>
                </c:pt>
                <c:pt idx="1809">
                  <c:v>4.1900000000000004</c:v>
                </c:pt>
                <c:pt idx="1810">
                  <c:v>4.21</c:v>
                </c:pt>
                <c:pt idx="1811">
                  <c:v>4.28</c:v>
                </c:pt>
                <c:pt idx="1812">
                  <c:v>4.3</c:v>
                </c:pt>
                <c:pt idx="1813">
                  <c:v>4.26</c:v>
                </c:pt>
                <c:pt idx="1814">
                  <c:v>4.34</c:v>
                </c:pt>
                <c:pt idx="1815">
                  <c:v>4.34</c:v>
                </c:pt>
                <c:pt idx="1816">
                  <c:v>4.1900000000000004</c:v>
                </c:pt>
                <c:pt idx="1817">
                  <c:v>4.2300000000000004</c:v>
                </c:pt>
                <c:pt idx="1818">
                  <c:v>4.25</c:v>
                </c:pt>
                <c:pt idx="1819">
                  <c:v>4.2</c:v>
                </c:pt>
                <c:pt idx="1820">
                  <c:v>4.12</c:v>
                </c:pt>
                <c:pt idx="1821">
                  <c:v>4.12</c:v>
                </c:pt>
                <c:pt idx="1822">
                  <c:v>4.09</c:v>
                </c:pt>
                <c:pt idx="1823">
                  <c:v>4.18</c:v>
                </c:pt>
                <c:pt idx="1825">
                  <c:v>4.2699999999999996</c:v>
                </c:pt>
                <c:pt idx="1826">
                  <c:v>4.3</c:v>
                </c:pt>
                <c:pt idx="1827">
                  <c:v>4.2699999999999996</c:v>
                </c:pt>
                <c:pt idx="1828">
                  <c:v>4.26</c:v>
                </c:pt>
                <c:pt idx="1829">
                  <c:v>4.29</c:v>
                </c:pt>
                <c:pt idx="1830">
                  <c:v>4.2699999999999996</c:v>
                </c:pt>
                <c:pt idx="1831">
                  <c:v>4.25</c:v>
                </c:pt>
                <c:pt idx="1832">
                  <c:v>4.29</c:v>
                </c:pt>
                <c:pt idx="1833">
                  <c:v>4.33</c:v>
                </c:pt>
                <c:pt idx="1834">
                  <c:v>4.32</c:v>
                </c:pt>
                <c:pt idx="1835">
                  <c:v>4.37</c:v>
                </c:pt>
                <c:pt idx="1836">
                  <c:v>4.3499999999999996</c:v>
                </c:pt>
                <c:pt idx="1837">
                  <c:v>4.49</c:v>
                </c:pt>
                <c:pt idx="1838">
                  <c:v>4.4400000000000004</c:v>
                </c:pt>
                <c:pt idx="1839">
                  <c:v>4.55</c:v>
                </c:pt>
                <c:pt idx="1840">
                  <c:v>4.5599999999999996</c:v>
                </c:pt>
                <c:pt idx="1841">
                  <c:v>4.6100000000000003</c:v>
                </c:pt>
                <c:pt idx="1842">
                  <c:v>4.59</c:v>
                </c:pt>
                <c:pt idx="1843">
                  <c:v>4.59</c:v>
                </c:pt>
                <c:pt idx="1844">
                  <c:v>4.6900000000000004</c:v>
                </c:pt>
                <c:pt idx="1845">
                  <c:v>4.8099999999999996</c:v>
                </c:pt>
                <c:pt idx="1846">
                  <c:v>4.7300000000000004</c:v>
                </c:pt>
                <c:pt idx="1847">
                  <c:v>4.72</c:v>
                </c:pt>
                <c:pt idx="1848">
                  <c:v>4.78</c:v>
                </c:pt>
                <c:pt idx="1850">
                  <c:v>4.66</c:v>
                </c:pt>
                <c:pt idx="1851">
                  <c:v>4.58</c:v>
                </c:pt>
                <c:pt idx="1852">
                  <c:v>4.7</c:v>
                </c:pt>
                <c:pt idx="1853">
                  <c:v>4.63</c:v>
                </c:pt>
                <c:pt idx="1854">
                  <c:v>4.71</c:v>
                </c:pt>
                <c:pt idx="1855">
                  <c:v>4.83</c:v>
                </c:pt>
                <c:pt idx="1856">
                  <c:v>4.91</c:v>
                </c:pt>
                <c:pt idx="1857">
                  <c:v>4.9800000000000004</c:v>
                </c:pt>
                <c:pt idx="1858">
                  <c:v>4.93</c:v>
                </c:pt>
                <c:pt idx="1859">
                  <c:v>4.8600000000000003</c:v>
                </c:pt>
                <c:pt idx="1860">
                  <c:v>4.83</c:v>
                </c:pt>
                <c:pt idx="1861">
                  <c:v>4.95</c:v>
                </c:pt>
                <c:pt idx="1862">
                  <c:v>4.8600000000000003</c:v>
                </c:pt>
                <c:pt idx="1863">
                  <c:v>4.84</c:v>
                </c:pt>
                <c:pt idx="1864">
                  <c:v>4.88</c:v>
                </c:pt>
                <c:pt idx="1865">
                  <c:v>4.88</c:v>
                </c:pt>
                <c:pt idx="1866">
                  <c:v>4.7699999999999996</c:v>
                </c:pt>
                <c:pt idx="1867">
                  <c:v>4.67</c:v>
                </c:pt>
                <c:pt idx="1868">
                  <c:v>4.57</c:v>
                </c:pt>
                <c:pt idx="1869">
                  <c:v>4.67</c:v>
                </c:pt>
                <c:pt idx="1870">
                  <c:v>4.58</c:v>
                </c:pt>
                <c:pt idx="1871">
                  <c:v>4.49</c:v>
                </c:pt>
                <c:pt idx="1872">
                  <c:v>4.62</c:v>
                </c:pt>
                <c:pt idx="1873">
                  <c:v>4.6100000000000003</c:v>
                </c:pt>
                <c:pt idx="1874">
                  <c:v>4.63</c:v>
                </c:pt>
                <c:pt idx="1875">
                  <c:v>4.4400000000000004</c:v>
                </c:pt>
                <c:pt idx="1876">
                  <c:v>4.53</c:v>
                </c:pt>
                <c:pt idx="1877">
                  <c:v>4.45</c:v>
                </c:pt>
                <c:pt idx="1878">
                  <c:v>4.4400000000000004</c:v>
                </c:pt>
                <c:pt idx="1879">
                  <c:v>4.42</c:v>
                </c:pt>
                <c:pt idx="1880">
                  <c:v>4.41</c:v>
                </c:pt>
                <c:pt idx="1881">
                  <c:v>4.42</c:v>
                </c:pt>
                <c:pt idx="1883">
                  <c:v>4.47</c:v>
                </c:pt>
                <c:pt idx="1884">
                  <c:v>4.3899999999999997</c:v>
                </c:pt>
                <c:pt idx="1885">
                  <c:v>4.34</c:v>
                </c:pt>
                <c:pt idx="1886">
                  <c:v>4.2699999999999996</c:v>
                </c:pt>
                <c:pt idx="1887">
                  <c:v>4.37</c:v>
                </c:pt>
                <c:pt idx="1888">
                  <c:v>4.22</c:v>
                </c:pt>
                <c:pt idx="1889">
                  <c:v>4.28</c:v>
                </c:pt>
                <c:pt idx="1890">
                  <c:v>4.18</c:v>
                </c:pt>
                <c:pt idx="1891">
                  <c:v>4.12</c:v>
                </c:pt>
                <c:pt idx="1892">
                  <c:v>4.1399999999999997</c:v>
                </c:pt>
                <c:pt idx="1893">
                  <c:v>4.2300000000000004</c:v>
                </c:pt>
                <c:pt idx="1894">
                  <c:v>4.2300000000000004</c:v>
                </c:pt>
                <c:pt idx="1895">
                  <c:v>4.2</c:v>
                </c:pt>
                <c:pt idx="1896">
                  <c:v>4.04</c:v>
                </c:pt>
                <c:pt idx="1897">
                  <c:v>3.92</c:v>
                </c:pt>
                <c:pt idx="1898">
                  <c:v>3.91</c:v>
                </c:pt>
                <c:pt idx="1899">
                  <c:v>3.95</c:v>
                </c:pt>
                <c:pt idx="1900">
                  <c:v>3.93</c:v>
                </c:pt>
                <c:pt idx="1901">
                  <c:v>3.86</c:v>
                </c:pt>
                <c:pt idx="1902">
                  <c:v>3.89</c:v>
                </c:pt>
                <c:pt idx="1903">
                  <c:v>3.9</c:v>
                </c:pt>
                <c:pt idx="1905">
                  <c:v>3.89</c:v>
                </c:pt>
                <c:pt idx="1906">
                  <c:v>3.79</c:v>
                </c:pt>
                <c:pt idx="1907">
                  <c:v>3.84</c:v>
                </c:pt>
                <c:pt idx="1908">
                  <c:v>3.88</c:v>
                </c:pt>
                <c:pt idx="1910">
                  <c:v>3.95</c:v>
                </c:pt>
                <c:pt idx="1911">
                  <c:v>3.91</c:v>
                </c:pt>
                <c:pt idx="1912">
                  <c:v>3.99</c:v>
                </c:pt>
                <c:pt idx="1913">
                  <c:v>4.05</c:v>
                </c:pt>
                <c:pt idx="1914">
                  <c:v>4.01</c:v>
                </c:pt>
                <c:pt idx="1915">
                  <c:v>4.0199999999999996</c:v>
                </c:pt>
                <c:pt idx="1916">
                  <c:v>4.04</c:v>
                </c:pt>
                <c:pt idx="1917">
                  <c:v>3.98</c:v>
                </c:pt>
                <c:pt idx="1918">
                  <c:v>3.96</c:v>
                </c:pt>
                <c:pt idx="1920">
                  <c:v>4.07</c:v>
                </c:pt>
                <c:pt idx="1921">
                  <c:v>4.0999999999999996</c:v>
                </c:pt>
                <c:pt idx="1922">
                  <c:v>4.1399999999999997</c:v>
                </c:pt>
                <c:pt idx="1923">
                  <c:v>4.1500000000000004</c:v>
                </c:pt>
                <c:pt idx="1924">
                  <c:v>4.1100000000000003</c:v>
                </c:pt>
                <c:pt idx="1925">
                  <c:v>4.1399999999999997</c:v>
                </c:pt>
                <c:pt idx="1926">
                  <c:v>4.18</c:v>
                </c:pt>
                <c:pt idx="1927">
                  <c:v>4.1399999999999997</c:v>
                </c:pt>
                <c:pt idx="1928">
                  <c:v>4.1500000000000004</c:v>
                </c:pt>
                <c:pt idx="1929">
                  <c:v>4.08</c:v>
                </c:pt>
                <c:pt idx="1930">
                  <c:v>4.0599999999999996</c:v>
                </c:pt>
                <c:pt idx="1931">
                  <c:v>3.99</c:v>
                </c:pt>
                <c:pt idx="1932">
                  <c:v>3.87</c:v>
                </c:pt>
                <c:pt idx="1933">
                  <c:v>4.03</c:v>
                </c:pt>
                <c:pt idx="1934">
                  <c:v>4.17</c:v>
                </c:pt>
                <c:pt idx="1935">
                  <c:v>4.09</c:v>
                </c:pt>
                <c:pt idx="1936">
                  <c:v>4.09</c:v>
                </c:pt>
                <c:pt idx="1937">
                  <c:v>4.1500000000000004</c:v>
                </c:pt>
                <c:pt idx="1938">
                  <c:v>4.17</c:v>
                </c:pt>
                <c:pt idx="1939">
                  <c:v>4.17</c:v>
                </c:pt>
                <c:pt idx="1940">
                  <c:v>4.3099999999999996</c:v>
                </c:pt>
                <c:pt idx="1941">
                  <c:v>4.2699999999999996</c:v>
                </c:pt>
                <c:pt idx="1942">
                  <c:v>4.24</c:v>
                </c:pt>
                <c:pt idx="1943">
                  <c:v>4.3</c:v>
                </c:pt>
                <c:pt idx="1945">
                  <c:v>4.2699999999999996</c:v>
                </c:pt>
                <c:pt idx="1946">
                  <c:v>4.32</c:v>
                </c:pt>
                <c:pt idx="1947">
                  <c:v>4.33</c:v>
                </c:pt>
                <c:pt idx="1948">
                  <c:v>4.26</c:v>
                </c:pt>
                <c:pt idx="1949">
                  <c:v>4.28</c:v>
                </c:pt>
                <c:pt idx="1950">
                  <c:v>4.3099999999999996</c:v>
                </c:pt>
                <c:pt idx="1951">
                  <c:v>4.2699999999999996</c:v>
                </c:pt>
                <c:pt idx="1952">
                  <c:v>4.25</c:v>
                </c:pt>
                <c:pt idx="1953">
                  <c:v>4.1900000000000004</c:v>
                </c:pt>
                <c:pt idx="1954">
                  <c:v>4.22</c:v>
                </c:pt>
                <c:pt idx="1955">
                  <c:v>4.13</c:v>
                </c:pt>
                <c:pt idx="1956">
                  <c:v>4.1100000000000003</c:v>
                </c:pt>
                <c:pt idx="1957">
                  <c:v>4.09</c:v>
                </c:pt>
                <c:pt idx="1958">
                  <c:v>4.09</c:v>
                </c:pt>
                <c:pt idx="1959">
                  <c:v>4.0999999999999996</c:v>
                </c:pt>
                <c:pt idx="1960">
                  <c:v>4.16</c:v>
                </c:pt>
                <c:pt idx="1961">
                  <c:v>4.1900000000000004</c:v>
                </c:pt>
                <c:pt idx="1962">
                  <c:v>4.29</c:v>
                </c:pt>
                <c:pt idx="1963">
                  <c:v>4.3099999999999996</c:v>
                </c:pt>
                <c:pt idx="1964">
                  <c:v>4.34</c:v>
                </c:pt>
                <c:pt idx="1965">
                  <c:v>4.3</c:v>
                </c:pt>
                <c:pt idx="1966">
                  <c:v>4.2699999999999996</c:v>
                </c:pt>
                <c:pt idx="1967">
                  <c:v>4.2699999999999996</c:v>
                </c:pt>
                <c:pt idx="1968">
                  <c:v>4.22</c:v>
                </c:pt>
                <c:pt idx="1969">
                  <c:v>4.25</c:v>
                </c:pt>
                <c:pt idx="1970">
                  <c:v>4.24</c:v>
                </c:pt>
                <c:pt idx="1971">
                  <c:v>4.2</c:v>
                </c:pt>
                <c:pt idx="1972">
                  <c:v>4.2</c:v>
                </c:pt>
                <c:pt idx="1974">
                  <c:v>4.33</c:v>
                </c:pt>
                <c:pt idx="1975">
                  <c:v>4.3600000000000003</c:v>
                </c:pt>
                <c:pt idx="1976">
                  <c:v>4.3600000000000003</c:v>
                </c:pt>
                <c:pt idx="1977">
                  <c:v>4.3099999999999996</c:v>
                </c:pt>
                <c:pt idx="1978">
                  <c:v>4.3899999999999997</c:v>
                </c:pt>
                <c:pt idx="1979">
                  <c:v>4.42</c:v>
                </c:pt>
                <c:pt idx="1980">
                  <c:v>4.3600000000000003</c:v>
                </c:pt>
                <c:pt idx="1981">
                  <c:v>4.55</c:v>
                </c:pt>
                <c:pt idx="1982">
                  <c:v>4.5599999999999996</c:v>
                </c:pt>
                <c:pt idx="1983">
                  <c:v>4.5</c:v>
                </c:pt>
                <c:pt idx="1984">
                  <c:v>4.63</c:v>
                </c:pt>
                <c:pt idx="1985">
                  <c:v>4.67</c:v>
                </c:pt>
                <c:pt idx="1986">
                  <c:v>4.59</c:v>
                </c:pt>
                <c:pt idx="1987">
                  <c:v>4.6399999999999997</c:v>
                </c:pt>
                <c:pt idx="1988">
                  <c:v>4.62</c:v>
                </c:pt>
                <c:pt idx="1989">
                  <c:v>4.62</c:v>
                </c:pt>
                <c:pt idx="1990">
                  <c:v>4.6100000000000003</c:v>
                </c:pt>
                <c:pt idx="1991">
                  <c:v>4.6500000000000004</c:v>
                </c:pt>
                <c:pt idx="1992">
                  <c:v>4.7</c:v>
                </c:pt>
                <c:pt idx="1993">
                  <c:v>4.67</c:v>
                </c:pt>
                <c:pt idx="1994">
                  <c:v>4.63</c:v>
                </c:pt>
                <c:pt idx="1995">
                  <c:v>4.6900000000000004</c:v>
                </c:pt>
                <c:pt idx="1996">
                  <c:v>4.63</c:v>
                </c:pt>
                <c:pt idx="1997">
                  <c:v>4.58</c:v>
                </c:pt>
                <c:pt idx="1998">
                  <c:v>4.5</c:v>
                </c:pt>
                <c:pt idx="1999">
                  <c:v>4.49</c:v>
                </c:pt>
                <c:pt idx="2000">
                  <c:v>4.47</c:v>
                </c:pt>
                <c:pt idx="2001">
                  <c:v>4.4800000000000004</c:v>
                </c:pt>
                <c:pt idx="2002">
                  <c:v>4.45</c:v>
                </c:pt>
                <c:pt idx="2003">
                  <c:v>4.5</c:v>
                </c:pt>
                <c:pt idx="2004">
                  <c:v>4.4800000000000004</c:v>
                </c:pt>
                <c:pt idx="2005">
                  <c:v>4.45</c:v>
                </c:pt>
                <c:pt idx="2006">
                  <c:v>4.3600000000000003</c:v>
                </c:pt>
                <c:pt idx="2007">
                  <c:v>4.38</c:v>
                </c:pt>
                <c:pt idx="2008">
                  <c:v>4.42</c:v>
                </c:pt>
                <c:pt idx="2009">
                  <c:v>4.4400000000000004</c:v>
                </c:pt>
                <c:pt idx="2010">
                  <c:v>4.41</c:v>
                </c:pt>
                <c:pt idx="2011">
                  <c:v>4.43</c:v>
                </c:pt>
                <c:pt idx="2012">
                  <c:v>4.47</c:v>
                </c:pt>
                <c:pt idx="2013">
                  <c:v>4.46</c:v>
                </c:pt>
                <c:pt idx="2015">
                  <c:v>4.54</c:v>
                </c:pt>
                <c:pt idx="2016">
                  <c:v>4.6100000000000003</c:v>
                </c:pt>
                <c:pt idx="2017">
                  <c:v>4.55</c:v>
                </c:pt>
                <c:pt idx="2018">
                  <c:v>4.51</c:v>
                </c:pt>
                <c:pt idx="2019">
                  <c:v>4.41</c:v>
                </c:pt>
                <c:pt idx="2020">
                  <c:v>4.33</c:v>
                </c:pt>
                <c:pt idx="2021">
                  <c:v>4.29</c:v>
                </c:pt>
                <c:pt idx="2022">
                  <c:v>4.28</c:v>
                </c:pt>
                <c:pt idx="2023">
                  <c:v>4.43</c:v>
                </c:pt>
                <c:pt idx="2024">
                  <c:v>4.47</c:v>
                </c:pt>
                <c:pt idx="2025">
                  <c:v>4.3899999999999997</c:v>
                </c:pt>
                <c:pt idx="2026">
                  <c:v>4.3099999999999996</c:v>
                </c:pt>
                <c:pt idx="2027">
                  <c:v>4.24</c:v>
                </c:pt>
                <c:pt idx="2028">
                  <c:v>4.2</c:v>
                </c:pt>
                <c:pt idx="2029">
                  <c:v>4.28</c:v>
                </c:pt>
                <c:pt idx="2030">
                  <c:v>4.22</c:v>
                </c:pt>
                <c:pt idx="2032">
                  <c:v>4.25</c:v>
                </c:pt>
                <c:pt idx="2033">
                  <c:v>4.25</c:v>
                </c:pt>
                <c:pt idx="2034">
                  <c:v>4.25</c:v>
                </c:pt>
                <c:pt idx="2035">
                  <c:v>4.2300000000000004</c:v>
                </c:pt>
                <c:pt idx="2036">
                  <c:v>4.32</c:v>
                </c:pt>
                <c:pt idx="2037">
                  <c:v>4.29</c:v>
                </c:pt>
                <c:pt idx="2038">
                  <c:v>4.3600000000000003</c:v>
                </c:pt>
                <c:pt idx="2039">
                  <c:v>4.4800000000000004</c:v>
                </c:pt>
                <c:pt idx="2040">
                  <c:v>4.43</c:v>
                </c:pt>
                <c:pt idx="2041">
                  <c:v>4.3600000000000003</c:v>
                </c:pt>
                <c:pt idx="2043">
                  <c:v>4.28</c:v>
                </c:pt>
                <c:pt idx="2044">
                  <c:v>4.28</c:v>
                </c:pt>
                <c:pt idx="2045">
                  <c:v>4.3</c:v>
                </c:pt>
                <c:pt idx="2046">
                  <c:v>4.28</c:v>
                </c:pt>
                <c:pt idx="2047">
                  <c:v>4.2</c:v>
                </c:pt>
                <c:pt idx="2048">
                  <c:v>4.18</c:v>
                </c:pt>
                <c:pt idx="2049">
                  <c:v>4.2300000000000004</c:v>
                </c:pt>
                <c:pt idx="2050">
                  <c:v>4.17</c:v>
                </c:pt>
                <c:pt idx="2051">
                  <c:v>4.16</c:v>
                </c:pt>
                <c:pt idx="2052">
                  <c:v>4.2</c:v>
                </c:pt>
                <c:pt idx="2053">
                  <c:v>4.25</c:v>
                </c:pt>
                <c:pt idx="2054">
                  <c:v>4.26</c:v>
                </c:pt>
                <c:pt idx="2055">
                  <c:v>4.25</c:v>
                </c:pt>
                <c:pt idx="2056">
                  <c:v>4.28</c:v>
                </c:pt>
                <c:pt idx="2057">
                  <c:v>4.2699999999999996</c:v>
                </c:pt>
                <c:pt idx="2058">
                  <c:v>4.2</c:v>
                </c:pt>
                <c:pt idx="2059">
                  <c:v>4.17</c:v>
                </c:pt>
                <c:pt idx="2060">
                  <c:v>4.1500000000000004</c:v>
                </c:pt>
                <c:pt idx="2061">
                  <c:v>4.09</c:v>
                </c:pt>
                <c:pt idx="2062">
                  <c:v>3.99</c:v>
                </c:pt>
                <c:pt idx="2063">
                  <c:v>3.8</c:v>
                </c:pt>
                <c:pt idx="2064">
                  <c:v>3.78</c:v>
                </c:pt>
                <c:pt idx="2065">
                  <c:v>3.9</c:v>
                </c:pt>
                <c:pt idx="2066">
                  <c:v>3.96</c:v>
                </c:pt>
                <c:pt idx="2067">
                  <c:v>3.99</c:v>
                </c:pt>
                <c:pt idx="2068">
                  <c:v>3.94</c:v>
                </c:pt>
                <c:pt idx="2069">
                  <c:v>3.9</c:v>
                </c:pt>
                <c:pt idx="2070">
                  <c:v>3.85</c:v>
                </c:pt>
                <c:pt idx="2071">
                  <c:v>3.83</c:v>
                </c:pt>
                <c:pt idx="2072">
                  <c:v>3.92</c:v>
                </c:pt>
                <c:pt idx="2073">
                  <c:v>3.89</c:v>
                </c:pt>
                <c:pt idx="2074">
                  <c:v>3.86</c:v>
                </c:pt>
                <c:pt idx="2075">
                  <c:v>3.82</c:v>
                </c:pt>
                <c:pt idx="2076">
                  <c:v>3.79</c:v>
                </c:pt>
                <c:pt idx="2077">
                  <c:v>3.86</c:v>
                </c:pt>
                <c:pt idx="2078">
                  <c:v>3.81</c:v>
                </c:pt>
                <c:pt idx="2079">
                  <c:v>3.82</c:v>
                </c:pt>
                <c:pt idx="2080">
                  <c:v>3.83</c:v>
                </c:pt>
                <c:pt idx="2081">
                  <c:v>3.84</c:v>
                </c:pt>
                <c:pt idx="2082">
                  <c:v>3.87</c:v>
                </c:pt>
                <c:pt idx="2083">
                  <c:v>3.91</c:v>
                </c:pt>
                <c:pt idx="2085">
                  <c:v>3.84</c:v>
                </c:pt>
                <c:pt idx="2086">
                  <c:v>3.77</c:v>
                </c:pt>
                <c:pt idx="2087">
                  <c:v>3.73</c:v>
                </c:pt>
                <c:pt idx="2088">
                  <c:v>3.72</c:v>
                </c:pt>
                <c:pt idx="2089">
                  <c:v>3.7</c:v>
                </c:pt>
                <c:pt idx="2090">
                  <c:v>3.65</c:v>
                </c:pt>
                <c:pt idx="2091">
                  <c:v>3.65</c:v>
                </c:pt>
                <c:pt idx="2092">
                  <c:v>3.68</c:v>
                </c:pt>
                <c:pt idx="2093">
                  <c:v>3.66</c:v>
                </c:pt>
                <c:pt idx="2094">
                  <c:v>3.63</c:v>
                </c:pt>
                <c:pt idx="2095">
                  <c:v>3.65</c:v>
                </c:pt>
                <c:pt idx="2096">
                  <c:v>3.7</c:v>
                </c:pt>
                <c:pt idx="2097">
                  <c:v>3.73</c:v>
                </c:pt>
                <c:pt idx="2098">
                  <c:v>3.73</c:v>
                </c:pt>
                <c:pt idx="2099">
                  <c:v>3.75</c:v>
                </c:pt>
                <c:pt idx="2100">
                  <c:v>3.74</c:v>
                </c:pt>
                <c:pt idx="2101">
                  <c:v>3.79</c:v>
                </c:pt>
                <c:pt idx="2102">
                  <c:v>3.79</c:v>
                </c:pt>
                <c:pt idx="2103">
                  <c:v>3.75</c:v>
                </c:pt>
                <c:pt idx="2104">
                  <c:v>3.81</c:v>
                </c:pt>
                <c:pt idx="2105">
                  <c:v>3.74</c:v>
                </c:pt>
                <c:pt idx="2106">
                  <c:v>3.79</c:v>
                </c:pt>
                <c:pt idx="2107">
                  <c:v>3.85</c:v>
                </c:pt>
                <c:pt idx="2108">
                  <c:v>3.98</c:v>
                </c:pt>
                <c:pt idx="2109">
                  <c:v>4.03</c:v>
                </c:pt>
                <c:pt idx="2110">
                  <c:v>4.04</c:v>
                </c:pt>
                <c:pt idx="2111">
                  <c:v>4.0599999999999996</c:v>
                </c:pt>
                <c:pt idx="2112">
                  <c:v>4.09</c:v>
                </c:pt>
                <c:pt idx="2113">
                  <c:v>4.08</c:v>
                </c:pt>
                <c:pt idx="2115">
                  <c:v>4.03</c:v>
                </c:pt>
                <c:pt idx="2116">
                  <c:v>4.0199999999999996</c:v>
                </c:pt>
                <c:pt idx="2117">
                  <c:v>4.09</c:v>
                </c:pt>
                <c:pt idx="2118">
                  <c:v>4.08</c:v>
                </c:pt>
                <c:pt idx="2119">
                  <c:v>4.1900000000000004</c:v>
                </c:pt>
                <c:pt idx="2120">
                  <c:v>4.2</c:v>
                </c:pt>
                <c:pt idx="2121">
                  <c:v>4.24</c:v>
                </c:pt>
                <c:pt idx="2122">
                  <c:v>4.21</c:v>
                </c:pt>
                <c:pt idx="2123">
                  <c:v>4.25</c:v>
                </c:pt>
                <c:pt idx="2124">
                  <c:v>4.28</c:v>
                </c:pt>
                <c:pt idx="2125">
                  <c:v>4.28</c:v>
                </c:pt>
                <c:pt idx="2126">
                  <c:v>4.29</c:v>
                </c:pt>
                <c:pt idx="2127">
                  <c:v>4.28</c:v>
                </c:pt>
                <c:pt idx="2128">
                  <c:v>4.37</c:v>
                </c:pt>
                <c:pt idx="2129">
                  <c:v>4.3099999999999996</c:v>
                </c:pt>
                <c:pt idx="2130">
                  <c:v>4.26</c:v>
                </c:pt>
                <c:pt idx="2131">
                  <c:v>4.42</c:v>
                </c:pt>
                <c:pt idx="2132">
                  <c:v>4.3099999999999996</c:v>
                </c:pt>
                <c:pt idx="2133">
                  <c:v>4.3</c:v>
                </c:pt>
                <c:pt idx="2135">
                  <c:v>4.43</c:v>
                </c:pt>
                <c:pt idx="2136">
                  <c:v>4.4400000000000004</c:v>
                </c:pt>
                <c:pt idx="2137">
                  <c:v>4.43</c:v>
                </c:pt>
                <c:pt idx="2138">
                  <c:v>4.43</c:v>
                </c:pt>
                <c:pt idx="2139">
                  <c:v>4.42</c:v>
                </c:pt>
                <c:pt idx="2140">
                  <c:v>4.3899999999999997</c:v>
                </c:pt>
                <c:pt idx="2141">
                  <c:v>4.41</c:v>
                </c:pt>
                <c:pt idx="2142">
                  <c:v>4.43</c:v>
                </c:pt>
                <c:pt idx="2143">
                  <c:v>4.41</c:v>
                </c:pt>
                <c:pt idx="2144">
                  <c:v>4.2699999999999996</c:v>
                </c:pt>
                <c:pt idx="2145">
                  <c:v>4.3</c:v>
                </c:pt>
                <c:pt idx="2146">
                  <c:v>4.25</c:v>
                </c:pt>
                <c:pt idx="2148">
                  <c:v>4.18</c:v>
                </c:pt>
                <c:pt idx="2149">
                  <c:v>4.1900000000000004</c:v>
                </c:pt>
                <c:pt idx="2150">
                  <c:v>4.2300000000000004</c:v>
                </c:pt>
                <c:pt idx="2151">
                  <c:v>4.1900000000000004</c:v>
                </c:pt>
                <c:pt idx="2152">
                  <c:v>4.17</c:v>
                </c:pt>
                <c:pt idx="2153">
                  <c:v>4.1500000000000004</c:v>
                </c:pt>
                <c:pt idx="2154">
                  <c:v>4.2</c:v>
                </c:pt>
                <c:pt idx="2155">
                  <c:v>4.22</c:v>
                </c:pt>
                <c:pt idx="2156">
                  <c:v>4.26</c:v>
                </c:pt>
                <c:pt idx="2157">
                  <c:v>4.32</c:v>
                </c:pt>
                <c:pt idx="2158">
                  <c:v>4.4000000000000004</c:v>
                </c:pt>
                <c:pt idx="2159">
                  <c:v>4.3899999999999997</c:v>
                </c:pt>
                <c:pt idx="2160">
                  <c:v>4.4000000000000004</c:v>
                </c:pt>
                <c:pt idx="2161">
                  <c:v>4.5</c:v>
                </c:pt>
                <c:pt idx="2162">
                  <c:v>4.57</c:v>
                </c:pt>
                <c:pt idx="2163">
                  <c:v>4.5199999999999996</c:v>
                </c:pt>
                <c:pt idx="2164">
                  <c:v>4.59</c:v>
                </c:pt>
                <c:pt idx="2165">
                  <c:v>4.59</c:v>
                </c:pt>
                <c:pt idx="2167">
                  <c:v>4.58</c:v>
                </c:pt>
                <c:pt idx="2168">
                  <c:v>4.62</c:v>
                </c:pt>
                <c:pt idx="2169">
                  <c:v>4.55</c:v>
                </c:pt>
                <c:pt idx="2170">
                  <c:v>4.58</c:v>
                </c:pt>
                <c:pt idx="2172">
                  <c:v>4.57</c:v>
                </c:pt>
                <c:pt idx="2173">
                  <c:v>4.5999999999999996</c:v>
                </c:pt>
                <c:pt idx="2174">
                  <c:v>4.62</c:v>
                </c:pt>
                <c:pt idx="2175">
                  <c:v>4.67</c:v>
                </c:pt>
                <c:pt idx="2176">
                  <c:v>4.67</c:v>
                </c:pt>
                <c:pt idx="2177">
                  <c:v>4.68</c:v>
                </c:pt>
                <c:pt idx="2178">
                  <c:v>4.7699999999999996</c:v>
                </c:pt>
                <c:pt idx="2179">
                  <c:v>4.79</c:v>
                </c:pt>
                <c:pt idx="2180">
                  <c:v>4.78</c:v>
                </c:pt>
                <c:pt idx="2181">
                  <c:v>4.66</c:v>
                </c:pt>
                <c:pt idx="2182">
                  <c:v>4.6100000000000003</c:v>
                </c:pt>
                <c:pt idx="2183">
                  <c:v>4.6100000000000003</c:v>
                </c:pt>
                <c:pt idx="2185">
                  <c:v>4.57</c:v>
                </c:pt>
                <c:pt idx="2186">
                  <c:v>4.5999999999999996</c:v>
                </c:pt>
                <c:pt idx="2187">
                  <c:v>4.6500000000000004</c:v>
                </c:pt>
                <c:pt idx="2188">
                  <c:v>4.63</c:v>
                </c:pt>
                <c:pt idx="2189">
                  <c:v>4.53</c:v>
                </c:pt>
                <c:pt idx="2190">
                  <c:v>4.55</c:v>
                </c:pt>
                <c:pt idx="2191">
                  <c:v>4.55</c:v>
                </c:pt>
                <c:pt idx="2192">
                  <c:v>4.5199999999999996</c:v>
                </c:pt>
                <c:pt idx="2193">
                  <c:v>4.58</c:v>
                </c:pt>
                <c:pt idx="2194">
                  <c:v>4.54</c:v>
                </c:pt>
                <c:pt idx="2195">
                  <c:v>4.5199999999999996</c:v>
                </c:pt>
                <c:pt idx="2196">
                  <c:v>4.43</c:v>
                </c:pt>
                <c:pt idx="2197">
                  <c:v>4.45</c:v>
                </c:pt>
                <c:pt idx="2198">
                  <c:v>4.49</c:v>
                </c:pt>
                <c:pt idx="2199">
                  <c:v>4.51</c:v>
                </c:pt>
                <c:pt idx="2200">
                  <c:v>4.54</c:v>
                </c:pt>
                <c:pt idx="2201">
                  <c:v>4.62</c:v>
                </c:pt>
                <c:pt idx="2202">
                  <c:v>4.5199999999999996</c:v>
                </c:pt>
                <c:pt idx="2203">
                  <c:v>4.47</c:v>
                </c:pt>
                <c:pt idx="2205">
                  <c:v>4.55</c:v>
                </c:pt>
                <c:pt idx="2206">
                  <c:v>4.53</c:v>
                </c:pt>
                <c:pt idx="2207">
                  <c:v>4.5</c:v>
                </c:pt>
                <c:pt idx="2208">
                  <c:v>4.42</c:v>
                </c:pt>
                <c:pt idx="2209">
                  <c:v>4.4000000000000004</c:v>
                </c:pt>
                <c:pt idx="2210">
                  <c:v>4.3</c:v>
                </c:pt>
                <c:pt idx="2211">
                  <c:v>4.25</c:v>
                </c:pt>
                <c:pt idx="2212">
                  <c:v>4.29</c:v>
                </c:pt>
                <c:pt idx="2213">
                  <c:v>4.24</c:v>
                </c:pt>
                <c:pt idx="2214">
                  <c:v>4.16</c:v>
                </c:pt>
                <c:pt idx="2215">
                  <c:v>4.22</c:v>
                </c:pt>
                <c:pt idx="2216">
                  <c:v>4.28</c:v>
                </c:pt>
                <c:pt idx="2217">
                  <c:v>4.29</c:v>
                </c:pt>
                <c:pt idx="2218">
                  <c:v>4.32</c:v>
                </c:pt>
                <c:pt idx="2219">
                  <c:v>4.22</c:v>
                </c:pt>
                <c:pt idx="2220">
                  <c:v>4.28</c:v>
                </c:pt>
                <c:pt idx="2221">
                  <c:v>4.32</c:v>
                </c:pt>
                <c:pt idx="2222">
                  <c:v>4.2699999999999996</c:v>
                </c:pt>
                <c:pt idx="2223">
                  <c:v>4.3099999999999996</c:v>
                </c:pt>
                <c:pt idx="2224">
                  <c:v>4.3099999999999996</c:v>
                </c:pt>
                <c:pt idx="2225">
                  <c:v>4.29</c:v>
                </c:pt>
                <c:pt idx="2226">
                  <c:v>4.25</c:v>
                </c:pt>
                <c:pt idx="2227">
                  <c:v>4.24</c:v>
                </c:pt>
                <c:pt idx="2228">
                  <c:v>4.25</c:v>
                </c:pt>
                <c:pt idx="2229">
                  <c:v>4.34</c:v>
                </c:pt>
                <c:pt idx="2230">
                  <c:v>4.3099999999999996</c:v>
                </c:pt>
                <c:pt idx="2231">
                  <c:v>4.3499999999999996</c:v>
                </c:pt>
                <c:pt idx="2232">
                  <c:v>4.38</c:v>
                </c:pt>
                <c:pt idx="2233">
                  <c:v>4.2699999999999996</c:v>
                </c:pt>
                <c:pt idx="2234">
                  <c:v>4.2300000000000004</c:v>
                </c:pt>
                <c:pt idx="2235">
                  <c:v>4.17</c:v>
                </c:pt>
                <c:pt idx="2236">
                  <c:v>4.2</c:v>
                </c:pt>
                <c:pt idx="2237">
                  <c:v>4.0599999999999996</c:v>
                </c:pt>
                <c:pt idx="2238">
                  <c:v>4.01</c:v>
                </c:pt>
                <c:pt idx="2239">
                  <c:v>4.1500000000000004</c:v>
                </c:pt>
                <c:pt idx="2240">
                  <c:v>4.26</c:v>
                </c:pt>
                <c:pt idx="2241">
                  <c:v>4.34</c:v>
                </c:pt>
                <c:pt idx="2242">
                  <c:v>4.4000000000000004</c:v>
                </c:pt>
                <c:pt idx="2243">
                  <c:v>4.4800000000000004</c:v>
                </c:pt>
                <c:pt idx="2244">
                  <c:v>4.38</c:v>
                </c:pt>
                <c:pt idx="2245">
                  <c:v>4.3499999999999996</c:v>
                </c:pt>
                <c:pt idx="2246">
                  <c:v>4.29</c:v>
                </c:pt>
                <c:pt idx="2247">
                  <c:v>4.34</c:v>
                </c:pt>
                <c:pt idx="2249">
                  <c:v>4.42</c:v>
                </c:pt>
                <c:pt idx="2250">
                  <c:v>4.41</c:v>
                </c:pt>
                <c:pt idx="2251">
                  <c:v>4.4000000000000004</c:v>
                </c:pt>
                <c:pt idx="2252">
                  <c:v>4.32</c:v>
                </c:pt>
                <c:pt idx="2253">
                  <c:v>4.29</c:v>
                </c:pt>
                <c:pt idx="2254">
                  <c:v>4.2300000000000004</c:v>
                </c:pt>
                <c:pt idx="2255">
                  <c:v>4.1900000000000004</c:v>
                </c:pt>
                <c:pt idx="2256">
                  <c:v>4.17</c:v>
                </c:pt>
                <c:pt idx="2257">
                  <c:v>4.25</c:v>
                </c:pt>
                <c:pt idx="2258">
                  <c:v>4.33</c:v>
                </c:pt>
                <c:pt idx="2259">
                  <c:v>4.3600000000000003</c:v>
                </c:pt>
                <c:pt idx="2260">
                  <c:v>4.3</c:v>
                </c:pt>
                <c:pt idx="2261">
                  <c:v>4.26</c:v>
                </c:pt>
                <c:pt idx="2262">
                  <c:v>4.37</c:v>
                </c:pt>
                <c:pt idx="2263">
                  <c:v>4.37</c:v>
                </c:pt>
                <c:pt idx="2264">
                  <c:v>4.45</c:v>
                </c:pt>
                <c:pt idx="2265">
                  <c:v>4.49</c:v>
                </c:pt>
                <c:pt idx="2266">
                  <c:v>4.53</c:v>
                </c:pt>
                <c:pt idx="2267">
                  <c:v>4.45</c:v>
                </c:pt>
                <c:pt idx="2268">
                  <c:v>4.43</c:v>
                </c:pt>
                <c:pt idx="2269">
                  <c:v>4.46</c:v>
                </c:pt>
                <c:pt idx="2270">
                  <c:v>4.4800000000000004</c:v>
                </c:pt>
                <c:pt idx="2271">
                  <c:v>4.58</c:v>
                </c:pt>
                <c:pt idx="2272">
                  <c:v>4.54</c:v>
                </c:pt>
                <c:pt idx="2273">
                  <c:v>4.51</c:v>
                </c:pt>
                <c:pt idx="2275">
                  <c:v>4.43</c:v>
                </c:pt>
                <c:pt idx="2276">
                  <c:v>4.47</c:v>
                </c:pt>
                <c:pt idx="2277">
                  <c:v>4.43</c:v>
                </c:pt>
                <c:pt idx="2278">
                  <c:v>4.41</c:v>
                </c:pt>
                <c:pt idx="2279">
                  <c:v>4.46</c:v>
                </c:pt>
                <c:pt idx="2280">
                  <c:v>4.46</c:v>
                </c:pt>
                <c:pt idx="2281">
                  <c:v>4.37</c:v>
                </c:pt>
                <c:pt idx="2282">
                  <c:v>4.4000000000000004</c:v>
                </c:pt>
                <c:pt idx="2283">
                  <c:v>4.51</c:v>
                </c:pt>
                <c:pt idx="2284">
                  <c:v>4.49</c:v>
                </c:pt>
                <c:pt idx="2285">
                  <c:v>4.47</c:v>
                </c:pt>
                <c:pt idx="2286">
                  <c:v>4.41</c:v>
                </c:pt>
                <c:pt idx="2287">
                  <c:v>4.3600000000000003</c:v>
                </c:pt>
                <c:pt idx="2288">
                  <c:v>4.41</c:v>
                </c:pt>
                <c:pt idx="2289">
                  <c:v>4.46</c:v>
                </c:pt>
                <c:pt idx="2290">
                  <c:v>4.3899999999999997</c:v>
                </c:pt>
                <c:pt idx="2291">
                  <c:v>4.38</c:v>
                </c:pt>
                <c:pt idx="2293">
                  <c:v>4.38</c:v>
                </c:pt>
                <c:pt idx="2294">
                  <c:v>4.34</c:v>
                </c:pt>
                <c:pt idx="2295">
                  <c:v>4.3</c:v>
                </c:pt>
                <c:pt idx="2296">
                  <c:v>4.29</c:v>
                </c:pt>
                <c:pt idx="2297">
                  <c:v>4.26</c:v>
                </c:pt>
                <c:pt idx="2298">
                  <c:v>4.29</c:v>
                </c:pt>
                <c:pt idx="2299">
                  <c:v>4.24</c:v>
                </c:pt>
                <c:pt idx="2300">
                  <c:v>4.26</c:v>
                </c:pt>
                <c:pt idx="2301">
                  <c:v>4.3</c:v>
                </c:pt>
                <c:pt idx="2302">
                  <c:v>4.3499999999999996</c:v>
                </c:pt>
                <c:pt idx="2304">
                  <c:v>4.4000000000000004</c:v>
                </c:pt>
                <c:pt idx="2305">
                  <c:v>4.42</c:v>
                </c:pt>
                <c:pt idx="2306">
                  <c:v>4.34</c:v>
                </c:pt>
                <c:pt idx="2307">
                  <c:v>4.3499999999999996</c:v>
                </c:pt>
                <c:pt idx="2308">
                  <c:v>4.43</c:v>
                </c:pt>
                <c:pt idx="2309">
                  <c:v>4.43</c:v>
                </c:pt>
                <c:pt idx="2310">
                  <c:v>4.5</c:v>
                </c:pt>
                <c:pt idx="2311">
                  <c:v>4.46</c:v>
                </c:pt>
                <c:pt idx="2312">
                  <c:v>4.47</c:v>
                </c:pt>
                <c:pt idx="2313">
                  <c:v>4.4400000000000004</c:v>
                </c:pt>
                <c:pt idx="2314">
                  <c:v>4.38</c:v>
                </c:pt>
                <c:pt idx="2315">
                  <c:v>4.3499999999999996</c:v>
                </c:pt>
                <c:pt idx="2316">
                  <c:v>4.4000000000000004</c:v>
                </c:pt>
                <c:pt idx="2317">
                  <c:v>4.43</c:v>
                </c:pt>
                <c:pt idx="2318">
                  <c:v>4.4000000000000004</c:v>
                </c:pt>
                <c:pt idx="2319">
                  <c:v>4.42</c:v>
                </c:pt>
                <c:pt idx="2320">
                  <c:v>4.34</c:v>
                </c:pt>
                <c:pt idx="2321">
                  <c:v>4.38</c:v>
                </c:pt>
                <c:pt idx="2322">
                  <c:v>4.37</c:v>
                </c:pt>
                <c:pt idx="2323">
                  <c:v>4.2300000000000004</c:v>
                </c:pt>
                <c:pt idx="2324">
                  <c:v>4.22</c:v>
                </c:pt>
                <c:pt idx="2325">
                  <c:v>4.22</c:v>
                </c:pt>
                <c:pt idx="2326">
                  <c:v>4.22</c:v>
                </c:pt>
                <c:pt idx="2327">
                  <c:v>4.2300000000000004</c:v>
                </c:pt>
                <c:pt idx="2328">
                  <c:v>4.2699999999999996</c:v>
                </c:pt>
                <c:pt idx="2329">
                  <c:v>4.2699999999999996</c:v>
                </c:pt>
                <c:pt idx="2330">
                  <c:v>4.29</c:v>
                </c:pt>
                <c:pt idx="2331">
                  <c:v>4.24</c:v>
                </c:pt>
                <c:pt idx="2332">
                  <c:v>4.29</c:v>
                </c:pt>
                <c:pt idx="2333">
                  <c:v>4.33</c:v>
                </c:pt>
                <c:pt idx="2334">
                  <c:v>4.34</c:v>
                </c:pt>
                <c:pt idx="2335">
                  <c:v>4.3</c:v>
                </c:pt>
                <c:pt idx="2336">
                  <c:v>4.29</c:v>
                </c:pt>
                <c:pt idx="2337">
                  <c:v>4.33</c:v>
                </c:pt>
                <c:pt idx="2338">
                  <c:v>4.26</c:v>
                </c:pt>
                <c:pt idx="2339">
                  <c:v>4.28</c:v>
                </c:pt>
                <c:pt idx="2340">
                  <c:v>4.26</c:v>
                </c:pt>
                <c:pt idx="2341">
                  <c:v>4.24</c:v>
                </c:pt>
                <c:pt idx="2342">
                  <c:v>4.22</c:v>
                </c:pt>
                <c:pt idx="2343">
                  <c:v>4.2300000000000004</c:v>
                </c:pt>
                <c:pt idx="2345">
                  <c:v>4.28</c:v>
                </c:pt>
                <c:pt idx="2346">
                  <c:v>4.22</c:v>
                </c:pt>
                <c:pt idx="2347">
                  <c:v>4.17</c:v>
                </c:pt>
                <c:pt idx="2348">
                  <c:v>4.0999999999999996</c:v>
                </c:pt>
                <c:pt idx="2349">
                  <c:v>4.05</c:v>
                </c:pt>
                <c:pt idx="2350">
                  <c:v>4.08</c:v>
                </c:pt>
                <c:pt idx="2351">
                  <c:v>4.04</c:v>
                </c:pt>
                <c:pt idx="2352">
                  <c:v>4.01</c:v>
                </c:pt>
                <c:pt idx="2353">
                  <c:v>4.0599999999999996</c:v>
                </c:pt>
                <c:pt idx="2354">
                  <c:v>4.05</c:v>
                </c:pt>
                <c:pt idx="2355">
                  <c:v>4.04</c:v>
                </c:pt>
                <c:pt idx="2356">
                  <c:v>4.0599999999999996</c:v>
                </c:pt>
                <c:pt idx="2357">
                  <c:v>4.1100000000000003</c:v>
                </c:pt>
                <c:pt idx="2358">
                  <c:v>4.1399999999999997</c:v>
                </c:pt>
                <c:pt idx="2359">
                  <c:v>4.1500000000000004</c:v>
                </c:pt>
                <c:pt idx="2360">
                  <c:v>4.12</c:v>
                </c:pt>
                <c:pt idx="2361">
                  <c:v>4.16</c:v>
                </c:pt>
                <c:pt idx="2362">
                  <c:v>4.18</c:v>
                </c:pt>
                <c:pt idx="2363">
                  <c:v>4.2</c:v>
                </c:pt>
                <c:pt idx="2364">
                  <c:v>4.1500000000000004</c:v>
                </c:pt>
                <c:pt idx="2365">
                  <c:v>4.16</c:v>
                </c:pt>
                <c:pt idx="2366">
                  <c:v>4.12</c:v>
                </c:pt>
                <c:pt idx="2367">
                  <c:v>4.0999999999999996</c:v>
                </c:pt>
                <c:pt idx="2368">
                  <c:v>4.13</c:v>
                </c:pt>
                <c:pt idx="2369">
                  <c:v>4.18</c:v>
                </c:pt>
                <c:pt idx="2370">
                  <c:v>4.1399999999999997</c:v>
                </c:pt>
                <c:pt idx="2371">
                  <c:v>4.13</c:v>
                </c:pt>
                <c:pt idx="2372">
                  <c:v>4.1399999999999997</c:v>
                </c:pt>
                <c:pt idx="2373">
                  <c:v>4.05</c:v>
                </c:pt>
                <c:pt idx="2375">
                  <c:v>4.03</c:v>
                </c:pt>
                <c:pt idx="2376">
                  <c:v>4.05</c:v>
                </c:pt>
                <c:pt idx="2377">
                  <c:v>3.99</c:v>
                </c:pt>
                <c:pt idx="2378">
                  <c:v>4.0199999999999996</c:v>
                </c:pt>
                <c:pt idx="2379">
                  <c:v>4</c:v>
                </c:pt>
                <c:pt idx="2380">
                  <c:v>3.98</c:v>
                </c:pt>
                <c:pt idx="2381">
                  <c:v>3.97</c:v>
                </c:pt>
                <c:pt idx="2382">
                  <c:v>4.01</c:v>
                </c:pt>
                <c:pt idx="2383">
                  <c:v>4.0199999999999996</c:v>
                </c:pt>
                <c:pt idx="2384">
                  <c:v>4.01</c:v>
                </c:pt>
                <c:pt idx="2385">
                  <c:v>3.99</c:v>
                </c:pt>
                <c:pt idx="2386">
                  <c:v>4.08</c:v>
                </c:pt>
                <c:pt idx="2387">
                  <c:v>4.1100000000000003</c:v>
                </c:pt>
                <c:pt idx="2388">
                  <c:v>4.1100000000000003</c:v>
                </c:pt>
                <c:pt idx="2389">
                  <c:v>4.13</c:v>
                </c:pt>
                <c:pt idx="2390">
                  <c:v>4.0999999999999996</c:v>
                </c:pt>
                <c:pt idx="2391">
                  <c:v>4.17</c:v>
                </c:pt>
                <c:pt idx="2392">
                  <c:v>4.1100000000000003</c:v>
                </c:pt>
                <c:pt idx="2393">
                  <c:v>4.1100000000000003</c:v>
                </c:pt>
                <c:pt idx="2394">
                  <c:v>4.13</c:v>
                </c:pt>
                <c:pt idx="2396">
                  <c:v>4.08</c:v>
                </c:pt>
                <c:pt idx="2397">
                  <c:v>4.1100000000000003</c:v>
                </c:pt>
                <c:pt idx="2398">
                  <c:v>4.1399999999999997</c:v>
                </c:pt>
                <c:pt idx="2399">
                  <c:v>4.13</c:v>
                </c:pt>
                <c:pt idx="2400">
                  <c:v>4.12</c:v>
                </c:pt>
                <c:pt idx="2401">
                  <c:v>4.13</c:v>
                </c:pt>
                <c:pt idx="2402">
                  <c:v>4.0999999999999996</c:v>
                </c:pt>
                <c:pt idx="2403">
                  <c:v>4.0599999999999996</c:v>
                </c:pt>
                <c:pt idx="2404">
                  <c:v>4.04</c:v>
                </c:pt>
                <c:pt idx="2405">
                  <c:v>4.01</c:v>
                </c:pt>
                <c:pt idx="2406">
                  <c:v>4</c:v>
                </c:pt>
                <c:pt idx="2408">
                  <c:v>4.0199999999999996</c:v>
                </c:pt>
                <c:pt idx="2409">
                  <c:v>4.09</c:v>
                </c:pt>
                <c:pt idx="2410">
                  <c:v>4.09</c:v>
                </c:pt>
                <c:pt idx="2411">
                  <c:v>4.0599999999999996</c:v>
                </c:pt>
                <c:pt idx="2412">
                  <c:v>4.1100000000000003</c:v>
                </c:pt>
                <c:pt idx="2413">
                  <c:v>4.1399999999999997</c:v>
                </c:pt>
                <c:pt idx="2414">
                  <c:v>4.17</c:v>
                </c:pt>
                <c:pt idx="2415">
                  <c:v>4.18</c:v>
                </c:pt>
                <c:pt idx="2416">
                  <c:v>4.13</c:v>
                </c:pt>
                <c:pt idx="2417">
                  <c:v>4.1399999999999997</c:v>
                </c:pt>
                <c:pt idx="2418">
                  <c:v>4.1900000000000004</c:v>
                </c:pt>
                <c:pt idx="2419">
                  <c:v>4.18</c:v>
                </c:pt>
                <c:pt idx="2420">
                  <c:v>4.1500000000000004</c:v>
                </c:pt>
                <c:pt idx="2421">
                  <c:v>4.16</c:v>
                </c:pt>
                <c:pt idx="2422">
                  <c:v>4.12</c:v>
                </c:pt>
                <c:pt idx="2423">
                  <c:v>4.16</c:v>
                </c:pt>
                <c:pt idx="2424">
                  <c:v>4.17</c:v>
                </c:pt>
                <c:pt idx="2425">
                  <c:v>4.18</c:v>
                </c:pt>
                <c:pt idx="2426">
                  <c:v>4.1500000000000004</c:v>
                </c:pt>
                <c:pt idx="2428">
                  <c:v>4.1399999999999997</c:v>
                </c:pt>
                <c:pt idx="2429">
                  <c:v>4.12</c:v>
                </c:pt>
                <c:pt idx="2430">
                  <c:v>4.1399999999999997</c:v>
                </c:pt>
                <c:pt idx="2431">
                  <c:v>4.18</c:v>
                </c:pt>
                <c:pt idx="2433">
                  <c:v>4.1900000000000004</c:v>
                </c:pt>
                <c:pt idx="2434">
                  <c:v>4.17</c:v>
                </c:pt>
                <c:pt idx="2435">
                  <c:v>4.18</c:v>
                </c:pt>
                <c:pt idx="2436">
                  <c:v>4.1500000000000004</c:v>
                </c:pt>
                <c:pt idx="2437">
                  <c:v>4.1900000000000004</c:v>
                </c:pt>
                <c:pt idx="2438">
                  <c:v>4.18</c:v>
                </c:pt>
                <c:pt idx="2439">
                  <c:v>4.1900000000000004</c:v>
                </c:pt>
                <c:pt idx="2440">
                  <c:v>4.18</c:v>
                </c:pt>
                <c:pt idx="2441">
                  <c:v>4.1500000000000004</c:v>
                </c:pt>
                <c:pt idx="2442">
                  <c:v>4.17</c:v>
                </c:pt>
                <c:pt idx="2443">
                  <c:v>4.24</c:v>
                </c:pt>
                <c:pt idx="2445">
                  <c:v>4.3</c:v>
                </c:pt>
                <c:pt idx="2446">
                  <c:v>4.26</c:v>
                </c:pt>
                <c:pt idx="2447">
                  <c:v>4.26</c:v>
                </c:pt>
                <c:pt idx="2448">
                  <c:v>4.24</c:v>
                </c:pt>
                <c:pt idx="2449">
                  <c:v>4.22</c:v>
                </c:pt>
                <c:pt idx="2450">
                  <c:v>4.24</c:v>
                </c:pt>
                <c:pt idx="2451">
                  <c:v>4.26</c:v>
                </c:pt>
                <c:pt idx="2452">
                  <c:v>4.24</c:v>
                </c:pt>
                <c:pt idx="2453">
                  <c:v>4.26</c:v>
                </c:pt>
                <c:pt idx="2454">
                  <c:v>4.29</c:v>
                </c:pt>
                <c:pt idx="2455">
                  <c:v>4.28</c:v>
                </c:pt>
                <c:pt idx="2456">
                  <c:v>4.29</c:v>
                </c:pt>
                <c:pt idx="2457">
                  <c:v>4.21</c:v>
                </c:pt>
                <c:pt idx="2458">
                  <c:v>4.22</c:v>
                </c:pt>
                <c:pt idx="2459">
                  <c:v>4.22</c:v>
                </c:pt>
                <c:pt idx="2460">
                  <c:v>4.16</c:v>
                </c:pt>
                <c:pt idx="2461">
                  <c:v>4.18</c:v>
                </c:pt>
                <c:pt idx="2462">
                  <c:v>4.09</c:v>
                </c:pt>
                <c:pt idx="2463">
                  <c:v>4.04</c:v>
                </c:pt>
                <c:pt idx="2465">
                  <c:v>4.05</c:v>
                </c:pt>
                <c:pt idx="2466">
                  <c:v>4.09</c:v>
                </c:pt>
                <c:pt idx="2467">
                  <c:v>4.08</c:v>
                </c:pt>
                <c:pt idx="2468">
                  <c:v>4.08</c:v>
                </c:pt>
                <c:pt idx="2469">
                  <c:v>4.03</c:v>
                </c:pt>
                <c:pt idx="2470">
                  <c:v>4.04</c:v>
                </c:pt>
                <c:pt idx="2471">
                  <c:v>4.05</c:v>
                </c:pt>
                <c:pt idx="2472">
                  <c:v>4.0199999999999996</c:v>
                </c:pt>
                <c:pt idx="2473">
                  <c:v>3.97</c:v>
                </c:pt>
                <c:pt idx="2474">
                  <c:v>4.05</c:v>
                </c:pt>
                <c:pt idx="2475">
                  <c:v>4.0599999999999996</c:v>
                </c:pt>
                <c:pt idx="2476">
                  <c:v>4.09</c:v>
                </c:pt>
                <c:pt idx="2477">
                  <c:v>4.13</c:v>
                </c:pt>
                <c:pt idx="2478">
                  <c:v>4.1500000000000004</c:v>
                </c:pt>
                <c:pt idx="2479">
                  <c:v>4.12</c:v>
                </c:pt>
                <c:pt idx="2480">
                  <c:v>4.1500000000000004</c:v>
                </c:pt>
                <c:pt idx="2481">
                  <c:v>4.21</c:v>
                </c:pt>
                <c:pt idx="2482">
                  <c:v>4.2699999999999996</c:v>
                </c:pt>
                <c:pt idx="2483">
                  <c:v>4.28</c:v>
                </c:pt>
                <c:pt idx="2484">
                  <c:v>4.2300000000000004</c:v>
                </c:pt>
                <c:pt idx="2485">
                  <c:v>4.2</c:v>
                </c:pt>
                <c:pt idx="2486">
                  <c:v>4.26</c:v>
                </c:pt>
                <c:pt idx="2487">
                  <c:v>4.25</c:v>
                </c:pt>
                <c:pt idx="2488">
                  <c:v>4.3899999999999997</c:v>
                </c:pt>
                <c:pt idx="2489">
                  <c:v>4.34</c:v>
                </c:pt>
                <c:pt idx="2490">
                  <c:v>4.3899999999999997</c:v>
                </c:pt>
                <c:pt idx="2491">
                  <c:v>4.33</c:v>
                </c:pt>
                <c:pt idx="2492">
                  <c:v>4.42</c:v>
                </c:pt>
                <c:pt idx="2493">
                  <c:v>4.4400000000000004</c:v>
                </c:pt>
                <c:pt idx="2494">
                  <c:v>4.3499999999999996</c:v>
                </c:pt>
                <c:pt idx="2495">
                  <c:v>4.3</c:v>
                </c:pt>
                <c:pt idx="2496">
                  <c:v>4.33</c:v>
                </c:pt>
                <c:pt idx="2497">
                  <c:v>4.3099999999999996</c:v>
                </c:pt>
                <c:pt idx="2498">
                  <c:v>4.3499999999999996</c:v>
                </c:pt>
                <c:pt idx="2499">
                  <c:v>4.34</c:v>
                </c:pt>
                <c:pt idx="2500">
                  <c:v>4.33</c:v>
                </c:pt>
                <c:pt idx="2501">
                  <c:v>4.29</c:v>
                </c:pt>
                <c:pt idx="2502">
                  <c:v>4.29</c:v>
                </c:pt>
                <c:pt idx="2503">
                  <c:v>4.3099999999999996</c:v>
                </c:pt>
                <c:pt idx="2504">
                  <c:v>4.3</c:v>
                </c:pt>
                <c:pt idx="2505">
                  <c:v>4.26</c:v>
                </c:pt>
                <c:pt idx="2506">
                  <c:v>4.29</c:v>
                </c:pt>
                <c:pt idx="2507">
                  <c:v>4.32</c:v>
                </c:pt>
                <c:pt idx="2508">
                  <c:v>4.26</c:v>
                </c:pt>
                <c:pt idx="2509">
                  <c:v>4.26</c:v>
                </c:pt>
                <c:pt idx="2510">
                  <c:v>4.3</c:v>
                </c:pt>
                <c:pt idx="2511">
                  <c:v>4.3</c:v>
                </c:pt>
                <c:pt idx="2512">
                  <c:v>4.34</c:v>
                </c:pt>
                <c:pt idx="2513">
                  <c:v>4.3099999999999996</c:v>
                </c:pt>
                <c:pt idx="2514">
                  <c:v>4.3499999999999996</c:v>
                </c:pt>
                <c:pt idx="2515">
                  <c:v>4.3600000000000003</c:v>
                </c:pt>
                <c:pt idx="2516">
                  <c:v>4.42</c:v>
                </c:pt>
                <c:pt idx="2517">
                  <c:v>4.4000000000000004</c:v>
                </c:pt>
                <c:pt idx="2518">
                  <c:v>4.3899999999999997</c:v>
                </c:pt>
                <c:pt idx="2519">
                  <c:v>4.45</c:v>
                </c:pt>
                <c:pt idx="2520">
                  <c:v>4.43</c:v>
                </c:pt>
                <c:pt idx="2521">
                  <c:v>4.3600000000000003</c:v>
                </c:pt>
                <c:pt idx="2522">
                  <c:v>4.41</c:v>
                </c:pt>
                <c:pt idx="2523">
                  <c:v>4.38</c:v>
                </c:pt>
                <c:pt idx="2524">
                  <c:v>4.42</c:v>
                </c:pt>
                <c:pt idx="2525">
                  <c:v>4.46</c:v>
                </c:pt>
                <c:pt idx="2526">
                  <c:v>4.46</c:v>
                </c:pt>
                <c:pt idx="2527">
                  <c:v>4.47</c:v>
                </c:pt>
                <c:pt idx="2528">
                  <c:v>4.59</c:v>
                </c:pt>
                <c:pt idx="2529">
                  <c:v>4.6100000000000003</c:v>
                </c:pt>
                <c:pt idx="2530">
                  <c:v>4.67</c:v>
                </c:pt>
                <c:pt idx="2531">
                  <c:v>4.57</c:v>
                </c:pt>
                <c:pt idx="2532">
                  <c:v>4.57</c:v>
                </c:pt>
                <c:pt idx="2533">
                  <c:v>4.5599999999999996</c:v>
                </c:pt>
                <c:pt idx="2535">
                  <c:v>4.5</c:v>
                </c:pt>
                <c:pt idx="2536">
                  <c:v>4.4800000000000004</c:v>
                </c:pt>
                <c:pt idx="2537">
                  <c:v>4.45</c:v>
                </c:pt>
                <c:pt idx="2538">
                  <c:v>4.45</c:v>
                </c:pt>
                <c:pt idx="2539">
                  <c:v>4.47</c:v>
                </c:pt>
                <c:pt idx="2540">
                  <c:v>4.46</c:v>
                </c:pt>
                <c:pt idx="2541">
                  <c:v>4.49</c:v>
                </c:pt>
                <c:pt idx="2542">
                  <c:v>4.47</c:v>
                </c:pt>
                <c:pt idx="2543">
                  <c:v>4.55</c:v>
                </c:pt>
                <c:pt idx="2544">
                  <c:v>4.5599999999999996</c:v>
                </c:pt>
                <c:pt idx="2545">
                  <c:v>4.53</c:v>
                </c:pt>
                <c:pt idx="2546">
                  <c:v>4.55</c:v>
                </c:pt>
                <c:pt idx="2547">
                  <c:v>4.45</c:v>
                </c:pt>
                <c:pt idx="2548">
                  <c:v>4.4800000000000004</c:v>
                </c:pt>
                <c:pt idx="2549">
                  <c:v>4.47</c:v>
                </c:pt>
                <c:pt idx="2550">
                  <c:v>4.43</c:v>
                </c:pt>
                <c:pt idx="2551">
                  <c:v>4.49</c:v>
                </c:pt>
                <c:pt idx="2552">
                  <c:v>4.46</c:v>
                </c:pt>
                <c:pt idx="2554">
                  <c:v>4.51</c:v>
                </c:pt>
                <c:pt idx="2555">
                  <c:v>4.5</c:v>
                </c:pt>
                <c:pt idx="2556">
                  <c:v>4.41</c:v>
                </c:pt>
                <c:pt idx="2557">
                  <c:v>4.4000000000000004</c:v>
                </c:pt>
                <c:pt idx="2558">
                  <c:v>4.38</c:v>
                </c:pt>
                <c:pt idx="2559">
                  <c:v>4.38</c:v>
                </c:pt>
                <c:pt idx="2560">
                  <c:v>4.4400000000000004</c:v>
                </c:pt>
                <c:pt idx="2561">
                  <c:v>4.4800000000000004</c:v>
                </c:pt>
                <c:pt idx="2562">
                  <c:v>4.49</c:v>
                </c:pt>
                <c:pt idx="2564">
                  <c:v>4.4800000000000004</c:v>
                </c:pt>
                <c:pt idx="2565">
                  <c:v>4.55</c:v>
                </c:pt>
                <c:pt idx="2566">
                  <c:v>4.5599999999999996</c:v>
                </c:pt>
                <c:pt idx="2567">
                  <c:v>4.54</c:v>
                </c:pt>
                <c:pt idx="2568">
                  <c:v>4.5599999999999996</c:v>
                </c:pt>
                <c:pt idx="2569">
                  <c:v>4.62</c:v>
                </c:pt>
                <c:pt idx="2570">
                  <c:v>4.58</c:v>
                </c:pt>
                <c:pt idx="2571">
                  <c:v>4.55</c:v>
                </c:pt>
                <c:pt idx="2572">
                  <c:v>4.57</c:v>
                </c:pt>
                <c:pt idx="2573">
                  <c:v>4.55</c:v>
                </c:pt>
                <c:pt idx="2574">
                  <c:v>4.5999999999999996</c:v>
                </c:pt>
                <c:pt idx="2575">
                  <c:v>4.63</c:v>
                </c:pt>
                <c:pt idx="2576">
                  <c:v>4.67</c:v>
                </c:pt>
                <c:pt idx="2577">
                  <c:v>4.71</c:v>
                </c:pt>
                <c:pt idx="2578">
                  <c:v>4.6900000000000004</c:v>
                </c:pt>
                <c:pt idx="2579">
                  <c:v>4.6500000000000004</c:v>
                </c:pt>
                <c:pt idx="2580">
                  <c:v>4.6100000000000003</c:v>
                </c:pt>
                <c:pt idx="2581">
                  <c:v>4.67</c:v>
                </c:pt>
                <c:pt idx="2582">
                  <c:v>4.68</c:v>
                </c:pt>
                <c:pt idx="2583">
                  <c:v>4.75</c:v>
                </c:pt>
                <c:pt idx="2584">
                  <c:v>4.7</c:v>
                </c:pt>
                <c:pt idx="2585">
                  <c:v>4.63</c:v>
                </c:pt>
                <c:pt idx="2586">
                  <c:v>4.63</c:v>
                </c:pt>
                <c:pt idx="2587">
                  <c:v>4.6900000000000004</c:v>
                </c:pt>
                <c:pt idx="2588">
                  <c:v>4.6500000000000004</c:v>
                </c:pt>
                <c:pt idx="2589">
                  <c:v>4.72</c:v>
                </c:pt>
                <c:pt idx="2590">
                  <c:v>4.7</c:v>
                </c:pt>
                <c:pt idx="2591">
                  <c:v>4.68</c:v>
                </c:pt>
                <c:pt idx="2592">
                  <c:v>4.63</c:v>
                </c:pt>
                <c:pt idx="2593">
                  <c:v>4.68</c:v>
                </c:pt>
                <c:pt idx="2594">
                  <c:v>4.72</c:v>
                </c:pt>
                <c:pt idx="2595">
                  <c:v>4.71</c:v>
                </c:pt>
                <c:pt idx="2596">
                  <c:v>4.6500000000000004</c:v>
                </c:pt>
                <c:pt idx="2597">
                  <c:v>4.6900000000000004</c:v>
                </c:pt>
                <c:pt idx="2598">
                  <c:v>4.74</c:v>
                </c:pt>
                <c:pt idx="2599">
                  <c:v>4.7</c:v>
                </c:pt>
                <c:pt idx="2600">
                  <c:v>4.6399999999999997</c:v>
                </c:pt>
                <c:pt idx="2601">
                  <c:v>4.66</c:v>
                </c:pt>
                <c:pt idx="2602">
                  <c:v>4.67</c:v>
                </c:pt>
                <c:pt idx="2603">
                  <c:v>4.7300000000000004</c:v>
                </c:pt>
                <c:pt idx="2604">
                  <c:v>4.75</c:v>
                </c:pt>
                <c:pt idx="2605">
                  <c:v>4.79</c:v>
                </c:pt>
                <c:pt idx="2606">
                  <c:v>4.79</c:v>
                </c:pt>
                <c:pt idx="2607">
                  <c:v>4.7699999999999996</c:v>
                </c:pt>
              </c:numCache>
            </c:numRef>
          </c:val>
          <c:smooth val="0"/>
          <c:extLst>
            <c:ext xmlns:c16="http://schemas.microsoft.com/office/drawing/2014/chart" uri="{C3380CC4-5D6E-409C-BE32-E72D297353CC}">
              <c16:uniqueId val="{00000000-122D-FA45-9B31-E9D8B88902D7}"/>
            </c:ext>
          </c:extLst>
        </c:ser>
        <c:dLbls>
          <c:showLegendKey val="0"/>
          <c:showVal val="0"/>
          <c:showCatName val="0"/>
          <c:showSerName val="0"/>
          <c:showPercent val="0"/>
          <c:showBubbleSize val="0"/>
        </c:dLbls>
        <c:smooth val="0"/>
        <c:axId val="1819367104"/>
        <c:axId val="1790179776"/>
      </c:lineChart>
      <c:dateAx>
        <c:axId val="1819367104"/>
        <c:scaling>
          <c:orientation val="minMax"/>
        </c:scaling>
        <c:delete val="0"/>
        <c:axPos val="b"/>
        <c:numFmt formatCode="yyyy" sourceLinked="0"/>
        <c:majorTickMark val="out"/>
        <c:minorTickMark val="none"/>
        <c:tickLblPos val="low"/>
        <c:spPr>
          <a:noFill/>
          <a:ln w="9525" cap="flat" cmpd="sng" algn="ctr">
            <a:noFill/>
            <a:round/>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179776"/>
        <c:crosses val="autoZero"/>
        <c:auto val="1"/>
        <c:lblOffset val="100"/>
        <c:baseTimeUnit val="days"/>
        <c:majorUnit val="1"/>
        <c:majorTimeUnit val="years"/>
      </c:dateAx>
      <c:valAx>
        <c:axId val="179017977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193671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kern="1200" spc="0" baseline="0">
                <a:solidFill>
                  <a:sysClr val="windowText" lastClr="000000">
                    <a:lumMod val="65000"/>
                    <a:lumOff val="35000"/>
                  </a:sysClr>
                </a:solidFill>
                <a:latin typeface="Arial"/>
              </a:rPr>
              <a:t>Market Momentum Craters Each Time the Fed Hikes Fastest</a:t>
            </a:r>
            <a:endParaRPr lang="en-GB" sz="1000" b="1" i="0" u="none" strike="noStrike" kern="1200" spc="0" baseline="0">
              <a:solidFill>
                <a:sysClr val="windowText" lastClr="000000">
                  <a:lumMod val="65000"/>
                  <a:lumOff val="35000"/>
                </a:sysClr>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US!$AQ$3</c:f>
              <c:strCache>
                <c:ptCount val="1"/>
                <c:pt idx="0">
                  <c:v>Fed Funds Rate (%) RHS</c:v>
                </c:pt>
              </c:strCache>
            </c:strRef>
          </c:tx>
          <c:spPr>
            <a:solidFill>
              <a:srgbClr val="0B2C48"/>
            </a:solidFill>
            <a:ln>
              <a:noFill/>
            </a:ln>
            <a:effectLst/>
          </c:spPr>
          <c:invertIfNegative val="0"/>
          <c:cat>
            <c:numRef>
              <c:f>US!$AP$4:$AP$111</c:f>
              <c:numCache>
                <c:formatCode>mmm\-yy</c:formatCode>
                <c:ptCount val="108"/>
                <c:pt idx="0">
                  <c:v>42979</c:v>
                </c:pt>
                <c:pt idx="1">
                  <c:v>43009</c:v>
                </c:pt>
                <c:pt idx="2">
                  <c:v>43040</c:v>
                </c:pt>
                <c:pt idx="3">
                  <c:v>43070</c:v>
                </c:pt>
                <c:pt idx="4">
                  <c:v>43101</c:v>
                </c:pt>
                <c:pt idx="5">
                  <c:v>43132</c:v>
                </c:pt>
                <c:pt idx="6">
                  <c:v>43160</c:v>
                </c:pt>
                <c:pt idx="7">
                  <c:v>43191</c:v>
                </c:pt>
                <c:pt idx="8">
                  <c:v>43221</c:v>
                </c:pt>
                <c:pt idx="9">
                  <c:v>43252</c:v>
                </c:pt>
                <c:pt idx="10">
                  <c:v>43282</c:v>
                </c:pt>
                <c:pt idx="11">
                  <c:v>43313</c:v>
                </c:pt>
                <c:pt idx="12">
                  <c:v>43344</c:v>
                </c:pt>
                <c:pt idx="13">
                  <c:v>43374</c:v>
                </c:pt>
                <c:pt idx="14">
                  <c:v>43405</c:v>
                </c:pt>
                <c:pt idx="15">
                  <c:v>43435</c:v>
                </c:pt>
                <c:pt idx="16">
                  <c:v>43466</c:v>
                </c:pt>
                <c:pt idx="17">
                  <c:v>43497</c:v>
                </c:pt>
                <c:pt idx="18">
                  <c:v>43525</c:v>
                </c:pt>
                <c:pt idx="19">
                  <c:v>43556</c:v>
                </c:pt>
                <c:pt idx="20">
                  <c:v>43586</c:v>
                </c:pt>
                <c:pt idx="21">
                  <c:v>43617</c:v>
                </c:pt>
                <c:pt idx="22">
                  <c:v>43647</c:v>
                </c:pt>
                <c:pt idx="23">
                  <c:v>43678</c:v>
                </c:pt>
                <c:pt idx="24">
                  <c:v>43709</c:v>
                </c:pt>
                <c:pt idx="25">
                  <c:v>43739</c:v>
                </c:pt>
                <c:pt idx="26">
                  <c:v>43770</c:v>
                </c:pt>
                <c:pt idx="27">
                  <c:v>43800</c:v>
                </c:pt>
                <c:pt idx="28">
                  <c:v>43831</c:v>
                </c:pt>
                <c:pt idx="29">
                  <c:v>43862</c:v>
                </c:pt>
                <c:pt idx="30">
                  <c:v>43891</c:v>
                </c:pt>
                <c:pt idx="31">
                  <c:v>43922</c:v>
                </c:pt>
                <c:pt idx="32">
                  <c:v>43952</c:v>
                </c:pt>
                <c:pt idx="33">
                  <c:v>43983</c:v>
                </c:pt>
                <c:pt idx="34">
                  <c:v>44013</c:v>
                </c:pt>
                <c:pt idx="35">
                  <c:v>44044</c:v>
                </c:pt>
                <c:pt idx="36">
                  <c:v>44075</c:v>
                </c:pt>
                <c:pt idx="37">
                  <c:v>44105</c:v>
                </c:pt>
                <c:pt idx="38">
                  <c:v>44136</c:v>
                </c:pt>
                <c:pt idx="39">
                  <c:v>44166</c:v>
                </c:pt>
                <c:pt idx="40">
                  <c:v>44197</c:v>
                </c:pt>
                <c:pt idx="41">
                  <c:v>44228</c:v>
                </c:pt>
                <c:pt idx="42">
                  <c:v>44256</c:v>
                </c:pt>
                <c:pt idx="43">
                  <c:v>44287</c:v>
                </c:pt>
                <c:pt idx="44">
                  <c:v>44317</c:v>
                </c:pt>
                <c:pt idx="45">
                  <c:v>44348</c:v>
                </c:pt>
                <c:pt idx="46">
                  <c:v>44378</c:v>
                </c:pt>
                <c:pt idx="47">
                  <c:v>44409</c:v>
                </c:pt>
                <c:pt idx="48">
                  <c:v>44440</c:v>
                </c:pt>
                <c:pt idx="49">
                  <c:v>44470</c:v>
                </c:pt>
                <c:pt idx="50">
                  <c:v>44501</c:v>
                </c:pt>
                <c:pt idx="51">
                  <c:v>44531</c:v>
                </c:pt>
                <c:pt idx="52">
                  <c:v>44562</c:v>
                </c:pt>
                <c:pt idx="53">
                  <c:v>44593</c:v>
                </c:pt>
                <c:pt idx="54">
                  <c:v>44621</c:v>
                </c:pt>
                <c:pt idx="55">
                  <c:v>44652</c:v>
                </c:pt>
                <c:pt idx="56">
                  <c:v>44682</c:v>
                </c:pt>
                <c:pt idx="57">
                  <c:v>44713</c:v>
                </c:pt>
                <c:pt idx="58">
                  <c:v>44743</c:v>
                </c:pt>
                <c:pt idx="59">
                  <c:v>44774</c:v>
                </c:pt>
                <c:pt idx="60">
                  <c:v>44805</c:v>
                </c:pt>
                <c:pt idx="61">
                  <c:v>44835</c:v>
                </c:pt>
                <c:pt idx="62">
                  <c:v>44866</c:v>
                </c:pt>
                <c:pt idx="63">
                  <c:v>44896</c:v>
                </c:pt>
                <c:pt idx="64">
                  <c:v>44927</c:v>
                </c:pt>
                <c:pt idx="65">
                  <c:v>44958</c:v>
                </c:pt>
                <c:pt idx="66">
                  <c:v>44986</c:v>
                </c:pt>
                <c:pt idx="67">
                  <c:v>45017</c:v>
                </c:pt>
                <c:pt idx="68">
                  <c:v>45047</c:v>
                </c:pt>
                <c:pt idx="69">
                  <c:v>45078</c:v>
                </c:pt>
                <c:pt idx="70">
                  <c:v>45108</c:v>
                </c:pt>
                <c:pt idx="71">
                  <c:v>45139</c:v>
                </c:pt>
                <c:pt idx="72">
                  <c:v>45170</c:v>
                </c:pt>
                <c:pt idx="73">
                  <c:v>45200</c:v>
                </c:pt>
                <c:pt idx="74">
                  <c:v>45231</c:v>
                </c:pt>
                <c:pt idx="75">
                  <c:v>45261</c:v>
                </c:pt>
                <c:pt idx="76">
                  <c:v>45292</c:v>
                </c:pt>
                <c:pt idx="77">
                  <c:v>45323</c:v>
                </c:pt>
                <c:pt idx="78">
                  <c:v>45352</c:v>
                </c:pt>
                <c:pt idx="79">
                  <c:v>45383</c:v>
                </c:pt>
                <c:pt idx="80">
                  <c:v>45413</c:v>
                </c:pt>
                <c:pt idx="81">
                  <c:v>45444</c:v>
                </c:pt>
                <c:pt idx="82">
                  <c:v>45474</c:v>
                </c:pt>
                <c:pt idx="83">
                  <c:v>45505</c:v>
                </c:pt>
                <c:pt idx="84">
                  <c:v>45536</c:v>
                </c:pt>
                <c:pt idx="85">
                  <c:v>45566</c:v>
                </c:pt>
                <c:pt idx="86">
                  <c:v>45597</c:v>
                </c:pt>
                <c:pt idx="87">
                  <c:v>45627</c:v>
                </c:pt>
                <c:pt idx="88">
                  <c:v>45658</c:v>
                </c:pt>
                <c:pt idx="89">
                  <c:v>45689</c:v>
                </c:pt>
                <c:pt idx="90">
                  <c:v>45717</c:v>
                </c:pt>
                <c:pt idx="91">
                  <c:v>45748</c:v>
                </c:pt>
                <c:pt idx="92">
                  <c:v>45778</c:v>
                </c:pt>
                <c:pt idx="93">
                  <c:v>45809</c:v>
                </c:pt>
                <c:pt idx="94">
                  <c:v>45839</c:v>
                </c:pt>
                <c:pt idx="95">
                  <c:v>45870</c:v>
                </c:pt>
                <c:pt idx="96">
                  <c:v>45901</c:v>
                </c:pt>
                <c:pt idx="97">
                  <c:v>45931</c:v>
                </c:pt>
                <c:pt idx="98">
                  <c:v>45962</c:v>
                </c:pt>
                <c:pt idx="99">
                  <c:v>45992</c:v>
                </c:pt>
                <c:pt idx="100">
                  <c:v>46023</c:v>
                </c:pt>
                <c:pt idx="101">
                  <c:v>46054</c:v>
                </c:pt>
                <c:pt idx="102">
                  <c:v>46082</c:v>
                </c:pt>
                <c:pt idx="103">
                  <c:v>46113</c:v>
                </c:pt>
                <c:pt idx="104">
                  <c:v>46143</c:v>
                </c:pt>
                <c:pt idx="105">
                  <c:v>46174</c:v>
                </c:pt>
                <c:pt idx="106">
                  <c:v>46204</c:v>
                </c:pt>
                <c:pt idx="107">
                  <c:v>46235</c:v>
                </c:pt>
              </c:numCache>
            </c:numRef>
          </c:cat>
          <c:val>
            <c:numRef>
              <c:f>US!$AQ$4:$AQ$111</c:f>
              <c:numCache>
                <c:formatCode>0.00</c:formatCode>
                <c:ptCount val="108"/>
                <c:pt idx="0">
                  <c:v>1.1499999999999999</c:v>
                </c:pt>
                <c:pt idx="1">
                  <c:v>1.1499999999999999</c:v>
                </c:pt>
                <c:pt idx="2">
                  <c:v>1.1599999999999999</c:v>
                </c:pt>
                <c:pt idx="3">
                  <c:v>1.3</c:v>
                </c:pt>
                <c:pt idx="4">
                  <c:v>1.41</c:v>
                </c:pt>
                <c:pt idx="5">
                  <c:v>1.42</c:v>
                </c:pt>
                <c:pt idx="6">
                  <c:v>1.51</c:v>
                </c:pt>
                <c:pt idx="7">
                  <c:v>1.69</c:v>
                </c:pt>
                <c:pt idx="8">
                  <c:v>1.7</c:v>
                </c:pt>
                <c:pt idx="9">
                  <c:v>1.82</c:v>
                </c:pt>
                <c:pt idx="10">
                  <c:v>1.91</c:v>
                </c:pt>
                <c:pt idx="11">
                  <c:v>1.91</c:v>
                </c:pt>
                <c:pt idx="12">
                  <c:v>1.95</c:v>
                </c:pt>
                <c:pt idx="13">
                  <c:v>2.19</c:v>
                </c:pt>
                <c:pt idx="14">
                  <c:v>2.2000000000000002</c:v>
                </c:pt>
                <c:pt idx="15">
                  <c:v>2.27</c:v>
                </c:pt>
                <c:pt idx="16">
                  <c:v>2.4</c:v>
                </c:pt>
                <c:pt idx="17">
                  <c:v>2.4</c:v>
                </c:pt>
                <c:pt idx="18">
                  <c:v>2.41</c:v>
                </c:pt>
                <c:pt idx="19">
                  <c:v>2.42</c:v>
                </c:pt>
                <c:pt idx="20">
                  <c:v>2.39</c:v>
                </c:pt>
                <c:pt idx="21">
                  <c:v>2.38</c:v>
                </c:pt>
                <c:pt idx="22">
                  <c:v>2.4</c:v>
                </c:pt>
                <c:pt idx="23">
                  <c:v>2.13</c:v>
                </c:pt>
                <c:pt idx="24">
                  <c:v>2.04</c:v>
                </c:pt>
                <c:pt idx="25">
                  <c:v>1.83</c:v>
                </c:pt>
                <c:pt idx="26">
                  <c:v>1.55</c:v>
                </c:pt>
                <c:pt idx="27">
                  <c:v>1.55</c:v>
                </c:pt>
                <c:pt idx="28">
                  <c:v>1.55</c:v>
                </c:pt>
                <c:pt idx="29">
                  <c:v>1.58</c:v>
                </c:pt>
                <c:pt idx="30">
                  <c:v>0.65</c:v>
                </c:pt>
                <c:pt idx="31">
                  <c:v>0.05</c:v>
                </c:pt>
                <c:pt idx="32">
                  <c:v>0.05</c:v>
                </c:pt>
                <c:pt idx="33">
                  <c:v>0.08</c:v>
                </c:pt>
                <c:pt idx="34">
                  <c:v>0.09</c:v>
                </c:pt>
                <c:pt idx="35">
                  <c:v>0.1</c:v>
                </c:pt>
                <c:pt idx="36">
                  <c:v>0.09</c:v>
                </c:pt>
                <c:pt idx="37">
                  <c:v>0.09</c:v>
                </c:pt>
                <c:pt idx="38">
                  <c:v>0.09</c:v>
                </c:pt>
                <c:pt idx="39">
                  <c:v>0.09</c:v>
                </c:pt>
                <c:pt idx="40">
                  <c:v>0.09</c:v>
                </c:pt>
                <c:pt idx="41">
                  <c:v>0.08</c:v>
                </c:pt>
                <c:pt idx="42">
                  <c:v>7.0000000000000007E-2</c:v>
                </c:pt>
                <c:pt idx="43">
                  <c:v>7.0000000000000007E-2</c:v>
                </c:pt>
                <c:pt idx="44">
                  <c:v>0.06</c:v>
                </c:pt>
                <c:pt idx="45">
                  <c:v>0.08</c:v>
                </c:pt>
                <c:pt idx="46">
                  <c:v>0.1</c:v>
                </c:pt>
                <c:pt idx="47">
                  <c:v>0.09</c:v>
                </c:pt>
                <c:pt idx="48">
                  <c:v>0.08</c:v>
                </c:pt>
                <c:pt idx="49">
                  <c:v>0.08</c:v>
                </c:pt>
                <c:pt idx="50">
                  <c:v>0.08</c:v>
                </c:pt>
                <c:pt idx="51">
                  <c:v>0.08</c:v>
                </c:pt>
                <c:pt idx="52">
                  <c:v>0.08</c:v>
                </c:pt>
                <c:pt idx="53">
                  <c:v>0.08</c:v>
                </c:pt>
                <c:pt idx="54">
                  <c:v>0.2</c:v>
                </c:pt>
                <c:pt idx="55">
                  <c:v>0.33</c:v>
                </c:pt>
                <c:pt idx="56">
                  <c:v>0.77</c:v>
                </c:pt>
                <c:pt idx="57">
                  <c:v>1.21</c:v>
                </c:pt>
                <c:pt idx="58">
                  <c:v>1.68</c:v>
                </c:pt>
                <c:pt idx="59">
                  <c:v>2.33</c:v>
                </c:pt>
                <c:pt idx="60">
                  <c:v>2.56</c:v>
                </c:pt>
                <c:pt idx="61">
                  <c:v>3.08</c:v>
                </c:pt>
                <c:pt idx="62">
                  <c:v>3.78</c:v>
                </c:pt>
                <c:pt idx="63">
                  <c:v>4.0999999999999996</c:v>
                </c:pt>
                <c:pt idx="64">
                  <c:v>4.33</c:v>
                </c:pt>
                <c:pt idx="65">
                  <c:v>4.57</c:v>
                </c:pt>
                <c:pt idx="66">
                  <c:v>4.6500000000000004</c:v>
                </c:pt>
                <c:pt idx="67">
                  <c:v>4.83</c:v>
                </c:pt>
                <c:pt idx="68">
                  <c:v>5.0599999999999996</c:v>
                </c:pt>
                <c:pt idx="69">
                  <c:v>5.08</c:v>
                </c:pt>
                <c:pt idx="70">
                  <c:v>5.12</c:v>
                </c:pt>
                <c:pt idx="71">
                  <c:v>5.33</c:v>
                </c:pt>
                <c:pt idx="72">
                  <c:v>5.33</c:v>
                </c:pt>
                <c:pt idx="73">
                  <c:v>5.33</c:v>
                </c:pt>
                <c:pt idx="74">
                  <c:v>5.33</c:v>
                </c:pt>
                <c:pt idx="75">
                  <c:v>5.33</c:v>
                </c:pt>
                <c:pt idx="76">
                  <c:v>5.33</c:v>
                </c:pt>
                <c:pt idx="77">
                  <c:v>5.33</c:v>
                </c:pt>
                <c:pt idx="78">
                  <c:v>5.33</c:v>
                </c:pt>
                <c:pt idx="79">
                  <c:v>5.33</c:v>
                </c:pt>
                <c:pt idx="80">
                  <c:v>5.33</c:v>
                </c:pt>
                <c:pt idx="81">
                  <c:v>5.33</c:v>
                </c:pt>
                <c:pt idx="82">
                  <c:v>5.33</c:v>
                </c:pt>
                <c:pt idx="83">
                  <c:v>5.33</c:v>
                </c:pt>
                <c:pt idx="84">
                  <c:v>5.13</c:v>
                </c:pt>
                <c:pt idx="85">
                  <c:v>4.83</c:v>
                </c:pt>
                <c:pt idx="86">
                  <c:v>4.6399999999999997</c:v>
                </c:pt>
                <c:pt idx="87">
                  <c:v>4.4800000000000004</c:v>
                </c:pt>
                <c:pt idx="88">
                  <c:v>4.33</c:v>
                </c:pt>
                <c:pt idx="89">
                  <c:v>4.33</c:v>
                </c:pt>
                <c:pt idx="90">
                  <c:v>4.33</c:v>
                </c:pt>
                <c:pt idx="91">
                  <c:v>4.33</c:v>
                </c:pt>
                <c:pt idx="92">
                  <c:v>4.33</c:v>
                </c:pt>
                <c:pt idx="93">
                  <c:v>4.33</c:v>
                </c:pt>
                <c:pt idx="94">
                  <c:v>4.33</c:v>
                </c:pt>
                <c:pt idx="95">
                  <c:v>4.33</c:v>
                </c:pt>
                <c:pt idx="96">
                  <c:v>4.22</c:v>
                </c:pt>
                <c:pt idx="97">
                  <c:v>4.09</c:v>
                </c:pt>
                <c:pt idx="98">
                  <c:v>3.88</c:v>
                </c:pt>
                <c:pt idx="99">
                  <c:v>3.72</c:v>
                </c:pt>
                <c:pt idx="100">
                  <c:v>3.64</c:v>
                </c:pt>
                <c:pt idx="101">
                  <c:v>3.64</c:v>
                </c:pt>
                <c:pt idx="102">
                  <c:v>3.64</c:v>
                </c:pt>
                <c:pt idx="103">
                  <c:v>3.64</c:v>
                </c:pt>
                <c:pt idx="104">
                  <c:v>3.63</c:v>
                </c:pt>
                <c:pt idx="105">
                  <c:v>3.63</c:v>
                </c:pt>
                <c:pt idx="106">
                  <c:v>3.63</c:v>
                </c:pt>
                <c:pt idx="107">
                  <c:v>3.63</c:v>
                </c:pt>
              </c:numCache>
            </c:numRef>
          </c:val>
          <c:extLst>
            <c:ext xmlns:c16="http://schemas.microsoft.com/office/drawing/2014/chart" uri="{C3380CC4-5D6E-409C-BE32-E72D297353CC}">
              <c16:uniqueId val="{00000000-C15F-F049-9304-EE035497775C}"/>
            </c:ext>
          </c:extLst>
        </c:ser>
        <c:dLbls>
          <c:showLegendKey val="0"/>
          <c:showVal val="0"/>
          <c:showCatName val="0"/>
          <c:showSerName val="0"/>
          <c:showPercent val="0"/>
          <c:showBubbleSize val="0"/>
        </c:dLbls>
        <c:gapWidth val="150"/>
        <c:axId val="1731909760"/>
        <c:axId val="1802322368"/>
      </c:barChart>
      <c:lineChart>
        <c:grouping val="standard"/>
        <c:varyColors val="0"/>
        <c:ser>
          <c:idx val="1"/>
          <c:order val="1"/>
          <c:tx>
            <c:strRef>
              <c:f>US!$AR$3</c:f>
              <c:strCache>
                <c:ptCount val="1"/>
                <c:pt idx="0">
                  <c:v>SPY YoY Return (%) LHS</c:v>
                </c:pt>
              </c:strCache>
            </c:strRef>
          </c:tx>
          <c:spPr>
            <a:ln w="22225" cap="rnd">
              <a:solidFill>
                <a:srgbClr val="C9A03A"/>
              </a:solidFill>
              <a:round/>
            </a:ln>
            <a:effectLst/>
          </c:spPr>
          <c:marker>
            <c:symbol val="none"/>
          </c:marker>
          <c:cat>
            <c:numRef>
              <c:f>US!$AP$4:$AP$111</c:f>
              <c:numCache>
                <c:formatCode>mmm\-yy</c:formatCode>
                <c:ptCount val="108"/>
                <c:pt idx="0">
                  <c:v>42979</c:v>
                </c:pt>
                <c:pt idx="1">
                  <c:v>43009</c:v>
                </c:pt>
                <c:pt idx="2">
                  <c:v>43040</c:v>
                </c:pt>
                <c:pt idx="3">
                  <c:v>43070</c:v>
                </c:pt>
                <c:pt idx="4">
                  <c:v>43101</c:v>
                </c:pt>
                <c:pt idx="5">
                  <c:v>43132</c:v>
                </c:pt>
                <c:pt idx="6">
                  <c:v>43160</c:v>
                </c:pt>
                <c:pt idx="7">
                  <c:v>43191</c:v>
                </c:pt>
                <c:pt idx="8">
                  <c:v>43221</c:v>
                </c:pt>
                <c:pt idx="9">
                  <c:v>43252</c:v>
                </c:pt>
                <c:pt idx="10">
                  <c:v>43282</c:v>
                </c:pt>
                <c:pt idx="11">
                  <c:v>43313</c:v>
                </c:pt>
                <c:pt idx="12">
                  <c:v>43344</c:v>
                </c:pt>
                <c:pt idx="13">
                  <c:v>43374</c:v>
                </c:pt>
                <c:pt idx="14">
                  <c:v>43405</c:v>
                </c:pt>
                <c:pt idx="15">
                  <c:v>43435</c:v>
                </c:pt>
                <c:pt idx="16">
                  <c:v>43466</c:v>
                </c:pt>
                <c:pt idx="17">
                  <c:v>43497</c:v>
                </c:pt>
                <c:pt idx="18">
                  <c:v>43525</c:v>
                </c:pt>
                <c:pt idx="19">
                  <c:v>43556</c:v>
                </c:pt>
                <c:pt idx="20">
                  <c:v>43586</c:v>
                </c:pt>
                <c:pt idx="21">
                  <c:v>43617</c:v>
                </c:pt>
                <c:pt idx="22">
                  <c:v>43647</c:v>
                </c:pt>
                <c:pt idx="23">
                  <c:v>43678</c:v>
                </c:pt>
                <c:pt idx="24">
                  <c:v>43709</c:v>
                </c:pt>
                <c:pt idx="25">
                  <c:v>43739</c:v>
                </c:pt>
                <c:pt idx="26">
                  <c:v>43770</c:v>
                </c:pt>
                <c:pt idx="27">
                  <c:v>43800</c:v>
                </c:pt>
                <c:pt idx="28">
                  <c:v>43831</c:v>
                </c:pt>
                <c:pt idx="29">
                  <c:v>43862</c:v>
                </c:pt>
                <c:pt idx="30">
                  <c:v>43891</c:v>
                </c:pt>
                <c:pt idx="31">
                  <c:v>43922</c:v>
                </c:pt>
                <c:pt idx="32">
                  <c:v>43952</c:v>
                </c:pt>
                <c:pt idx="33">
                  <c:v>43983</c:v>
                </c:pt>
                <c:pt idx="34">
                  <c:v>44013</c:v>
                </c:pt>
                <c:pt idx="35">
                  <c:v>44044</c:v>
                </c:pt>
                <c:pt idx="36">
                  <c:v>44075</c:v>
                </c:pt>
                <c:pt idx="37">
                  <c:v>44105</c:v>
                </c:pt>
                <c:pt idx="38">
                  <c:v>44136</c:v>
                </c:pt>
                <c:pt idx="39">
                  <c:v>44166</c:v>
                </c:pt>
                <c:pt idx="40">
                  <c:v>44197</c:v>
                </c:pt>
                <c:pt idx="41">
                  <c:v>44228</c:v>
                </c:pt>
                <c:pt idx="42">
                  <c:v>44256</c:v>
                </c:pt>
                <c:pt idx="43">
                  <c:v>44287</c:v>
                </c:pt>
                <c:pt idx="44">
                  <c:v>44317</c:v>
                </c:pt>
                <c:pt idx="45">
                  <c:v>44348</c:v>
                </c:pt>
                <c:pt idx="46">
                  <c:v>44378</c:v>
                </c:pt>
                <c:pt idx="47">
                  <c:v>44409</c:v>
                </c:pt>
                <c:pt idx="48">
                  <c:v>44440</c:v>
                </c:pt>
                <c:pt idx="49">
                  <c:v>44470</c:v>
                </c:pt>
                <c:pt idx="50">
                  <c:v>44501</c:v>
                </c:pt>
                <c:pt idx="51">
                  <c:v>44531</c:v>
                </c:pt>
                <c:pt idx="52">
                  <c:v>44562</c:v>
                </c:pt>
                <c:pt idx="53">
                  <c:v>44593</c:v>
                </c:pt>
                <c:pt idx="54">
                  <c:v>44621</c:v>
                </c:pt>
                <c:pt idx="55">
                  <c:v>44652</c:v>
                </c:pt>
                <c:pt idx="56">
                  <c:v>44682</c:v>
                </c:pt>
                <c:pt idx="57">
                  <c:v>44713</c:v>
                </c:pt>
                <c:pt idx="58">
                  <c:v>44743</c:v>
                </c:pt>
                <c:pt idx="59">
                  <c:v>44774</c:v>
                </c:pt>
                <c:pt idx="60">
                  <c:v>44805</c:v>
                </c:pt>
                <c:pt idx="61">
                  <c:v>44835</c:v>
                </c:pt>
                <c:pt idx="62">
                  <c:v>44866</c:v>
                </c:pt>
                <c:pt idx="63">
                  <c:v>44896</c:v>
                </c:pt>
                <c:pt idx="64">
                  <c:v>44927</c:v>
                </c:pt>
                <c:pt idx="65">
                  <c:v>44958</c:v>
                </c:pt>
                <c:pt idx="66">
                  <c:v>44986</c:v>
                </c:pt>
                <c:pt idx="67">
                  <c:v>45017</c:v>
                </c:pt>
                <c:pt idx="68">
                  <c:v>45047</c:v>
                </c:pt>
                <c:pt idx="69">
                  <c:v>45078</c:v>
                </c:pt>
                <c:pt idx="70">
                  <c:v>45108</c:v>
                </c:pt>
                <c:pt idx="71">
                  <c:v>45139</c:v>
                </c:pt>
                <c:pt idx="72">
                  <c:v>45170</c:v>
                </c:pt>
                <c:pt idx="73">
                  <c:v>45200</c:v>
                </c:pt>
                <c:pt idx="74">
                  <c:v>45231</c:v>
                </c:pt>
                <c:pt idx="75">
                  <c:v>45261</c:v>
                </c:pt>
                <c:pt idx="76">
                  <c:v>45292</c:v>
                </c:pt>
                <c:pt idx="77">
                  <c:v>45323</c:v>
                </c:pt>
                <c:pt idx="78">
                  <c:v>45352</c:v>
                </c:pt>
                <c:pt idx="79">
                  <c:v>45383</c:v>
                </c:pt>
                <c:pt idx="80">
                  <c:v>45413</c:v>
                </c:pt>
                <c:pt idx="81">
                  <c:v>45444</c:v>
                </c:pt>
                <c:pt idx="82">
                  <c:v>45474</c:v>
                </c:pt>
                <c:pt idx="83">
                  <c:v>45505</c:v>
                </c:pt>
                <c:pt idx="84">
                  <c:v>45536</c:v>
                </c:pt>
                <c:pt idx="85">
                  <c:v>45566</c:v>
                </c:pt>
                <c:pt idx="86">
                  <c:v>45597</c:v>
                </c:pt>
                <c:pt idx="87">
                  <c:v>45627</c:v>
                </c:pt>
                <c:pt idx="88">
                  <c:v>45658</c:v>
                </c:pt>
                <c:pt idx="89">
                  <c:v>45689</c:v>
                </c:pt>
                <c:pt idx="90">
                  <c:v>45717</c:v>
                </c:pt>
                <c:pt idx="91">
                  <c:v>45748</c:v>
                </c:pt>
                <c:pt idx="92">
                  <c:v>45778</c:v>
                </c:pt>
                <c:pt idx="93">
                  <c:v>45809</c:v>
                </c:pt>
                <c:pt idx="94">
                  <c:v>45839</c:v>
                </c:pt>
                <c:pt idx="95">
                  <c:v>45870</c:v>
                </c:pt>
                <c:pt idx="96">
                  <c:v>45901</c:v>
                </c:pt>
                <c:pt idx="97">
                  <c:v>45931</c:v>
                </c:pt>
                <c:pt idx="98">
                  <c:v>45962</c:v>
                </c:pt>
                <c:pt idx="99">
                  <c:v>45992</c:v>
                </c:pt>
                <c:pt idx="100">
                  <c:v>46023</c:v>
                </c:pt>
                <c:pt idx="101">
                  <c:v>46054</c:v>
                </c:pt>
                <c:pt idx="102">
                  <c:v>46082</c:v>
                </c:pt>
                <c:pt idx="103">
                  <c:v>46113</c:v>
                </c:pt>
                <c:pt idx="104">
                  <c:v>46143</c:v>
                </c:pt>
                <c:pt idx="105">
                  <c:v>46174</c:v>
                </c:pt>
                <c:pt idx="106">
                  <c:v>46204</c:v>
                </c:pt>
                <c:pt idx="107">
                  <c:v>46235</c:v>
                </c:pt>
              </c:numCache>
            </c:numRef>
          </c:cat>
          <c:val>
            <c:numRef>
              <c:f>US!$AR$4:$AR$111</c:f>
              <c:numCache>
                <c:formatCode>0.0\%</c:formatCode>
                <c:ptCount val="108"/>
                <c:pt idx="0">
                  <c:v>16.148867313915851</c:v>
                </c:pt>
                <c:pt idx="1">
                  <c:v>20.983298047518218</c:v>
                </c:pt>
                <c:pt idx="2">
                  <c:v>20.251383973137305</c:v>
                </c:pt>
                <c:pt idx="3">
                  <c:v>19.384422672571922</c:v>
                </c:pt>
                <c:pt idx="4">
                  <c:v>23.895750010987559</c:v>
                </c:pt>
                <c:pt idx="5">
                  <c:v>14.877151435700075</c:v>
                </c:pt>
                <c:pt idx="6">
                  <c:v>11.627216424874852</c:v>
                </c:pt>
                <c:pt idx="7">
                  <c:v>11.101310483870952</c:v>
                </c:pt>
                <c:pt idx="8">
                  <c:v>12.218356527501651</c:v>
                </c:pt>
                <c:pt idx="9">
                  <c:v>12.191894127377978</c:v>
                </c:pt>
                <c:pt idx="10">
                  <c:v>14.004943874863219</c:v>
                </c:pt>
                <c:pt idx="11">
                  <c:v>17.301709159966052</c:v>
                </c:pt>
                <c:pt idx="12">
                  <c:v>15.718664172272433</c:v>
                </c:pt>
                <c:pt idx="13">
                  <c:v>5.2420766089830817</c:v>
                </c:pt>
                <c:pt idx="14">
                  <c:v>4.0149428323459357</c:v>
                </c:pt>
                <c:pt idx="15">
                  <c:v>-6.3478977741137754</c:v>
                </c:pt>
                <c:pt idx="16">
                  <c:v>-4.2461865909896979</c:v>
                </c:pt>
                <c:pt idx="17">
                  <c:v>2.587888827535445</c:v>
                </c:pt>
                <c:pt idx="18">
                  <c:v>7.3456203686110833</c:v>
                </c:pt>
                <c:pt idx="19">
                  <c:v>11.156478015954029</c:v>
                </c:pt>
                <c:pt idx="20">
                  <c:v>1.5981398095519239</c:v>
                </c:pt>
                <c:pt idx="21">
                  <c:v>8.0064877617222141</c:v>
                </c:pt>
                <c:pt idx="22">
                  <c:v>5.7228166210500309</c:v>
                </c:pt>
                <c:pt idx="23">
                  <c:v>0.73714305397678537</c:v>
                </c:pt>
                <c:pt idx="24">
                  <c:v>2.081040176114457</c:v>
                </c:pt>
                <c:pt idx="25">
                  <c:v>12.082917636625655</c:v>
                </c:pt>
                <c:pt idx="26">
                  <c:v>14.02503174315255</c:v>
                </c:pt>
                <c:pt idx="27">
                  <c:v>28.785211267605646</c:v>
                </c:pt>
                <c:pt idx="28">
                  <c:v>19.190160411958669</c:v>
                </c:pt>
                <c:pt idx="29">
                  <c:v>6.3083106071479822</c:v>
                </c:pt>
                <c:pt idx="30">
                  <c:v>-8.7546020957235964</c:v>
                </c:pt>
                <c:pt idx="31">
                  <c:v>-1.2039997279096548</c:v>
                </c:pt>
                <c:pt idx="32">
                  <c:v>10.553274966396643</c:v>
                </c:pt>
                <c:pt idx="33">
                  <c:v>5.2423208191126225</c:v>
                </c:pt>
                <c:pt idx="34">
                  <c:v>9.7804525434555867</c:v>
                </c:pt>
                <c:pt idx="35">
                  <c:v>19.442639767481616</c:v>
                </c:pt>
                <c:pt idx="36">
                  <c:v>12.844964113623348</c:v>
                </c:pt>
                <c:pt idx="37">
                  <c:v>7.6517324366201844</c:v>
                </c:pt>
                <c:pt idx="38">
                  <c:v>15.192007890299376</c:v>
                </c:pt>
                <c:pt idx="39">
                  <c:v>16.162306592928587</c:v>
                </c:pt>
                <c:pt idx="40">
                  <c:v>15.025020980325099</c:v>
                </c:pt>
                <c:pt idx="41">
                  <c:v>28.387227435360842</c:v>
                </c:pt>
                <c:pt idx="42">
                  <c:v>53.765276430649855</c:v>
                </c:pt>
                <c:pt idx="43">
                  <c:v>43.658771688240151</c:v>
                </c:pt>
                <c:pt idx="44">
                  <c:v>38.025762355415374</c:v>
                </c:pt>
                <c:pt idx="45">
                  <c:v>38.818264366325074</c:v>
                </c:pt>
                <c:pt idx="46">
                  <c:v>34.298052186696083</c:v>
                </c:pt>
                <c:pt idx="47">
                  <c:v>29.271993358335013</c:v>
                </c:pt>
                <c:pt idx="48">
                  <c:v>28.143569530293533</c:v>
                </c:pt>
                <c:pt idx="49">
                  <c:v>40.641269063514414</c:v>
                </c:pt>
                <c:pt idx="50">
                  <c:v>25.824448986355854</c:v>
                </c:pt>
                <c:pt idx="51">
                  <c:v>27.035412431796303</c:v>
                </c:pt>
                <c:pt idx="52">
                  <c:v>21.574296754668044</c:v>
                </c:pt>
                <c:pt idx="53">
                  <c:v>14.793879482595429</c:v>
                </c:pt>
                <c:pt idx="54">
                  <c:v>13.955542098756091</c:v>
                </c:pt>
                <c:pt idx="55">
                  <c:v>-1.2700694943685642</c:v>
                </c:pt>
                <c:pt idx="56">
                  <c:v>-1.6926959337206005</c:v>
                </c:pt>
                <c:pt idx="57">
                  <c:v>-11.869831332056258</c:v>
                </c:pt>
                <c:pt idx="58">
                  <c:v>-6.0477526168160267</c:v>
                </c:pt>
                <c:pt idx="59">
                  <c:v>-12.485605456639204</c:v>
                </c:pt>
                <c:pt idx="60">
                  <c:v>-16.768420562054342</c:v>
                </c:pt>
                <c:pt idx="61">
                  <c:v>-15.904191616766472</c:v>
                </c:pt>
                <c:pt idx="62">
                  <c:v>-10.510141364474491</c:v>
                </c:pt>
                <c:pt idx="63">
                  <c:v>-19.481640559204983</c:v>
                </c:pt>
                <c:pt idx="64">
                  <c:v>-9.6530417194550022</c:v>
                </c:pt>
                <c:pt idx="65">
                  <c:v>-9.2458145340448503</c:v>
                </c:pt>
                <c:pt idx="66">
                  <c:v>-9.3547958551058343</c:v>
                </c:pt>
                <c:pt idx="67">
                  <c:v>0.95388349514562432</c:v>
                </c:pt>
                <c:pt idx="68">
                  <c:v>1.1914852396289977</c:v>
                </c:pt>
                <c:pt idx="69">
                  <c:v>17.502982107355859</c:v>
                </c:pt>
                <c:pt idx="70">
                  <c:v>11.116774678997054</c:v>
                </c:pt>
                <c:pt idx="71">
                  <c:v>13.96072675742699</c:v>
                </c:pt>
                <c:pt idx="72">
                  <c:v>19.68195307688001</c:v>
                </c:pt>
                <c:pt idx="73">
                  <c:v>8.283058439708979</c:v>
                </c:pt>
                <c:pt idx="74">
                  <c:v>11.950549450549453</c:v>
                </c:pt>
                <c:pt idx="75">
                  <c:v>24.286797583871554</c:v>
                </c:pt>
                <c:pt idx="76">
                  <c:v>18.795512694351491</c:v>
                </c:pt>
                <c:pt idx="77">
                  <c:v>28.218846212082973</c:v>
                </c:pt>
                <c:pt idx="78">
                  <c:v>27.768142846674326</c:v>
                </c:pt>
                <c:pt idx="79">
                  <c:v>20.68857740485177</c:v>
                </c:pt>
                <c:pt idx="80">
                  <c:v>26.21036257030034</c:v>
                </c:pt>
                <c:pt idx="81">
                  <c:v>22.771160440353743</c:v>
                </c:pt>
                <c:pt idx="82">
                  <c:v>20.319360405426057</c:v>
                </c:pt>
                <c:pt idx="83">
                  <c:v>25.164871766403895</c:v>
                </c:pt>
                <c:pt idx="84">
                  <c:v>34.219144755310182</c:v>
                </c:pt>
                <c:pt idx="85">
                  <c:v>35.973218555714958</c:v>
                </c:pt>
                <c:pt idx="86">
                  <c:v>32.022348816827353</c:v>
                </c:pt>
                <c:pt idx="87">
                  <c:v>23.304790557741264</c:v>
                </c:pt>
                <c:pt idx="88">
                  <c:v>24.631378396288952</c:v>
                </c:pt>
                <c:pt idx="89">
                  <c:v>16.946150212564937</c:v>
                </c:pt>
                <c:pt idx="90">
                  <c:v>6.9436213126350177</c:v>
                </c:pt>
                <c:pt idx="91">
                  <c:v>10.470536674767917</c:v>
                </c:pt>
                <c:pt idx="92">
                  <c:v>11.760244230805682</c:v>
                </c:pt>
                <c:pt idx="93">
                  <c:v>13.529454999816259</c:v>
                </c:pt>
                <c:pt idx="94">
                  <c:v>14.754634084348517</c:v>
                </c:pt>
                <c:pt idx="95">
                  <c:v>14.43549531649162</c:v>
                </c:pt>
                <c:pt idx="96">
                  <c:v>16.107780256553262</c:v>
                </c:pt>
                <c:pt idx="97">
                  <c:v>19.945835678109169</c:v>
                </c:pt>
                <c:pt idx="98">
                  <c:v>13.41631399883827</c:v>
                </c:pt>
                <c:pt idx="99">
                  <c:v>16.352716352716335</c:v>
                </c:pt>
                <c:pt idx="100">
                  <c:v>14.979561995280966</c:v>
                </c:pt>
                <c:pt idx="101">
                  <c:v>15.451546669359463</c:v>
                </c:pt>
                <c:pt idx="102">
                  <c:v>16.258781887413075</c:v>
                </c:pt>
                <c:pt idx="103">
                  <c:v>29.595700941320736</c:v>
                </c:pt>
                <c:pt idx="104">
                  <c:v>28.349649637761075</c:v>
                </c:pt>
                <c:pt idx="105">
                  <c:v>20.865905964230791</c:v>
                </c:pt>
                <c:pt idx="106">
                  <c:v>18.185989115301847</c:v>
                </c:pt>
                <c:pt idx="107">
                  <c:v>18.91326253778778</c:v>
                </c:pt>
              </c:numCache>
            </c:numRef>
          </c:val>
          <c:smooth val="0"/>
          <c:extLst>
            <c:ext xmlns:c16="http://schemas.microsoft.com/office/drawing/2014/chart" uri="{C3380CC4-5D6E-409C-BE32-E72D297353CC}">
              <c16:uniqueId val="{00000001-C15F-F049-9304-EE035497775C}"/>
            </c:ext>
          </c:extLst>
        </c:ser>
        <c:dLbls>
          <c:showLegendKey val="0"/>
          <c:showVal val="0"/>
          <c:showCatName val="0"/>
          <c:showSerName val="0"/>
          <c:showPercent val="0"/>
          <c:showBubbleSize val="0"/>
        </c:dLbls>
        <c:marker val="1"/>
        <c:smooth val="0"/>
        <c:axId val="1730763328"/>
        <c:axId val="1781671552"/>
      </c:lineChart>
      <c:dateAx>
        <c:axId val="1730763328"/>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b" anchorCtr="0"/>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81671552"/>
        <c:crosses val="autoZero"/>
        <c:auto val="1"/>
        <c:lblOffset val="100"/>
        <c:baseTimeUnit val="months"/>
        <c:majorUnit val="12"/>
        <c:majorTimeUnit val="months"/>
      </c:dateAx>
      <c:valAx>
        <c:axId val="1781671552"/>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0763328"/>
        <c:crosses val="autoZero"/>
        <c:crossBetween val="between"/>
      </c:valAx>
      <c:valAx>
        <c:axId val="1802322368"/>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1909760"/>
        <c:crosses val="max"/>
        <c:crossBetween val="between"/>
      </c:valAx>
      <c:dateAx>
        <c:axId val="1731909760"/>
        <c:scaling>
          <c:orientation val="minMax"/>
        </c:scaling>
        <c:delete val="1"/>
        <c:axPos val="b"/>
        <c:numFmt formatCode="mmm\-yy" sourceLinked="1"/>
        <c:majorTickMark val="out"/>
        <c:minorTickMark val="none"/>
        <c:tickLblPos val="low"/>
        <c:crossAx val="1802322368"/>
        <c:crosses val="autoZero"/>
        <c:auto val="1"/>
        <c:lblOffset val="100"/>
        <c:baseTimeUnit val="months"/>
        <c:majorUnit val="1"/>
        <c:minorUnit val="1"/>
      </c:date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Q2 Growth Slows to 1.5% as Headline CPI Eases to 3.4%</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US!$O$4</c:f>
              <c:strCache>
                <c:ptCount val="1"/>
                <c:pt idx="0">
                  <c:v>CPI YoY Inflation (%)</c:v>
                </c:pt>
              </c:strCache>
            </c:strRef>
          </c:tx>
          <c:spPr>
            <a:solidFill>
              <a:srgbClr val="0B2C48"/>
            </a:solidFill>
            <a:ln>
              <a:noFill/>
            </a:ln>
            <a:effectLst/>
          </c:spPr>
          <c:invertIfNegative val="0"/>
          <c:cat>
            <c:numRef>
              <c:f>US!$N$5:$N$24</c:f>
              <c:numCache>
                <c:formatCode>m/d/yy</c:formatCode>
                <c:ptCount val="20"/>
                <c:pt idx="0">
                  <c:v>44470</c:v>
                </c:pt>
                <c:pt idx="1">
                  <c:v>44562</c:v>
                </c:pt>
                <c:pt idx="2">
                  <c:v>44652</c:v>
                </c:pt>
                <c:pt idx="3">
                  <c:v>44743</c:v>
                </c:pt>
                <c:pt idx="4">
                  <c:v>44835</c:v>
                </c:pt>
                <c:pt idx="5">
                  <c:v>44927</c:v>
                </c:pt>
                <c:pt idx="6">
                  <c:v>45017</c:v>
                </c:pt>
                <c:pt idx="7">
                  <c:v>45108</c:v>
                </c:pt>
                <c:pt idx="8">
                  <c:v>45200</c:v>
                </c:pt>
                <c:pt idx="9">
                  <c:v>45292</c:v>
                </c:pt>
                <c:pt idx="10">
                  <c:v>45383</c:v>
                </c:pt>
                <c:pt idx="11">
                  <c:v>45474</c:v>
                </c:pt>
                <c:pt idx="12">
                  <c:v>45566</c:v>
                </c:pt>
                <c:pt idx="13">
                  <c:v>45658</c:v>
                </c:pt>
                <c:pt idx="14">
                  <c:v>45748</c:v>
                </c:pt>
                <c:pt idx="15">
                  <c:v>45839</c:v>
                </c:pt>
                <c:pt idx="16">
                  <c:v>45931</c:v>
                </c:pt>
                <c:pt idx="17">
                  <c:v>46023</c:v>
                </c:pt>
                <c:pt idx="18">
                  <c:v>46113</c:v>
                </c:pt>
                <c:pt idx="19">
                  <c:v>46204</c:v>
                </c:pt>
              </c:numCache>
            </c:numRef>
          </c:cat>
          <c:val>
            <c:numRef>
              <c:f>US!$O$5:$O$24</c:f>
              <c:numCache>
                <c:formatCode>General</c:formatCode>
                <c:ptCount val="20"/>
                <c:pt idx="0">
                  <c:v>6.24</c:v>
                </c:pt>
                <c:pt idx="1">
                  <c:v>7.56</c:v>
                </c:pt>
                <c:pt idx="2">
                  <c:v>8.23</c:v>
                </c:pt>
                <c:pt idx="3">
                  <c:v>8.4600000000000009</c:v>
                </c:pt>
                <c:pt idx="4">
                  <c:v>7.76</c:v>
                </c:pt>
                <c:pt idx="5">
                  <c:v>6.33</c:v>
                </c:pt>
                <c:pt idx="6">
                  <c:v>4.95</c:v>
                </c:pt>
                <c:pt idx="7">
                  <c:v>3.29</c:v>
                </c:pt>
                <c:pt idx="8">
                  <c:v>3.25</c:v>
                </c:pt>
                <c:pt idx="9">
                  <c:v>3.09</c:v>
                </c:pt>
                <c:pt idx="10">
                  <c:v>3.36</c:v>
                </c:pt>
                <c:pt idx="11">
                  <c:v>2.94</c:v>
                </c:pt>
                <c:pt idx="12">
                  <c:v>2.58</c:v>
                </c:pt>
                <c:pt idx="13">
                  <c:v>2.99</c:v>
                </c:pt>
                <c:pt idx="14">
                  <c:v>2.33</c:v>
                </c:pt>
                <c:pt idx="15">
                  <c:v>2.74</c:v>
                </c:pt>
                <c:pt idx="16">
                  <c:v>2.86</c:v>
                </c:pt>
                <c:pt idx="17">
                  <c:v>2.39</c:v>
                </c:pt>
                <c:pt idx="18">
                  <c:v>3.78</c:v>
                </c:pt>
                <c:pt idx="19">
                  <c:v>3.3</c:v>
                </c:pt>
              </c:numCache>
            </c:numRef>
          </c:val>
          <c:extLst>
            <c:ext xmlns:c16="http://schemas.microsoft.com/office/drawing/2014/chart" uri="{C3380CC4-5D6E-409C-BE32-E72D297353CC}">
              <c16:uniqueId val="{00000000-FEA9-8245-874F-3DA37D93762E}"/>
            </c:ext>
          </c:extLst>
        </c:ser>
        <c:dLbls>
          <c:showLegendKey val="0"/>
          <c:showVal val="0"/>
          <c:showCatName val="0"/>
          <c:showSerName val="0"/>
          <c:showPercent val="0"/>
          <c:showBubbleSize val="0"/>
        </c:dLbls>
        <c:gapWidth val="150"/>
        <c:axId val="1841824640"/>
        <c:axId val="1790169920"/>
      </c:barChart>
      <c:lineChart>
        <c:grouping val="standard"/>
        <c:varyColors val="0"/>
        <c:ser>
          <c:idx val="1"/>
          <c:order val="1"/>
          <c:tx>
            <c:strRef>
              <c:f>US!$P$4</c:f>
              <c:strCache>
                <c:ptCount val="1"/>
                <c:pt idx="0">
                  <c:v>Real GDP Growth, Annualised (%)</c:v>
                </c:pt>
              </c:strCache>
            </c:strRef>
          </c:tx>
          <c:spPr>
            <a:ln w="22225" cap="rnd">
              <a:solidFill>
                <a:srgbClr val="C9A03A"/>
              </a:solidFill>
              <a:round/>
            </a:ln>
            <a:effectLst/>
          </c:spPr>
          <c:marker>
            <c:symbol val="none"/>
          </c:marker>
          <c:cat>
            <c:numRef>
              <c:f>US!$N$5:$N$24</c:f>
              <c:numCache>
                <c:formatCode>m/d/yy</c:formatCode>
                <c:ptCount val="20"/>
                <c:pt idx="0">
                  <c:v>44470</c:v>
                </c:pt>
                <c:pt idx="1">
                  <c:v>44562</c:v>
                </c:pt>
                <c:pt idx="2">
                  <c:v>44652</c:v>
                </c:pt>
                <c:pt idx="3">
                  <c:v>44743</c:v>
                </c:pt>
                <c:pt idx="4">
                  <c:v>44835</c:v>
                </c:pt>
                <c:pt idx="5">
                  <c:v>44927</c:v>
                </c:pt>
                <c:pt idx="6">
                  <c:v>45017</c:v>
                </c:pt>
                <c:pt idx="7">
                  <c:v>45108</c:v>
                </c:pt>
                <c:pt idx="8">
                  <c:v>45200</c:v>
                </c:pt>
                <c:pt idx="9">
                  <c:v>45292</c:v>
                </c:pt>
                <c:pt idx="10">
                  <c:v>45383</c:v>
                </c:pt>
                <c:pt idx="11">
                  <c:v>45474</c:v>
                </c:pt>
                <c:pt idx="12">
                  <c:v>45566</c:v>
                </c:pt>
                <c:pt idx="13">
                  <c:v>45658</c:v>
                </c:pt>
                <c:pt idx="14">
                  <c:v>45748</c:v>
                </c:pt>
                <c:pt idx="15">
                  <c:v>45839</c:v>
                </c:pt>
                <c:pt idx="16">
                  <c:v>45931</c:v>
                </c:pt>
                <c:pt idx="17">
                  <c:v>46023</c:v>
                </c:pt>
                <c:pt idx="18">
                  <c:v>46113</c:v>
                </c:pt>
                <c:pt idx="19">
                  <c:v>46204</c:v>
                </c:pt>
              </c:numCache>
            </c:numRef>
          </c:cat>
          <c:val>
            <c:numRef>
              <c:f>US!$P$5:$P$24</c:f>
              <c:numCache>
                <c:formatCode>General</c:formatCode>
                <c:ptCount val="20"/>
                <c:pt idx="0">
                  <c:v>6.5</c:v>
                </c:pt>
                <c:pt idx="1">
                  <c:v>2</c:v>
                </c:pt>
                <c:pt idx="2">
                  <c:v>6.9</c:v>
                </c:pt>
                <c:pt idx="3">
                  <c:v>-1.4</c:v>
                </c:pt>
                <c:pt idx="4">
                  <c:v>-0.9</c:v>
                </c:pt>
                <c:pt idx="5">
                  <c:v>2.6</c:v>
                </c:pt>
                <c:pt idx="6">
                  <c:v>2.9</c:v>
                </c:pt>
                <c:pt idx="7">
                  <c:v>1.1000000000000001</c:v>
                </c:pt>
                <c:pt idx="8">
                  <c:v>2.4</c:v>
                </c:pt>
                <c:pt idx="9">
                  <c:v>4.9000000000000004</c:v>
                </c:pt>
                <c:pt idx="10">
                  <c:v>3.3</c:v>
                </c:pt>
                <c:pt idx="11">
                  <c:v>1.6</c:v>
                </c:pt>
                <c:pt idx="12">
                  <c:v>2.8</c:v>
                </c:pt>
                <c:pt idx="13">
                  <c:v>2.8</c:v>
                </c:pt>
                <c:pt idx="14">
                  <c:v>2.2999999999999998</c:v>
                </c:pt>
                <c:pt idx="15">
                  <c:v>-0.3</c:v>
                </c:pt>
                <c:pt idx="16">
                  <c:v>3</c:v>
                </c:pt>
                <c:pt idx="17">
                  <c:v>4.3</c:v>
                </c:pt>
                <c:pt idx="18">
                  <c:v>1.4</c:v>
                </c:pt>
                <c:pt idx="19">
                  <c:v>2</c:v>
                </c:pt>
              </c:numCache>
            </c:numRef>
          </c:val>
          <c:smooth val="0"/>
          <c:extLst>
            <c:ext xmlns:c16="http://schemas.microsoft.com/office/drawing/2014/chart" uri="{C3380CC4-5D6E-409C-BE32-E72D297353CC}">
              <c16:uniqueId val="{00000001-FEA9-8245-874F-3DA37D93762E}"/>
            </c:ext>
          </c:extLst>
        </c:ser>
        <c:dLbls>
          <c:showLegendKey val="0"/>
          <c:showVal val="0"/>
          <c:showCatName val="0"/>
          <c:showSerName val="0"/>
          <c:showPercent val="0"/>
          <c:showBubbleSize val="0"/>
        </c:dLbls>
        <c:marker val="1"/>
        <c:smooth val="0"/>
        <c:axId val="1841824640"/>
        <c:axId val="1790169920"/>
      </c:lineChart>
      <c:dateAx>
        <c:axId val="184182464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169920"/>
        <c:crosses val="autoZero"/>
        <c:auto val="1"/>
        <c:lblOffset val="100"/>
        <c:baseTimeUnit val="months"/>
        <c:majorUnit val="12"/>
        <c:majorTimeUnit val="months"/>
      </c:dateAx>
      <c:valAx>
        <c:axId val="179016992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18246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Flash HICP Jumps to 3.3% in August as a 14.3% Energy Spike Outruns 0.4% Growth</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Euro!$B$3</c:f>
              <c:strCache>
                <c:ptCount val="1"/>
                <c:pt idx="0">
                  <c:v>Euro Area Real GDP YoY (%)</c:v>
                </c:pt>
              </c:strCache>
            </c:strRef>
          </c:tx>
          <c:spPr>
            <a:solidFill>
              <a:srgbClr val="0B2C48"/>
            </a:solidFill>
            <a:ln>
              <a:noFill/>
            </a:ln>
            <a:effectLst/>
          </c:spPr>
          <c:invertIfNegative val="0"/>
          <c:cat>
            <c:numRef>
              <c:f>Euro!$A$4:$A$43</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Euro!$B$4:$B$43</c:f>
              <c:numCache>
                <c:formatCode>0.000"%"</c:formatCode>
                <c:ptCount val="40"/>
                <c:pt idx="0">
                  <c:v>1.6</c:v>
                </c:pt>
                <c:pt idx="1">
                  <c:v>1.8</c:v>
                </c:pt>
                <c:pt idx="2">
                  <c:v>1.7</c:v>
                </c:pt>
                <c:pt idx="3">
                  <c:v>2.1</c:v>
                </c:pt>
                <c:pt idx="4">
                  <c:v>2.8</c:v>
                </c:pt>
                <c:pt idx="5">
                  <c:v>2.8</c:v>
                </c:pt>
                <c:pt idx="6">
                  <c:v>2.5</c:v>
                </c:pt>
                <c:pt idx="7">
                  <c:v>2.2000000000000002</c:v>
                </c:pt>
                <c:pt idx="8">
                  <c:v>1.7</c:v>
                </c:pt>
                <c:pt idx="9">
                  <c:v>1.2</c:v>
                </c:pt>
                <c:pt idx="10">
                  <c:v>1.2</c:v>
                </c:pt>
                <c:pt idx="11">
                  <c:v>1.1000000000000001</c:v>
                </c:pt>
                <c:pt idx="12">
                  <c:v>1.1000000000000001</c:v>
                </c:pt>
                <c:pt idx="13">
                  <c:v>1</c:v>
                </c:pt>
                <c:pt idx="14">
                  <c:v>-3.3</c:v>
                </c:pt>
                <c:pt idx="15">
                  <c:v>-14.8</c:v>
                </c:pt>
                <c:pt idx="16">
                  <c:v>-4.3</c:v>
                </c:pt>
                <c:pt idx="17">
                  <c:v>-5.0999999999999996</c:v>
                </c:pt>
                <c:pt idx="18">
                  <c:v>-1.8</c:v>
                </c:pt>
                <c:pt idx="19">
                  <c:v>13.7</c:v>
                </c:pt>
                <c:pt idx="20">
                  <c:v>3.7</c:v>
                </c:pt>
                <c:pt idx="21">
                  <c:v>4.5999999999999996</c:v>
                </c:pt>
                <c:pt idx="22">
                  <c:v>5</c:v>
                </c:pt>
                <c:pt idx="23">
                  <c:v>4</c:v>
                </c:pt>
                <c:pt idx="24">
                  <c:v>2.1</c:v>
                </c:pt>
                <c:pt idx="25">
                  <c:v>1.9</c:v>
                </c:pt>
                <c:pt idx="26">
                  <c:v>1.3</c:v>
                </c:pt>
                <c:pt idx="27">
                  <c:v>0.6</c:v>
                </c:pt>
                <c:pt idx="28">
                  <c:v>0.1</c:v>
                </c:pt>
                <c:pt idx="29">
                  <c:v>0.1</c:v>
                </c:pt>
                <c:pt idx="30">
                  <c:v>0.4</c:v>
                </c:pt>
                <c:pt idx="31">
                  <c:v>0.6</c:v>
                </c:pt>
                <c:pt idx="32">
                  <c:v>0.9</c:v>
                </c:pt>
                <c:pt idx="33">
                  <c:v>0.9</c:v>
                </c:pt>
                <c:pt idx="34">
                  <c:v>1.2</c:v>
                </c:pt>
                <c:pt idx="35">
                  <c:v>1.4</c:v>
                </c:pt>
                <c:pt idx="36">
                  <c:v>1.3</c:v>
                </c:pt>
                <c:pt idx="37">
                  <c:v>1.3</c:v>
                </c:pt>
                <c:pt idx="38">
                  <c:v>0.8</c:v>
                </c:pt>
                <c:pt idx="39">
                  <c:v>1</c:v>
                </c:pt>
              </c:numCache>
            </c:numRef>
          </c:val>
          <c:extLst>
            <c:ext xmlns:c16="http://schemas.microsoft.com/office/drawing/2014/chart" uri="{C3380CC4-5D6E-409C-BE32-E72D297353CC}">
              <c16:uniqueId val="{00000000-5940-F44A-A27A-7478FF0C964E}"/>
            </c:ext>
          </c:extLst>
        </c:ser>
        <c:dLbls>
          <c:showLegendKey val="0"/>
          <c:showVal val="0"/>
          <c:showCatName val="0"/>
          <c:showSerName val="0"/>
          <c:showPercent val="0"/>
          <c:showBubbleSize val="0"/>
        </c:dLbls>
        <c:gapWidth val="150"/>
        <c:axId val="1842151424"/>
        <c:axId val="1790213440"/>
      </c:barChart>
      <c:lineChart>
        <c:grouping val="standard"/>
        <c:varyColors val="0"/>
        <c:ser>
          <c:idx val="1"/>
          <c:order val="1"/>
          <c:tx>
            <c:strRef>
              <c:f>Euro!$C$3</c:f>
              <c:strCache>
                <c:ptCount val="1"/>
                <c:pt idx="0">
                  <c:v>Euro Area HICP Inflation YoY (%)</c:v>
                </c:pt>
              </c:strCache>
            </c:strRef>
          </c:tx>
          <c:spPr>
            <a:ln w="22225" cap="rnd">
              <a:solidFill>
                <a:srgbClr val="C9A03A"/>
              </a:solidFill>
              <a:round/>
            </a:ln>
            <a:effectLst/>
          </c:spPr>
          <c:marker>
            <c:symbol val="none"/>
          </c:marker>
          <c:cat>
            <c:numRef>
              <c:f>Euro!$A$4:$A$43</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Euro!$C$4:$C$43</c:f>
              <c:numCache>
                <c:formatCode>0.000"%"</c:formatCode>
                <c:ptCount val="40"/>
                <c:pt idx="0">
                  <c:v>0.27</c:v>
                </c:pt>
                <c:pt idx="1">
                  <c:v>0.73</c:v>
                </c:pt>
                <c:pt idx="2">
                  <c:v>1.73</c:v>
                </c:pt>
                <c:pt idx="3">
                  <c:v>1.53</c:v>
                </c:pt>
                <c:pt idx="4">
                  <c:v>1.47</c:v>
                </c:pt>
                <c:pt idx="5">
                  <c:v>1.4</c:v>
                </c:pt>
                <c:pt idx="6">
                  <c:v>1.27</c:v>
                </c:pt>
                <c:pt idx="7">
                  <c:v>1.73</c:v>
                </c:pt>
                <c:pt idx="8">
                  <c:v>2.13</c:v>
                </c:pt>
                <c:pt idx="9">
                  <c:v>1.9</c:v>
                </c:pt>
                <c:pt idx="10">
                  <c:v>1.43</c:v>
                </c:pt>
                <c:pt idx="11">
                  <c:v>1.4</c:v>
                </c:pt>
                <c:pt idx="12">
                  <c:v>0.93</c:v>
                </c:pt>
                <c:pt idx="13">
                  <c:v>1</c:v>
                </c:pt>
                <c:pt idx="14">
                  <c:v>1.1000000000000001</c:v>
                </c:pt>
                <c:pt idx="15">
                  <c:v>0.23</c:v>
                </c:pt>
                <c:pt idx="16">
                  <c:v>-0.03</c:v>
                </c:pt>
                <c:pt idx="17">
                  <c:v>-0.3</c:v>
                </c:pt>
                <c:pt idx="18">
                  <c:v>1.03</c:v>
                </c:pt>
                <c:pt idx="19">
                  <c:v>1.83</c:v>
                </c:pt>
                <c:pt idx="20">
                  <c:v>2.87</c:v>
                </c:pt>
                <c:pt idx="21">
                  <c:v>4.67</c:v>
                </c:pt>
                <c:pt idx="22">
                  <c:v>6.13</c:v>
                </c:pt>
                <c:pt idx="23">
                  <c:v>8.07</c:v>
                </c:pt>
                <c:pt idx="24">
                  <c:v>9.3000000000000007</c:v>
                </c:pt>
                <c:pt idx="25">
                  <c:v>9.9700000000000006</c:v>
                </c:pt>
                <c:pt idx="26">
                  <c:v>8</c:v>
                </c:pt>
                <c:pt idx="27">
                  <c:v>6.17</c:v>
                </c:pt>
                <c:pt idx="28">
                  <c:v>4.93</c:v>
                </c:pt>
                <c:pt idx="29">
                  <c:v>2.73</c:v>
                </c:pt>
                <c:pt idx="30">
                  <c:v>2.6</c:v>
                </c:pt>
                <c:pt idx="31">
                  <c:v>2.5</c:v>
                </c:pt>
                <c:pt idx="32">
                  <c:v>2.17</c:v>
                </c:pt>
                <c:pt idx="33">
                  <c:v>2.2000000000000002</c:v>
                </c:pt>
                <c:pt idx="34">
                  <c:v>2.33</c:v>
                </c:pt>
                <c:pt idx="35">
                  <c:v>2.0299999999999998</c:v>
                </c:pt>
                <c:pt idx="36">
                  <c:v>2.0699999999999998</c:v>
                </c:pt>
                <c:pt idx="37">
                  <c:v>2.0699999999999998</c:v>
                </c:pt>
                <c:pt idx="38">
                  <c:v>2.0699999999999998</c:v>
                </c:pt>
                <c:pt idx="39">
                  <c:v>3</c:v>
                </c:pt>
              </c:numCache>
            </c:numRef>
          </c:val>
          <c:smooth val="0"/>
          <c:extLst>
            <c:ext xmlns:c16="http://schemas.microsoft.com/office/drawing/2014/chart" uri="{C3380CC4-5D6E-409C-BE32-E72D297353CC}">
              <c16:uniqueId val="{00000001-5940-F44A-A27A-7478FF0C964E}"/>
            </c:ext>
          </c:extLst>
        </c:ser>
        <c:dLbls>
          <c:showLegendKey val="0"/>
          <c:showVal val="0"/>
          <c:showCatName val="0"/>
          <c:showSerName val="0"/>
          <c:showPercent val="0"/>
          <c:showBubbleSize val="0"/>
        </c:dLbls>
        <c:marker val="1"/>
        <c:smooth val="0"/>
        <c:axId val="1842151424"/>
        <c:axId val="1790213440"/>
      </c:lineChart>
      <c:dateAx>
        <c:axId val="184215142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213440"/>
        <c:crosses val="autoZero"/>
        <c:auto val="1"/>
        <c:lblOffset val="100"/>
        <c:baseTimeUnit val="months"/>
        <c:majorUnit val="12"/>
        <c:majorTimeUnit val="months"/>
      </c:dateAx>
      <c:valAx>
        <c:axId val="1790213440"/>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215142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000" b="1" strike="noStrike" spc="-1">
                <a:solidFill>
                  <a:srgbClr val="000000"/>
                </a:solidFill>
                <a:latin typeface="Arial"/>
              </a:defRPr>
            </a:pPr>
            <a:r>
              <a:rPr lang="en-AU" sz="1000" b="1" i="0" u="none" strike="noStrike" baseline="0">
                <a:latin typeface="Arial"/>
              </a:rPr>
              <a:t>Energy Stocks Have Caught Up With the STOXX 50 as Energy Inflation Surges</a:t>
            </a:r>
            <a:endParaRPr lang="en-AU" sz="1000" b="1" strike="noStrike" spc="-1">
              <a:solidFill>
                <a:srgbClr val="000000"/>
              </a:solidFill>
              <a:latin typeface="Arial"/>
            </a:endParaRPr>
          </a:p>
        </c:rich>
      </c:tx>
      <c:overlay val="0"/>
      <c:spPr>
        <a:noFill/>
        <a:ln w="0">
          <a:noFill/>
        </a:ln>
      </c:spPr>
    </c:title>
    <c:autoTitleDeleted val="0"/>
    <c:plotArea>
      <c:layout/>
      <c:lineChart>
        <c:grouping val="standard"/>
        <c:varyColors val="0"/>
        <c:ser>
          <c:idx val="0"/>
          <c:order val="0"/>
          <c:tx>
            <c:strRef>
              <c:f>Euro!$T$1</c:f>
              <c:strCache>
                <c:ptCount val="1"/>
                <c:pt idx="0">
                  <c:v>STOXX 50 (Indexed)</c:v>
                </c:pt>
              </c:strCache>
            </c:strRef>
          </c:tx>
          <c:spPr>
            <a:ln w="22225">
              <a:solidFill>
                <a:srgbClr val="0B2C48"/>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Euro!$T$2:$T$42</c:f>
              <c:numCache>
                <c:formatCode>0.00</c:formatCode>
                <c:ptCount val="41"/>
                <c:pt idx="0">
                  <c:v>100</c:v>
                </c:pt>
                <c:pt idx="1">
                  <c:v>109.60216371775742</c:v>
                </c:pt>
                <c:pt idx="2">
                  <c:v>116.61059742059263</c:v>
                </c:pt>
                <c:pt idx="3">
                  <c:v>114.64373267959924</c:v>
                </c:pt>
                <c:pt idx="4">
                  <c:v>119.73892826689405</c:v>
                </c:pt>
                <c:pt idx="5">
                  <c:v>116.7115220635259</c:v>
                </c:pt>
                <c:pt idx="6">
                  <c:v>111.96639842251119</c:v>
                </c:pt>
                <c:pt idx="7">
                  <c:v>113.10221701129824</c:v>
                </c:pt>
                <c:pt idx="8">
                  <c:v>113.22212747814966</c:v>
                </c:pt>
                <c:pt idx="9">
                  <c:v>99.972687060328298</c:v>
                </c:pt>
                <c:pt idx="10">
                  <c:v>111.64030856960136</c:v>
                </c:pt>
                <c:pt idx="11">
                  <c:v>115.70327488808358</c:v>
                </c:pt>
                <c:pt idx="12">
                  <c:v>118.89289330633129</c:v>
                </c:pt>
                <c:pt idx="13">
                  <c:v>124.74519025794075</c:v>
                </c:pt>
                <c:pt idx="14">
                  <c:v>92.827355574504381</c:v>
                </c:pt>
                <c:pt idx="15">
                  <c:v>107.72190098060118</c:v>
                </c:pt>
                <c:pt idx="16">
                  <c:v>106.37424056704327</c:v>
                </c:pt>
                <c:pt idx="17">
                  <c:v>118.33297804306117</c:v>
                </c:pt>
                <c:pt idx="18">
                  <c:v>130.54286133020679</c:v>
                </c:pt>
                <c:pt idx="19">
                  <c:v>135.37558622894906</c:v>
                </c:pt>
                <c:pt idx="20">
                  <c:v>134.83532295885738</c:v>
                </c:pt>
                <c:pt idx="21">
                  <c:v>143.17343050522277</c:v>
                </c:pt>
                <c:pt idx="22">
                  <c:v>129.98694308249841</c:v>
                </c:pt>
                <c:pt idx="23">
                  <c:v>115.07607652952463</c:v>
                </c:pt>
                <c:pt idx="24">
                  <c:v>110.52414197399276</c:v>
                </c:pt>
                <c:pt idx="25">
                  <c:v>126.35965146024301</c:v>
                </c:pt>
                <c:pt idx="26">
                  <c:v>143.72768332978046</c:v>
                </c:pt>
                <c:pt idx="27">
                  <c:v>146.52692656150077</c:v>
                </c:pt>
                <c:pt idx="28">
                  <c:v>139.0515082072053</c:v>
                </c:pt>
                <c:pt idx="29">
                  <c:v>150.60221701129822</c:v>
                </c:pt>
                <c:pt idx="30">
                  <c:v>169.32090705606481</c:v>
                </c:pt>
                <c:pt idx="31">
                  <c:v>163.0122841611597</c:v>
                </c:pt>
                <c:pt idx="32">
                  <c:v>166.55730387976976</c:v>
                </c:pt>
                <c:pt idx="33">
                  <c:v>163.07756874866766</c:v>
                </c:pt>
                <c:pt idx="34">
                  <c:v>174.81580419953104</c:v>
                </c:pt>
                <c:pt idx="35">
                  <c:v>176.64277339586442</c:v>
                </c:pt>
                <c:pt idx="36">
                  <c:v>184.19446813046261</c:v>
                </c:pt>
                <c:pt idx="37">
                  <c:v>192.9029657855468</c:v>
                </c:pt>
                <c:pt idx="38">
                  <c:v>185.51914570454059</c:v>
                </c:pt>
                <c:pt idx="39">
                  <c:v>210.77895171605206</c:v>
                </c:pt>
                <c:pt idx="40">
                  <c:v>212.93867245789815</c:v>
                </c:pt>
              </c:numCache>
            </c:numRef>
          </c:val>
          <c:smooth val="0"/>
          <c:extLst>
            <c:ext xmlns:c16="http://schemas.microsoft.com/office/drawing/2014/chart" uri="{C3380CC4-5D6E-409C-BE32-E72D297353CC}">
              <c16:uniqueId val="{00000000-9AEF-4145-9F94-E26F3CEF307E}"/>
            </c:ext>
          </c:extLst>
        </c:ser>
        <c:ser>
          <c:idx val="1"/>
          <c:order val="1"/>
          <c:tx>
            <c:strRef>
              <c:f>Euro!$U$1</c:f>
              <c:strCache>
                <c:ptCount val="1"/>
                <c:pt idx="0">
                  <c:v>Oil &amp; Gas Index (Indexed)</c:v>
                </c:pt>
              </c:strCache>
            </c:strRef>
          </c:tx>
          <c:spPr>
            <a:ln w="22225">
              <a:solidFill>
                <a:srgbClr val="C9A03A"/>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Euro!$U$2:$U$42</c:f>
              <c:numCache>
                <c:formatCode>0.00</c:formatCode>
                <c:ptCount val="41"/>
                <c:pt idx="0">
                  <c:v>100</c:v>
                </c:pt>
                <c:pt idx="1">
                  <c:v>115.91242442671627</c:v>
                </c:pt>
                <c:pt idx="2">
                  <c:v>114.19167888956463</c:v>
                </c:pt>
                <c:pt idx="3">
                  <c:v>103.20180302650881</c:v>
                </c:pt>
                <c:pt idx="4">
                  <c:v>108.78259936321683</c:v>
                </c:pt>
                <c:pt idx="5">
                  <c:v>110.83246878689231</c:v>
                </c:pt>
                <c:pt idx="6">
                  <c:v>110.48188029907344</c:v>
                </c:pt>
                <c:pt idx="7">
                  <c:v>124.30508353307339</c:v>
                </c:pt>
                <c:pt idx="8">
                  <c:v>130.5655922441241</c:v>
                </c:pt>
                <c:pt idx="9">
                  <c:v>108.3175330018245</c:v>
                </c:pt>
                <c:pt idx="10">
                  <c:v>121.31077165241658</c:v>
                </c:pt>
                <c:pt idx="11">
                  <c:v>117.73333810324476</c:v>
                </c:pt>
                <c:pt idx="12">
                  <c:v>115.93031159446214</c:v>
                </c:pt>
                <c:pt idx="13">
                  <c:v>117.49365005545023</c:v>
                </c:pt>
                <c:pt idx="14">
                  <c:v>81.855257038600513</c:v>
                </c:pt>
                <c:pt idx="15">
                  <c:v>80.739097771258912</c:v>
                </c:pt>
                <c:pt idx="16">
                  <c:v>72.925982899867634</c:v>
                </c:pt>
                <c:pt idx="17">
                  <c:v>90.251493578506796</c:v>
                </c:pt>
                <c:pt idx="18">
                  <c:v>98.501055342897004</c:v>
                </c:pt>
                <c:pt idx="19">
                  <c:v>96.308088577254679</c:v>
                </c:pt>
                <c:pt idx="20">
                  <c:v>100.46506636139235</c:v>
                </c:pt>
                <c:pt idx="21">
                  <c:v>103.20180302650881</c:v>
                </c:pt>
                <c:pt idx="22">
                  <c:v>107.01534718992596</c:v>
                </c:pt>
                <c:pt idx="23">
                  <c:v>109.83436482667335</c:v>
                </c:pt>
                <c:pt idx="24">
                  <c:v>103.44864594140167</c:v>
                </c:pt>
                <c:pt idx="25">
                  <c:v>124.10474725431978</c:v>
                </c:pt>
                <c:pt idx="26">
                  <c:v>118.11970092655531</c:v>
                </c:pt>
                <c:pt idx="27">
                  <c:v>112.68200193181413</c:v>
                </c:pt>
                <c:pt idx="28">
                  <c:v>127.54266089507389</c:v>
                </c:pt>
                <c:pt idx="29">
                  <c:v>125.2674131578006</c:v>
                </c:pt>
                <c:pt idx="30">
                  <c:v>129.42439094193824</c:v>
                </c:pt>
                <c:pt idx="31">
                  <c:v>127.08832683432907</c:v>
                </c:pt>
                <c:pt idx="32">
                  <c:v>122.66661896755269</c:v>
                </c:pt>
                <c:pt idx="33">
                  <c:v>121.37516545630164</c:v>
                </c:pt>
                <c:pt idx="34">
                  <c:v>132.15397273995637</c:v>
                </c:pt>
                <c:pt idx="35">
                  <c:v>139.49128894930777</c:v>
                </c:pt>
                <c:pt idx="36">
                  <c:v>143.07587736557795</c:v>
                </c:pt>
                <c:pt idx="37">
                  <c:v>157.46789253389622</c:v>
                </c:pt>
                <c:pt idx="38">
                  <c:v>215.98755053124893</c:v>
                </c:pt>
                <c:pt idx="39">
                  <c:v>203.95664150538403</c:v>
                </c:pt>
                <c:pt idx="40">
                  <c:v>211.62665903480843</c:v>
                </c:pt>
              </c:numCache>
            </c:numRef>
          </c:val>
          <c:smooth val="0"/>
          <c:extLst>
            <c:ext xmlns:c16="http://schemas.microsoft.com/office/drawing/2014/chart" uri="{C3380CC4-5D6E-409C-BE32-E72D297353CC}">
              <c16:uniqueId val="{00000001-9AEF-4145-9F94-E26F3CEF307E}"/>
            </c:ext>
          </c:extLst>
        </c:ser>
        <c:dLbls>
          <c:showLegendKey val="0"/>
          <c:showVal val="0"/>
          <c:showCatName val="0"/>
          <c:showSerName val="0"/>
          <c:showPercent val="0"/>
          <c:showBubbleSize val="0"/>
        </c:dLbls>
        <c:smooth val="0"/>
        <c:axId val="74417380"/>
        <c:axId val="814341"/>
      </c:lineChart>
      <c:dateAx>
        <c:axId val="74417380"/>
        <c:scaling>
          <c:orientation val="minMax"/>
        </c:scaling>
        <c:delete val="0"/>
        <c:axPos val="b"/>
        <c:numFmt formatCode="yyyy" sourceLinked="0"/>
        <c:majorTickMark val="none"/>
        <c:minorTickMark val="none"/>
        <c:tickLblPos val="low"/>
        <c:spPr>
          <a:noFill/>
          <a:ln w="9360">
            <a:noFill/>
            <a:round/>
          </a:ln>
        </c:spPr>
        <c:txPr>
          <a:bodyPr/>
          <a:lstStyle/>
          <a:p>
            <a:pPr>
              <a:defRPr sz="800" b="0" strike="noStrike" spc="-1">
                <a:solidFill>
                  <a:srgbClr val="000000"/>
                </a:solidFill>
                <a:latin typeface="Arial"/>
              </a:defRPr>
            </a:pPr>
            <a:endParaRPr lang="en-US" sz="800">
              <a:latin typeface="Arial"/>
            </a:endParaRPr>
          </a:p>
        </c:txPr>
        <c:crossAx val="814341"/>
        <c:crosses val="autoZero"/>
        <c:auto val="1"/>
        <c:lblOffset val="100"/>
        <c:baseTimeUnit val="months"/>
        <c:majorUnit val="12"/>
        <c:majorTimeUnit val="months"/>
      </c:dateAx>
      <c:valAx>
        <c:axId val="814341"/>
        <c:scaling>
          <c:orientation val="minMax"/>
        </c:scaling>
        <c:delete val="0"/>
        <c:axPos val="l"/>
        <c:majorGridlines>
          <c:spPr>
            <a:ln w="9360">
              <a:noFill/>
              <a:round/>
            </a:ln>
          </c:spPr>
        </c:majorGridlines>
        <c:numFmt formatCode="#,##0" sourceLinked="0"/>
        <c:majorTickMark val="none"/>
        <c:minorTickMark val="none"/>
        <c:tickLblPos val="nextTo"/>
        <c:spPr>
          <a:ln w="25400">
            <a:noFill/>
          </a:ln>
        </c:spPr>
        <c:txPr>
          <a:bodyPr/>
          <a:lstStyle/>
          <a:p>
            <a:pPr>
              <a:defRPr sz="800" b="0" strike="noStrike" spc="-1">
                <a:solidFill>
                  <a:srgbClr val="000000"/>
                </a:solidFill>
                <a:latin typeface="Arial"/>
              </a:defRPr>
            </a:pPr>
            <a:endParaRPr lang="en-US" sz="800">
              <a:latin typeface="Arial"/>
            </a:endParaRPr>
          </a:p>
        </c:txPr>
        <c:crossAx val="74417380"/>
        <c:crosses val="autoZero"/>
        <c:crossBetween val="between"/>
      </c:valAx>
      <c:spPr>
        <a:noFill/>
        <a:ln w="0">
          <a:noFill/>
        </a:ln>
      </c:spPr>
    </c:plotArea>
    <c:legend>
      <c:legendPos val="b"/>
      <c:overlay val="0"/>
      <c:spPr>
        <a:noFill/>
        <a:ln w="0">
          <a:noFill/>
        </a:ln>
      </c:spPr>
      <c:txPr>
        <a:bodyPr/>
        <a:lstStyle/>
        <a:p>
          <a:pPr>
            <a:defRPr sz="800" b="0" strike="noStrike" spc="-1">
              <a:solidFill>
                <a:srgbClr val="000000"/>
              </a:solidFill>
              <a:latin typeface="Arial"/>
            </a:defRPr>
          </a:pPr>
          <a:endParaRPr lang="en-US" sz="800">
            <a:latin typeface="Arial"/>
          </a:endParaRPr>
        </a:p>
      </c:txPr>
    </c:legend>
    <c:plotVisOnly val="1"/>
    <c:dispBlanksAs val="gap"/>
    <c:showDLblsOverMax val="1"/>
  </c:chart>
  <c:spPr>
    <a:solidFill>
      <a:srgbClr val="FFFFFF"/>
    </a:solidFill>
    <a:ln w="9360">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000" b="1" strike="noStrike" spc="-1">
                <a:solidFill>
                  <a:srgbClr val="000000"/>
                </a:solidFill>
                <a:latin typeface="Arial"/>
              </a:defRPr>
            </a:pPr>
            <a:r>
              <a:rPr lang="en-AU" sz="1000" b="1" i="0" u="none" strike="noStrike" baseline="0">
                <a:latin typeface="Arial"/>
              </a:rPr>
              <a:t>Brussels Warns of $180 Oil if Hormuz Stays Shut, and the Euro Won't Cushion It</a:t>
            </a:r>
            <a:endParaRPr lang="en-AU" sz="1000" b="1" strike="noStrike" spc="-1">
              <a:solidFill>
                <a:srgbClr val="000000"/>
              </a:solidFill>
              <a:latin typeface="Arial"/>
            </a:endParaRPr>
          </a:p>
        </c:rich>
      </c:tx>
      <c:overlay val="0"/>
      <c:spPr>
        <a:noFill/>
        <a:ln w="0">
          <a:noFill/>
        </a:ln>
      </c:spPr>
    </c:title>
    <c:autoTitleDeleted val="0"/>
    <c:plotArea>
      <c:layout/>
      <c:lineChart>
        <c:grouping val="standard"/>
        <c:varyColors val="0"/>
        <c:ser>
          <c:idx val="0"/>
          <c:order val="0"/>
          <c:tx>
            <c:strRef>
              <c:f>Euro!$V$1</c:f>
              <c:strCache>
                <c:ptCount val="1"/>
                <c:pt idx="0">
                  <c:v>EUR/USD (Indexed)</c:v>
                </c:pt>
              </c:strCache>
            </c:strRef>
          </c:tx>
          <c:spPr>
            <a:ln w="22225">
              <a:solidFill>
                <a:srgbClr val="0B2C48"/>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Euro!$V$2:$V$42</c:f>
              <c:numCache>
                <c:formatCode>0.00</c:formatCode>
                <c:ptCount val="41"/>
                <c:pt idx="0">
                  <c:v>100</c:v>
                </c:pt>
                <c:pt idx="1">
                  <c:v>93.548674141306279</c:v>
                </c:pt>
                <c:pt idx="2">
                  <c:v>94.75885388859227</c:v>
                </c:pt>
                <c:pt idx="3">
                  <c:v>101.64620039152877</c:v>
                </c:pt>
                <c:pt idx="4">
                  <c:v>105.10767040398648</c:v>
                </c:pt>
                <c:pt idx="5">
                  <c:v>106.74497241502048</c:v>
                </c:pt>
                <c:pt idx="6">
                  <c:v>109.63694607581419</c:v>
                </c:pt>
                <c:pt idx="7">
                  <c:v>103.95977932016373</c:v>
                </c:pt>
                <c:pt idx="8">
                  <c:v>103.2924007830575</c:v>
                </c:pt>
                <c:pt idx="9">
                  <c:v>102.05552589428726</c:v>
                </c:pt>
                <c:pt idx="10">
                  <c:v>99.813134009610252</c:v>
                </c:pt>
                <c:pt idx="11">
                  <c:v>101.1567894643175</c:v>
                </c:pt>
                <c:pt idx="12">
                  <c:v>96.974550631785021</c:v>
                </c:pt>
                <c:pt idx="13">
                  <c:v>99.750845346147017</c:v>
                </c:pt>
                <c:pt idx="14">
                  <c:v>98.140238476597261</c:v>
                </c:pt>
                <c:pt idx="15">
                  <c:v>99.937711336536765</c:v>
                </c:pt>
                <c:pt idx="16">
                  <c:v>104.27122263747999</c:v>
                </c:pt>
                <c:pt idx="17">
                  <c:v>108.67592098238121</c:v>
                </c:pt>
                <c:pt idx="18">
                  <c:v>104.3602064424275</c:v>
                </c:pt>
                <c:pt idx="19">
                  <c:v>105.49030076526074</c:v>
                </c:pt>
                <c:pt idx="20">
                  <c:v>103.05214450969925</c:v>
                </c:pt>
                <c:pt idx="21">
                  <c:v>101.1567894643175</c:v>
                </c:pt>
                <c:pt idx="22">
                  <c:v>98.460580174408278</c:v>
                </c:pt>
                <c:pt idx="23">
                  <c:v>93.272824345969042</c:v>
                </c:pt>
                <c:pt idx="24">
                  <c:v>87.195230468054817</c:v>
                </c:pt>
                <c:pt idx="25">
                  <c:v>95.230468054814025</c:v>
                </c:pt>
                <c:pt idx="26">
                  <c:v>96.449546182594787</c:v>
                </c:pt>
                <c:pt idx="27">
                  <c:v>97.081331197722022</c:v>
                </c:pt>
                <c:pt idx="28">
                  <c:v>94.05588182950703</c:v>
                </c:pt>
                <c:pt idx="29">
                  <c:v>98.202527140060511</c:v>
                </c:pt>
                <c:pt idx="30">
                  <c:v>96.040220679836281</c:v>
                </c:pt>
                <c:pt idx="31">
                  <c:v>95.32835024025627</c:v>
                </c:pt>
                <c:pt idx="32">
                  <c:v>99.074568428546002</c:v>
                </c:pt>
                <c:pt idx="33">
                  <c:v>92.1249332621463</c:v>
                </c:pt>
                <c:pt idx="34">
                  <c:v>96.253781811710283</c:v>
                </c:pt>
                <c:pt idx="35">
                  <c:v>104.87631251112299</c:v>
                </c:pt>
                <c:pt idx="36">
                  <c:v>104.40469834490125</c:v>
                </c:pt>
                <c:pt idx="37">
                  <c:v>104.51147891083825</c:v>
                </c:pt>
                <c:pt idx="38">
                  <c:v>102.79409147535151</c:v>
                </c:pt>
                <c:pt idx="39">
                  <c:v>101.62840363053924</c:v>
                </c:pt>
                <c:pt idx="40">
                  <c:v>103.30129916355224</c:v>
                </c:pt>
              </c:numCache>
            </c:numRef>
          </c:val>
          <c:smooth val="0"/>
          <c:extLst>
            <c:ext xmlns:c16="http://schemas.microsoft.com/office/drawing/2014/chart" uri="{C3380CC4-5D6E-409C-BE32-E72D297353CC}">
              <c16:uniqueId val="{00000000-EF1C-F24C-A227-6CF87852D42D}"/>
            </c:ext>
          </c:extLst>
        </c:ser>
        <c:ser>
          <c:idx val="1"/>
          <c:order val="1"/>
          <c:tx>
            <c:strRef>
              <c:f>Euro!$U$1</c:f>
              <c:strCache>
                <c:ptCount val="1"/>
                <c:pt idx="0">
                  <c:v>Oil &amp; Gas Index (Indexed)</c:v>
                </c:pt>
              </c:strCache>
            </c:strRef>
          </c:tx>
          <c:spPr>
            <a:ln w="22225">
              <a:solidFill>
                <a:srgbClr val="C9A03A"/>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Euro!$U$2:$U$42</c:f>
              <c:numCache>
                <c:formatCode>0.00</c:formatCode>
                <c:ptCount val="41"/>
                <c:pt idx="0">
                  <c:v>100</c:v>
                </c:pt>
                <c:pt idx="1">
                  <c:v>115.91242442671627</c:v>
                </c:pt>
                <c:pt idx="2">
                  <c:v>114.19167888956463</c:v>
                </c:pt>
                <c:pt idx="3">
                  <c:v>103.20180302650881</c:v>
                </c:pt>
                <c:pt idx="4">
                  <c:v>108.78259936321683</c:v>
                </c:pt>
                <c:pt idx="5">
                  <c:v>110.83246878689231</c:v>
                </c:pt>
                <c:pt idx="6">
                  <c:v>110.48188029907344</c:v>
                </c:pt>
                <c:pt idx="7">
                  <c:v>124.30508353307339</c:v>
                </c:pt>
                <c:pt idx="8">
                  <c:v>130.5655922441241</c:v>
                </c:pt>
                <c:pt idx="9">
                  <c:v>108.3175330018245</c:v>
                </c:pt>
                <c:pt idx="10">
                  <c:v>121.31077165241658</c:v>
                </c:pt>
                <c:pt idx="11">
                  <c:v>117.73333810324476</c:v>
                </c:pt>
                <c:pt idx="12">
                  <c:v>115.93031159446214</c:v>
                </c:pt>
                <c:pt idx="13">
                  <c:v>117.49365005545023</c:v>
                </c:pt>
                <c:pt idx="14">
                  <c:v>81.855257038600513</c:v>
                </c:pt>
                <c:pt idx="15">
                  <c:v>80.739097771258912</c:v>
                </c:pt>
                <c:pt idx="16">
                  <c:v>72.925982899867634</c:v>
                </c:pt>
                <c:pt idx="17">
                  <c:v>90.251493578506796</c:v>
                </c:pt>
                <c:pt idx="18">
                  <c:v>98.501055342897004</c:v>
                </c:pt>
                <c:pt idx="19">
                  <c:v>96.308088577254679</c:v>
                </c:pt>
                <c:pt idx="20">
                  <c:v>100.46506636139235</c:v>
                </c:pt>
                <c:pt idx="21">
                  <c:v>103.20180302650881</c:v>
                </c:pt>
                <c:pt idx="22">
                  <c:v>107.01534718992596</c:v>
                </c:pt>
                <c:pt idx="23">
                  <c:v>109.83436482667335</c:v>
                </c:pt>
                <c:pt idx="24">
                  <c:v>103.44864594140167</c:v>
                </c:pt>
                <c:pt idx="25">
                  <c:v>124.10474725431978</c:v>
                </c:pt>
                <c:pt idx="26">
                  <c:v>118.11970092655531</c:v>
                </c:pt>
                <c:pt idx="27">
                  <c:v>112.68200193181413</c:v>
                </c:pt>
                <c:pt idx="28">
                  <c:v>127.54266089507389</c:v>
                </c:pt>
                <c:pt idx="29">
                  <c:v>125.2674131578006</c:v>
                </c:pt>
                <c:pt idx="30">
                  <c:v>129.42439094193824</c:v>
                </c:pt>
                <c:pt idx="31">
                  <c:v>127.08832683432907</c:v>
                </c:pt>
                <c:pt idx="32">
                  <c:v>122.66661896755269</c:v>
                </c:pt>
                <c:pt idx="33">
                  <c:v>121.37516545630164</c:v>
                </c:pt>
                <c:pt idx="34">
                  <c:v>132.15397273995637</c:v>
                </c:pt>
                <c:pt idx="35">
                  <c:v>139.49128894930777</c:v>
                </c:pt>
                <c:pt idx="36">
                  <c:v>143.07587736557795</c:v>
                </c:pt>
                <c:pt idx="37">
                  <c:v>157.46789253389622</c:v>
                </c:pt>
                <c:pt idx="38">
                  <c:v>215.98755053124893</c:v>
                </c:pt>
                <c:pt idx="39">
                  <c:v>203.95664150538403</c:v>
                </c:pt>
                <c:pt idx="40">
                  <c:v>211.62665903480843</c:v>
                </c:pt>
              </c:numCache>
            </c:numRef>
          </c:val>
          <c:smooth val="0"/>
          <c:extLst>
            <c:ext xmlns:c16="http://schemas.microsoft.com/office/drawing/2014/chart" uri="{C3380CC4-5D6E-409C-BE32-E72D297353CC}">
              <c16:uniqueId val="{00000001-EF1C-F24C-A227-6CF87852D42D}"/>
            </c:ext>
          </c:extLst>
        </c:ser>
        <c:dLbls>
          <c:showLegendKey val="0"/>
          <c:showVal val="0"/>
          <c:showCatName val="0"/>
          <c:showSerName val="0"/>
          <c:showPercent val="0"/>
          <c:showBubbleSize val="0"/>
        </c:dLbls>
        <c:smooth val="0"/>
        <c:axId val="43446180"/>
        <c:axId val="48141407"/>
      </c:lineChart>
      <c:dateAx>
        <c:axId val="43446180"/>
        <c:scaling>
          <c:orientation val="minMax"/>
        </c:scaling>
        <c:delete val="0"/>
        <c:axPos val="b"/>
        <c:numFmt formatCode="yyyy" sourceLinked="0"/>
        <c:majorTickMark val="none"/>
        <c:minorTickMark val="none"/>
        <c:tickLblPos val="low"/>
        <c:spPr>
          <a:noFill/>
          <a:ln w="9360">
            <a:noFill/>
            <a:round/>
          </a:ln>
        </c:spPr>
        <c:txPr>
          <a:bodyPr/>
          <a:lstStyle/>
          <a:p>
            <a:pPr>
              <a:defRPr sz="800" b="0" strike="noStrike" spc="-1">
                <a:solidFill>
                  <a:srgbClr val="000000"/>
                </a:solidFill>
                <a:latin typeface="Arial"/>
              </a:defRPr>
            </a:pPr>
            <a:endParaRPr lang="en-US" sz="800">
              <a:latin typeface="Arial"/>
            </a:endParaRPr>
          </a:p>
        </c:txPr>
        <c:crossAx val="48141407"/>
        <c:crosses val="autoZero"/>
        <c:auto val="1"/>
        <c:lblOffset val="100"/>
        <c:baseTimeUnit val="months"/>
        <c:majorUnit val="12"/>
        <c:majorTimeUnit val="months"/>
      </c:dateAx>
      <c:valAx>
        <c:axId val="48141407"/>
        <c:scaling>
          <c:orientation val="minMax"/>
        </c:scaling>
        <c:delete val="0"/>
        <c:axPos val="l"/>
        <c:majorGridlines>
          <c:spPr>
            <a:ln w="9360">
              <a:noFill/>
              <a:round/>
            </a:ln>
          </c:spPr>
        </c:majorGridlines>
        <c:numFmt formatCode="#,##0" sourceLinked="0"/>
        <c:majorTickMark val="none"/>
        <c:minorTickMark val="none"/>
        <c:tickLblPos val="nextTo"/>
        <c:spPr>
          <a:ln w="25400">
            <a:noFill/>
          </a:ln>
        </c:spPr>
        <c:txPr>
          <a:bodyPr/>
          <a:lstStyle/>
          <a:p>
            <a:pPr>
              <a:defRPr sz="800" b="0" strike="noStrike" spc="-1">
                <a:solidFill>
                  <a:srgbClr val="000000"/>
                </a:solidFill>
                <a:latin typeface="Arial"/>
              </a:defRPr>
            </a:pPr>
            <a:endParaRPr lang="en-US" sz="800">
              <a:latin typeface="Arial"/>
            </a:endParaRPr>
          </a:p>
        </c:txPr>
        <c:crossAx val="43446180"/>
        <c:crosses val="autoZero"/>
        <c:crossBetween val="between"/>
      </c:valAx>
      <c:spPr>
        <a:noFill/>
        <a:ln w="0">
          <a:noFill/>
        </a:ln>
      </c:spPr>
    </c:plotArea>
    <c:legend>
      <c:legendPos val="b"/>
      <c:layout/>
      <c:overlay val="0"/>
      <c:spPr>
        <a:noFill/>
        <a:ln w="0">
          <a:noFill/>
        </a:ln>
      </c:spPr>
      <c:txPr>
        <a:bodyPr/>
        <a:lstStyle/>
        <a:p>
          <a:pPr>
            <a:defRPr sz="800" b="0" strike="noStrike" spc="-1">
              <a:solidFill>
                <a:srgbClr val="000000"/>
              </a:solidFill>
              <a:latin typeface="Arial"/>
            </a:defRPr>
          </a:pPr>
          <a:endParaRPr lang="en-US" sz="800">
            <a:latin typeface="Arial"/>
          </a:endParaRPr>
        </a:p>
      </c:txPr>
    </c:legend>
    <c:plotVisOnly val="1"/>
    <c:dispBlanksAs val="gap"/>
    <c:showDLblsOverMax val="1"/>
  </c:chart>
  <c:spPr>
    <a:solidFill>
      <a:srgbClr val="FFFFFF"/>
    </a:solidFill>
    <a:ln w="9360">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The ECB Is Hiking Again, and Bunds Are Near a 15-Year High</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Euro!$AJ$4</c:f>
              <c:strCache>
                <c:ptCount val="1"/>
                <c:pt idx="0">
                  <c:v>ECB Deposit Facility Rate (%)</c:v>
                </c:pt>
              </c:strCache>
            </c:strRef>
          </c:tx>
          <c:spPr>
            <a:ln w="22225" cap="rnd">
              <a:solidFill>
                <a:srgbClr val="0B2C48"/>
              </a:solidFill>
              <a:round/>
            </a:ln>
            <a:effectLst/>
          </c:spPr>
          <c:marker>
            <c:symbol val="none"/>
          </c:marker>
          <c:cat>
            <c:numRef>
              <c:f>Euro!$AI$5:$AI$122</c:f>
              <c:numCache>
                <c:formatCode>mmm\-yy</c:formatCode>
                <c:ptCount val="118"/>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numCache>
            </c:numRef>
          </c:cat>
          <c:val>
            <c:numRef>
              <c:f>Euro!$AJ$5:$AJ$122</c:f>
              <c:numCache>
                <c:formatCode>0.00\%</c:formatCode>
                <c:ptCount val="118"/>
                <c:pt idx="0">
                  <c:v>-0.4</c:v>
                </c:pt>
                <c:pt idx="1">
                  <c:v>-0.4</c:v>
                </c:pt>
                <c:pt idx="2">
                  <c:v>-0.4</c:v>
                </c:pt>
                <c:pt idx="3">
                  <c:v>-0.4</c:v>
                </c:pt>
                <c:pt idx="4">
                  <c:v>-0.4</c:v>
                </c:pt>
                <c:pt idx="5">
                  <c:v>-0.4</c:v>
                </c:pt>
                <c:pt idx="6">
                  <c:v>-0.4</c:v>
                </c:pt>
                <c:pt idx="7">
                  <c:v>-0.4</c:v>
                </c:pt>
                <c:pt idx="8">
                  <c:v>-0.4</c:v>
                </c:pt>
                <c:pt idx="9">
                  <c:v>-0.4</c:v>
                </c:pt>
                <c:pt idx="10">
                  <c:v>-0.4</c:v>
                </c:pt>
                <c:pt idx="11">
                  <c:v>-0.4</c:v>
                </c:pt>
                <c:pt idx="12">
                  <c:v>-0.4</c:v>
                </c:pt>
                <c:pt idx="13">
                  <c:v>-0.4</c:v>
                </c:pt>
                <c:pt idx="14">
                  <c:v>-0.4</c:v>
                </c:pt>
                <c:pt idx="15">
                  <c:v>-0.4</c:v>
                </c:pt>
                <c:pt idx="16">
                  <c:v>-0.4</c:v>
                </c:pt>
                <c:pt idx="17">
                  <c:v>-0.4</c:v>
                </c:pt>
                <c:pt idx="18">
                  <c:v>-0.4</c:v>
                </c:pt>
                <c:pt idx="19">
                  <c:v>-0.4</c:v>
                </c:pt>
                <c:pt idx="20">
                  <c:v>-0.4</c:v>
                </c:pt>
                <c:pt idx="21">
                  <c:v>-0.4</c:v>
                </c:pt>
                <c:pt idx="22">
                  <c:v>-0.4</c:v>
                </c:pt>
                <c:pt idx="23">
                  <c:v>-0.4</c:v>
                </c:pt>
                <c:pt idx="24">
                  <c:v>-0.4</c:v>
                </c:pt>
                <c:pt idx="25">
                  <c:v>-0.4</c:v>
                </c:pt>
                <c:pt idx="26">
                  <c:v>-0.4</c:v>
                </c:pt>
                <c:pt idx="27">
                  <c:v>-0.4</c:v>
                </c:pt>
                <c:pt idx="28">
                  <c:v>-0.4</c:v>
                </c:pt>
                <c:pt idx="29">
                  <c:v>-0.4</c:v>
                </c:pt>
                <c:pt idx="30">
                  <c:v>-0.4</c:v>
                </c:pt>
                <c:pt idx="31">
                  <c:v>-0.4</c:v>
                </c:pt>
                <c:pt idx="32">
                  <c:v>-0.4</c:v>
                </c:pt>
                <c:pt idx="33">
                  <c:v>-0.4</c:v>
                </c:pt>
                <c:pt idx="34">
                  <c:v>-0.4</c:v>
                </c:pt>
                <c:pt idx="35">
                  <c:v>-0.4</c:v>
                </c:pt>
                <c:pt idx="36">
                  <c:v>-0.5</c:v>
                </c:pt>
                <c:pt idx="37">
                  <c:v>-0.5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-0.5</c:v>
                </c:pt>
                <c:pt idx="64">
                  <c:v>-0.5</c:v>
                </c:pt>
                <c:pt idx="65">
                  <c:v>-0.5</c:v>
                </c:pt>
                <c:pt idx="66">
                  <c:v>-0.5</c:v>
                </c:pt>
                <c:pt idx="67">
                  <c:v>-0.5</c:v>
                </c:pt>
                <c:pt idx="68">
                  <c:v>-0.5</c:v>
                </c:pt>
                <c:pt idx="69">
                  <c:v>-0.5</c:v>
                </c:pt>
                <c:pt idx="70">
                  <c:v>0</c:v>
                </c:pt>
                <c:pt idx="71">
                  <c:v>0</c:v>
                </c:pt>
                <c:pt idx="72">
                  <c:v>0.75</c:v>
                </c:pt>
                <c:pt idx="73">
                  <c:v>0.75</c:v>
                </c:pt>
                <c:pt idx="74">
                  <c:v>1.5</c:v>
                </c:pt>
                <c:pt idx="75">
                  <c:v>2</c:v>
                </c:pt>
                <c:pt idx="76">
                  <c:v>2</c:v>
                </c:pt>
                <c:pt idx="77">
                  <c:v>2.5</c:v>
                </c:pt>
                <c:pt idx="78">
                  <c:v>3</c:v>
                </c:pt>
                <c:pt idx="79">
                  <c:v>3</c:v>
                </c:pt>
                <c:pt idx="80">
                  <c:v>3.25</c:v>
                </c:pt>
                <c:pt idx="81">
                  <c:v>3.5</c:v>
                </c:pt>
                <c:pt idx="82">
                  <c:v>3.5</c:v>
                </c:pt>
                <c:pt idx="83">
                  <c:v>3.75</c:v>
                </c:pt>
                <c:pt idx="84">
                  <c:v>4</c:v>
                </c:pt>
                <c:pt idx="85">
                  <c:v>4</c:v>
                </c:pt>
                <c:pt idx="86">
                  <c:v>4</c:v>
                </c:pt>
                <c:pt idx="87">
                  <c:v>4</c:v>
                </c:pt>
                <c:pt idx="88">
                  <c:v>4</c:v>
                </c:pt>
                <c:pt idx="89">
                  <c:v>4</c:v>
                </c:pt>
                <c:pt idx="90">
                  <c:v>4</c:v>
                </c:pt>
                <c:pt idx="91">
                  <c:v>4</c:v>
                </c:pt>
                <c:pt idx="92">
                  <c:v>4</c:v>
                </c:pt>
                <c:pt idx="93">
                  <c:v>3.75</c:v>
                </c:pt>
                <c:pt idx="94">
                  <c:v>3.75</c:v>
                </c:pt>
                <c:pt idx="95">
                  <c:v>3.75</c:v>
                </c:pt>
                <c:pt idx="96">
                  <c:v>3.5</c:v>
                </c:pt>
                <c:pt idx="97">
                  <c:v>3.25</c:v>
                </c:pt>
                <c:pt idx="98">
                  <c:v>3.25</c:v>
                </c:pt>
                <c:pt idx="99">
                  <c:v>3</c:v>
                </c:pt>
                <c:pt idx="100">
                  <c:v>3</c:v>
                </c:pt>
                <c:pt idx="101">
                  <c:v>2.75</c:v>
                </c:pt>
                <c:pt idx="102">
                  <c:v>2.5</c:v>
                </c:pt>
                <c:pt idx="103">
                  <c:v>2.25</c:v>
                </c:pt>
                <c:pt idx="104">
                  <c:v>2.25</c:v>
                </c:pt>
                <c:pt idx="105">
                  <c:v>2</c:v>
                </c:pt>
                <c:pt idx="106">
                  <c:v>2</c:v>
                </c:pt>
                <c:pt idx="107">
                  <c:v>2</c:v>
                </c:pt>
                <c:pt idx="108">
                  <c:v>2</c:v>
                </c:pt>
                <c:pt idx="109">
                  <c:v>2</c:v>
                </c:pt>
                <c:pt idx="110">
                  <c:v>2</c:v>
                </c:pt>
                <c:pt idx="111">
                  <c:v>2</c:v>
                </c:pt>
                <c:pt idx="112">
                  <c:v>2</c:v>
                </c:pt>
                <c:pt idx="113">
                  <c:v>2</c:v>
                </c:pt>
                <c:pt idx="114">
                  <c:v>2</c:v>
                </c:pt>
                <c:pt idx="115">
                  <c:v>2</c:v>
                </c:pt>
                <c:pt idx="116">
                  <c:v>2</c:v>
                </c:pt>
                <c:pt idx="117">
                  <c:v>2.25</c:v>
                </c:pt>
              </c:numCache>
            </c:numRef>
          </c:val>
          <c:smooth val="0"/>
          <c:extLst>
            <c:ext xmlns:c16="http://schemas.microsoft.com/office/drawing/2014/chart" uri="{C3380CC4-5D6E-409C-BE32-E72D297353CC}">
              <c16:uniqueId val="{00000000-4562-7945-ACC4-FB9688EB27AF}"/>
            </c:ext>
          </c:extLst>
        </c:ser>
        <c:ser>
          <c:idx val="1"/>
          <c:order val="1"/>
          <c:tx>
            <c:strRef>
              <c:f>Euro!$AK$4</c:f>
              <c:strCache>
                <c:ptCount val="1"/>
                <c:pt idx="0">
                  <c:v>German 10Y Bund Yield (%)</c:v>
                </c:pt>
              </c:strCache>
            </c:strRef>
          </c:tx>
          <c:spPr>
            <a:ln w="22225" cap="rnd">
              <a:solidFill>
                <a:srgbClr val="C9A03A"/>
              </a:solidFill>
              <a:round/>
            </a:ln>
            <a:effectLst/>
          </c:spPr>
          <c:marker>
            <c:symbol val="none"/>
          </c:marker>
          <c:cat>
            <c:numRef>
              <c:f>Euro!$AI$5:$AI$122</c:f>
              <c:numCache>
                <c:formatCode>mmm\-yy</c:formatCode>
                <c:ptCount val="118"/>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numCache>
            </c:numRef>
          </c:cat>
          <c:val>
            <c:numRef>
              <c:f>Euro!$AK$5:$AK$122</c:f>
              <c:numCache>
                <c:formatCode>0.00\%</c:formatCode>
                <c:ptCount val="118"/>
                <c:pt idx="0">
                  <c:v>-8.40909091E-2</c:v>
                </c:pt>
                <c:pt idx="1">
                  <c:v>2E-3</c:v>
                </c:pt>
                <c:pt idx="2">
                  <c:v>0.18909090910000001</c:v>
                </c:pt>
                <c:pt idx="3">
                  <c:v>0.2519047619</c:v>
                </c:pt>
                <c:pt idx="4">
                  <c:v>0.25090909090000002</c:v>
                </c:pt>
                <c:pt idx="5">
                  <c:v>0.25800000000000001</c:v>
                </c:pt>
                <c:pt idx="6">
                  <c:v>0.34826086960000002</c:v>
                </c:pt>
                <c:pt idx="7">
                  <c:v>0.22555555560000001</c:v>
                </c:pt>
                <c:pt idx="8">
                  <c:v>0.3363636364</c:v>
                </c:pt>
                <c:pt idx="9">
                  <c:v>0.25047619049999997</c:v>
                </c:pt>
                <c:pt idx="10">
                  <c:v>0.4557142857</c:v>
                </c:pt>
                <c:pt idx="11">
                  <c:v>0.34608695649999999</c:v>
                </c:pt>
                <c:pt idx="12">
                  <c:v>0.34714285709999998</c:v>
                </c:pt>
                <c:pt idx="13">
                  <c:v>0.3725</c:v>
                </c:pt>
                <c:pt idx="14">
                  <c:v>0.30818181820000001</c:v>
                </c:pt>
                <c:pt idx="15">
                  <c:v>0.29684210529999999</c:v>
                </c:pt>
                <c:pt idx="16">
                  <c:v>0.47454545450000002</c:v>
                </c:pt>
                <c:pt idx="17">
                  <c:v>0.65900000000000003</c:v>
                </c:pt>
                <c:pt idx="18">
                  <c:v>0.5295238095</c:v>
                </c:pt>
                <c:pt idx="19">
                  <c:v>0.48</c:v>
                </c:pt>
                <c:pt idx="20">
                  <c:v>0.45</c:v>
                </c:pt>
                <c:pt idx="21">
                  <c:v>0.32714285710000002</c:v>
                </c:pt>
                <c:pt idx="22">
                  <c:v>0.27454545450000001</c:v>
                </c:pt>
                <c:pt idx="23">
                  <c:v>0.29086956520000001</c:v>
                </c:pt>
                <c:pt idx="24">
                  <c:v>0.3705</c:v>
                </c:pt>
                <c:pt idx="25">
                  <c:v>0.3990909091</c:v>
                </c:pt>
                <c:pt idx="26">
                  <c:v>0.31409090909999998</c:v>
                </c:pt>
                <c:pt idx="27">
                  <c:v>0.1870588235</c:v>
                </c:pt>
                <c:pt idx="28">
                  <c:v>0.13272727270000001</c:v>
                </c:pt>
                <c:pt idx="29">
                  <c:v>5.5500000000000001E-2</c:v>
                </c:pt>
                <c:pt idx="30">
                  <c:v>1.0952381000000001E-2</c:v>
                </c:pt>
                <c:pt idx="31">
                  <c:v>-3.95E-2</c:v>
                </c:pt>
                <c:pt idx="32">
                  <c:v>-0.13454545449999999</c:v>
                </c:pt>
                <c:pt idx="33">
                  <c:v>-0.31526315789999998</c:v>
                </c:pt>
                <c:pt idx="34">
                  <c:v>-0.3882608696</c:v>
                </c:pt>
                <c:pt idx="35">
                  <c:v>-0.6490909091</c:v>
                </c:pt>
                <c:pt idx="36">
                  <c:v>-0.59476190480000002</c:v>
                </c:pt>
                <c:pt idx="37">
                  <c:v>-0.46954545450000001</c:v>
                </c:pt>
                <c:pt idx="38">
                  <c:v>-0.3523809524</c:v>
                </c:pt>
                <c:pt idx="39">
                  <c:v>-0.29944444440000001</c:v>
                </c:pt>
                <c:pt idx="40">
                  <c:v>-0.31363636360000002</c:v>
                </c:pt>
                <c:pt idx="41">
                  <c:v>-0.46600000000000003</c:v>
                </c:pt>
                <c:pt idx="42">
                  <c:v>-0.54136363639999996</c:v>
                </c:pt>
                <c:pt idx="43">
                  <c:v>-0.44950000000000001</c:v>
                </c:pt>
                <c:pt idx="44">
                  <c:v>-0.51649999999999996</c:v>
                </c:pt>
                <c:pt idx="45">
                  <c:v>-0.43428571430000001</c:v>
                </c:pt>
                <c:pt idx="46">
                  <c:v>-0.52304347829999998</c:v>
                </c:pt>
                <c:pt idx="47">
                  <c:v>-0.52333333329999998</c:v>
                </c:pt>
                <c:pt idx="48">
                  <c:v>-0.5240909091</c:v>
                </c:pt>
                <c:pt idx="49">
                  <c:v>-0.60727272730000004</c:v>
                </c:pt>
                <c:pt idx="50">
                  <c:v>-0.61476190480000004</c:v>
                </c:pt>
                <c:pt idx="51">
                  <c:v>-0.61850000000000005</c:v>
                </c:pt>
                <c:pt idx="52">
                  <c:v>-0.58350000000000002</c:v>
                </c:pt>
                <c:pt idx="53">
                  <c:v>-0.44550000000000001</c:v>
                </c:pt>
                <c:pt idx="54">
                  <c:v>-0.36478260870000001</c:v>
                </c:pt>
                <c:pt idx="55">
                  <c:v>-0.32500000000000001</c:v>
                </c:pt>
                <c:pt idx="56">
                  <c:v>-0.2235</c:v>
                </c:pt>
                <c:pt idx="57">
                  <c:v>-0.2886363636</c:v>
                </c:pt>
                <c:pt idx="58">
                  <c:v>-0.45136363639999999</c:v>
                </c:pt>
                <c:pt idx="59">
                  <c:v>-0.5386363636</c:v>
                </c:pt>
                <c:pt idx="60">
                  <c:v>-0.36272727269999999</c:v>
                </c:pt>
                <c:pt idx="61">
                  <c:v>-0.2042857143</c:v>
                </c:pt>
                <c:pt idx="62">
                  <c:v>-0.31363636360000002</c:v>
                </c:pt>
                <c:pt idx="63">
                  <c:v>-0.38428571430000003</c:v>
                </c:pt>
                <c:pt idx="64">
                  <c:v>-0.11476190479999999</c:v>
                </c:pt>
                <c:pt idx="65">
                  <c:v>0.15</c:v>
                </c:pt>
                <c:pt idx="66">
                  <c:v>0.28173913039999998</c:v>
                </c:pt>
                <c:pt idx="67">
                  <c:v>0.74631578949999999</c:v>
                </c:pt>
                <c:pt idx="68">
                  <c:v>0.95272727270000002</c:v>
                </c:pt>
                <c:pt idx="69">
                  <c:v>1.4450000000000001</c:v>
                </c:pt>
                <c:pt idx="70">
                  <c:v>1.0819047619</c:v>
                </c:pt>
                <c:pt idx="71">
                  <c:v>1.0343478261000001</c:v>
                </c:pt>
                <c:pt idx="72">
                  <c:v>1.7954545454999999</c:v>
                </c:pt>
                <c:pt idx="73">
                  <c:v>2.1866666666999999</c:v>
                </c:pt>
                <c:pt idx="74">
                  <c:v>2.0663636364000002</c:v>
                </c:pt>
                <c:pt idx="75">
                  <c:v>2.0852380951999998</c:v>
                </c:pt>
                <c:pt idx="76">
                  <c:v>2.1927272727</c:v>
                </c:pt>
                <c:pt idx="77">
                  <c:v>2.3704999999999998</c:v>
                </c:pt>
                <c:pt idx="78">
                  <c:v>2.3834782609</c:v>
                </c:pt>
                <c:pt idx="79">
                  <c:v>2.3594444443999998</c:v>
                </c:pt>
                <c:pt idx="80">
                  <c:v>2.3422727273000001</c:v>
                </c:pt>
                <c:pt idx="81">
                  <c:v>2.3763636363999998</c:v>
                </c:pt>
                <c:pt idx="82">
                  <c:v>2.4566666666999999</c:v>
                </c:pt>
                <c:pt idx="83">
                  <c:v>2.5456521739000002</c:v>
                </c:pt>
                <c:pt idx="84">
                  <c:v>2.6614285714000001</c:v>
                </c:pt>
                <c:pt idx="85">
                  <c:v>2.8231818182000001</c:v>
                </c:pt>
                <c:pt idx="86">
                  <c:v>2.6013636363999999</c:v>
                </c:pt>
                <c:pt idx="87">
                  <c:v>2.1021052631999999</c:v>
                </c:pt>
                <c:pt idx="88">
                  <c:v>2.1745454545</c:v>
                </c:pt>
                <c:pt idx="89">
                  <c:v>2.3319047619000002</c:v>
                </c:pt>
                <c:pt idx="90">
                  <c:v>2.3494999999999999</c:v>
                </c:pt>
                <c:pt idx="91">
                  <c:v>2.4457142856999998</c:v>
                </c:pt>
                <c:pt idx="92">
                  <c:v>2.5195454544999998</c:v>
                </c:pt>
                <c:pt idx="93">
                  <c:v>2.4845000000000002</c:v>
                </c:pt>
                <c:pt idx="94">
                  <c:v>2.4582608696000001</c:v>
                </c:pt>
                <c:pt idx="95">
                  <c:v>2.2077272727000001</c:v>
                </c:pt>
                <c:pt idx="96">
                  <c:v>2.1671428571</c:v>
                </c:pt>
                <c:pt idx="97">
                  <c:v>2.2295652173999998</c:v>
                </c:pt>
                <c:pt idx="98">
                  <c:v>2.3057142857000001</c:v>
                </c:pt>
                <c:pt idx="99">
                  <c:v>2.1788888889</c:v>
                </c:pt>
                <c:pt idx="100">
                  <c:v>2.4836363636000001</c:v>
                </c:pt>
                <c:pt idx="101">
                  <c:v>2.4055</c:v>
                </c:pt>
                <c:pt idx="102">
                  <c:v>2.7414285714000002</c:v>
                </c:pt>
                <c:pt idx="103">
                  <c:v>2.5105</c:v>
                </c:pt>
                <c:pt idx="104">
                  <c:v>2.5628571429</c:v>
                </c:pt>
                <c:pt idx="105">
                  <c:v>2.5190476190000002</c:v>
                </c:pt>
                <c:pt idx="106">
                  <c:v>2.6313043478</c:v>
                </c:pt>
                <c:pt idx="107">
                  <c:v>2.6733333333</c:v>
                </c:pt>
                <c:pt idx="108">
                  <c:v>2.6931818181999998</c:v>
                </c:pt>
                <c:pt idx="109">
                  <c:v>2.6178260870000001</c:v>
                </c:pt>
                <c:pt idx="110">
                  <c:v>2.6575000000000002</c:v>
                </c:pt>
                <c:pt idx="111">
                  <c:v>2.8142105263000001</c:v>
                </c:pt>
                <c:pt idx="112">
                  <c:v>2.8066666667</c:v>
                </c:pt>
                <c:pt idx="113">
                  <c:v>2.7450000000000001</c:v>
                </c:pt>
                <c:pt idx="114">
                  <c:v>2.91</c:v>
                </c:pt>
                <c:pt idx="115">
                  <c:v>3.0009999999999999</c:v>
                </c:pt>
                <c:pt idx="116">
                  <c:v>3.0465</c:v>
                </c:pt>
                <c:pt idx="117">
                  <c:v>2.97</c:v>
                </c:pt>
              </c:numCache>
            </c:numRef>
          </c:val>
          <c:smooth val="0"/>
          <c:extLst>
            <c:ext xmlns:c16="http://schemas.microsoft.com/office/drawing/2014/chart" uri="{C3380CC4-5D6E-409C-BE32-E72D297353CC}">
              <c16:uniqueId val="{00000001-4562-7945-ACC4-FB9688EB27AF}"/>
            </c:ext>
          </c:extLst>
        </c:ser>
        <c:dLbls>
          <c:showLegendKey val="0"/>
          <c:showVal val="0"/>
          <c:showCatName val="0"/>
          <c:showSerName val="0"/>
          <c:showPercent val="0"/>
          <c:showBubbleSize val="0"/>
        </c:dLbls>
        <c:smooth val="0"/>
        <c:axId val="1843297600"/>
        <c:axId val="1668128192"/>
      </c:lineChart>
      <c:dateAx>
        <c:axId val="184329760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668128192"/>
        <c:crosses val="autoZero"/>
        <c:auto val="1"/>
        <c:lblOffset val="100"/>
        <c:baseTimeUnit val="months"/>
        <c:majorUnit val="12"/>
        <c:majorTimeUnit val="months"/>
      </c:dateAx>
      <c:valAx>
        <c:axId val="1668128192"/>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84329760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i="0" u="none" strike="noStrike" kern="1200" baseline="0">
                <a:solidFill>
                  <a:srgbClr val="000000"/>
                </a:solidFill>
                <a:latin typeface="Arial"/>
              </a:rPr>
              <a:t>Q2 Growth Undershoots at 0.3% as the IMF Cuts Its 2026 Forecast to Just 0.8%</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Japan!$B$4</c:f>
              <c:strCache>
                <c:ptCount val="1"/>
                <c:pt idx="0">
                  <c:v>Japan Real GDP Growth, QoQ (%)</c:v>
                </c:pt>
              </c:strCache>
            </c:strRef>
          </c:tx>
          <c:spPr>
            <a:ln w="22225" cap="rnd">
              <a:solidFill>
                <a:srgbClr val="0B2C48"/>
              </a:solidFill>
              <a:round/>
            </a:ln>
            <a:effectLst/>
          </c:spPr>
          <c:marker>
            <c:symbol val="none"/>
          </c:marker>
          <c:cat>
            <c:numRef>
              <c:f>Japan!$A$5:$A$44</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Japan!$B$5:$B$44</c:f>
              <c:numCache>
                <c:formatCode>0.0"%"</c:formatCode>
                <c:ptCount val="40"/>
                <c:pt idx="0">
                  <c:v>0.5</c:v>
                </c:pt>
                <c:pt idx="1">
                  <c:v>0.2</c:v>
                </c:pt>
                <c:pt idx="2">
                  <c:v>0.5</c:v>
                </c:pt>
                <c:pt idx="3">
                  <c:v>1</c:v>
                </c:pt>
                <c:pt idx="4">
                  <c:v>0.3</c:v>
                </c:pt>
                <c:pt idx="5">
                  <c:v>0.1</c:v>
                </c:pt>
                <c:pt idx="6">
                  <c:v>-0.2</c:v>
                </c:pt>
                <c:pt idx="7">
                  <c:v>0.5</c:v>
                </c:pt>
                <c:pt idx="8">
                  <c:v>-0.3</c:v>
                </c:pt>
                <c:pt idx="9">
                  <c:v>0.3</c:v>
                </c:pt>
                <c:pt idx="10">
                  <c:v>0.5</c:v>
                </c:pt>
                <c:pt idx="11">
                  <c:v>0.4</c:v>
                </c:pt>
                <c:pt idx="12">
                  <c:v>0.1</c:v>
                </c:pt>
                <c:pt idx="13">
                  <c:v>-1.6</c:v>
                </c:pt>
                <c:pt idx="14">
                  <c:v>-0.9</c:v>
                </c:pt>
                <c:pt idx="15">
                  <c:v>-7.8</c:v>
                </c:pt>
                <c:pt idx="16">
                  <c:v>5</c:v>
                </c:pt>
                <c:pt idx="17">
                  <c:v>3</c:v>
                </c:pt>
                <c:pt idx="18">
                  <c:v>-1.3</c:v>
                </c:pt>
                <c:pt idx="19">
                  <c:v>0.3</c:v>
                </c:pt>
                <c:pt idx="20">
                  <c:v>-0.8</c:v>
                </c:pt>
                <c:pt idx="21">
                  <c:v>1.3</c:v>
                </c:pt>
                <c:pt idx="22">
                  <c:v>-0.2</c:v>
                </c:pt>
                <c:pt idx="23">
                  <c:v>0.5</c:v>
                </c:pt>
                <c:pt idx="24">
                  <c:v>-0.3</c:v>
                </c:pt>
                <c:pt idx="25">
                  <c:v>0.2</c:v>
                </c:pt>
                <c:pt idx="26">
                  <c:v>0.4</c:v>
                </c:pt>
                <c:pt idx="27">
                  <c:v>1.5</c:v>
                </c:pt>
                <c:pt idx="28">
                  <c:v>-0.5</c:v>
                </c:pt>
                <c:pt idx="29">
                  <c:v>-0.1</c:v>
                </c:pt>
                <c:pt idx="30">
                  <c:v>-0.5</c:v>
                </c:pt>
                <c:pt idx="31">
                  <c:v>0.8</c:v>
                </c:pt>
                <c:pt idx="32">
                  <c:v>0.2</c:v>
                </c:pt>
                <c:pt idx="33">
                  <c:v>0.7</c:v>
                </c:pt>
                <c:pt idx="34">
                  <c:v>-0.2</c:v>
                </c:pt>
                <c:pt idx="35">
                  <c:v>0.3</c:v>
                </c:pt>
                <c:pt idx="36">
                  <c:v>-0.4</c:v>
                </c:pt>
                <c:pt idx="37">
                  <c:v>0.1</c:v>
                </c:pt>
                <c:pt idx="38">
                  <c:v>0.5</c:v>
                </c:pt>
                <c:pt idx="39">
                  <c:v>0.3</c:v>
                </c:pt>
              </c:numCache>
            </c:numRef>
          </c:val>
          <c:smooth val="0"/>
          <c:extLst>
            <c:ext xmlns:c16="http://schemas.microsoft.com/office/drawing/2014/chart" uri="{C3380CC4-5D6E-409C-BE32-E72D297353CC}">
              <c16:uniqueId val="{00000000-E17A-1A4D-8937-25303234CFA3}"/>
            </c:ext>
          </c:extLst>
        </c:ser>
        <c:ser>
          <c:idx val="1"/>
          <c:order val="1"/>
          <c:tx>
            <c:strRef>
              <c:f>Japan!$C$4</c:f>
              <c:strCache>
                <c:ptCount val="1"/>
                <c:pt idx="0">
                  <c:v>Japan CPI Inflation, YoY (%)</c:v>
                </c:pt>
              </c:strCache>
            </c:strRef>
          </c:tx>
          <c:spPr>
            <a:ln w="22225" cap="rnd">
              <a:solidFill>
                <a:srgbClr val="C9A03A"/>
              </a:solidFill>
              <a:round/>
            </a:ln>
            <a:effectLst/>
          </c:spPr>
          <c:marker>
            <c:symbol val="none"/>
          </c:marker>
          <c:cat>
            <c:numRef>
              <c:f>Japan!$A$5:$A$44</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Japan!$C$5:$C$44</c:f>
              <c:numCache>
                <c:formatCode>0.0"%"</c:formatCode>
                <c:ptCount val="40"/>
                <c:pt idx="0">
                  <c:v>-0.4</c:v>
                </c:pt>
                <c:pt idx="1">
                  <c:v>0.1</c:v>
                </c:pt>
                <c:pt idx="2">
                  <c:v>0.4</c:v>
                </c:pt>
                <c:pt idx="3">
                  <c:v>0.4</c:v>
                </c:pt>
                <c:pt idx="4">
                  <c:v>0.4</c:v>
                </c:pt>
                <c:pt idx="5">
                  <c:v>0.2</c:v>
                </c:pt>
                <c:pt idx="6">
                  <c:v>1.4</c:v>
                </c:pt>
                <c:pt idx="7">
                  <c:v>0.6</c:v>
                </c:pt>
                <c:pt idx="8">
                  <c:v>0.9</c:v>
                </c:pt>
                <c:pt idx="9">
                  <c:v>1.4</c:v>
                </c:pt>
                <c:pt idx="10">
                  <c:v>0.2</c:v>
                </c:pt>
                <c:pt idx="11">
                  <c:v>0.9</c:v>
                </c:pt>
                <c:pt idx="12">
                  <c:v>0.5</c:v>
                </c:pt>
                <c:pt idx="13">
                  <c:v>0.2</c:v>
                </c:pt>
                <c:pt idx="14">
                  <c:v>0.7</c:v>
                </c:pt>
                <c:pt idx="15">
                  <c:v>0.1</c:v>
                </c:pt>
                <c:pt idx="16">
                  <c:v>0.3</c:v>
                </c:pt>
                <c:pt idx="17">
                  <c:v>-0.4</c:v>
                </c:pt>
                <c:pt idx="18">
                  <c:v>-0.7</c:v>
                </c:pt>
                <c:pt idx="19">
                  <c:v>-1.1000000000000001</c:v>
                </c:pt>
                <c:pt idx="20">
                  <c:v>-0.3</c:v>
                </c:pt>
                <c:pt idx="21">
                  <c:v>0.1</c:v>
                </c:pt>
                <c:pt idx="22">
                  <c:v>0.5</c:v>
                </c:pt>
                <c:pt idx="23">
                  <c:v>2.5</c:v>
                </c:pt>
                <c:pt idx="24">
                  <c:v>2.6</c:v>
                </c:pt>
                <c:pt idx="25">
                  <c:v>3.7</c:v>
                </c:pt>
                <c:pt idx="26">
                  <c:v>4.3</c:v>
                </c:pt>
                <c:pt idx="27">
                  <c:v>3.5</c:v>
                </c:pt>
                <c:pt idx="28">
                  <c:v>3.3</c:v>
                </c:pt>
                <c:pt idx="29">
                  <c:v>3.3</c:v>
                </c:pt>
                <c:pt idx="30">
                  <c:v>2.2000000000000002</c:v>
                </c:pt>
                <c:pt idx="31">
                  <c:v>2.5</c:v>
                </c:pt>
                <c:pt idx="32">
                  <c:v>2.8</c:v>
                </c:pt>
                <c:pt idx="33">
                  <c:v>2.2999999999999998</c:v>
                </c:pt>
                <c:pt idx="34">
                  <c:v>4</c:v>
                </c:pt>
                <c:pt idx="35">
                  <c:v>3.6</c:v>
                </c:pt>
                <c:pt idx="36">
                  <c:v>3.1</c:v>
                </c:pt>
                <c:pt idx="37">
                  <c:v>3</c:v>
                </c:pt>
                <c:pt idx="38">
                  <c:v>1.5</c:v>
                </c:pt>
                <c:pt idx="39">
                  <c:v>1.4</c:v>
                </c:pt>
              </c:numCache>
            </c:numRef>
          </c:val>
          <c:smooth val="0"/>
          <c:extLst>
            <c:ext xmlns:c16="http://schemas.microsoft.com/office/drawing/2014/chart" uri="{C3380CC4-5D6E-409C-BE32-E72D297353CC}">
              <c16:uniqueId val="{00000001-E17A-1A4D-8937-25303234CFA3}"/>
            </c:ext>
          </c:extLst>
        </c:ser>
        <c:dLbls>
          <c:showLegendKey val="0"/>
          <c:showVal val="0"/>
          <c:showCatName val="0"/>
          <c:showSerName val="0"/>
          <c:showPercent val="0"/>
          <c:showBubbleSize val="0"/>
        </c:dLbls>
        <c:smooth val="0"/>
        <c:axId val="186624063"/>
        <c:axId val="186627647"/>
      </c:lineChart>
      <c:dateAx>
        <c:axId val="186624063"/>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627647"/>
        <c:crosses val="autoZero"/>
        <c:auto val="1"/>
        <c:lblOffset val="100"/>
        <c:baseTimeUnit val="months"/>
        <c:majorUnit val="12"/>
        <c:majorTimeUnit val="months"/>
      </c:dateAx>
      <c:valAx>
        <c:axId val="186627647"/>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624063"/>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i="0" u="none" strike="noStrike" kern="1200" spc="0" baseline="0">
                <a:solidFill>
                  <a:srgbClr val="000000"/>
                </a:solidFill>
                <a:latin typeface="Arial"/>
              </a:rPr>
              <a:t>The BOJ Is Hiking, But 10-Year Yields Are Moving Faster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Japan!$L$4</c:f>
              <c:strCache>
                <c:ptCount val="1"/>
                <c:pt idx="0">
                  <c:v>Japan 10-Year JGB Yield (%)</c:v>
                </c:pt>
              </c:strCache>
            </c:strRef>
          </c:tx>
          <c:spPr>
            <a:ln w="22225" cap="rnd">
              <a:solidFill>
                <a:srgbClr val="0B2C48"/>
              </a:solidFill>
              <a:round/>
            </a:ln>
            <a:effectLst/>
          </c:spPr>
          <c:marker>
            <c:symbol val="none"/>
          </c:marker>
          <c:cat>
            <c:numRef>
              <c:f>Japan!$K$5:$K$125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Japan!$L$5:$L$125</c:f>
              <c:numCache>
                <c:formatCode>0.00"%"</c:formatCode>
                <c:ptCount val="121"/>
                <c:pt idx="0">
                  <c:v>-7.0000000000000007E-2</c:v>
                </c:pt>
                <c:pt idx="1">
                  <c:v>-0.08</c:v>
                </c:pt>
                <c:pt idx="2">
                  <c:v>-0.05</c:v>
                </c:pt>
                <c:pt idx="3">
                  <c:v>0.02</c:v>
                </c:pt>
                <c:pt idx="4">
                  <c:v>0.05</c:v>
                </c:pt>
                <c:pt idx="5">
                  <c:v>0.09</c:v>
                </c:pt>
                <c:pt idx="6">
                  <c:v>0.05</c:v>
                </c:pt>
                <c:pt idx="7">
                  <c:v>7.0000000000000007E-2</c:v>
                </c:pt>
                <c:pt idx="8">
                  <c:v>0.02</c:v>
                </c:pt>
                <c:pt idx="9">
                  <c:v>0.04</c:v>
                </c:pt>
                <c:pt idx="10">
                  <c:v>0.08</c:v>
                </c:pt>
                <c:pt idx="11">
                  <c:v>0.08</c:v>
                </c:pt>
                <c:pt idx="12">
                  <c:v>0.01</c:v>
                </c:pt>
                <c:pt idx="13">
                  <c:v>0.06</c:v>
                </c:pt>
                <c:pt idx="14">
                  <c:v>7.0000000000000007E-2</c:v>
                </c:pt>
                <c:pt idx="15">
                  <c:v>0.04</c:v>
                </c:pt>
                <c:pt idx="16">
                  <c:v>0.05</c:v>
                </c:pt>
                <c:pt idx="17">
                  <c:v>0.08</c:v>
                </c:pt>
                <c:pt idx="18">
                  <c:v>0.05</c:v>
                </c:pt>
                <c:pt idx="19">
                  <c:v>0.05</c:v>
                </c:pt>
                <c:pt idx="20">
                  <c:v>0.06</c:v>
                </c:pt>
                <c:pt idx="21">
                  <c:v>0.04</c:v>
                </c:pt>
                <c:pt idx="22">
                  <c:v>0.03</c:v>
                </c:pt>
                <c:pt idx="23">
                  <c:v>0.06</c:v>
                </c:pt>
                <c:pt idx="24">
                  <c:v>0.1</c:v>
                </c:pt>
                <c:pt idx="25">
                  <c:v>0.13</c:v>
                </c:pt>
                <c:pt idx="26">
                  <c:v>0.13</c:v>
                </c:pt>
                <c:pt idx="27">
                  <c:v>0.09</c:v>
                </c:pt>
                <c:pt idx="28">
                  <c:v>0</c:v>
                </c:pt>
                <c:pt idx="29">
                  <c:v>0</c:v>
                </c:pt>
                <c:pt idx="30">
                  <c:v>-0.02</c:v>
                </c:pt>
                <c:pt idx="31">
                  <c:v>-0.09</c:v>
                </c:pt>
                <c:pt idx="32">
                  <c:v>-0.04</c:v>
                </c:pt>
                <c:pt idx="33">
                  <c:v>-0.1</c:v>
                </c:pt>
                <c:pt idx="34">
                  <c:v>-0.16</c:v>
                </c:pt>
                <c:pt idx="35">
                  <c:v>-0.15</c:v>
                </c:pt>
                <c:pt idx="36">
                  <c:v>-0.28000000000000003</c:v>
                </c:pt>
                <c:pt idx="37">
                  <c:v>-0.22</c:v>
                </c:pt>
                <c:pt idx="38">
                  <c:v>-0.14000000000000001</c:v>
                </c:pt>
                <c:pt idx="39">
                  <c:v>-0.08</c:v>
                </c:pt>
                <c:pt idx="40">
                  <c:v>-0.02</c:v>
                </c:pt>
                <c:pt idx="41">
                  <c:v>-0.06</c:v>
                </c:pt>
                <c:pt idx="42">
                  <c:v>-0.15</c:v>
                </c:pt>
                <c:pt idx="43">
                  <c:v>0.02</c:v>
                </c:pt>
                <c:pt idx="44">
                  <c:v>-0.04</c:v>
                </c:pt>
                <c:pt idx="45">
                  <c:v>0.01</c:v>
                </c:pt>
                <c:pt idx="46">
                  <c:v>0.03</c:v>
                </c:pt>
                <c:pt idx="47">
                  <c:v>0.02</c:v>
                </c:pt>
                <c:pt idx="48">
                  <c:v>0.05</c:v>
                </c:pt>
                <c:pt idx="49">
                  <c:v>0.02</c:v>
                </c:pt>
                <c:pt idx="50">
                  <c:v>0.04</c:v>
                </c:pt>
                <c:pt idx="51">
                  <c:v>0.03</c:v>
                </c:pt>
                <c:pt idx="52">
                  <c:v>0.02</c:v>
                </c:pt>
                <c:pt idx="53">
                  <c:v>0.05</c:v>
                </c:pt>
                <c:pt idx="54">
                  <c:v>0.17</c:v>
                </c:pt>
                <c:pt idx="55">
                  <c:v>0.1</c:v>
                </c:pt>
                <c:pt idx="56">
                  <c:v>0.09</c:v>
                </c:pt>
                <c:pt idx="57">
                  <c:v>0.08</c:v>
                </c:pt>
                <c:pt idx="58">
                  <c:v>0.05</c:v>
                </c:pt>
                <c:pt idx="59">
                  <c:v>0.02</c:v>
                </c:pt>
                <c:pt idx="60">
                  <c:v>0.02</c:v>
                </c:pt>
                <c:pt idx="61">
                  <c:v>7.0000000000000007E-2</c:v>
                </c:pt>
                <c:pt idx="62">
                  <c:v>0.09</c:v>
                </c:pt>
                <c:pt idx="63">
                  <c:v>0.06</c:v>
                </c:pt>
                <c:pt idx="64">
                  <c:v>7.0000000000000007E-2</c:v>
                </c:pt>
                <c:pt idx="65">
                  <c:v>0.17</c:v>
                </c:pt>
                <c:pt idx="66">
                  <c:v>0.18</c:v>
                </c:pt>
                <c:pt idx="67">
                  <c:v>0.21</c:v>
                </c:pt>
                <c:pt idx="68">
                  <c:v>0.22</c:v>
                </c:pt>
                <c:pt idx="69">
                  <c:v>0.24</c:v>
                </c:pt>
                <c:pt idx="70">
                  <c:v>0.23</c:v>
                </c:pt>
                <c:pt idx="71">
                  <c:v>0.17</c:v>
                </c:pt>
                <c:pt idx="72">
                  <c:v>0.23</c:v>
                </c:pt>
                <c:pt idx="73">
                  <c:v>0.24</c:v>
                </c:pt>
                <c:pt idx="74">
                  <c:v>0.25</c:v>
                </c:pt>
                <c:pt idx="75">
                  <c:v>0.25</c:v>
                </c:pt>
                <c:pt idx="76">
                  <c:v>0.42</c:v>
                </c:pt>
                <c:pt idx="77">
                  <c:v>0.49</c:v>
                </c:pt>
                <c:pt idx="78">
                  <c:v>0.5</c:v>
                </c:pt>
                <c:pt idx="79">
                  <c:v>0.32</c:v>
                </c:pt>
                <c:pt idx="80">
                  <c:v>0.4</c:v>
                </c:pt>
                <c:pt idx="81">
                  <c:v>0.43</c:v>
                </c:pt>
                <c:pt idx="82">
                  <c:v>0.4</c:v>
                </c:pt>
                <c:pt idx="83">
                  <c:v>0.6</c:v>
                </c:pt>
                <c:pt idx="84">
                  <c:v>0.65</c:v>
                </c:pt>
                <c:pt idx="85">
                  <c:v>0.77</c:v>
                </c:pt>
                <c:pt idx="86">
                  <c:v>0.95</c:v>
                </c:pt>
                <c:pt idx="87">
                  <c:v>0.68</c:v>
                </c:pt>
                <c:pt idx="88">
                  <c:v>0.62</c:v>
                </c:pt>
                <c:pt idx="89">
                  <c:v>0.74</c:v>
                </c:pt>
                <c:pt idx="90">
                  <c:v>0.71</c:v>
                </c:pt>
                <c:pt idx="91">
                  <c:v>0.73</c:v>
                </c:pt>
                <c:pt idx="92">
                  <c:v>0.87</c:v>
                </c:pt>
                <c:pt idx="93">
                  <c:v>1.07</c:v>
                </c:pt>
                <c:pt idx="94">
                  <c:v>1.05</c:v>
                </c:pt>
                <c:pt idx="95">
                  <c:v>1.06</c:v>
                </c:pt>
                <c:pt idx="96">
                  <c:v>0.89</c:v>
                </c:pt>
                <c:pt idx="97">
                  <c:v>0.86</c:v>
                </c:pt>
                <c:pt idx="98">
                  <c:v>0.94</c:v>
                </c:pt>
                <c:pt idx="99">
                  <c:v>1.05</c:v>
                </c:pt>
                <c:pt idx="100">
                  <c:v>1.0900000000000001</c:v>
                </c:pt>
                <c:pt idx="101">
                  <c:v>1.25</c:v>
                </c:pt>
                <c:pt idx="102">
                  <c:v>1.37</c:v>
                </c:pt>
                <c:pt idx="103">
                  <c:v>1.49</c:v>
                </c:pt>
                <c:pt idx="104">
                  <c:v>1.31</c:v>
                </c:pt>
                <c:pt idx="105">
                  <c:v>1.5</c:v>
                </c:pt>
                <c:pt idx="106">
                  <c:v>1.43</c:v>
                </c:pt>
                <c:pt idx="107">
                  <c:v>1.55</c:v>
                </c:pt>
                <c:pt idx="108">
                  <c:v>1.6</c:v>
                </c:pt>
                <c:pt idx="109">
                  <c:v>1.65</c:v>
                </c:pt>
                <c:pt idx="110">
                  <c:v>1.66</c:v>
                </c:pt>
                <c:pt idx="111">
                  <c:v>1.81</c:v>
                </c:pt>
                <c:pt idx="112">
                  <c:v>2.0699999999999998</c:v>
                </c:pt>
                <c:pt idx="113">
                  <c:v>2.25</c:v>
                </c:pt>
                <c:pt idx="114">
                  <c:v>2.12</c:v>
                </c:pt>
                <c:pt idx="115">
                  <c:v>2.36</c:v>
                </c:pt>
                <c:pt idx="116">
                  <c:v>2.52</c:v>
                </c:pt>
                <c:pt idx="117">
                  <c:v>2.66</c:v>
                </c:pt>
                <c:pt idx="118">
                  <c:v>2.68</c:v>
                </c:pt>
                <c:pt idx="119">
                  <c:v>2.8</c:v>
                </c:pt>
                <c:pt idx="120">
                  <c:v>2.94</c:v>
                </c:pt>
              </c:numCache>
            </c:numRef>
          </c:val>
          <c:smooth val="0"/>
          <c:extLst>
            <c:ext xmlns:c16="http://schemas.microsoft.com/office/drawing/2014/chart" uri="{C3380CC4-5D6E-409C-BE32-E72D297353CC}">
              <c16:uniqueId val="{00000000-A5FD-1743-90AA-0C8F36A0ABBB}"/>
            </c:ext>
          </c:extLst>
        </c:ser>
        <c:ser>
          <c:idx val="1"/>
          <c:order val="1"/>
          <c:tx>
            <c:strRef>
              <c:f>Japan!$M$4</c:f>
              <c:strCache>
                <c:ptCount val="1"/>
                <c:pt idx="0">
                  <c:v>Japan Short-Term Interest Rate (%)</c:v>
                </c:pt>
              </c:strCache>
            </c:strRef>
          </c:tx>
          <c:spPr>
            <a:ln w="22225" cap="rnd">
              <a:solidFill>
                <a:srgbClr val="C9A03A"/>
              </a:solidFill>
              <a:round/>
            </a:ln>
            <a:effectLst/>
          </c:spPr>
          <c:marker>
            <c:symbol val="none"/>
          </c:marker>
          <c:cat>
            <c:numRef>
              <c:f>Japan!$K$5:$K$125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Japan!$M$5:$M$125</c:f>
              <c:numCache>
                <c:formatCode>0.00"%"</c:formatCode>
                <c:ptCount val="121"/>
                <c:pt idx="0">
                  <c:v>-5.5E-2</c:v>
                </c:pt>
                <c:pt idx="1">
                  <c:v>-4.2999999999999997E-2</c:v>
                </c:pt>
                <c:pt idx="2">
                  <c:v>-4.2999999999999997E-2</c:v>
                </c:pt>
                <c:pt idx="3">
                  <c:v>-5.1999999999999998E-2</c:v>
                </c:pt>
                <c:pt idx="4">
                  <c:v>-3.6999999999999998E-2</c:v>
                </c:pt>
                <c:pt idx="5">
                  <c:v>-4.9000000000000002E-2</c:v>
                </c:pt>
                <c:pt idx="6">
                  <c:v>-4.3999999999999997E-2</c:v>
                </c:pt>
                <c:pt idx="7">
                  <c:v>-4.4999999999999998E-2</c:v>
                </c:pt>
                <c:pt idx="8">
                  <c:v>-3.7999999999999999E-2</c:v>
                </c:pt>
                <c:pt idx="9">
                  <c:v>-4.2000000000000003E-2</c:v>
                </c:pt>
                <c:pt idx="10">
                  <c:v>-5.3999999999999999E-2</c:v>
                </c:pt>
                <c:pt idx="11">
                  <c:v>-5.2999999999999999E-2</c:v>
                </c:pt>
                <c:pt idx="12">
                  <c:v>-5.6000000000000001E-2</c:v>
                </c:pt>
                <c:pt idx="13">
                  <c:v>-5.3999999999999999E-2</c:v>
                </c:pt>
                <c:pt idx="14">
                  <c:v>-4.9000000000000002E-2</c:v>
                </c:pt>
                <c:pt idx="15">
                  <c:v>-5.8000000000000003E-2</c:v>
                </c:pt>
                <c:pt idx="16">
                  <c:v>-3.6999999999999998E-2</c:v>
                </c:pt>
                <c:pt idx="17">
                  <c:v>-4.8000000000000001E-2</c:v>
                </c:pt>
                <c:pt idx="18">
                  <c:v>-4.2000000000000003E-2</c:v>
                </c:pt>
                <c:pt idx="19">
                  <c:v>-0.04</c:v>
                </c:pt>
                <c:pt idx="20">
                  <c:v>-4.2000000000000003E-2</c:v>
                </c:pt>
                <c:pt idx="21">
                  <c:v>-6.2E-2</c:v>
                </c:pt>
                <c:pt idx="22">
                  <c:v>-6.3E-2</c:v>
                </c:pt>
                <c:pt idx="23">
                  <c:v>-6.0999999999999999E-2</c:v>
                </c:pt>
                <c:pt idx="24">
                  <c:v>-7.0999999999999994E-2</c:v>
                </c:pt>
                <c:pt idx="25">
                  <c:v>-7.0000000000000007E-2</c:v>
                </c:pt>
                <c:pt idx="26">
                  <c:v>-5.8999999999999997E-2</c:v>
                </c:pt>
                <c:pt idx="27">
                  <c:v>-5.8000000000000003E-2</c:v>
                </c:pt>
                <c:pt idx="28">
                  <c:v>-0.06</c:v>
                </c:pt>
                <c:pt idx="29">
                  <c:v>-7.0999999999999994E-2</c:v>
                </c:pt>
                <c:pt idx="30">
                  <c:v>-6.8000000000000005E-2</c:v>
                </c:pt>
                <c:pt idx="31">
                  <c:v>-6.4000000000000001E-2</c:v>
                </c:pt>
                <c:pt idx="32">
                  <c:v>-5.5E-2</c:v>
                </c:pt>
                <c:pt idx="33">
                  <c:v>-4.1000000000000002E-2</c:v>
                </c:pt>
                <c:pt idx="34">
                  <c:v>-6.7000000000000004E-2</c:v>
                </c:pt>
                <c:pt idx="35">
                  <c:v>-4.9000000000000002E-2</c:v>
                </c:pt>
                <c:pt idx="36">
                  <c:v>-6.2E-2</c:v>
                </c:pt>
                <c:pt idx="37">
                  <c:v>-7.0999999999999994E-2</c:v>
                </c:pt>
                <c:pt idx="38">
                  <c:v>-4.4999999999999998E-2</c:v>
                </c:pt>
                <c:pt idx="39">
                  <c:v>-5.8999999999999997E-2</c:v>
                </c:pt>
                <c:pt idx="40">
                  <c:v>-2.1000000000000001E-2</c:v>
                </c:pt>
                <c:pt idx="41">
                  <c:v>-4.2999999999999997E-2</c:v>
                </c:pt>
                <c:pt idx="42">
                  <c:v>-3.7999999999999999E-2</c:v>
                </c:pt>
                <c:pt idx="43">
                  <c:v>-3.2000000000000001E-2</c:v>
                </c:pt>
                <c:pt idx="44">
                  <c:v>-1.6E-2</c:v>
                </c:pt>
                <c:pt idx="45">
                  <c:v>-4.7E-2</c:v>
                </c:pt>
                <c:pt idx="46">
                  <c:v>-3.5999999999999997E-2</c:v>
                </c:pt>
                <c:pt idx="47">
                  <c:v>-4.7E-2</c:v>
                </c:pt>
                <c:pt idx="48">
                  <c:v>-4.8000000000000001E-2</c:v>
                </c:pt>
                <c:pt idx="49">
                  <c:v>-2.8000000000000001E-2</c:v>
                </c:pt>
                <c:pt idx="50">
                  <c:v>-3.5000000000000003E-2</c:v>
                </c:pt>
                <c:pt idx="51">
                  <c:v>-5.3999999999999999E-2</c:v>
                </c:pt>
                <c:pt idx="52">
                  <c:v>-0.02</c:v>
                </c:pt>
                <c:pt idx="53">
                  <c:v>-3.2000000000000001E-2</c:v>
                </c:pt>
                <c:pt idx="54">
                  <c:v>-2.5999999999999999E-2</c:v>
                </c:pt>
                <c:pt idx="55">
                  <c:v>-1.7000000000000001E-2</c:v>
                </c:pt>
                <c:pt idx="56">
                  <c:v>-1.6E-2</c:v>
                </c:pt>
                <c:pt idx="57">
                  <c:v>-1.7000000000000001E-2</c:v>
                </c:pt>
                <c:pt idx="58">
                  <c:v>-1.2E-2</c:v>
                </c:pt>
                <c:pt idx="59">
                  <c:v>-1.7000000000000001E-2</c:v>
                </c:pt>
                <c:pt idx="60">
                  <c:v>-2.9000000000000001E-2</c:v>
                </c:pt>
                <c:pt idx="61">
                  <c:v>-3.5999999999999997E-2</c:v>
                </c:pt>
                <c:pt idx="62">
                  <c:v>-3.4000000000000002E-2</c:v>
                </c:pt>
                <c:pt idx="63">
                  <c:v>-2.1999999999999999E-2</c:v>
                </c:pt>
                <c:pt idx="64">
                  <c:v>-2.7E-2</c:v>
                </c:pt>
                <c:pt idx="65">
                  <c:v>-3.9E-2</c:v>
                </c:pt>
                <c:pt idx="66">
                  <c:v>-2.5999999999999999E-2</c:v>
                </c:pt>
                <c:pt idx="67">
                  <c:v>-0.02</c:v>
                </c:pt>
                <c:pt idx="68">
                  <c:v>-1.7999999999999999E-2</c:v>
                </c:pt>
                <c:pt idx="69">
                  <c:v>-8.0000000000000002E-3</c:v>
                </c:pt>
                <c:pt idx="70">
                  <c:v>-1.2E-2</c:v>
                </c:pt>
                <c:pt idx="71">
                  <c:v>-1.7999999999999999E-2</c:v>
                </c:pt>
                <c:pt idx="72">
                  <c:v>-3.7999999999999999E-2</c:v>
                </c:pt>
                <c:pt idx="73">
                  <c:v>-1.2E-2</c:v>
                </c:pt>
                <c:pt idx="74">
                  <c:v>-1.7999999999999999E-2</c:v>
                </c:pt>
                <c:pt idx="75">
                  <c:v>-4.9000000000000002E-2</c:v>
                </c:pt>
                <c:pt idx="76">
                  <c:v>-0.05</c:v>
                </c:pt>
                <c:pt idx="77">
                  <c:v>-6.7000000000000004E-2</c:v>
                </c:pt>
                <c:pt idx="78">
                  <c:v>-7.0000000000000007E-2</c:v>
                </c:pt>
                <c:pt idx="79">
                  <c:v>-0.02</c:v>
                </c:pt>
                <c:pt idx="80">
                  <c:v>-1.9E-2</c:v>
                </c:pt>
                <c:pt idx="81">
                  <c:v>-1.7000000000000001E-2</c:v>
                </c:pt>
                <c:pt idx="82">
                  <c:v>-1.4999999999999999E-2</c:v>
                </c:pt>
                <c:pt idx="83">
                  <c:v>-5.0999999999999997E-2</c:v>
                </c:pt>
                <c:pt idx="84">
                  <c:v>-6.6000000000000003E-2</c:v>
                </c:pt>
                <c:pt idx="85">
                  <c:v>-4.5999999999999999E-2</c:v>
                </c:pt>
                <c:pt idx="86">
                  <c:v>-6.4000000000000001E-2</c:v>
                </c:pt>
                <c:pt idx="87">
                  <c:v>-5.3999999999999999E-2</c:v>
                </c:pt>
                <c:pt idx="88">
                  <c:v>-0.02</c:v>
                </c:pt>
                <c:pt idx="89">
                  <c:v>-1.4999999999999999E-2</c:v>
                </c:pt>
                <c:pt idx="90">
                  <c:v>-1.2E-2</c:v>
                </c:pt>
                <c:pt idx="91">
                  <c:v>-1.4E-2</c:v>
                </c:pt>
                <c:pt idx="92">
                  <c:v>-6.0000000000000001E-3</c:v>
                </c:pt>
                <c:pt idx="93">
                  <c:v>2.1999999999999999E-2</c:v>
                </c:pt>
                <c:pt idx="94">
                  <c:v>7.6999999999999999E-2</c:v>
                </c:pt>
                <c:pt idx="95">
                  <c:v>7.6999999999999999E-2</c:v>
                </c:pt>
                <c:pt idx="96">
                  <c:v>7.6999999999999999E-2</c:v>
                </c:pt>
                <c:pt idx="97">
                  <c:v>7.8E-2</c:v>
                </c:pt>
                <c:pt idx="98">
                  <c:v>0.22700000000000001</c:v>
                </c:pt>
                <c:pt idx="99">
                  <c:v>0.22700000000000001</c:v>
                </c:pt>
                <c:pt idx="100">
                  <c:v>0.22700000000000001</c:v>
                </c:pt>
                <c:pt idx="101">
                  <c:v>0.22700000000000001</c:v>
                </c:pt>
                <c:pt idx="102">
                  <c:v>0.22700000000000001</c:v>
                </c:pt>
                <c:pt idx="103">
                  <c:v>0.29299999999999998</c:v>
                </c:pt>
                <c:pt idx="104">
                  <c:v>0.47799999999999998</c:v>
                </c:pt>
                <c:pt idx="105">
                  <c:v>0.47699999999999998</c:v>
                </c:pt>
                <c:pt idx="106">
                  <c:v>0.47699999999999998</c:v>
                </c:pt>
                <c:pt idx="107">
                  <c:v>0.47699999999999998</c:v>
                </c:pt>
                <c:pt idx="108">
                  <c:v>0.47699999999999998</c:v>
                </c:pt>
                <c:pt idx="109">
                  <c:v>0.47799999999999998</c:v>
                </c:pt>
                <c:pt idx="110">
                  <c:v>0.47699999999999998</c:v>
                </c:pt>
                <c:pt idx="111">
                  <c:v>0.47699999999999998</c:v>
                </c:pt>
                <c:pt idx="112">
                  <c:v>0.47699999999999998</c:v>
                </c:pt>
                <c:pt idx="113">
                  <c:v>0.47799999999999998</c:v>
                </c:pt>
                <c:pt idx="114">
                  <c:v>0.55700000000000005</c:v>
                </c:pt>
                <c:pt idx="115">
                  <c:v>0.72799999999999998</c:v>
                </c:pt>
                <c:pt idx="116">
                  <c:v>0.72799999999999998</c:v>
                </c:pt>
                <c:pt idx="117">
                  <c:v>0.72799999999999998</c:v>
                </c:pt>
                <c:pt idx="118">
                  <c:v>0.72699999999999998</c:v>
                </c:pt>
                <c:pt idx="119">
                  <c:v>0.72699999999999998</c:v>
                </c:pt>
                <c:pt idx="120">
                  <c:v>0.84099999999999997</c:v>
                </c:pt>
              </c:numCache>
            </c:numRef>
          </c:val>
          <c:smooth val="0"/>
          <c:extLst>
            <c:ext xmlns:c16="http://schemas.microsoft.com/office/drawing/2014/chart" uri="{C3380CC4-5D6E-409C-BE32-E72D297353CC}">
              <c16:uniqueId val="{00000001-A5FD-1743-90AA-0C8F36A0ABBB}"/>
            </c:ext>
          </c:extLst>
        </c:ser>
        <c:dLbls>
          <c:showLegendKey val="0"/>
          <c:showVal val="0"/>
          <c:showCatName val="0"/>
          <c:showSerName val="0"/>
          <c:showPercent val="0"/>
          <c:showBubbleSize val="0"/>
        </c:dLbls>
        <c:smooth val="0"/>
        <c:axId val="180079679"/>
        <c:axId val="180083711"/>
      </c:lineChart>
      <c:dateAx>
        <c:axId val="180079679"/>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0083711"/>
        <c:crosses val="autoZero"/>
        <c:auto val="1"/>
        <c:lblOffset val="100"/>
        <c:baseTimeUnit val="months"/>
        <c:majorUnit val="12"/>
        <c:majorTimeUnit val="months"/>
      </c:dateAx>
      <c:valAx>
        <c:axId val="180083711"/>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007967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US" sz="1000" b="1">
                <a:solidFill>
                  <a:schemeClr val="tx1"/>
                </a:solidFill>
                <a:latin typeface="Arial"/>
              </a:rPr>
              <a:t>USD/JPY Whipsaws as a Joint US-Japan Intervention Defends 160</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Japan!$Z$4</c:f>
              <c:strCache>
                <c:ptCount val="1"/>
                <c:pt idx="0">
                  <c:v>USD/JPY (Close)</c:v>
                </c:pt>
              </c:strCache>
            </c:strRef>
          </c:tx>
          <c:spPr>
            <a:ln w="22225" cap="rnd">
              <a:solidFill>
                <a:srgbClr val="0B2C48"/>
              </a:solidFill>
              <a:round/>
            </a:ln>
            <a:effectLst/>
          </c:spPr>
          <c:marker>
            <c:symbol val="none"/>
          </c:marker>
          <c:cat>
            <c:numRef>
              <c:f>Japan!$Y$5:$Y$125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Japan!$Z$5:$Z$125</c:f>
              <c:numCache>
                <c:formatCode>0.00</c:formatCode>
                <c:ptCount val="121"/>
                <c:pt idx="0">
                  <c:v>101.33</c:v>
                </c:pt>
                <c:pt idx="1">
                  <c:v>104.81</c:v>
                </c:pt>
                <c:pt idx="2">
                  <c:v>114.44</c:v>
                </c:pt>
                <c:pt idx="3">
                  <c:v>116.87</c:v>
                </c:pt>
                <c:pt idx="4">
                  <c:v>112.78</c:v>
                </c:pt>
                <c:pt idx="5">
                  <c:v>112.75</c:v>
                </c:pt>
                <c:pt idx="6">
                  <c:v>111.38</c:v>
                </c:pt>
                <c:pt idx="7">
                  <c:v>111.53</c:v>
                </c:pt>
                <c:pt idx="8">
                  <c:v>110.75</c:v>
                </c:pt>
                <c:pt idx="9">
                  <c:v>112.35</c:v>
                </c:pt>
                <c:pt idx="10">
                  <c:v>110.25</c:v>
                </c:pt>
                <c:pt idx="11">
                  <c:v>109.96</c:v>
                </c:pt>
                <c:pt idx="12">
                  <c:v>112.47</c:v>
                </c:pt>
                <c:pt idx="13">
                  <c:v>113.62</c:v>
                </c:pt>
                <c:pt idx="14">
                  <c:v>112.52</c:v>
                </c:pt>
                <c:pt idx="15">
                  <c:v>112.67</c:v>
                </c:pt>
                <c:pt idx="16">
                  <c:v>109.17</c:v>
                </c:pt>
                <c:pt idx="17">
                  <c:v>106.67</c:v>
                </c:pt>
                <c:pt idx="18">
                  <c:v>106.26</c:v>
                </c:pt>
                <c:pt idx="19">
                  <c:v>109.33</c:v>
                </c:pt>
                <c:pt idx="20">
                  <c:v>108.81</c:v>
                </c:pt>
                <c:pt idx="21">
                  <c:v>110.66</c:v>
                </c:pt>
                <c:pt idx="22">
                  <c:v>111.86</c:v>
                </c:pt>
                <c:pt idx="23">
                  <c:v>111.02</c:v>
                </c:pt>
                <c:pt idx="24">
                  <c:v>113.68</c:v>
                </c:pt>
                <c:pt idx="25">
                  <c:v>112.93</c:v>
                </c:pt>
                <c:pt idx="26">
                  <c:v>113.46</c:v>
                </c:pt>
                <c:pt idx="27">
                  <c:v>109.56</c:v>
                </c:pt>
                <c:pt idx="28">
                  <c:v>108.87</c:v>
                </c:pt>
                <c:pt idx="29">
                  <c:v>111.37</c:v>
                </c:pt>
                <c:pt idx="30">
                  <c:v>110.84</c:v>
                </c:pt>
                <c:pt idx="31">
                  <c:v>111.41</c:v>
                </c:pt>
                <c:pt idx="32">
                  <c:v>108.26</c:v>
                </c:pt>
                <c:pt idx="33">
                  <c:v>107.88</c:v>
                </c:pt>
                <c:pt idx="34">
                  <c:v>108.74</c:v>
                </c:pt>
                <c:pt idx="35">
                  <c:v>106.29</c:v>
                </c:pt>
                <c:pt idx="36">
                  <c:v>108.06</c:v>
                </c:pt>
                <c:pt idx="37">
                  <c:v>108.02</c:v>
                </c:pt>
                <c:pt idx="38">
                  <c:v>109.51</c:v>
                </c:pt>
                <c:pt idx="39">
                  <c:v>108.61</c:v>
                </c:pt>
                <c:pt idx="40">
                  <c:v>108.38</c:v>
                </c:pt>
                <c:pt idx="41">
                  <c:v>108.07</c:v>
                </c:pt>
                <c:pt idx="42">
                  <c:v>107.53</c:v>
                </c:pt>
                <c:pt idx="43">
                  <c:v>107.17</c:v>
                </c:pt>
                <c:pt idx="44">
                  <c:v>107.77</c:v>
                </c:pt>
                <c:pt idx="45">
                  <c:v>107.92</c:v>
                </c:pt>
                <c:pt idx="46">
                  <c:v>105.88</c:v>
                </c:pt>
                <c:pt idx="47">
                  <c:v>105.89</c:v>
                </c:pt>
                <c:pt idx="48">
                  <c:v>105.45</c:v>
                </c:pt>
                <c:pt idx="49">
                  <c:v>104.64</c:v>
                </c:pt>
                <c:pt idx="50">
                  <c:v>104.27</c:v>
                </c:pt>
                <c:pt idx="51">
                  <c:v>103.24</c:v>
                </c:pt>
                <c:pt idx="52">
                  <c:v>104.68</c:v>
                </c:pt>
                <c:pt idx="53">
                  <c:v>106.58</c:v>
                </c:pt>
                <c:pt idx="54">
                  <c:v>110.7</c:v>
                </c:pt>
                <c:pt idx="55">
                  <c:v>109.27</c:v>
                </c:pt>
                <c:pt idx="56">
                  <c:v>109.54</c:v>
                </c:pt>
                <c:pt idx="57">
                  <c:v>111.1</c:v>
                </c:pt>
                <c:pt idx="58">
                  <c:v>109.7</c:v>
                </c:pt>
                <c:pt idx="59">
                  <c:v>110.02</c:v>
                </c:pt>
                <c:pt idx="60">
                  <c:v>111.27</c:v>
                </c:pt>
                <c:pt idx="61">
                  <c:v>114</c:v>
                </c:pt>
                <c:pt idx="62">
                  <c:v>113.13</c:v>
                </c:pt>
                <c:pt idx="63">
                  <c:v>115.08</c:v>
                </c:pt>
                <c:pt idx="64">
                  <c:v>115.1</c:v>
                </c:pt>
                <c:pt idx="65">
                  <c:v>114.99</c:v>
                </c:pt>
                <c:pt idx="66">
                  <c:v>121.66</c:v>
                </c:pt>
                <c:pt idx="67">
                  <c:v>129.83000000000001</c:v>
                </c:pt>
                <c:pt idx="68">
                  <c:v>128.68</c:v>
                </c:pt>
                <c:pt idx="69">
                  <c:v>135.72999999999999</c:v>
                </c:pt>
                <c:pt idx="70">
                  <c:v>133.19</c:v>
                </c:pt>
                <c:pt idx="71">
                  <c:v>138.96</c:v>
                </c:pt>
                <c:pt idx="72">
                  <c:v>144.75</c:v>
                </c:pt>
                <c:pt idx="73">
                  <c:v>148.71</c:v>
                </c:pt>
                <c:pt idx="74">
                  <c:v>138.03</c:v>
                </c:pt>
                <c:pt idx="75">
                  <c:v>131.11000000000001</c:v>
                </c:pt>
                <c:pt idx="76">
                  <c:v>130.09</c:v>
                </c:pt>
                <c:pt idx="77">
                  <c:v>136.19999999999999</c:v>
                </c:pt>
                <c:pt idx="78">
                  <c:v>132.79</c:v>
                </c:pt>
                <c:pt idx="79">
                  <c:v>136.28</c:v>
                </c:pt>
                <c:pt idx="80">
                  <c:v>139.34</c:v>
                </c:pt>
                <c:pt idx="81">
                  <c:v>144.32</c:v>
                </c:pt>
                <c:pt idx="82">
                  <c:v>142.28</c:v>
                </c:pt>
                <c:pt idx="83">
                  <c:v>145.53</c:v>
                </c:pt>
                <c:pt idx="84">
                  <c:v>149.35</c:v>
                </c:pt>
                <c:pt idx="85">
                  <c:v>151.66999999999999</c:v>
                </c:pt>
                <c:pt idx="86">
                  <c:v>148.19</c:v>
                </c:pt>
                <c:pt idx="87">
                  <c:v>141.06</c:v>
                </c:pt>
                <c:pt idx="88">
                  <c:v>146.88</c:v>
                </c:pt>
                <c:pt idx="89">
                  <c:v>149.97999999999999</c:v>
                </c:pt>
                <c:pt idx="90">
                  <c:v>151.31</c:v>
                </c:pt>
                <c:pt idx="91">
                  <c:v>157.80000000000001</c:v>
                </c:pt>
                <c:pt idx="92">
                  <c:v>157.31</c:v>
                </c:pt>
                <c:pt idx="93">
                  <c:v>160.83000000000001</c:v>
                </c:pt>
                <c:pt idx="94">
                  <c:v>149.97999999999999</c:v>
                </c:pt>
                <c:pt idx="95">
                  <c:v>146.16</c:v>
                </c:pt>
                <c:pt idx="96">
                  <c:v>143.62</c:v>
                </c:pt>
                <c:pt idx="97">
                  <c:v>152.03</c:v>
                </c:pt>
                <c:pt idx="98">
                  <c:v>149.75</c:v>
                </c:pt>
                <c:pt idx="99">
                  <c:v>157.18</c:v>
                </c:pt>
                <c:pt idx="100">
                  <c:v>155.18</c:v>
                </c:pt>
                <c:pt idx="101">
                  <c:v>150.6</c:v>
                </c:pt>
                <c:pt idx="102">
                  <c:v>149.94999999999999</c:v>
                </c:pt>
                <c:pt idx="103">
                  <c:v>143.07</c:v>
                </c:pt>
                <c:pt idx="104">
                  <c:v>144.04</c:v>
                </c:pt>
                <c:pt idx="105">
                  <c:v>144.01</c:v>
                </c:pt>
                <c:pt idx="106">
                  <c:v>150.74</c:v>
                </c:pt>
                <c:pt idx="107">
                  <c:v>147.02000000000001</c:v>
                </c:pt>
                <c:pt idx="108">
                  <c:v>147.9</c:v>
                </c:pt>
                <c:pt idx="109">
                  <c:v>154</c:v>
                </c:pt>
                <c:pt idx="110">
                  <c:v>156.15</c:v>
                </c:pt>
                <c:pt idx="111">
                  <c:v>156.65</c:v>
                </c:pt>
                <c:pt idx="112">
                  <c:v>154.76</c:v>
                </c:pt>
                <c:pt idx="113">
                  <c:v>156.05000000000001</c:v>
                </c:pt>
                <c:pt idx="114">
                  <c:v>158.71</c:v>
                </c:pt>
                <c:pt idx="115">
                  <c:v>156.57</c:v>
                </c:pt>
                <c:pt idx="116">
                  <c:v>159.26</c:v>
                </c:pt>
                <c:pt idx="117">
                  <c:v>162.54</c:v>
                </c:pt>
                <c:pt idx="118">
                  <c:v>157.57</c:v>
                </c:pt>
                <c:pt idx="119">
                  <c:v>159.72999999999999</c:v>
                </c:pt>
                <c:pt idx="120">
                  <c:v>156.13999999999999</c:v>
                </c:pt>
              </c:numCache>
            </c:numRef>
          </c:val>
          <c:smooth val="0"/>
          <c:extLst>
            <c:ext xmlns:c16="http://schemas.microsoft.com/office/drawing/2014/chart" uri="{C3380CC4-5D6E-409C-BE32-E72D297353CC}">
              <c16:uniqueId val="{00000000-7F93-B449-B345-95C3C03A41E2}"/>
            </c:ext>
          </c:extLst>
        </c:ser>
        <c:dLbls>
          <c:showLegendKey val="0"/>
          <c:showVal val="0"/>
          <c:showCatName val="0"/>
          <c:showSerName val="0"/>
          <c:showPercent val="0"/>
          <c:showBubbleSize val="0"/>
        </c:dLbls>
        <c:smooth val="0"/>
        <c:axId val="521786175"/>
        <c:axId val="521782143"/>
      </c:lineChart>
      <c:dateAx>
        <c:axId val="521786175"/>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1782143"/>
        <c:crosses val="autoZero"/>
        <c:auto val="1"/>
        <c:lblOffset val="100"/>
        <c:baseTimeUnit val="months"/>
        <c:majorUnit val="12"/>
        <c:majorTimeUnit val="months"/>
      </c:dateAx>
      <c:valAx>
        <c:axId val="521782143"/>
        <c:scaling>
          <c:orientation val="minMax"/>
          <c:min val="90.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17861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Nikkei Outpaces TOPIX as a Weaker Yen Drives Japanese Equities to Record Highs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Japan!$V$4</c:f>
              <c:strCache>
                <c:ptCount val="1"/>
                <c:pt idx="0">
                  <c:v>Nikkei 225 </c:v>
                </c:pt>
              </c:strCache>
            </c:strRef>
          </c:tx>
          <c:spPr>
            <a:ln w="22225" cap="rnd">
              <a:solidFill>
                <a:srgbClr val="0B2C48"/>
              </a:solidFill>
              <a:round/>
            </a:ln>
            <a:effectLst/>
          </c:spPr>
          <c:marker>
            <c:symbol val="none"/>
          </c:marker>
          <c:cat>
            <c:numRef>
              <c:f>Japan!$U$5:$U$125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Japan!$V$5:$V$125</c:f>
              <c:numCache>
                <c:formatCode>0.00</c:formatCode>
                <c:ptCount val="121"/>
                <c:pt idx="0">
                  <c:v>100</c:v>
                </c:pt>
                <c:pt idx="1">
                  <c:v>105.92820355699509</c:v>
                </c:pt>
                <c:pt idx="2">
                  <c:v>111.29883330172208</c:v>
                </c:pt>
                <c:pt idx="3">
                  <c:v>116.19790830792273</c:v>
                </c:pt>
                <c:pt idx="4">
                  <c:v>115.75395262203159</c:v>
                </c:pt>
                <c:pt idx="5">
                  <c:v>116.22599368747662</c:v>
                </c:pt>
                <c:pt idx="6">
                  <c:v>114.95102687928878</c:v>
                </c:pt>
                <c:pt idx="7">
                  <c:v>116.69864266156998</c:v>
                </c:pt>
                <c:pt idx="8">
                  <c:v>119.45751448038399</c:v>
                </c:pt>
                <c:pt idx="9">
                  <c:v>121.78495353146292</c:v>
                </c:pt>
                <c:pt idx="10">
                  <c:v>121.12689241962231</c:v>
                </c:pt>
                <c:pt idx="11">
                  <c:v>119.4311920359104</c:v>
                </c:pt>
                <c:pt idx="12">
                  <c:v>123.74758660266603</c:v>
                </c:pt>
                <c:pt idx="13">
                  <c:v>133.81048083142451</c:v>
                </c:pt>
                <c:pt idx="14">
                  <c:v>138.1469971744406</c:v>
                </c:pt>
                <c:pt idx="15">
                  <c:v>138.39003905205155</c:v>
                </c:pt>
                <c:pt idx="16">
                  <c:v>140.41650253133162</c:v>
                </c:pt>
                <c:pt idx="17">
                  <c:v>134.15473949898603</c:v>
                </c:pt>
                <c:pt idx="18">
                  <c:v>130.42254514329622</c:v>
                </c:pt>
                <c:pt idx="19">
                  <c:v>136.58412483039348</c:v>
                </c:pt>
                <c:pt idx="20">
                  <c:v>134.96678387145406</c:v>
                </c:pt>
                <c:pt idx="21">
                  <c:v>135.59104526244633</c:v>
                </c:pt>
                <c:pt idx="22">
                  <c:v>137.10601440500335</c:v>
                </c:pt>
                <c:pt idx="23">
                  <c:v>138.99922430856469</c:v>
                </c:pt>
                <c:pt idx="24">
                  <c:v>146.62780914586403</c:v>
                </c:pt>
                <c:pt idx="25">
                  <c:v>133.25637209845203</c:v>
                </c:pt>
                <c:pt idx="26">
                  <c:v>135.874026738254</c:v>
                </c:pt>
                <c:pt idx="27">
                  <c:v>121.67151777768051</c:v>
                </c:pt>
                <c:pt idx="28">
                  <c:v>126.28384227445375</c:v>
                </c:pt>
                <c:pt idx="29">
                  <c:v>130.00223710382593</c:v>
                </c:pt>
                <c:pt idx="30">
                  <c:v>128.91195294300735</c:v>
                </c:pt>
                <c:pt idx="31">
                  <c:v>135.31274468323096</c:v>
                </c:pt>
                <c:pt idx="32">
                  <c:v>125.23641567334394</c:v>
                </c:pt>
                <c:pt idx="33">
                  <c:v>129.33815769636664</c:v>
                </c:pt>
                <c:pt idx="34">
                  <c:v>130.83124212758298</c:v>
                </c:pt>
                <c:pt idx="35">
                  <c:v>125.86365581671311</c:v>
                </c:pt>
                <c:pt idx="36">
                  <c:v>132.25563288153563</c:v>
                </c:pt>
                <c:pt idx="37">
                  <c:v>139.37545897102953</c:v>
                </c:pt>
                <c:pt idx="38">
                  <c:v>141.60569342923699</c:v>
                </c:pt>
                <c:pt idx="39">
                  <c:v>143.81063888767306</c:v>
                </c:pt>
                <c:pt idx="40">
                  <c:v>141.06629608555463</c:v>
                </c:pt>
                <c:pt idx="41">
                  <c:v>128.52988235751837</c:v>
                </c:pt>
                <c:pt idx="42">
                  <c:v>114.99813979953603</c:v>
                </c:pt>
                <c:pt idx="43">
                  <c:v>122.75918793131117</c:v>
                </c:pt>
                <c:pt idx="44">
                  <c:v>132.99758538684873</c:v>
                </c:pt>
                <c:pt idx="45">
                  <c:v>135.49153061671115</c:v>
                </c:pt>
                <c:pt idx="46">
                  <c:v>131.97696755713127</c:v>
                </c:pt>
                <c:pt idx="47">
                  <c:v>140.66860224780299</c:v>
                </c:pt>
                <c:pt idx="48">
                  <c:v>140.9443496106953</c:v>
                </c:pt>
                <c:pt idx="49">
                  <c:v>139.67996041298883</c:v>
                </c:pt>
                <c:pt idx="50">
                  <c:v>160.69226205239687</c:v>
                </c:pt>
                <c:pt idx="51">
                  <c:v>166.8354828983139</c:v>
                </c:pt>
                <c:pt idx="52">
                  <c:v>168.16814023723026</c:v>
                </c:pt>
                <c:pt idx="53">
                  <c:v>176.08687987238781</c:v>
                </c:pt>
                <c:pt idx="54">
                  <c:v>177.38044868521516</c:v>
                </c:pt>
                <c:pt idx="55">
                  <c:v>175.15446958754615</c:v>
                </c:pt>
                <c:pt idx="56">
                  <c:v>175.44292224118897</c:v>
                </c:pt>
                <c:pt idx="57">
                  <c:v>175.02620086274393</c:v>
                </c:pt>
                <c:pt idx="58">
                  <c:v>165.85930319079091</c:v>
                </c:pt>
                <c:pt idx="59">
                  <c:v>170.75874294218059</c:v>
                </c:pt>
                <c:pt idx="60">
                  <c:v>179.04526730959086</c:v>
                </c:pt>
                <c:pt idx="61">
                  <c:v>175.64116125141643</c:v>
                </c:pt>
                <c:pt idx="62">
                  <c:v>169.1308851636247</c:v>
                </c:pt>
                <c:pt idx="63">
                  <c:v>175.02729509831099</c:v>
                </c:pt>
                <c:pt idx="64">
                  <c:v>164.14737164616798</c:v>
                </c:pt>
                <c:pt idx="65">
                  <c:v>161.25883291266055</c:v>
                </c:pt>
                <c:pt idx="66">
                  <c:v>169.12887906508513</c:v>
                </c:pt>
                <c:pt idx="67">
                  <c:v>163.21070600078787</c:v>
                </c:pt>
                <c:pt idx="68">
                  <c:v>165.83626345301838</c:v>
                </c:pt>
                <c:pt idx="69">
                  <c:v>160.4455727228958</c:v>
                </c:pt>
                <c:pt idx="70">
                  <c:v>169.00857394357635</c:v>
                </c:pt>
                <c:pt idx="71">
                  <c:v>170.77084032428277</c:v>
                </c:pt>
                <c:pt idx="72">
                  <c:v>157.67454273111468</c:v>
                </c:pt>
                <c:pt idx="73">
                  <c:v>167.70655520053691</c:v>
                </c:pt>
                <c:pt idx="74">
                  <c:v>170.02590906659276</c:v>
                </c:pt>
                <c:pt idx="75">
                  <c:v>158.63072224410692</c:v>
                </c:pt>
                <c:pt idx="76">
                  <c:v>166.12386503455352</c:v>
                </c:pt>
                <c:pt idx="77">
                  <c:v>166.84393282852602</c:v>
                </c:pt>
                <c:pt idx="78">
                  <c:v>170.46658204578281</c:v>
                </c:pt>
                <c:pt idx="79">
                  <c:v>175.42079436638895</c:v>
                </c:pt>
                <c:pt idx="80">
                  <c:v>187.77009381246262</c:v>
                </c:pt>
                <c:pt idx="81">
                  <c:v>201.75904446487016</c:v>
                </c:pt>
                <c:pt idx="82">
                  <c:v>201.65679423021743</c:v>
                </c:pt>
                <c:pt idx="83">
                  <c:v>198.29578889521113</c:v>
                </c:pt>
                <c:pt idx="84">
                  <c:v>193.66522713898738</c:v>
                </c:pt>
                <c:pt idx="85">
                  <c:v>187.59361793184615</c:v>
                </c:pt>
                <c:pt idx="86">
                  <c:v>203.5697003739854</c:v>
                </c:pt>
                <c:pt idx="87">
                  <c:v>203.43158352907992</c:v>
                </c:pt>
                <c:pt idx="88">
                  <c:v>220.59004829226302</c:v>
                </c:pt>
                <c:pt idx="89">
                  <c:v>238.09465623981754</c:v>
                </c:pt>
                <c:pt idx="90">
                  <c:v>245.4093170511081</c:v>
                </c:pt>
                <c:pt idx="91">
                  <c:v>233.47132859650918</c:v>
                </c:pt>
                <c:pt idx="92">
                  <c:v>233.97127266891351</c:v>
                </c:pt>
                <c:pt idx="93">
                  <c:v>240.62896660393051</c:v>
                </c:pt>
                <c:pt idx="94">
                  <c:v>237.7033454428736</c:v>
                </c:pt>
                <c:pt idx="95">
                  <c:v>234.94301464330354</c:v>
                </c:pt>
                <c:pt idx="96">
                  <c:v>230.51622386600724</c:v>
                </c:pt>
                <c:pt idx="97">
                  <c:v>237.57829863390768</c:v>
                </c:pt>
                <c:pt idx="98">
                  <c:v>232.26991873477186</c:v>
                </c:pt>
                <c:pt idx="99">
                  <c:v>242.52235888008636</c:v>
                </c:pt>
                <c:pt idx="100">
                  <c:v>240.56458907807007</c:v>
                </c:pt>
                <c:pt idx="101">
                  <c:v>225.87149783827684</c:v>
                </c:pt>
                <c:pt idx="102">
                  <c:v>216.52222757181829</c:v>
                </c:pt>
                <c:pt idx="103">
                  <c:v>219.12298235119613</c:v>
                </c:pt>
                <c:pt idx="104">
                  <c:v>230.79312625533132</c:v>
                </c:pt>
                <c:pt idx="105">
                  <c:v>246.1263453018388</c:v>
                </c:pt>
                <c:pt idx="106">
                  <c:v>249.66698764243299</c:v>
                </c:pt>
                <c:pt idx="107">
                  <c:v>259.68927357348156</c:v>
                </c:pt>
                <c:pt idx="108">
                  <c:v>273.14934370182323</c:v>
                </c:pt>
                <c:pt idx="109">
                  <c:v>318.61306857695877</c:v>
                </c:pt>
                <c:pt idx="110">
                  <c:v>305.49786502482704</c:v>
                </c:pt>
                <c:pt idx="111">
                  <c:v>306.01805245522144</c:v>
                </c:pt>
                <c:pt idx="112">
                  <c:v>324.15421669754841</c:v>
                </c:pt>
                <c:pt idx="113">
                  <c:v>357.75588090826409</c:v>
                </c:pt>
                <c:pt idx="114">
                  <c:v>310.42077005004302</c:v>
                </c:pt>
                <c:pt idx="115">
                  <c:v>360.39815584832434</c:v>
                </c:pt>
                <c:pt idx="116">
                  <c:v>403.22276690837117</c:v>
                </c:pt>
                <c:pt idx="117">
                  <c:v>425.9149025157692</c:v>
                </c:pt>
                <c:pt idx="118">
                  <c:v>391.26228583378315</c:v>
                </c:pt>
                <c:pt idx="119">
                  <c:v>403.11595735885567</c:v>
                </c:pt>
                <c:pt idx="120">
                  <c:v>395.26791749950149</c:v>
                </c:pt>
              </c:numCache>
            </c:numRef>
          </c:val>
          <c:smooth val="0"/>
          <c:extLst>
            <c:ext xmlns:c16="http://schemas.microsoft.com/office/drawing/2014/chart" uri="{C3380CC4-5D6E-409C-BE32-E72D297353CC}">
              <c16:uniqueId val="{00000000-B708-3D44-B1E0-245F7B6541E8}"/>
            </c:ext>
          </c:extLst>
        </c:ser>
        <c:ser>
          <c:idx val="1"/>
          <c:order val="1"/>
          <c:tx>
            <c:strRef>
              <c:f>Japan!$W$4</c:f>
              <c:strCache>
                <c:ptCount val="1"/>
                <c:pt idx="0">
                  <c:v>TOPIX </c:v>
                </c:pt>
              </c:strCache>
            </c:strRef>
          </c:tx>
          <c:spPr>
            <a:ln w="22225" cap="rnd">
              <a:solidFill>
                <a:srgbClr val="C9A03A"/>
              </a:solidFill>
              <a:round/>
            </a:ln>
            <a:effectLst/>
          </c:spPr>
          <c:marker>
            <c:symbol val="none"/>
          </c:marker>
          <c:cat>
            <c:numRef>
              <c:f>Japan!$U$5:$U$125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Japan!$W$5:$W$125</c:f>
              <c:numCache>
                <c:formatCode>0.00</c:formatCode>
                <c:ptCount val="121"/>
                <c:pt idx="0">
                  <c:v>100</c:v>
                </c:pt>
                <c:pt idx="1">
                  <c:v>105.3100288785739</c:v>
                </c:pt>
                <c:pt idx="2">
                  <c:v>111.08649964468771</c:v>
                </c:pt>
                <c:pt idx="3">
                  <c:v>114.80442704002176</c:v>
                </c:pt>
                <c:pt idx="4">
                  <c:v>115.03575802476603</c:v>
                </c:pt>
                <c:pt idx="5">
                  <c:v>116.06767565279183</c:v>
                </c:pt>
                <c:pt idx="6">
                  <c:v>114.3500808902463</c:v>
                </c:pt>
                <c:pt idx="7">
                  <c:v>115.80156942197493</c:v>
                </c:pt>
                <c:pt idx="8">
                  <c:v>118.56620148475182</c:v>
                </c:pt>
                <c:pt idx="9">
                  <c:v>121.85699814028033</c:v>
                </c:pt>
                <c:pt idx="10">
                  <c:v>122.36426314277506</c:v>
                </c:pt>
                <c:pt idx="11">
                  <c:v>122.27354510954203</c:v>
                </c:pt>
                <c:pt idx="12">
                  <c:v>126.60835513086077</c:v>
                </c:pt>
                <c:pt idx="13">
                  <c:v>133.50368164018204</c:v>
                </c:pt>
                <c:pt idx="14">
                  <c:v>135.4783108302212</c:v>
                </c:pt>
                <c:pt idx="15">
                  <c:v>137.40455706920272</c:v>
                </c:pt>
                <c:pt idx="16">
                  <c:v>138.85226568288002</c:v>
                </c:pt>
                <c:pt idx="17">
                  <c:v>133.67604590332482</c:v>
                </c:pt>
                <c:pt idx="18">
                  <c:v>129.74946703155476</c:v>
                </c:pt>
                <c:pt idx="19">
                  <c:v>134.35567516896234</c:v>
                </c:pt>
                <c:pt idx="20">
                  <c:v>132.10435597756239</c:v>
                </c:pt>
                <c:pt idx="21">
                  <c:v>130.85244711894649</c:v>
                </c:pt>
                <c:pt idx="22">
                  <c:v>132.54585040596319</c:v>
                </c:pt>
                <c:pt idx="23">
                  <c:v>131.18961580912924</c:v>
                </c:pt>
                <c:pt idx="24">
                  <c:v>137.3811215772842</c:v>
                </c:pt>
                <c:pt idx="25">
                  <c:v>124.4439740546425</c:v>
                </c:pt>
                <c:pt idx="26">
                  <c:v>126.05648709535977</c:v>
                </c:pt>
                <c:pt idx="27">
                  <c:v>112.95075522762666</c:v>
                </c:pt>
                <c:pt idx="28">
                  <c:v>118.49967492704758</c:v>
                </c:pt>
                <c:pt idx="29">
                  <c:v>121.53646108952358</c:v>
                </c:pt>
                <c:pt idx="30">
                  <c:v>120.32537534586251</c:v>
                </c:pt>
                <c:pt idx="31">
                  <c:v>122.31285625727635</c:v>
                </c:pt>
                <c:pt idx="32">
                  <c:v>114.32588941471748</c:v>
                </c:pt>
                <c:pt idx="33">
                  <c:v>117.26364172424744</c:v>
                </c:pt>
                <c:pt idx="34">
                  <c:v>118.32201877863288</c:v>
                </c:pt>
                <c:pt idx="35">
                  <c:v>114.29413810308593</c:v>
                </c:pt>
                <c:pt idx="36">
                  <c:v>120.03507763951677</c:v>
                </c:pt>
                <c:pt idx="37">
                  <c:v>126.02322381650765</c:v>
                </c:pt>
                <c:pt idx="38">
                  <c:v>128.46883079574835</c:v>
                </c:pt>
                <c:pt idx="39">
                  <c:v>130.13199473835405</c:v>
                </c:pt>
                <c:pt idx="40">
                  <c:v>127.34090324921756</c:v>
                </c:pt>
                <c:pt idx="41">
                  <c:v>114.21929572566867</c:v>
                </c:pt>
                <c:pt idx="42">
                  <c:v>106.06752445606979</c:v>
                </c:pt>
                <c:pt idx="43">
                  <c:v>110.67826849513902</c:v>
                </c:pt>
                <c:pt idx="44">
                  <c:v>118.21088918792242</c:v>
                </c:pt>
                <c:pt idx="45">
                  <c:v>117.84045721888749</c:v>
                </c:pt>
                <c:pt idx="46">
                  <c:v>113.09968399885091</c:v>
                </c:pt>
                <c:pt idx="47">
                  <c:v>122.33175584753324</c:v>
                </c:pt>
                <c:pt idx="48">
                  <c:v>122.88437986664449</c:v>
                </c:pt>
                <c:pt idx="49">
                  <c:v>119.39475952161357</c:v>
                </c:pt>
                <c:pt idx="50">
                  <c:v>132.66907573443808</c:v>
                </c:pt>
                <c:pt idx="51">
                  <c:v>136.43085017916812</c:v>
                </c:pt>
                <c:pt idx="52">
                  <c:v>136.740803459381</c:v>
                </c:pt>
                <c:pt idx="53">
                  <c:v>140.95238815222487</c:v>
                </c:pt>
                <c:pt idx="54">
                  <c:v>147.71919744779933</c:v>
                </c:pt>
                <c:pt idx="55">
                  <c:v>143.50383283690411</c:v>
                </c:pt>
                <c:pt idx="56">
                  <c:v>145.37413628872525</c:v>
                </c:pt>
                <c:pt idx="57">
                  <c:v>146.93070654228217</c:v>
                </c:pt>
                <c:pt idx="58">
                  <c:v>143.71853218222228</c:v>
                </c:pt>
                <c:pt idx="59">
                  <c:v>148.22570646668382</c:v>
                </c:pt>
                <c:pt idx="60">
                  <c:v>153.47676862365626</c:v>
                </c:pt>
                <c:pt idx="61">
                  <c:v>151.28592812107834</c:v>
                </c:pt>
                <c:pt idx="62">
                  <c:v>145.7800994874431</c:v>
                </c:pt>
                <c:pt idx="63">
                  <c:v>150.61688262598466</c:v>
                </c:pt>
                <c:pt idx="64">
                  <c:v>143.3292006229305</c:v>
                </c:pt>
                <c:pt idx="65">
                  <c:v>142.64881537368271</c:v>
                </c:pt>
                <c:pt idx="66">
                  <c:v>147.14464990399009</c:v>
                </c:pt>
                <c:pt idx="67">
                  <c:v>143.60815857512208</c:v>
                </c:pt>
                <c:pt idx="68">
                  <c:v>144.5947171865314</c:v>
                </c:pt>
                <c:pt idx="69">
                  <c:v>141.43092577752913</c:v>
                </c:pt>
                <c:pt idx="70">
                  <c:v>146.68425588533239</c:v>
                </c:pt>
                <c:pt idx="71">
                  <c:v>148.41167843481153</c:v>
                </c:pt>
                <c:pt idx="72">
                  <c:v>138.79405494488881</c:v>
                </c:pt>
                <c:pt idx="73">
                  <c:v>145.86174571735287</c:v>
                </c:pt>
                <c:pt idx="74">
                  <c:v>150.10583770543855</c:v>
                </c:pt>
                <c:pt idx="75">
                  <c:v>143.01017553939431</c:v>
                </c:pt>
                <c:pt idx="76">
                  <c:v>149.32717458685497</c:v>
                </c:pt>
                <c:pt idx="77">
                  <c:v>150.68870106896082</c:v>
                </c:pt>
                <c:pt idx="78">
                  <c:v>151.46131631866223</c:v>
                </c:pt>
                <c:pt idx="79">
                  <c:v>155.54211584692845</c:v>
                </c:pt>
                <c:pt idx="80">
                  <c:v>161.0721359560925</c:v>
                </c:pt>
                <c:pt idx="81">
                  <c:v>173.01440904761185</c:v>
                </c:pt>
                <c:pt idx="82">
                  <c:v>175.58172938810685</c:v>
                </c:pt>
                <c:pt idx="83">
                  <c:v>176.29537791620677</c:v>
                </c:pt>
                <c:pt idx="84">
                  <c:v>175.64447602775971</c:v>
                </c:pt>
                <c:pt idx="85">
                  <c:v>170.37753821497148</c:v>
                </c:pt>
                <c:pt idx="86">
                  <c:v>179.54081555511877</c:v>
                </c:pt>
                <c:pt idx="87">
                  <c:v>178.89520555194363</c:v>
                </c:pt>
                <c:pt idx="88">
                  <c:v>192.85897881733925</c:v>
                </c:pt>
                <c:pt idx="89">
                  <c:v>202.28080255220067</c:v>
                </c:pt>
                <c:pt idx="90">
                  <c:v>209.30313430804821</c:v>
                </c:pt>
                <c:pt idx="91">
                  <c:v>207.37915601989752</c:v>
                </c:pt>
                <c:pt idx="92">
                  <c:v>209.59569996522472</c:v>
                </c:pt>
                <c:pt idx="93">
                  <c:v>212.40342309378732</c:v>
                </c:pt>
                <c:pt idx="94">
                  <c:v>211.24147628479415</c:v>
                </c:pt>
                <c:pt idx="95">
                  <c:v>205.07038207411665</c:v>
                </c:pt>
                <c:pt idx="96">
                  <c:v>200.02872737719048</c:v>
                </c:pt>
                <c:pt idx="97">
                  <c:v>203.77613813332528</c:v>
                </c:pt>
                <c:pt idx="98">
                  <c:v>202.65728239011779</c:v>
                </c:pt>
                <c:pt idx="99">
                  <c:v>210.53538759279701</c:v>
                </c:pt>
                <c:pt idx="100">
                  <c:v>210.81812546303996</c:v>
                </c:pt>
                <c:pt idx="101">
                  <c:v>202.76160812833578</c:v>
                </c:pt>
                <c:pt idx="102">
                  <c:v>200.99563041473263</c:v>
                </c:pt>
                <c:pt idx="103">
                  <c:v>201.64275238512829</c:v>
                </c:pt>
                <c:pt idx="104">
                  <c:v>211.79410030390545</c:v>
                </c:pt>
                <c:pt idx="105">
                  <c:v>215.67002827378704</c:v>
                </c:pt>
                <c:pt idx="106">
                  <c:v>222.49126838930135</c:v>
                </c:pt>
                <c:pt idx="107">
                  <c:v>232.47856786464868</c:v>
                </c:pt>
                <c:pt idx="108">
                  <c:v>237.19741755998731</c:v>
                </c:pt>
                <c:pt idx="109">
                  <c:v>251.880887222365</c:v>
                </c:pt>
                <c:pt idx="110">
                  <c:v>255.40452682985833</c:v>
                </c:pt>
                <c:pt idx="111">
                  <c:v>257.71254479202889</c:v>
                </c:pt>
                <c:pt idx="112">
                  <c:v>269.60794689971124</c:v>
                </c:pt>
                <c:pt idx="113">
                  <c:v>297.75775261192337</c:v>
                </c:pt>
                <c:pt idx="114">
                  <c:v>264.43248310376634</c:v>
                </c:pt>
                <c:pt idx="115">
                  <c:v>281.77096720543096</c:v>
                </c:pt>
                <c:pt idx="116">
                  <c:v>299.15556630732249</c:v>
                </c:pt>
                <c:pt idx="117">
                  <c:v>301.99730869834747</c:v>
                </c:pt>
                <c:pt idx="118">
                  <c:v>302.6429187015226</c:v>
                </c:pt>
                <c:pt idx="119">
                  <c:v>314.20871195512478</c:v>
                </c:pt>
                <c:pt idx="120">
                  <c:v>311.32236653109356</c:v>
                </c:pt>
              </c:numCache>
            </c:numRef>
          </c:val>
          <c:smooth val="0"/>
          <c:extLst>
            <c:ext xmlns:c16="http://schemas.microsoft.com/office/drawing/2014/chart" uri="{C3380CC4-5D6E-409C-BE32-E72D297353CC}">
              <c16:uniqueId val="{00000001-B708-3D44-B1E0-245F7B6541E8}"/>
            </c:ext>
          </c:extLst>
        </c:ser>
        <c:dLbls>
          <c:showLegendKey val="0"/>
          <c:showVal val="0"/>
          <c:showCatName val="0"/>
          <c:showSerName val="0"/>
          <c:showPercent val="0"/>
          <c:showBubbleSize val="0"/>
        </c:dLbls>
        <c:smooth val="0"/>
        <c:axId val="436722687"/>
        <c:axId val="197098815"/>
      </c:lineChart>
      <c:dateAx>
        <c:axId val="436722687"/>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97098815"/>
        <c:crosses val="autoZero"/>
        <c:auto val="1"/>
        <c:lblOffset val="100"/>
        <c:baseTimeUnit val="months"/>
        <c:majorUnit val="12"/>
        <c:majorTimeUnit val="months"/>
      </c:dateAx>
      <c:valAx>
        <c:axId val="197098815"/>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4367226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GB" sz="1000" b="1">
                <a:solidFill>
                  <a:schemeClr val="tx1"/>
                </a:solidFill>
                <a:latin typeface="Arial"/>
              </a:rPr>
              <a:t>From 3.9% to 1.6%: China's Bond Yield Diverges From an Unmoved Cash Rate</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China!$H$4</c:f>
              <c:strCache>
                <c:ptCount val="1"/>
                <c:pt idx="0">
                  <c:v>Cash Rate (%)</c:v>
                </c:pt>
              </c:strCache>
            </c:strRef>
          </c:tx>
          <c:spPr>
            <a:ln w="22225" cap="rnd">
              <a:solidFill>
                <a:srgbClr val="0B2C48"/>
              </a:solidFill>
              <a:round/>
            </a:ln>
            <a:effectLst/>
          </c:spPr>
          <c:marker>
            <c:symbol val="none"/>
          </c:marker>
          <c:cat>
            <c:numRef>
              <c:f>China!$G$5:$G$111</c:f>
              <c:numCache>
                <c:formatCode>m/d/yy</c:formatCode>
                <c:ptCount val="107"/>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numCache>
            </c:numRef>
          </c:cat>
          <c:val>
            <c:numRef>
              <c:f>China!$H$5:$H$111</c:f>
              <c:numCache>
                <c:formatCode>General</c:formatCode>
                <c:ptCount val="107"/>
                <c:pt idx="0">
                  <c:v>2.9</c:v>
                </c:pt>
                <c:pt idx="1">
                  <c:v>2.9</c:v>
                </c:pt>
                <c:pt idx="2">
                  <c:v>2.9</c:v>
                </c:pt>
                <c:pt idx="3">
                  <c:v>2.9</c:v>
                </c:pt>
                <c:pt idx="4">
                  <c:v>2.9</c:v>
                </c:pt>
                <c:pt idx="5">
                  <c:v>2.9</c:v>
                </c:pt>
                <c:pt idx="6">
                  <c:v>2.9</c:v>
                </c:pt>
                <c:pt idx="7">
                  <c:v>2.9</c:v>
                </c:pt>
                <c:pt idx="8">
                  <c:v>2.9</c:v>
                </c:pt>
                <c:pt idx="9">
                  <c:v>2.9</c:v>
                </c:pt>
                <c:pt idx="10">
                  <c:v>2.9</c:v>
                </c:pt>
                <c:pt idx="11">
                  <c:v>2.9</c:v>
                </c:pt>
                <c:pt idx="12">
                  <c:v>2.9</c:v>
                </c:pt>
                <c:pt idx="13">
                  <c:v>2.9</c:v>
                </c:pt>
                <c:pt idx="14">
                  <c:v>2.9</c:v>
                </c:pt>
                <c:pt idx="15">
                  <c:v>2.9</c:v>
                </c:pt>
                <c:pt idx="16">
                  <c:v>2.9</c:v>
                </c:pt>
                <c:pt idx="17">
                  <c:v>2.9</c:v>
                </c:pt>
                <c:pt idx="18">
                  <c:v>2.9</c:v>
                </c:pt>
                <c:pt idx="19">
                  <c:v>2.9</c:v>
                </c:pt>
                <c:pt idx="20">
                  <c:v>2.9</c:v>
                </c:pt>
                <c:pt idx="21">
                  <c:v>2.9</c:v>
                </c:pt>
                <c:pt idx="22">
                  <c:v>2.9</c:v>
                </c:pt>
                <c:pt idx="23">
                  <c:v>2.9</c:v>
                </c:pt>
                <c:pt idx="24">
                  <c:v>2.9</c:v>
                </c:pt>
                <c:pt idx="25">
                  <c:v>2.9</c:v>
                </c:pt>
                <c:pt idx="26">
                  <c:v>2.9</c:v>
                </c:pt>
                <c:pt idx="27">
                  <c:v>2.9</c:v>
                </c:pt>
                <c:pt idx="28">
                  <c:v>2.9</c:v>
                </c:pt>
                <c:pt idx="29">
                  <c:v>2.9</c:v>
                </c:pt>
                <c:pt idx="30">
                  <c:v>2.9</c:v>
                </c:pt>
                <c:pt idx="31">
                  <c:v>2.9</c:v>
                </c:pt>
                <c:pt idx="32">
                  <c:v>2.9</c:v>
                </c:pt>
                <c:pt idx="33">
                  <c:v>2.9</c:v>
                </c:pt>
                <c:pt idx="34">
                  <c:v>2.9</c:v>
                </c:pt>
                <c:pt idx="35">
                  <c:v>2.9</c:v>
                </c:pt>
                <c:pt idx="36">
                  <c:v>2.9</c:v>
                </c:pt>
                <c:pt idx="37">
                  <c:v>2.9</c:v>
                </c:pt>
                <c:pt idx="38">
                  <c:v>2.9</c:v>
                </c:pt>
                <c:pt idx="39">
                  <c:v>2.9</c:v>
                </c:pt>
                <c:pt idx="40">
                  <c:v>2.9</c:v>
                </c:pt>
                <c:pt idx="41">
                  <c:v>2.9</c:v>
                </c:pt>
                <c:pt idx="42">
                  <c:v>2.9</c:v>
                </c:pt>
                <c:pt idx="43">
                  <c:v>2.9</c:v>
                </c:pt>
                <c:pt idx="44">
                  <c:v>2.9</c:v>
                </c:pt>
                <c:pt idx="45">
                  <c:v>2.9</c:v>
                </c:pt>
                <c:pt idx="46">
                  <c:v>2.9</c:v>
                </c:pt>
                <c:pt idx="47">
                  <c:v>2.9</c:v>
                </c:pt>
                <c:pt idx="48">
                  <c:v>2.9</c:v>
                </c:pt>
                <c:pt idx="49">
                  <c:v>2.9</c:v>
                </c:pt>
                <c:pt idx="50">
                  <c:v>2.9</c:v>
                </c:pt>
                <c:pt idx="51">
                  <c:v>2.9</c:v>
                </c:pt>
                <c:pt idx="52">
                  <c:v>2.9</c:v>
                </c:pt>
                <c:pt idx="53">
                  <c:v>2.9</c:v>
                </c:pt>
                <c:pt idx="54">
                  <c:v>2.9</c:v>
                </c:pt>
                <c:pt idx="55">
                  <c:v>2.9</c:v>
                </c:pt>
                <c:pt idx="56">
                  <c:v>2.9</c:v>
                </c:pt>
                <c:pt idx="57">
                  <c:v>2.9</c:v>
                </c:pt>
                <c:pt idx="58">
                  <c:v>2.9</c:v>
                </c:pt>
                <c:pt idx="59">
                  <c:v>2.9</c:v>
                </c:pt>
                <c:pt idx="60">
                  <c:v>2.9</c:v>
                </c:pt>
                <c:pt idx="61">
                  <c:v>2.9</c:v>
                </c:pt>
                <c:pt idx="62">
                  <c:v>2.9</c:v>
                </c:pt>
                <c:pt idx="63">
                  <c:v>2.9</c:v>
                </c:pt>
                <c:pt idx="64">
                  <c:v>2.9</c:v>
                </c:pt>
                <c:pt idx="65">
                  <c:v>2.9</c:v>
                </c:pt>
                <c:pt idx="66">
                  <c:v>2.9</c:v>
                </c:pt>
                <c:pt idx="67">
                  <c:v>2.9</c:v>
                </c:pt>
                <c:pt idx="68">
                  <c:v>2.9</c:v>
                </c:pt>
                <c:pt idx="69">
                  <c:v>2.9</c:v>
                </c:pt>
                <c:pt idx="70">
                  <c:v>2.9</c:v>
                </c:pt>
                <c:pt idx="71">
                  <c:v>2.9</c:v>
                </c:pt>
                <c:pt idx="72">
                  <c:v>2.9</c:v>
                </c:pt>
                <c:pt idx="73">
                  <c:v>2.9</c:v>
                </c:pt>
                <c:pt idx="74">
                  <c:v>2.9</c:v>
                </c:pt>
                <c:pt idx="75">
                  <c:v>2.9</c:v>
                </c:pt>
                <c:pt idx="76">
                  <c:v>2.9</c:v>
                </c:pt>
                <c:pt idx="77">
                  <c:v>2.9</c:v>
                </c:pt>
                <c:pt idx="78">
                  <c:v>2.9</c:v>
                </c:pt>
                <c:pt idx="79">
                  <c:v>2.9</c:v>
                </c:pt>
                <c:pt idx="80">
                  <c:v>2.9</c:v>
                </c:pt>
                <c:pt idx="81">
                  <c:v>2.9</c:v>
                </c:pt>
                <c:pt idx="82">
                  <c:v>2.9</c:v>
                </c:pt>
                <c:pt idx="83">
                  <c:v>2.9</c:v>
                </c:pt>
                <c:pt idx="84">
                  <c:v>2.9</c:v>
                </c:pt>
                <c:pt idx="85">
                  <c:v>2.9</c:v>
                </c:pt>
                <c:pt idx="86">
                  <c:v>2.9</c:v>
                </c:pt>
                <c:pt idx="87">
                  <c:v>2.9</c:v>
                </c:pt>
                <c:pt idx="88">
                  <c:v>2.9</c:v>
                </c:pt>
                <c:pt idx="89">
                  <c:v>2.9</c:v>
                </c:pt>
                <c:pt idx="90">
                  <c:v>2.9</c:v>
                </c:pt>
                <c:pt idx="91">
                  <c:v>2.9</c:v>
                </c:pt>
                <c:pt idx="92">
                  <c:v>2.9</c:v>
                </c:pt>
                <c:pt idx="93">
                  <c:v>2.9</c:v>
                </c:pt>
                <c:pt idx="94">
                  <c:v>2.9</c:v>
                </c:pt>
                <c:pt idx="95">
                  <c:v>2.9</c:v>
                </c:pt>
                <c:pt idx="96">
                  <c:v>2.9</c:v>
                </c:pt>
                <c:pt idx="97">
                  <c:v>2.9</c:v>
                </c:pt>
                <c:pt idx="98">
                  <c:v>2.9</c:v>
                </c:pt>
                <c:pt idx="99">
                  <c:v>2.9</c:v>
                </c:pt>
                <c:pt idx="100">
                  <c:v>2.9</c:v>
                </c:pt>
                <c:pt idx="101">
                  <c:v>2.9</c:v>
                </c:pt>
                <c:pt idx="102">
                  <c:v>2.9</c:v>
                </c:pt>
                <c:pt idx="103">
                  <c:v>2.9</c:v>
                </c:pt>
                <c:pt idx="104">
                  <c:v>2.9</c:v>
                </c:pt>
                <c:pt idx="105">
                  <c:v>2.9</c:v>
                </c:pt>
                <c:pt idx="106">
                  <c:v>2.9</c:v>
                </c:pt>
              </c:numCache>
            </c:numRef>
          </c:val>
          <c:smooth val="0"/>
          <c:extLst>
            <c:ext xmlns:c16="http://schemas.microsoft.com/office/drawing/2014/chart" uri="{C3380CC4-5D6E-409C-BE32-E72D297353CC}">
              <c16:uniqueId val="{00000000-C21F-D849-83D5-51FE6AAE2E21}"/>
            </c:ext>
          </c:extLst>
        </c:ser>
        <c:ser>
          <c:idx val="1"/>
          <c:order val="1"/>
          <c:tx>
            <c:strRef>
              <c:f>China!$I$4</c:f>
              <c:strCache>
                <c:ptCount val="1"/>
                <c:pt idx="0">
                  <c:v>10Y Bond Yield (%)</c:v>
                </c:pt>
              </c:strCache>
            </c:strRef>
          </c:tx>
          <c:spPr>
            <a:ln w="22225" cap="rnd">
              <a:solidFill>
                <a:srgbClr val="C9A03A"/>
              </a:solidFill>
              <a:round/>
            </a:ln>
            <a:effectLst/>
          </c:spPr>
          <c:marker>
            <c:symbol val="none"/>
          </c:marker>
          <c:cat>
            <c:numRef>
              <c:f>China!$G$5:$G$111</c:f>
              <c:numCache>
                <c:formatCode>m/d/yy</c:formatCode>
                <c:ptCount val="107"/>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numCache>
            </c:numRef>
          </c:cat>
          <c:val>
            <c:numRef>
              <c:f>China!$I$5:$I$111</c:f>
              <c:numCache>
                <c:formatCode>General</c:formatCode>
                <c:ptCount val="107"/>
                <c:pt idx="0">
                  <c:v>2.81</c:v>
                </c:pt>
                <c:pt idx="1">
                  <c:v>2.77</c:v>
                </c:pt>
                <c:pt idx="2">
                  <c:v>2.74</c:v>
                </c:pt>
                <c:pt idx="3">
                  <c:v>2.94</c:v>
                </c:pt>
                <c:pt idx="4">
                  <c:v>3.07</c:v>
                </c:pt>
                <c:pt idx="5">
                  <c:v>3.36</c:v>
                </c:pt>
                <c:pt idx="6">
                  <c:v>3.36</c:v>
                </c:pt>
                <c:pt idx="7">
                  <c:v>3.31</c:v>
                </c:pt>
                <c:pt idx="8">
                  <c:v>3.48</c:v>
                </c:pt>
                <c:pt idx="9">
                  <c:v>3.67</c:v>
                </c:pt>
                <c:pt idx="10">
                  <c:v>3.58</c:v>
                </c:pt>
                <c:pt idx="11">
                  <c:v>3.63</c:v>
                </c:pt>
                <c:pt idx="12">
                  <c:v>3.67</c:v>
                </c:pt>
                <c:pt idx="13">
                  <c:v>3.64</c:v>
                </c:pt>
                <c:pt idx="14">
                  <c:v>3.92</c:v>
                </c:pt>
                <c:pt idx="15">
                  <c:v>3.92</c:v>
                </c:pt>
                <c:pt idx="16">
                  <c:v>3.92</c:v>
                </c:pt>
                <c:pt idx="17">
                  <c:v>3.94</c:v>
                </c:pt>
                <c:pt idx="18">
                  <c:v>3.86</c:v>
                </c:pt>
                <c:pt idx="19">
                  <c:v>3.78</c:v>
                </c:pt>
                <c:pt idx="20">
                  <c:v>3.65</c:v>
                </c:pt>
                <c:pt idx="21">
                  <c:v>3.65</c:v>
                </c:pt>
                <c:pt idx="22">
                  <c:v>3.54</c:v>
                </c:pt>
                <c:pt idx="23">
                  <c:v>3.53</c:v>
                </c:pt>
                <c:pt idx="24">
                  <c:v>3.6</c:v>
                </c:pt>
                <c:pt idx="25">
                  <c:v>3.65</c:v>
                </c:pt>
                <c:pt idx="26">
                  <c:v>3.53</c:v>
                </c:pt>
                <c:pt idx="27">
                  <c:v>3.4</c:v>
                </c:pt>
                <c:pt idx="28">
                  <c:v>3.27</c:v>
                </c:pt>
                <c:pt idx="29">
                  <c:v>3.13</c:v>
                </c:pt>
                <c:pt idx="30">
                  <c:v>3.21</c:v>
                </c:pt>
                <c:pt idx="31">
                  <c:v>3.08</c:v>
                </c:pt>
                <c:pt idx="32">
                  <c:v>3.42</c:v>
                </c:pt>
                <c:pt idx="33">
                  <c:v>3.3</c:v>
                </c:pt>
                <c:pt idx="34">
                  <c:v>3.28</c:v>
                </c:pt>
                <c:pt idx="35">
                  <c:v>3.18</c:v>
                </c:pt>
                <c:pt idx="36">
                  <c:v>3.07</c:v>
                </c:pt>
                <c:pt idx="37">
                  <c:v>3.15</c:v>
                </c:pt>
                <c:pt idx="38">
                  <c:v>3.28</c:v>
                </c:pt>
                <c:pt idx="39">
                  <c:v>3.19</c:v>
                </c:pt>
                <c:pt idx="40">
                  <c:v>3.17</c:v>
                </c:pt>
                <c:pt idx="41">
                  <c:v>3.05</c:v>
                </c:pt>
                <c:pt idx="42">
                  <c:v>2.8</c:v>
                </c:pt>
                <c:pt idx="43">
                  <c:v>2.66</c:v>
                </c:pt>
                <c:pt idx="44">
                  <c:v>2.5099999999999998</c:v>
                </c:pt>
                <c:pt idx="45">
                  <c:v>2.71</c:v>
                </c:pt>
                <c:pt idx="46">
                  <c:v>2.9</c:v>
                </c:pt>
                <c:pt idx="47">
                  <c:v>2.97</c:v>
                </c:pt>
                <c:pt idx="48">
                  <c:v>3.05</c:v>
                </c:pt>
                <c:pt idx="49">
                  <c:v>3.15</c:v>
                </c:pt>
                <c:pt idx="50">
                  <c:v>3.19</c:v>
                </c:pt>
                <c:pt idx="51">
                  <c:v>3.28</c:v>
                </c:pt>
                <c:pt idx="52">
                  <c:v>3.2</c:v>
                </c:pt>
                <c:pt idx="53">
                  <c:v>3.23</c:v>
                </c:pt>
                <c:pt idx="54">
                  <c:v>3.29</c:v>
                </c:pt>
                <c:pt idx="55">
                  <c:v>3.2</c:v>
                </c:pt>
                <c:pt idx="56">
                  <c:v>3.18</c:v>
                </c:pt>
                <c:pt idx="57">
                  <c:v>3.08</c:v>
                </c:pt>
                <c:pt idx="58">
                  <c:v>3.08</c:v>
                </c:pt>
                <c:pt idx="59">
                  <c:v>2.85</c:v>
                </c:pt>
                <c:pt idx="60">
                  <c:v>2.86</c:v>
                </c:pt>
                <c:pt idx="61">
                  <c:v>2.87</c:v>
                </c:pt>
                <c:pt idx="62">
                  <c:v>2.98</c:v>
                </c:pt>
                <c:pt idx="63">
                  <c:v>2.87</c:v>
                </c:pt>
                <c:pt idx="64">
                  <c:v>2.78</c:v>
                </c:pt>
                <c:pt idx="65">
                  <c:v>2.72</c:v>
                </c:pt>
                <c:pt idx="66">
                  <c:v>2.79</c:v>
                </c:pt>
                <c:pt idx="67">
                  <c:v>2.82</c:v>
                </c:pt>
                <c:pt idx="68">
                  <c:v>2.84</c:v>
                </c:pt>
                <c:pt idx="69">
                  <c:v>2.8</c:v>
                </c:pt>
                <c:pt idx="70">
                  <c:v>2.82</c:v>
                </c:pt>
                <c:pt idx="71">
                  <c:v>2.76</c:v>
                </c:pt>
                <c:pt idx="72">
                  <c:v>2.65</c:v>
                </c:pt>
                <c:pt idx="73">
                  <c:v>2.78</c:v>
                </c:pt>
                <c:pt idx="74">
                  <c:v>2.65</c:v>
                </c:pt>
                <c:pt idx="75">
                  <c:v>2.92</c:v>
                </c:pt>
                <c:pt idx="76">
                  <c:v>2.88</c:v>
                </c:pt>
                <c:pt idx="77">
                  <c:v>2.93</c:v>
                </c:pt>
                <c:pt idx="78">
                  <c:v>2.91</c:v>
                </c:pt>
                <c:pt idx="79">
                  <c:v>2.86</c:v>
                </c:pt>
                <c:pt idx="80">
                  <c:v>2.79</c:v>
                </c:pt>
                <c:pt idx="81">
                  <c:v>2.71</c:v>
                </c:pt>
                <c:pt idx="82">
                  <c:v>2.68</c:v>
                </c:pt>
                <c:pt idx="83">
                  <c:v>2.7</c:v>
                </c:pt>
                <c:pt idx="84">
                  <c:v>2.59</c:v>
                </c:pt>
                <c:pt idx="85">
                  <c:v>2.71</c:v>
                </c:pt>
                <c:pt idx="86">
                  <c:v>2.71</c:v>
                </c:pt>
                <c:pt idx="87">
                  <c:v>2.69</c:v>
                </c:pt>
                <c:pt idx="88">
                  <c:v>2.58</c:v>
                </c:pt>
                <c:pt idx="89">
                  <c:v>2.44</c:v>
                </c:pt>
                <c:pt idx="90">
                  <c:v>2.36</c:v>
                </c:pt>
                <c:pt idx="91">
                  <c:v>2.2999999999999998</c:v>
                </c:pt>
                <c:pt idx="92">
                  <c:v>2.31</c:v>
                </c:pt>
                <c:pt idx="93">
                  <c:v>2.3199999999999998</c:v>
                </c:pt>
                <c:pt idx="94">
                  <c:v>2.21</c:v>
                </c:pt>
                <c:pt idx="95">
                  <c:v>2.15</c:v>
                </c:pt>
                <c:pt idx="96">
                  <c:v>2.1800000000000002</c:v>
                </c:pt>
                <c:pt idx="97">
                  <c:v>2.16</c:v>
                </c:pt>
                <c:pt idx="98">
                  <c:v>2.15</c:v>
                </c:pt>
                <c:pt idx="99">
                  <c:v>2.0499999999999998</c:v>
                </c:pt>
                <c:pt idx="100">
                  <c:v>1.68</c:v>
                </c:pt>
                <c:pt idx="101">
                  <c:v>1.65</c:v>
                </c:pt>
                <c:pt idx="102">
                  <c:v>1.78</c:v>
                </c:pt>
                <c:pt idx="103">
                  <c:v>1.88</c:v>
                </c:pt>
                <c:pt idx="104">
                  <c:v>1.63</c:v>
                </c:pt>
                <c:pt idx="105">
                  <c:v>1.7</c:v>
                </c:pt>
                <c:pt idx="106">
                  <c:v>1.65</c:v>
                </c:pt>
              </c:numCache>
            </c:numRef>
          </c:val>
          <c:smooth val="0"/>
          <c:extLst>
            <c:ext xmlns:c16="http://schemas.microsoft.com/office/drawing/2014/chart" uri="{C3380CC4-5D6E-409C-BE32-E72D297353CC}">
              <c16:uniqueId val="{00000001-C21F-D849-83D5-51FE6AAE2E21}"/>
            </c:ext>
          </c:extLst>
        </c:ser>
        <c:dLbls>
          <c:showLegendKey val="0"/>
          <c:showVal val="0"/>
          <c:showCatName val="0"/>
          <c:showSerName val="0"/>
          <c:showPercent val="0"/>
          <c:showBubbleSize val="0"/>
        </c:dLbls>
        <c:smooth val="0"/>
        <c:axId val="2099249152"/>
        <c:axId val="347506431"/>
      </c:lineChart>
      <c:dateAx>
        <c:axId val="209924915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47506431"/>
        <c:crosses val="autoZero"/>
        <c:auto val="1"/>
        <c:lblOffset val="100"/>
        <c:baseTimeUnit val="months"/>
        <c:majorUnit val="12"/>
        <c:majorTimeUnit val="months"/>
      </c:dateAx>
      <c:valAx>
        <c:axId val="347506431"/>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2491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i="0" u="none" strike="noStrike" kern="1200" spc="0" baseline="0">
                <a:solidFill>
                  <a:schemeClr val="tx1"/>
                </a:solidFill>
                <a:latin typeface="Arial"/>
              </a:rPr>
              <a:t>Exports Swing Wildly While the Yuan Grinds Steadily Weaker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China!$L$4</c:f>
              <c:strCache>
                <c:ptCount val="1"/>
                <c:pt idx="0">
                  <c:v>CNY/USD</c:v>
                </c:pt>
              </c:strCache>
            </c:strRef>
          </c:tx>
          <c:spPr>
            <a:ln w="22225" cap="rnd">
              <a:solidFill>
                <a:srgbClr val="0B2C48"/>
              </a:solidFill>
              <a:round/>
            </a:ln>
            <a:effectLst/>
          </c:spPr>
          <c:marker>
            <c:symbol val="none"/>
          </c:marker>
          <c:cat>
            <c:numRef>
              <c:f>China!$K$5:$K$123</c:f>
              <c:numCache>
                <c:formatCode>m/d/yy</c:formatCode>
                <c:ptCount val="119"/>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pt idx="118">
                  <c:v>46204</c:v>
                </c:pt>
              </c:numCache>
            </c:numRef>
          </c:cat>
          <c:val>
            <c:numRef>
              <c:f>China!$L$5:$L$123</c:f>
              <c:numCache>
                <c:formatCode>General</c:formatCode>
                <c:ptCount val="119"/>
                <c:pt idx="0">
                  <c:v>6.6684999999999999</c:v>
                </c:pt>
                <c:pt idx="1">
                  <c:v>6.7735000000000003</c:v>
                </c:pt>
                <c:pt idx="2">
                  <c:v>6.8837000000000002</c:v>
                </c:pt>
                <c:pt idx="3">
                  <c:v>6.9429999999999996</c:v>
                </c:pt>
                <c:pt idx="4">
                  <c:v>6.8768000000000002</c:v>
                </c:pt>
                <c:pt idx="5">
                  <c:v>6.8665000000000003</c:v>
                </c:pt>
                <c:pt idx="6">
                  <c:v>6.8832000000000004</c:v>
                </c:pt>
                <c:pt idx="7">
                  <c:v>6.89</c:v>
                </c:pt>
                <c:pt idx="8">
                  <c:v>6.8098000000000001</c:v>
                </c:pt>
                <c:pt idx="9">
                  <c:v>6.7793000000000001</c:v>
                </c:pt>
                <c:pt idx="10">
                  <c:v>6.7240000000000002</c:v>
                </c:pt>
                <c:pt idx="11">
                  <c:v>6.5888</c:v>
                </c:pt>
                <c:pt idx="12">
                  <c:v>6.6532999999999998</c:v>
                </c:pt>
                <c:pt idx="13">
                  <c:v>6.6327999999999996</c:v>
                </c:pt>
                <c:pt idx="14">
                  <c:v>6.609</c:v>
                </c:pt>
                <c:pt idx="15">
                  <c:v>6.5063000000000004</c:v>
                </c:pt>
                <c:pt idx="16">
                  <c:v>6.2840999999999996</c:v>
                </c:pt>
                <c:pt idx="17">
                  <c:v>6.3280000000000003</c:v>
                </c:pt>
                <c:pt idx="18">
                  <c:v>6.2725999999999997</c:v>
                </c:pt>
                <c:pt idx="19">
                  <c:v>6.3324999999999996</c:v>
                </c:pt>
                <c:pt idx="20">
                  <c:v>6.4096000000000002</c:v>
                </c:pt>
                <c:pt idx="21">
                  <c:v>6.6170999999999998</c:v>
                </c:pt>
                <c:pt idx="22">
                  <c:v>6.8037999999999998</c:v>
                </c:pt>
                <c:pt idx="23">
                  <c:v>6.83</c:v>
                </c:pt>
                <c:pt idx="24">
                  <c:v>6.8680000000000003</c:v>
                </c:pt>
                <c:pt idx="25">
                  <c:v>6.9737</c:v>
                </c:pt>
                <c:pt idx="26">
                  <c:v>6.9558</c:v>
                </c:pt>
                <c:pt idx="27">
                  <c:v>6.8754999999999997</c:v>
                </c:pt>
                <c:pt idx="28">
                  <c:v>6.6958000000000002</c:v>
                </c:pt>
                <c:pt idx="29">
                  <c:v>6.6912000000000003</c:v>
                </c:pt>
                <c:pt idx="30">
                  <c:v>6.7111999999999998</c:v>
                </c:pt>
                <c:pt idx="31">
                  <c:v>6.7347000000000001</c:v>
                </c:pt>
                <c:pt idx="32">
                  <c:v>6.9027000000000003</c:v>
                </c:pt>
                <c:pt idx="33">
                  <c:v>6.8650000000000002</c:v>
                </c:pt>
                <c:pt idx="34">
                  <c:v>6.8833000000000002</c:v>
                </c:pt>
                <c:pt idx="35">
                  <c:v>7.1543000000000001</c:v>
                </c:pt>
                <c:pt idx="36">
                  <c:v>7.1477000000000004</c:v>
                </c:pt>
                <c:pt idx="37">
                  <c:v>7.0378999999999996</c:v>
                </c:pt>
                <c:pt idx="38">
                  <c:v>7.0308000000000002</c:v>
                </c:pt>
                <c:pt idx="39">
                  <c:v>6.9618000000000002</c:v>
                </c:pt>
                <c:pt idx="40">
                  <c:v>6.9363999999999999</c:v>
                </c:pt>
                <c:pt idx="41">
                  <c:v>6.9905999999999997</c:v>
                </c:pt>
                <c:pt idx="42">
                  <c:v>7.0808</c:v>
                </c:pt>
                <c:pt idx="43">
                  <c:v>7.06</c:v>
                </c:pt>
                <c:pt idx="44">
                  <c:v>7.1348000000000003</c:v>
                </c:pt>
                <c:pt idx="45">
                  <c:v>7.0651000000000002</c:v>
                </c:pt>
                <c:pt idx="46">
                  <c:v>6.9744000000000002</c:v>
                </c:pt>
                <c:pt idx="47">
                  <c:v>6.8474000000000004</c:v>
                </c:pt>
                <c:pt idx="48">
                  <c:v>6.7896000000000001</c:v>
                </c:pt>
                <c:pt idx="49">
                  <c:v>6.6919000000000004</c:v>
                </c:pt>
                <c:pt idx="50">
                  <c:v>6.5759999999999996</c:v>
                </c:pt>
                <c:pt idx="51">
                  <c:v>6.5250000000000004</c:v>
                </c:pt>
                <c:pt idx="52">
                  <c:v>6.4249999999999998</c:v>
                </c:pt>
                <c:pt idx="53">
                  <c:v>6.4729999999999999</c:v>
                </c:pt>
                <c:pt idx="54">
                  <c:v>6.5518000000000001</c:v>
                </c:pt>
                <c:pt idx="55">
                  <c:v>6.4729999999999999</c:v>
                </c:pt>
                <c:pt idx="56">
                  <c:v>6.3688000000000002</c:v>
                </c:pt>
                <c:pt idx="57">
                  <c:v>6.4565999999999999</c:v>
                </c:pt>
                <c:pt idx="58">
                  <c:v>6.4608999999999996</c:v>
                </c:pt>
                <c:pt idx="59">
                  <c:v>6.4603999999999999</c:v>
                </c:pt>
                <c:pt idx="60">
                  <c:v>6.4451999999999998</c:v>
                </c:pt>
                <c:pt idx="61">
                  <c:v>6.4050000000000002</c:v>
                </c:pt>
                <c:pt idx="62">
                  <c:v>6.3639999999999999</c:v>
                </c:pt>
                <c:pt idx="63">
                  <c:v>6.3521000000000001</c:v>
                </c:pt>
                <c:pt idx="64">
                  <c:v>6.3605</c:v>
                </c:pt>
                <c:pt idx="65">
                  <c:v>6.3083999999999998</c:v>
                </c:pt>
                <c:pt idx="66">
                  <c:v>6.3392999999999997</c:v>
                </c:pt>
                <c:pt idx="67">
                  <c:v>6.6079999999999997</c:v>
                </c:pt>
                <c:pt idx="68">
                  <c:v>6.6715</c:v>
                </c:pt>
                <c:pt idx="69">
                  <c:v>6.6981000000000002</c:v>
                </c:pt>
                <c:pt idx="70">
                  <c:v>6.7432999999999996</c:v>
                </c:pt>
                <c:pt idx="71">
                  <c:v>6.8890000000000002</c:v>
                </c:pt>
                <c:pt idx="72">
                  <c:v>7.1135000000000002</c:v>
                </c:pt>
                <c:pt idx="73">
                  <c:v>7.3014999999999999</c:v>
                </c:pt>
                <c:pt idx="74">
                  <c:v>7.0879000000000003</c:v>
                </c:pt>
                <c:pt idx="75">
                  <c:v>6.8971999999999998</c:v>
                </c:pt>
                <c:pt idx="76">
                  <c:v>6.7539999999999996</c:v>
                </c:pt>
                <c:pt idx="77">
                  <c:v>6.9325000000000001</c:v>
                </c:pt>
                <c:pt idx="78">
                  <c:v>6.8676000000000004</c:v>
                </c:pt>
                <c:pt idx="79">
                  <c:v>6.9109999999999996</c:v>
                </c:pt>
                <c:pt idx="80">
                  <c:v>7.1109</c:v>
                </c:pt>
                <c:pt idx="81">
                  <c:v>7.2512999999999996</c:v>
                </c:pt>
                <c:pt idx="82">
                  <c:v>7.1425999999999998</c:v>
                </c:pt>
                <c:pt idx="83">
                  <c:v>7.2582000000000004</c:v>
                </c:pt>
                <c:pt idx="84">
                  <c:v>7.3010000000000002</c:v>
                </c:pt>
                <c:pt idx="85">
                  <c:v>7.3158000000000003</c:v>
                </c:pt>
                <c:pt idx="86">
                  <c:v>7.1360000000000001</c:v>
                </c:pt>
                <c:pt idx="87">
                  <c:v>7.0978000000000003</c:v>
                </c:pt>
                <c:pt idx="88">
                  <c:v>7.1673</c:v>
                </c:pt>
                <c:pt idx="89">
                  <c:v>7.1877000000000004</c:v>
                </c:pt>
                <c:pt idx="90">
                  <c:v>7.2202999999999999</c:v>
                </c:pt>
                <c:pt idx="91">
                  <c:v>7.2401</c:v>
                </c:pt>
                <c:pt idx="92">
                  <c:v>7.2415000000000003</c:v>
                </c:pt>
                <c:pt idx="93">
                  <c:v>7.2671999999999999</c:v>
                </c:pt>
                <c:pt idx="94">
                  <c:v>7.2192999999999996</c:v>
                </c:pt>
                <c:pt idx="95">
                  <c:v>7.09</c:v>
                </c:pt>
                <c:pt idx="96">
                  <c:v>7.0175999999999998</c:v>
                </c:pt>
                <c:pt idx="97">
                  <c:v>7.1177999999999999</c:v>
                </c:pt>
                <c:pt idx="98">
                  <c:v>7.2423000000000002</c:v>
                </c:pt>
                <c:pt idx="99">
                  <c:v>7.2992999999999997</c:v>
                </c:pt>
                <c:pt idx="100">
                  <c:v>7.2507000000000001</c:v>
                </c:pt>
                <c:pt idx="101">
                  <c:v>7.2827999999999999</c:v>
                </c:pt>
                <c:pt idx="102">
                  <c:v>7.2567000000000004</c:v>
                </c:pt>
                <c:pt idx="103">
                  <c:v>7.2706</c:v>
                </c:pt>
                <c:pt idx="104">
                  <c:v>7.1990999999999996</c:v>
                </c:pt>
                <c:pt idx="105">
                  <c:v>7.1635999999999997</c:v>
                </c:pt>
                <c:pt idx="106">
                  <c:v>7.2001999999999997</c:v>
                </c:pt>
                <c:pt idx="107">
                  <c:v>7.1303999999999998</c:v>
                </c:pt>
                <c:pt idx="108">
                  <c:v>7.1189999999999998</c:v>
                </c:pt>
                <c:pt idx="109">
                  <c:v>7.1169000000000002</c:v>
                </c:pt>
                <c:pt idx="110">
                  <c:v>7.0750000000000002</c:v>
                </c:pt>
                <c:pt idx="111">
                  <c:v>6.9931000000000001</c:v>
                </c:pt>
                <c:pt idx="112">
                  <c:v>6.9509999999999996</c:v>
                </c:pt>
                <c:pt idx="113">
                  <c:v>6.8578999999999999</c:v>
                </c:pt>
                <c:pt idx="114">
                  <c:v>6.8979999999999997</c:v>
                </c:pt>
                <c:pt idx="115">
                  <c:v>6.8273000000000001</c:v>
                </c:pt>
                <c:pt idx="116">
                  <c:v>6.7662000000000004</c:v>
                </c:pt>
                <c:pt idx="117">
                  <c:v>6.7850999999999999</c:v>
                </c:pt>
                <c:pt idx="118">
                  <c:v>6.7508999999999997</c:v>
                </c:pt>
              </c:numCache>
            </c:numRef>
          </c:val>
          <c:smooth val="0"/>
          <c:extLst>
            <c:ext xmlns:c16="http://schemas.microsoft.com/office/drawing/2014/chart" uri="{C3380CC4-5D6E-409C-BE32-E72D297353CC}">
              <c16:uniqueId val="{00000000-98C5-BF46-B90B-018726C388A7}"/>
            </c:ext>
          </c:extLst>
        </c:ser>
        <c:ser>
          <c:idx val="1"/>
          <c:order val="1"/>
          <c:tx>
            <c:strRef>
              <c:f>China!$M$4</c:f>
              <c:strCache>
                <c:ptCount val="1"/>
                <c:pt idx="0">
                  <c:v>Exports YoY (%)</c:v>
                </c:pt>
              </c:strCache>
            </c:strRef>
          </c:tx>
          <c:spPr>
            <a:ln w="22225" cap="rnd">
              <a:solidFill>
                <a:srgbClr val="C9A03A"/>
              </a:solidFill>
              <a:round/>
            </a:ln>
            <a:effectLst/>
          </c:spPr>
          <c:marker>
            <c:symbol val="none"/>
          </c:marker>
          <c:cat>
            <c:numRef>
              <c:f>China!$K$5:$K$123</c:f>
              <c:numCache>
                <c:formatCode>m/d/yy</c:formatCode>
                <c:ptCount val="119"/>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pt idx="118">
                  <c:v>46204</c:v>
                </c:pt>
              </c:numCache>
            </c:numRef>
          </c:cat>
          <c:val>
            <c:numRef>
              <c:f>China!$M$5:$M$123</c:f>
              <c:numCache>
                <c:formatCode>General</c:formatCode>
                <c:ptCount val="119"/>
                <c:pt idx="0">
                  <c:v>-10.4</c:v>
                </c:pt>
                <c:pt idx="1">
                  <c:v>-7.9</c:v>
                </c:pt>
                <c:pt idx="2">
                  <c:v>-1.5</c:v>
                </c:pt>
                <c:pt idx="3">
                  <c:v>-6.2</c:v>
                </c:pt>
                <c:pt idx="4">
                  <c:v>6.6</c:v>
                </c:pt>
                <c:pt idx="5">
                  <c:v>-2.4</c:v>
                </c:pt>
                <c:pt idx="6">
                  <c:v>15.4</c:v>
                </c:pt>
                <c:pt idx="7">
                  <c:v>6.5</c:v>
                </c:pt>
                <c:pt idx="8">
                  <c:v>7.6</c:v>
                </c:pt>
                <c:pt idx="9">
                  <c:v>10.3</c:v>
                </c:pt>
                <c:pt idx="10">
                  <c:v>6.4</c:v>
                </c:pt>
                <c:pt idx="11">
                  <c:v>4.9000000000000004</c:v>
                </c:pt>
                <c:pt idx="12">
                  <c:v>7.9</c:v>
                </c:pt>
                <c:pt idx="13">
                  <c:v>6.3</c:v>
                </c:pt>
                <c:pt idx="14">
                  <c:v>11.5</c:v>
                </c:pt>
                <c:pt idx="15">
                  <c:v>10.9</c:v>
                </c:pt>
                <c:pt idx="16">
                  <c:v>10.7</c:v>
                </c:pt>
                <c:pt idx="17">
                  <c:v>43.6</c:v>
                </c:pt>
                <c:pt idx="18">
                  <c:v>-2.7</c:v>
                </c:pt>
                <c:pt idx="19">
                  <c:v>11.9</c:v>
                </c:pt>
                <c:pt idx="20">
                  <c:v>11.9</c:v>
                </c:pt>
                <c:pt idx="21">
                  <c:v>10.7</c:v>
                </c:pt>
                <c:pt idx="22">
                  <c:v>11.6</c:v>
                </c:pt>
                <c:pt idx="23">
                  <c:v>9.6</c:v>
                </c:pt>
                <c:pt idx="24">
                  <c:v>13.9</c:v>
                </c:pt>
                <c:pt idx="25">
                  <c:v>14.3</c:v>
                </c:pt>
                <c:pt idx="26">
                  <c:v>3.9</c:v>
                </c:pt>
                <c:pt idx="27">
                  <c:v>-4.4000000000000004</c:v>
                </c:pt>
                <c:pt idx="28">
                  <c:v>9.3000000000000007</c:v>
                </c:pt>
                <c:pt idx="29">
                  <c:v>-20.7</c:v>
                </c:pt>
                <c:pt idx="30">
                  <c:v>14</c:v>
                </c:pt>
                <c:pt idx="31">
                  <c:v>-2.7</c:v>
                </c:pt>
                <c:pt idx="32">
                  <c:v>1.1000000000000001</c:v>
                </c:pt>
                <c:pt idx="33">
                  <c:v>-1.5</c:v>
                </c:pt>
                <c:pt idx="34">
                  <c:v>3.4</c:v>
                </c:pt>
                <c:pt idx="35">
                  <c:v>-1</c:v>
                </c:pt>
                <c:pt idx="36">
                  <c:v>-3.2</c:v>
                </c:pt>
                <c:pt idx="37">
                  <c:v>-0.8</c:v>
                </c:pt>
                <c:pt idx="38">
                  <c:v>-1.3</c:v>
                </c:pt>
                <c:pt idx="39">
                  <c:v>7.9</c:v>
                </c:pt>
                <c:pt idx="40">
                  <c:v>-2.9</c:v>
                </c:pt>
                <c:pt idx="41">
                  <c:v>-40.6</c:v>
                </c:pt>
                <c:pt idx="42">
                  <c:v>-6.9</c:v>
                </c:pt>
                <c:pt idx="43">
                  <c:v>3.1</c:v>
                </c:pt>
                <c:pt idx="44">
                  <c:v>-3.5</c:v>
                </c:pt>
                <c:pt idx="45">
                  <c:v>0.2</c:v>
                </c:pt>
                <c:pt idx="46">
                  <c:v>6.8</c:v>
                </c:pt>
                <c:pt idx="47">
                  <c:v>9.1</c:v>
                </c:pt>
                <c:pt idx="48">
                  <c:v>9.4</c:v>
                </c:pt>
                <c:pt idx="49">
                  <c:v>10.9</c:v>
                </c:pt>
                <c:pt idx="50">
                  <c:v>20.6</c:v>
                </c:pt>
                <c:pt idx="51">
                  <c:v>18.100000000000001</c:v>
                </c:pt>
                <c:pt idx="52">
                  <c:v>24.6</c:v>
                </c:pt>
                <c:pt idx="53">
                  <c:v>154.6</c:v>
                </c:pt>
                <c:pt idx="54">
                  <c:v>30.4</c:v>
                </c:pt>
                <c:pt idx="55">
                  <c:v>32.1</c:v>
                </c:pt>
                <c:pt idx="56">
                  <c:v>27.7</c:v>
                </c:pt>
                <c:pt idx="57">
                  <c:v>32.1</c:v>
                </c:pt>
                <c:pt idx="58">
                  <c:v>19.2</c:v>
                </c:pt>
                <c:pt idx="59">
                  <c:v>25.4</c:v>
                </c:pt>
                <c:pt idx="60">
                  <c:v>28</c:v>
                </c:pt>
                <c:pt idx="61">
                  <c:v>26.9</c:v>
                </c:pt>
                <c:pt idx="62">
                  <c:v>21.7</c:v>
                </c:pt>
                <c:pt idx="63">
                  <c:v>20.9</c:v>
                </c:pt>
                <c:pt idx="64">
                  <c:v>24</c:v>
                </c:pt>
                <c:pt idx="65">
                  <c:v>6</c:v>
                </c:pt>
                <c:pt idx="66">
                  <c:v>14.3</c:v>
                </c:pt>
                <c:pt idx="67">
                  <c:v>3.5</c:v>
                </c:pt>
                <c:pt idx="68">
                  <c:v>16.399999999999999</c:v>
                </c:pt>
                <c:pt idx="69">
                  <c:v>17.100000000000001</c:v>
                </c:pt>
                <c:pt idx="70">
                  <c:v>18.100000000000001</c:v>
                </c:pt>
                <c:pt idx="71">
                  <c:v>7.4</c:v>
                </c:pt>
                <c:pt idx="72">
                  <c:v>5.6</c:v>
                </c:pt>
                <c:pt idx="73">
                  <c:v>-0.3</c:v>
                </c:pt>
                <c:pt idx="74">
                  <c:v>-9</c:v>
                </c:pt>
                <c:pt idx="75">
                  <c:v>-9.9</c:v>
                </c:pt>
                <c:pt idx="76">
                  <c:v>-12</c:v>
                </c:pt>
                <c:pt idx="77">
                  <c:v>-2.8</c:v>
                </c:pt>
                <c:pt idx="78">
                  <c:v>10.9</c:v>
                </c:pt>
                <c:pt idx="79">
                  <c:v>7.1</c:v>
                </c:pt>
                <c:pt idx="80">
                  <c:v>-7.6</c:v>
                </c:pt>
                <c:pt idx="81">
                  <c:v>-12.4</c:v>
                </c:pt>
                <c:pt idx="82">
                  <c:v>-14.2</c:v>
                </c:pt>
                <c:pt idx="83">
                  <c:v>-8.5</c:v>
                </c:pt>
                <c:pt idx="84">
                  <c:v>-6.8</c:v>
                </c:pt>
                <c:pt idx="85">
                  <c:v>-6.6</c:v>
                </c:pt>
                <c:pt idx="86">
                  <c:v>0.7</c:v>
                </c:pt>
                <c:pt idx="87">
                  <c:v>2.2999999999999998</c:v>
                </c:pt>
                <c:pt idx="88">
                  <c:v>7.7</c:v>
                </c:pt>
                <c:pt idx="89">
                  <c:v>6.3</c:v>
                </c:pt>
                <c:pt idx="90">
                  <c:v>-7.6</c:v>
                </c:pt>
                <c:pt idx="91">
                  <c:v>1.3</c:v>
                </c:pt>
                <c:pt idx="92">
                  <c:v>7.4</c:v>
                </c:pt>
                <c:pt idx="93">
                  <c:v>8.5</c:v>
                </c:pt>
                <c:pt idx="94">
                  <c:v>6.9</c:v>
                </c:pt>
                <c:pt idx="95">
                  <c:v>8.6</c:v>
                </c:pt>
                <c:pt idx="96">
                  <c:v>2.4</c:v>
                </c:pt>
                <c:pt idx="97">
                  <c:v>12.7</c:v>
                </c:pt>
                <c:pt idx="98">
                  <c:v>6.6</c:v>
                </c:pt>
                <c:pt idx="99">
                  <c:v>10.7</c:v>
                </c:pt>
                <c:pt idx="100">
                  <c:v>5.9</c:v>
                </c:pt>
                <c:pt idx="101">
                  <c:v>-3.1</c:v>
                </c:pt>
                <c:pt idx="102">
                  <c:v>12.2</c:v>
                </c:pt>
                <c:pt idx="103">
                  <c:v>8</c:v>
                </c:pt>
                <c:pt idx="104">
                  <c:v>4.5999999999999996</c:v>
                </c:pt>
                <c:pt idx="105">
                  <c:v>5.8</c:v>
                </c:pt>
                <c:pt idx="106">
                  <c:v>7.1</c:v>
                </c:pt>
                <c:pt idx="107">
                  <c:v>4.3</c:v>
                </c:pt>
                <c:pt idx="108">
                  <c:v>8.1999999999999993</c:v>
                </c:pt>
                <c:pt idx="109">
                  <c:v>-1.2</c:v>
                </c:pt>
                <c:pt idx="110">
                  <c:v>5.9</c:v>
                </c:pt>
                <c:pt idx="111">
                  <c:v>6.6</c:v>
                </c:pt>
                <c:pt idx="112">
                  <c:v>10</c:v>
                </c:pt>
                <c:pt idx="113">
                  <c:v>39.6</c:v>
                </c:pt>
                <c:pt idx="114">
                  <c:v>2.5</c:v>
                </c:pt>
                <c:pt idx="115">
                  <c:v>14</c:v>
                </c:pt>
                <c:pt idx="116">
                  <c:v>19.2</c:v>
                </c:pt>
                <c:pt idx="117">
                  <c:v>27</c:v>
                </c:pt>
                <c:pt idx="118">
                  <c:v>23.9</c:v>
                </c:pt>
              </c:numCache>
            </c:numRef>
          </c:val>
          <c:smooth val="0"/>
          <c:extLst>
            <c:ext xmlns:c16="http://schemas.microsoft.com/office/drawing/2014/chart" uri="{C3380CC4-5D6E-409C-BE32-E72D297353CC}">
              <c16:uniqueId val="{00000001-98C5-BF46-B90B-018726C388A7}"/>
            </c:ext>
          </c:extLst>
        </c:ser>
        <c:dLbls>
          <c:showLegendKey val="0"/>
          <c:showVal val="0"/>
          <c:showCatName val="0"/>
          <c:showSerName val="0"/>
          <c:showPercent val="0"/>
          <c:showBubbleSize val="0"/>
        </c:dLbls>
        <c:smooth val="0"/>
        <c:axId val="520979327"/>
        <c:axId val="347490943"/>
      </c:lineChart>
      <c:dateAx>
        <c:axId val="520979327"/>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47490943"/>
        <c:crosses val="autoZero"/>
        <c:auto val="1"/>
        <c:lblOffset val="100"/>
        <c:baseTimeUnit val="months"/>
        <c:majorUnit val="12"/>
        <c:majorTimeUnit val="months"/>
      </c:dateAx>
      <c:valAx>
        <c:axId val="34749094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0979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Home Prices Have Slid Since 2021 as the Property Slump Enters a Fifth Year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China!$W$5</c:f>
              <c:strCache>
                <c:ptCount val="1"/>
                <c:pt idx="0">
                  <c:v>QCNN628BIS</c:v>
                </c:pt>
              </c:strCache>
            </c:strRef>
          </c:tx>
          <c:spPr>
            <a:ln w="22225" cap="rnd">
              <a:solidFill>
                <a:srgbClr val="0B2C48"/>
              </a:solidFill>
              <a:round/>
            </a:ln>
            <a:effectLst/>
          </c:spPr>
          <c:marker>
            <c:symbol val="none"/>
          </c:marker>
          <c:cat>
            <c:numRef>
              <c:f>China!$V$6:$V$89</c:f>
              <c:numCache>
                <c:formatCode>m/d/yy</c:formatCode>
                <c:ptCount val="84"/>
                <c:pt idx="0">
                  <c:v>38443</c:v>
                </c:pt>
                <c:pt idx="1">
                  <c:v>38534</c:v>
                </c:pt>
                <c:pt idx="2">
                  <c:v>38626</c:v>
                </c:pt>
                <c:pt idx="3">
                  <c:v>38718</c:v>
                </c:pt>
                <c:pt idx="4">
                  <c:v>38808</c:v>
                </c:pt>
                <c:pt idx="5">
                  <c:v>38899</c:v>
                </c:pt>
                <c:pt idx="6">
                  <c:v>38991</c:v>
                </c:pt>
                <c:pt idx="7">
                  <c:v>39083</c:v>
                </c:pt>
                <c:pt idx="8">
                  <c:v>39173</c:v>
                </c:pt>
                <c:pt idx="9">
                  <c:v>39264</c:v>
                </c:pt>
                <c:pt idx="10">
                  <c:v>39356</c:v>
                </c:pt>
                <c:pt idx="11">
                  <c:v>39448</c:v>
                </c:pt>
                <c:pt idx="12">
                  <c:v>39539</c:v>
                </c:pt>
                <c:pt idx="13">
                  <c:v>39630</c:v>
                </c:pt>
                <c:pt idx="14">
                  <c:v>39722</c:v>
                </c:pt>
                <c:pt idx="15">
                  <c:v>39814</c:v>
                </c:pt>
                <c:pt idx="16">
                  <c:v>39904</c:v>
                </c:pt>
                <c:pt idx="17">
                  <c:v>39995</c:v>
                </c:pt>
                <c:pt idx="18">
                  <c:v>40087</c:v>
                </c:pt>
                <c:pt idx="19">
                  <c:v>40179</c:v>
                </c:pt>
                <c:pt idx="20">
                  <c:v>40269</c:v>
                </c:pt>
                <c:pt idx="21">
                  <c:v>40360</c:v>
                </c:pt>
                <c:pt idx="22">
                  <c:v>40452</c:v>
                </c:pt>
                <c:pt idx="23">
                  <c:v>40544</c:v>
                </c:pt>
                <c:pt idx="24">
                  <c:v>40634</c:v>
                </c:pt>
                <c:pt idx="25">
                  <c:v>40725</c:v>
                </c:pt>
                <c:pt idx="26">
                  <c:v>40817</c:v>
                </c:pt>
                <c:pt idx="27">
                  <c:v>40909</c:v>
                </c:pt>
                <c:pt idx="28">
                  <c:v>41000</c:v>
                </c:pt>
                <c:pt idx="29">
                  <c:v>41091</c:v>
                </c:pt>
                <c:pt idx="30">
                  <c:v>41183</c:v>
                </c:pt>
                <c:pt idx="31">
                  <c:v>41275</c:v>
                </c:pt>
                <c:pt idx="32">
                  <c:v>41365</c:v>
                </c:pt>
                <c:pt idx="33">
                  <c:v>41456</c:v>
                </c:pt>
                <c:pt idx="34">
                  <c:v>41548</c:v>
                </c:pt>
                <c:pt idx="35">
                  <c:v>41640</c:v>
                </c:pt>
                <c:pt idx="36">
                  <c:v>41730</c:v>
                </c:pt>
                <c:pt idx="37">
                  <c:v>41821</c:v>
                </c:pt>
                <c:pt idx="38">
                  <c:v>41913</c:v>
                </c:pt>
                <c:pt idx="39">
                  <c:v>42005</c:v>
                </c:pt>
                <c:pt idx="40">
                  <c:v>42095</c:v>
                </c:pt>
                <c:pt idx="41">
                  <c:v>42186</c:v>
                </c:pt>
                <c:pt idx="42">
                  <c:v>42278</c:v>
                </c:pt>
                <c:pt idx="43">
                  <c:v>42370</c:v>
                </c:pt>
                <c:pt idx="44">
                  <c:v>42461</c:v>
                </c:pt>
                <c:pt idx="45">
                  <c:v>42552</c:v>
                </c:pt>
                <c:pt idx="46">
                  <c:v>42644</c:v>
                </c:pt>
                <c:pt idx="47">
                  <c:v>42736</c:v>
                </c:pt>
                <c:pt idx="48">
                  <c:v>42826</c:v>
                </c:pt>
                <c:pt idx="49">
                  <c:v>42917</c:v>
                </c:pt>
                <c:pt idx="50">
                  <c:v>43009</c:v>
                </c:pt>
                <c:pt idx="51">
                  <c:v>43101</c:v>
                </c:pt>
                <c:pt idx="52">
                  <c:v>43191</c:v>
                </c:pt>
                <c:pt idx="53">
                  <c:v>43282</c:v>
                </c:pt>
                <c:pt idx="54">
                  <c:v>43374</c:v>
                </c:pt>
                <c:pt idx="55">
                  <c:v>43466</c:v>
                </c:pt>
                <c:pt idx="56">
                  <c:v>43556</c:v>
                </c:pt>
                <c:pt idx="57">
                  <c:v>43647</c:v>
                </c:pt>
                <c:pt idx="58">
                  <c:v>43739</c:v>
                </c:pt>
                <c:pt idx="59">
                  <c:v>43831</c:v>
                </c:pt>
                <c:pt idx="60">
                  <c:v>43922</c:v>
                </c:pt>
                <c:pt idx="61">
                  <c:v>44013</c:v>
                </c:pt>
                <c:pt idx="62">
                  <c:v>44105</c:v>
                </c:pt>
                <c:pt idx="63">
                  <c:v>44197</c:v>
                </c:pt>
                <c:pt idx="64">
                  <c:v>44287</c:v>
                </c:pt>
                <c:pt idx="65">
                  <c:v>44378</c:v>
                </c:pt>
                <c:pt idx="66">
                  <c:v>44470</c:v>
                </c:pt>
                <c:pt idx="67">
                  <c:v>44562</c:v>
                </c:pt>
                <c:pt idx="68">
                  <c:v>44652</c:v>
                </c:pt>
                <c:pt idx="69">
                  <c:v>44743</c:v>
                </c:pt>
                <c:pt idx="70">
                  <c:v>44835</c:v>
                </c:pt>
                <c:pt idx="71">
                  <c:v>44927</c:v>
                </c:pt>
                <c:pt idx="72">
                  <c:v>45017</c:v>
                </c:pt>
                <c:pt idx="73">
                  <c:v>45108</c:v>
                </c:pt>
                <c:pt idx="74">
                  <c:v>45200</c:v>
                </c:pt>
                <c:pt idx="75">
                  <c:v>45292</c:v>
                </c:pt>
                <c:pt idx="76">
                  <c:v>45383</c:v>
                </c:pt>
                <c:pt idx="77">
                  <c:v>45474</c:v>
                </c:pt>
                <c:pt idx="78">
                  <c:v>45566</c:v>
                </c:pt>
                <c:pt idx="79">
                  <c:v>45658</c:v>
                </c:pt>
                <c:pt idx="80">
                  <c:v>45748</c:v>
                </c:pt>
                <c:pt idx="81">
                  <c:v>45839</c:v>
                </c:pt>
                <c:pt idx="82">
                  <c:v>45931</c:v>
                </c:pt>
                <c:pt idx="83">
                  <c:v>46023</c:v>
                </c:pt>
              </c:numCache>
            </c:numRef>
          </c:cat>
          <c:val>
            <c:numRef>
              <c:f>China!$W$6:$W$89</c:f>
              <c:numCache>
                <c:formatCode>General</c:formatCode>
                <c:ptCount val="84"/>
                <c:pt idx="0">
                  <c:v>75.867500000000007</c:v>
                </c:pt>
                <c:pt idx="1">
                  <c:v>77.064499999999995</c:v>
                </c:pt>
                <c:pt idx="2">
                  <c:v>77.919499999999999</c:v>
                </c:pt>
                <c:pt idx="3">
                  <c:v>78.004999999999995</c:v>
                </c:pt>
                <c:pt idx="4">
                  <c:v>79.543999999999997</c:v>
                </c:pt>
                <c:pt idx="5">
                  <c:v>80.855000000000004</c:v>
                </c:pt>
                <c:pt idx="6">
                  <c:v>81.823999999999998</c:v>
                </c:pt>
                <c:pt idx="7">
                  <c:v>82.137500000000003</c:v>
                </c:pt>
                <c:pt idx="8">
                  <c:v>84.218000000000004</c:v>
                </c:pt>
                <c:pt idx="9">
                  <c:v>86.498000000000005</c:v>
                </c:pt>
                <c:pt idx="10">
                  <c:v>89.148600000000002</c:v>
                </c:pt>
                <c:pt idx="11">
                  <c:v>89.861099999999993</c:v>
                </c:pt>
                <c:pt idx="12">
                  <c:v>90.830100000000002</c:v>
                </c:pt>
                <c:pt idx="13">
                  <c:v>91.257599999999996</c:v>
                </c:pt>
                <c:pt idx="14">
                  <c:v>90.744600000000005</c:v>
                </c:pt>
                <c:pt idx="15">
                  <c:v>89.690100000000001</c:v>
                </c:pt>
                <c:pt idx="16">
                  <c:v>90.402600000000007</c:v>
                </c:pt>
                <c:pt idx="17">
                  <c:v>92.340599999999995</c:v>
                </c:pt>
                <c:pt idx="18">
                  <c:v>94.763099999999994</c:v>
                </c:pt>
                <c:pt idx="19">
                  <c:v>97.755600000000001</c:v>
                </c:pt>
                <c:pt idx="20">
                  <c:v>100.00709999999999</c:v>
                </c:pt>
                <c:pt idx="21">
                  <c:v>100.3776</c:v>
                </c:pt>
                <c:pt idx="22">
                  <c:v>101.8596</c:v>
                </c:pt>
                <c:pt idx="23">
                  <c:v>103.51260000000001</c:v>
                </c:pt>
                <c:pt idx="24">
                  <c:v>104.2822</c:v>
                </c:pt>
                <c:pt idx="25">
                  <c:v>104.4817</c:v>
                </c:pt>
                <c:pt idx="26">
                  <c:v>104.19670000000001</c:v>
                </c:pt>
                <c:pt idx="27">
                  <c:v>103.6551</c:v>
                </c:pt>
                <c:pt idx="28">
                  <c:v>103.11360000000001</c:v>
                </c:pt>
                <c:pt idx="29">
                  <c:v>103.2561</c:v>
                </c:pt>
                <c:pt idx="30">
                  <c:v>103.6551</c:v>
                </c:pt>
                <c:pt idx="31">
                  <c:v>105.5932</c:v>
                </c:pt>
                <c:pt idx="32">
                  <c:v>108.55719999999999</c:v>
                </c:pt>
                <c:pt idx="33">
                  <c:v>111.0082</c:v>
                </c:pt>
                <c:pt idx="34">
                  <c:v>113.06019999999999</c:v>
                </c:pt>
                <c:pt idx="35">
                  <c:v>114.28570000000001</c:v>
                </c:pt>
                <c:pt idx="36">
                  <c:v>114.34269999999999</c:v>
                </c:pt>
                <c:pt idx="37">
                  <c:v>111.72069999999999</c:v>
                </c:pt>
                <c:pt idx="38">
                  <c:v>109.1557</c:v>
                </c:pt>
                <c:pt idx="39">
                  <c:v>107.81619999999999</c:v>
                </c:pt>
                <c:pt idx="40">
                  <c:v>107.5882</c:v>
                </c:pt>
                <c:pt idx="41">
                  <c:v>108.2437</c:v>
                </c:pt>
                <c:pt idx="42">
                  <c:v>108.84220000000001</c:v>
                </c:pt>
                <c:pt idx="43">
                  <c:v>111.53319999999999</c:v>
                </c:pt>
                <c:pt idx="44">
                  <c:v>113.8325</c:v>
                </c:pt>
                <c:pt idx="45">
                  <c:v>116.4238</c:v>
                </c:pt>
                <c:pt idx="46">
                  <c:v>119.19750000000001</c:v>
                </c:pt>
                <c:pt idx="47">
                  <c:v>120.62090000000001</c:v>
                </c:pt>
                <c:pt idx="48">
                  <c:v>122.9931</c:v>
                </c:pt>
                <c:pt idx="49">
                  <c:v>124.38</c:v>
                </c:pt>
                <c:pt idx="50">
                  <c:v>125.1464</c:v>
                </c:pt>
                <c:pt idx="51">
                  <c:v>125.8764</c:v>
                </c:pt>
                <c:pt idx="52">
                  <c:v>127.7012</c:v>
                </c:pt>
                <c:pt idx="53">
                  <c:v>131.56979999999999</c:v>
                </c:pt>
                <c:pt idx="54">
                  <c:v>134.1611</c:v>
                </c:pt>
                <c:pt idx="55">
                  <c:v>135.4384</c:v>
                </c:pt>
                <c:pt idx="56">
                  <c:v>137.15379999999999</c:v>
                </c:pt>
                <c:pt idx="57">
                  <c:v>138.50409999999999</c:v>
                </c:pt>
                <c:pt idx="58">
                  <c:v>139.23410000000001</c:v>
                </c:pt>
                <c:pt idx="59">
                  <c:v>139.48949999999999</c:v>
                </c:pt>
                <c:pt idx="60">
                  <c:v>140.256</c:v>
                </c:pt>
                <c:pt idx="61">
                  <c:v>141.56979999999999</c:v>
                </c:pt>
                <c:pt idx="62">
                  <c:v>142.44579999999999</c:v>
                </c:pt>
                <c:pt idx="63">
                  <c:v>143.72309999999999</c:v>
                </c:pt>
                <c:pt idx="64">
                  <c:v>145.40199999999999</c:v>
                </c:pt>
                <c:pt idx="65">
                  <c:v>145.91290000000001</c:v>
                </c:pt>
                <c:pt idx="66">
                  <c:v>144.745</c:v>
                </c:pt>
                <c:pt idx="67">
                  <c:v>143.5042</c:v>
                </c:pt>
                <c:pt idx="68">
                  <c:v>142.2268</c:v>
                </c:pt>
                <c:pt idx="69">
                  <c:v>141.1319</c:v>
                </c:pt>
                <c:pt idx="70">
                  <c:v>139.3801</c:v>
                </c:pt>
                <c:pt idx="71">
                  <c:v>138.6866</c:v>
                </c:pt>
                <c:pt idx="72">
                  <c:v>138.43109999999999</c:v>
                </c:pt>
                <c:pt idx="73">
                  <c:v>136.64279999999999</c:v>
                </c:pt>
                <c:pt idx="74">
                  <c:v>134.19759999999999</c:v>
                </c:pt>
                <c:pt idx="75">
                  <c:v>131.5333</c:v>
                </c:pt>
                <c:pt idx="76">
                  <c:v>128.21209999999999</c:v>
                </c:pt>
                <c:pt idx="77">
                  <c:v>124.92740000000001</c:v>
                </c:pt>
                <c:pt idx="78">
                  <c:v>122.7012</c:v>
                </c:pt>
                <c:pt idx="79">
                  <c:v>121.64279999999999</c:v>
                </c:pt>
                <c:pt idx="80">
                  <c:v>120.0004</c:v>
                </c:pt>
                <c:pt idx="81">
                  <c:v>118.0296</c:v>
                </c:pt>
                <c:pt idx="82">
                  <c:v>115.65730000000001</c:v>
                </c:pt>
                <c:pt idx="83">
                  <c:v>113.9785</c:v>
                </c:pt>
              </c:numCache>
            </c:numRef>
          </c:val>
          <c:smooth val="0"/>
          <c:extLst>
            <c:ext xmlns:c16="http://schemas.microsoft.com/office/drawing/2014/chart" uri="{C3380CC4-5D6E-409C-BE32-E72D297353CC}">
              <c16:uniqueId val="{00000000-3363-B443-890D-35BC7060C45C}"/>
            </c:ext>
          </c:extLst>
        </c:ser>
        <c:dLbls>
          <c:showLegendKey val="0"/>
          <c:showVal val="0"/>
          <c:showCatName val="0"/>
          <c:showSerName val="0"/>
          <c:showPercent val="0"/>
          <c:showBubbleSize val="0"/>
        </c:dLbls>
        <c:smooth val="0"/>
        <c:axId val="584271615"/>
        <c:axId val="398551103"/>
      </c:lineChart>
      <c:dateAx>
        <c:axId val="584271615"/>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98551103"/>
        <c:crosses val="autoZero"/>
        <c:auto val="1"/>
        <c:lblOffset val="100"/>
        <c:baseTimeUnit val="months"/>
        <c:majorUnit val="2"/>
        <c:majorTimeUnit val="years"/>
      </c:dateAx>
      <c:valAx>
        <c:axId val="39855110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842716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China Growth Steadies Near 4-5%, But Prices Barely Move</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China!$C$4</c:f>
              <c:strCache>
                <c:ptCount val="1"/>
                <c:pt idx="0">
                  <c:v>GDP YoY (%)</c:v>
                </c:pt>
              </c:strCache>
            </c:strRef>
          </c:tx>
          <c:spPr>
            <a:ln w="22225" cap="rnd">
              <a:solidFill>
                <a:srgbClr val="0B2C48"/>
              </a:solidFill>
              <a:round/>
            </a:ln>
            <a:effectLst/>
          </c:spPr>
          <c:marker>
            <c:symbol val="none"/>
          </c:marker>
          <c:cat>
            <c:numRef>
              <c:f>China!$B$5:$B$44</c:f>
              <c:numCache>
                <c:formatCode>m/d/yy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China!$C$5:$C$44</c:f>
              <c:numCache>
                <c:formatCode>General</c:formatCode>
                <c:ptCount val="40"/>
                <c:pt idx="0">
                  <c:v>6.7</c:v>
                </c:pt>
                <c:pt idx="1">
                  <c:v>6.8</c:v>
                </c:pt>
                <c:pt idx="2">
                  <c:v>7</c:v>
                </c:pt>
                <c:pt idx="3">
                  <c:v>7</c:v>
                </c:pt>
                <c:pt idx="4">
                  <c:v>6.9</c:v>
                </c:pt>
                <c:pt idx="5">
                  <c:v>6.8</c:v>
                </c:pt>
                <c:pt idx="6">
                  <c:v>6.9</c:v>
                </c:pt>
                <c:pt idx="7">
                  <c:v>6.9</c:v>
                </c:pt>
                <c:pt idx="8">
                  <c:v>6.7</c:v>
                </c:pt>
                <c:pt idx="9">
                  <c:v>6.5</c:v>
                </c:pt>
                <c:pt idx="10">
                  <c:v>6.4</c:v>
                </c:pt>
                <c:pt idx="11">
                  <c:v>6.1</c:v>
                </c:pt>
                <c:pt idx="12">
                  <c:v>6</c:v>
                </c:pt>
                <c:pt idx="13">
                  <c:v>5.9</c:v>
                </c:pt>
                <c:pt idx="14">
                  <c:v>-6.8</c:v>
                </c:pt>
                <c:pt idx="15">
                  <c:v>3.2</c:v>
                </c:pt>
                <c:pt idx="16">
                  <c:v>4.9000000000000004</c:v>
                </c:pt>
                <c:pt idx="17">
                  <c:v>6.5</c:v>
                </c:pt>
                <c:pt idx="18">
                  <c:v>18.899999999999999</c:v>
                </c:pt>
                <c:pt idx="19">
                  <c:v>8.1</c:v>
                </c:pt>
                <c:pt idx="20">
                  <c:v>5.5</c:v>
                </c:pt>
                <c:pt idx="21">
                  <c:v>4.5</c:v>
                </c:pt>
                <c:pt idx="22">
                  <c:v>4.8</c:v>
                </c:pt>
                <c:pt idx="23">
                  <c:v>0.8</c:v>
                </c:pt>
                <c:pt idx="24">
                  <c:v>4</c:v>
                </c:pt>
                <c:pt idx="25">
                  <c:v>3</c:v>
                </c:pt>
                <c:pt idx="26">
                  <c:v>4.7</c:v>
                </c:pt>
                <c:pt idx="27">
                  <c:v>6.5</c:v>
                </c:pt>
                <c:pt idx="28">
                  <c:v>5</c:v>
                </c:pt>
                <c:pt idx="29">
                  <c:v>5.3</c:v>
                </c:pt>
                <c:pt idx="30">
                  <c:v>5.3</c:v>
                </c:pt>
                <c:pt idx="31">
                  <c:v>4.7</c:v>
                </c:pt>
                <c:pt idx="32">
                  <c:v>4.5999999999999996</c:v>
                </c:pt>
                <c:pt idx="33">
                  <c:v>5.4</c:v>
                </c:pt>
                <c:pt idx="34">
                  <c:v>5.4</c:v>
                </c:pt>
                <c:pt idx="35">
                  <c:v>5.2</c:v>
                </c:pt>
                <c:pt idx="36">
                  <c:v>4.8</c:v>
                </c:pt>
                <c:pt idx="37">
                  <c:v>4.5</c:v>
                </c:pt>
                <c:pt idx="38">
                  <c:v>5</c:v>
                </c:pt>
                <c:pt idx="39">
                  <c:v>4.3</c:v>
                </c:pt>
              </c:numCache>
            </c:numRef>
          </c:val>
          <c:smooth val="0"/>
          <c:extLst>
            <c:ext xmlns:c16="http://schemas.microsoft.com/office/drawing/2014/chart" uri="{C3380CC4-5D6E-409C-BE32-E72D297353CC}">
              <c16:uniqueId val="{00000000-3525-FE49-85DE-5DDD2FF9D8C6}"/>
            </c:ext>
          </c:extLst>
        </c:ser>
        <c:ser>
          <c:idx val="1"/>
          <c:order val="1"/>
          <c:tx>
            <c:strRef>
              <c:f>China!$D$4</c:f>
              <c:strCache>
                <c:ptCount val="1"/>
                <c:pt idx="0">
                  <c:v>CPI YoY (%)</c:v>
                </c:pt>
              </c:strCache>
            </c:strRef>
          </c:tx>
          <c:spPr>
            <a:ln w="22225" cap="rnd">
              <a:solidFill>
                <a:srgbClr val="C9A03A"/>
              </a:solidFill>
              <a:round/>
            </a:ln>
            <a:effectLst/>
          </c:spPr>
          <c:marker>
            <c:symbol val="none"/>
          </c:marker>
          <c:cat>
            <c:numRef>
              <c:f>China!$B$5:$B$44</c:f>
              <c:numCache>
                <c:formatCode>m/d/yy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China!$D$5:$D$44</c:f>
              <c:numCache>
                <c:formatCode>General</c:formatCode>
                <c:ptCount val="40"/>
                <c:pt idx="0">
                  <c:v>1.8</c:v>
                </c:pt>
                <c:pt idx="1">
                  <c:v>2.1</c:v>
                </c:pt>
                <c:pt idx="2">
                  <c:v>2.5</c:v>
                </c:pt>
                <c:pt idx="3">
                  <c:v>1.2</c:v>
                </c:pt>
                <c:pt idx="4">
                  <c:v>1.4</c:v>
                </c:pt>
                <c:pt idx="5">
                  <c:v>1.9</c:v>
                </c:pt>
                <c:pt idx="6">
                  <c:v>1.5</c:v>
                </c:pt>
                <c:pt idx="7">
                  <c:v>1.8</c:v>
                </c:pt>
                <c:pt idx="8">
                  <c:v>2.1</c:v>
                </c:pt>
                <c:pt idx="9">
                  <c:v>2.5</c:v>
                </c:pt>
                <c:pt idx="10">
                  <c:v>1.7</c:v>
                </c:pt>
                <c:pt idx="11">
                  <c:v>2.5</c:v>
                </c:pt>
                <c:pt idx="12">
                  <c:v>2.8</c:v>
                </c:pt>
                <c:pt idx="13">
                  <c:v>3.8</c:v>
                </c:pt>
                <c:pt idx="14">
                  <c:v>5.4</c:v>
                </c:pt>
                <c:pt idx="15">
                  <c:v>3.3</c:v>
                </c:pt>
                <c:pt idx="16">
                  <c:v>2.7</c:v>
                </c:pt>
                <c:pt idx="17">
                  <c:v>0.5</c:v>
                </c:pt>
                <c:pt idx="18">
                  <c:v>-0.3</c:v>
                </c:pt>
                <c:pt idx="19">
                  <c:v>0.9</c:v>
                </c:pt>
                <c:pt idx="20">
                  <c:v>1</c:v>
                </c:pt>
                <c:pt idx="21">
                  <c:v>1.5</c:v>
                </c:pt>
                <c:pt idx="22">
                  <c:v>0.9</c:v>
                </c:pt>
                <c:pt idx="23">
                  <c:v>2.1</c:v>
                </c:pt>
                <c:pt idx="24">
                  <c:v>2.7</c:v>
                </c:pt>
                <c:pt idx="25">
                  <c:v>2.1</c:v>
                </c:pt>
                <c:pt idx="26">
                  <c:v>2.1</c:v>
                </c:pt>
                <c:pt idx="27">
                  <c:v>0.1</c:v>
                </c:pt>
                <c:pt idx="28">
                  <c:v>-0.3</c:v>
                </c:pt>
                <c:pt idx="29">
                  <c:v>-0.2</c:v>
                </c:pt>
                <c:pt idx="30">
                  <c:v>-0.8</c:v>
                </c:pt>
                <c:pt idx="31">
                  <c:v>0.3</c:v>
                </c:pt>
                <c:pt idx="32">
                  <c:v>0.5</c:v>
                </c:pt>
                <c:pt idx="33">
                  <c:v>0.3</c:v>
                </c:pt>
                <c:pt idx="34">
                  <c:v>0.5</c:v>
                </c:pt>
                <c:pt idx="35">
                  <c:v>-0.1</c:v>
                </c:pt>
                <c:pt idx="36">
                  <c:v>0</c:v>
                </c:pt>
                <c:pt idx="37">
                  <c:v>0.2</c:v>
                </c:pt>
                <c:pt idx="38">
                  <c:v>0.2</c:v>
                </c:pt>
                <c:pt idx="39">
                  <c:v>1.2</c:v>
                </c:pt>
              </c:numCache>
            </c:numRef>
          </c:val>
          <c:smooth val="0"/>
          <c:extLst>
            <c:ext xmlns:c16="http://schemas.microsoft.com/office/drawing/2014/chart" uri="{C3380CC4-5D6E-409C-BE32-E72D297353CC}">
              <c16:uniqueId val="{00000001-3525-FE49-85DE-5DDD2FF9D8C6}"/>
            </c:ext>
          </c:extLst>
        </c:ser>
        <c:dLbls>
          <c:showLegendKey val="0"/>
          <c:showVal val="0"/>
          <c:showCatName val="0"/>
          <c:showSerName val="0"/>
          <c:showPercent val="0"/>
          <c:showBubbleSize val="0"/>
        </c:dLbls>
        <c:smooth val="0"/>
        <c:axId val="1701407232"/>
        <c:axId val="186438463"/>
      </c:lineChart>
      <c:dateAx>
        <c:axId val="170140723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438463"/>
        <c:crosses val="autoZero"/>
        <c:auto val="1"/>
        <c:lblOffset val="100"/>
        <c:baseTimeUnit val="months"/>
        <c:majorUnit val="12"/>
        <c:majorTimeUnit val="months"/>
      </c:dateAx>
      <c:valAx>
        <c:axId val="18643846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01407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Growth Diverges Across Emerging Markets, With Indonesia the Steadiest</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barChart>
        <c:barDir val="col"/>
        <c:grouping val="clustered"/>
        <c:varyColors val="0"/>
        <c:ser>
          <c:idx val="0"/>
          <c:order val="0"/>
          <c:tx>
            <c:strRef>
              <c:f>Emerging!$B$4</c:f>
              <c:strCache>
                <c:ptCount val="1"/>
                <c:pt idx="0">
                  <c:v>India GDP (%)</c:v>
                </c:pt>
              </c:strCache>
            </c:strRef>
          </c:tx>
          <c:spPr>
            <a:solidFill>
              <a:srgbClr val="0B2C48"/>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Emerging!$B$5:$B$13</c:f>
              <c:numCache>
                <c:formatCode>General</c:formatCode>
                <c:ptCount val="9"/>
                <c:pt idx="0">
                  <c:v>-0.5</c:v>
                </c:pt>
                <c:pt idx="1">
                  <c:v>0.7</c:v>
                </c:pt>
                <c:pt idx="2">
                  <c:v>-1.3</c:v>
                </c:pt>
                <c:pt idx="3">
                  <c:v>-1.3</c:v>
                </c:pt>
                <c:pt idx="4">
                  <c:v>-0.3</c:v>
                </c:pt>
                <c:pt idx="5">
                  <c:v>1.3</c:v>
                </c:pt>
                <c:pt idx="6">
                  <c:v>-1.1000000000000001</c:v>
                </c:pt>
                <c:pt idx="7">
                  <c:v>-2.2000000000000002</c:v>
                </c:pt>
                <c:pt idx="8">
                  <c:v>-0.5</c:v>
                </c:pt>
              </c:numCache>
            </c:numRef>
          </c:val>
          <c:extLst>
            <c:ext xmlns:c16="http://schemas.microsoft.com/office/drawing/2014/chart" uri="{C3380CC4-5D6E-409C-BE32-E72D297353CC}">
              <c16:uniqueId val="{00000000-7FBF-F048-B73E-FE92A3643D35}"/>
            </c:ext>
          </c:extLst>
        </c:ser>
        <c:ser>
          <c:idx val="1"/>
          <c:order val="1"/>
          <c:tx>
            <c:strRef>
              <c:f>Emerging!$C$4</c:f>
              <c:strCache>
                <c:ptCount val="1"/>
                <c:pt idx="0">
                  <c:v>Mexico GDP (%)</c:v>
                </c:pt>
              </c:strCache>
            </c:strRef>
          </c:tx>
          <c:spPr>
            <a:solidFill>
              <a:srgbClr val="C9A03A"/>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Emerging!$C$5:$C$13</c:f>
              <c:numCache>
                <c:formatCode>General</c:formatCode>
                <c:ptCount val="9"/>
                <c:pt idx="0">
                  <c:v>1.65</c:v>
                </c:pt>
                <c:pt idx="1">
                  <c:v>-3.61</c:v>
                </c:pt>
                <c:pt idx="2">
                  <c:v>1.54</c:v>
                </c:pt>
                <c:pt idx="3">
                  <c:v>0.2</c:v>
                </c:pt>
                <c:pt idx="4">
                  <c:v>-0.99</c:v>
                </c:pt>
                <c:pt idx="5">
                  <c:v>-3.21</c:v>
                </c:pt>
                <c:pt idx="6">
                  <c:v>2.4700000000000002</c:v>
                </c:pt>
                <c:pt idx="7">
                  <c:v>-0.54</c:v>
                </c:pt>
                <c:pt idx="8">
                  <c:v>-0.16</c:v>
                </c:pt>
              </c:numCache>
            </c:numRef>
          </c:val>
          <c:extLst>
            <c:ext xmlns:c16="http://schemas.microsoft.com/office/drawing/2014/chart" uri="{C3380CC4-5D6E-409C-BE32-E72D297353CC}">
              <c16:uniqueId val="{00000001-7FBF-F048-B73E-FE92A3643D35}"/>
            </c:ext>
          </c:extLst>
        </c:ser>
        <c:ser>
          <c:idx val="2"/>
          <c:order val="2"/>
          <c:tx>
            <c:strRef>
              <c:f>Emerging!$D$4</c:f>
              <c:strCache>
                <c:ptCount val="1"/>
                <c:pt idx="0">
                  <c:v>South Africa GDP (%)</c:v>
                </c:pt>
              </c:strCache>
            </c:strRef>
          </c:tx>
          <c:spPr>
            <a:solidFill>
              <a:srgbClr val="7F95AB"/>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Emerging!$D$5:$D$13</c:f>
              <c:numCache>
                <c:formatCode>General</c:formatCode>
                <c:ptCount val="9"/>
                <c:pt idx="0">
                  <c:v>1.9</c:v>
                </c:pt>
                <c:pt idx="1">
                  <c:v>0.8</c:v>
                </c:pt>
                <c:pt idx="2">
                  <c:v>2.1</c:v>
                </c:pt>
                <c:pt idx="3">
                  <c:v>0.7</c:v>
                </c:pt>
                <c:pt idx="4">
                  <c:v>0.9</c:v>
                </c:pt>
                <c:pt idx="5">
                  <c:v>0.8</c:v>
                </c:pt>
                <c:pt idx="6">
                  <c:v>0.4</c:v>
                </c:pt>
                <c:pt idx="7">
                  <c:v>0.4</c:v>
                </c:pt>
                <c:pt idx="8">
                  <c:v>0.5</c:v>
                </c:pt>
              </c:numCache>
            </c:numRef>
          </c:val>
          <c:extLst>
            <c:ext xmlns:c16="http://schemas.microsoft.com/office/drawing/2014/chart" uri="{C3380CC4-5D6E-409C-BE32-E72D297353CC}">
              <c16:uniqueId val="{00000002-7FBF-F048-B73E-FE92A3643D35}"/>
            </c:ext>
          </c:extLst>
        </c:ser>
        <c:ser>
          <c:idx val="3"/>
          <c:order val="3"/>
          <c:tx>
            <c:strRef>
              <c:f>Emerging!$E$4</c:f>
              <c:strCache>
                <c:ptCount val="1"/>
                <c:pt idx="0">
                  <c:v>Indonesia GDP (%)</c:v>
                </c:pt>
              </c:strCache>
            </c:strRef>
          </c:tx>
          <c:spPr>
            <a:solidFill>
              <a:srgbClr val="3A8D8C"/>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Emerging!$E$5:$E$13</c:f>
              <c:numCache>
                <c:formatCode>General</c:formatCode>
                <c:ptCount val="9"/>
                <c:pt idx="0">
                  <c:v>5.29</c:v>
                </c:pt>
                <c:pt idx="1">
                  <c:v>5.61</c:v>
                </c:pt>
                <c:pt idx="2">
                  <c:v>5.39</c:v>
                </c:pt>
                <c:pt idx="3">
                  <c:v>5.04</c:v>
                </c:pt>
                <c:pt idx="4">
                  <c:v>5.12</c:v>
                </c:pt>
                <c:pt idx="5">
                  <c:v>4.87</c:v>
                </c:pt>
                <c:pt idx="6">
                  <c:v>5.0199999999999996</c:v>
                </c:pt>
                <c:pt idx="7">
                  <c:v>4.95</c:v>
                </c:pt>
                <c:pt idx="8">
                  <c:v>5.05</c:v>
                </c:pt>
              </c:numCache>
            </c:numRef>
          </c:val>
          <c:extLst>
            <c:ext xmlns:c16="http://schemas.microsoft.com/office/drawing/2014/chart" uri="{C3380CC4-5D6E-409C-BE32-E72D297353CC}">
              <c16:uniqueId val="{00000003-7FBF-F048-B73E-FE92A3643D35}"/>
            </c:ext>
          </c:extLst>
        </c:ser>
        <c:dLbls>
          <c:showLegendKey val="0"/>
          <c:showVal val="0"/>
          <c:showCatName val="0"/>
          <c:showSerName val="0"/>
          <c:showPercent val="0"/>
          <c:showBubbleSize val="0"/>
        </c:dLbls>
        <c:gapWidth val="60"/>
        <c:overlap val="-10"/>
        <c:axId val="1121872384"/>
        <c:axId val="1121862080"/>
      </c:barChart>
      <c:dateAx>
        <c:axId val="1121872384"/>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62080"/>
        <c:crosses val="autoZero"/>
        <c:auto val="1"/>
        <c:lblOffset val="100"/>
        <c:baseTimeUnit val="months"/>
        <c:majorUnit val="12"/>
        <c:majorTimeUnit val="months"/>
      </c:dateAx>
      <c:valAx>
        <c:axId val="112186208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7238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South Africa Cools to 4.3% as India Climbs to 4.45%</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Emerging!$B$17</c:f>
              <c:strCache>
                <c:ptCount val="1"/>
                <c:pt idx="0">
                  <c:v>India CPI (%)</c:v>
                </c:pt>
              </c:strCache>
            </c:strRef>
          </c:tx>
          <c:spPr>
            <a:ln w="22225" cap="rnd">
              <a:solidFill>
                <a:srgbClr val="0B2C48"/>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Emerging!$B$18:$B$38</c:f>
              <c:numCache>
                <c:formatCode>General</c:formatCode>
                <c:ptCount val="21"/>
                <c:pt idx="0">
                  <c:v>5.07</c:v>
                </c:pt>
                <c:pt idx="1">
                  <c:v>5.05</c:v>
                </c:pt>
                <c:pt idx="2">
                  <c:v>6.35</c:v>
                </c:pt>
                <c:pt idx="3">
                  <c:v>7.25</c:v>
                </c:pt>
                <c:pt idx="4">
                  <c:v>6.99</c:v>
                </c:pt>
                <c:pt idx="5">
                  <c:v>6.13</c:v>
                </c:pt>
                <c:pt idx="6">
                  <c:v>6.2</c:v>
                </c:pt>
                <c:pt idx="7">
                  <c:v>4.6100000000000003</c:v>
                </c:pt>
                <c:pt idx="8">
                  <c:v>6.47</c:v>
                </c:pt>
                <c:pt idx="9">
                  <c:v>5.35</c:v>
                </c:pt>
                <c:pt idx="10">
                  <c:v>5.05</c:v>
                </c:pt>
                <c:pt idx="11">
                  <c:v>4.9400000000000004</c:v>
                </c:pt>
                <c:pt idx="12">
                  <c:v>4.2699999999999996</c:v>
                </c:pt>
                <c:pt idx="13">
                  <c:v>5.65</c:v>
                </c:pt>
                <c:pt idx="14">
                  <c:v>3.7</c:v>
                </c:pt>
                <c:pt idx="15">
                  <c:v>2.89</c:v>
                </c:pt>
                <c:pt idx="16">
                  <c:v>1.68</c:v>
                </c:pt>
                <c:pt idx="17">
                  <c:v>0.56999999999999995</c:v>
                </c:pt>
                <c:pt idx="18">
                  <c:v>3.11</c:v>
                </c:pt>
                <c:pt idx="19">
                  <c:v>3.93</c:v>
                </c:pt>
                <c:pt idx="20">
                  <c:v>4.45</c:v>
                </c:pt>
              </c:numCache>
            </c:numRef>
          </c:val>
          <c:smooth val="0"/>
          <c:extLst>
            <c:ext xmlns:c16="http://schemas.microsoft.com/office/drawing/2014/chart" uri="{C3380CC4-5D6E-409C-BE32-E72D297353CC}">
              <c16:uniqueId val="{00000000-9F45-F446-A37A-327096235557}"/>
            </c:ext>
          </c:extLst>
        </c:ser>
        <c:ser>
          <c:idx val="1"/>
          <c:order val="1"/>
          <c:tx>
            <c:strRef>
              <c:f>Emerging!$C$17</c:f>
              <c:strCache>
                <c:ptCount val="1"/>
                <c:pt idx="0">
                  <c:v>Brazil CPI (%)</c:v>
                </c:pt>
              </c:strCache>
            </c:strRef>
          </c:tx>
          <c:spPr>
            <a:ln w="22225" cap="rnd">
              <a:solidFill>
                <a:srgbClr val="C9A03A"/>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Emerging!$C$18:$C$38</c:f>
              <c:numCache>
                <c:formatCode>General</c:formatCode>
                <c:ptCount val="21"/>
                <c:pt idx="0">
                  <c:v>9.64</c:v>
                </c:pt>
                <c:pt idx="1">
                  <c:v>10.49</c:v>
                </c:pt>
                <c:pt idx="2">
                  <c:v>10.74</c:v>
                </c:pt>
                <c:pt idx="3">
                  <c:v>11.92</c:v>
                </c:pt>
                <c:pt idx="4">
                  <c:v>8.66</c:v>
                </c:pt>
                <c:pt idx="5">
                  <c:v>6.05</c:v>
                </c:pt>
                <c:pt idx="6">
                  <c:v>5.34</c:v>
                </c:pt>
                <c:pt idx="7">
                  <c:v>3.76</c:v>
                </c:pt>
                <c:pt idx="8">
                  <c:v>4.5999999999999996</c:v>
                </c:pt>
                <c:pt idx="9">
                  <c:v>4.71</c:v>
                </c:pt>
                <c:pt idx="10">
                  <c:v>4.3099999999999996</c:v>
                </c:pt>
                <c:pt idx="11">
                  <c:v>3.95</c:v>
                </c:pt>
                <c:pt idx="12">
                  <c:v>4.3899999999999997</c:v>
                </c:pt>
                <c:pt idx="13">
                  <c:v>4.82</c:v>
                </c:pt>
                <c:pt idx="14">
                  <c:v>5.03</c:v>
                </c:pt>
                <c:pt idx="15">
                  <c:v>5.4</c:v>
                </c:pt>
                <c:pt idx="16">
                  <c:v>5.18</c:v>
                </c:pt>
                <c:pt idx="17">
                  <c:v>4.47</c:v>
                </c:pt>
                <c:pt idx="18">
                  <c:v>4.13</c:v>
                </c:pt>
                <c:pt idx="19">
                  <c:v>4.58</c:v>
                </c:pt>
                <c:pt idx="20">
                  <c:v>4.4400000000000004</c:v>
                </c:pt>
              </c:numCache>
            </c:numRef>
          </c:val>
          <c:smooth val="0"/>
          <c:extLst>
            <c:ext xmlns:c16="http://schemas.microsoft.com/office/drawing/2014/chart" uri="{C3380CC4-5D6E-409C-BE32-E72D297353CC}">
              <c16:uniqueId val="{00000001-9F45-F446-A37A-327096235557}"/>
            </c:ext>
          </c:extLst>
        </c:ser>
        <c:ser>
          <c:idx val="2"/>
          <c:order val="2"/>
          <c:tx>
            <c:strRef>
              <c:f>Emerging!$D$17</c:f>
              <c:strCache>
                <c:ptCount val="1"/>
                <c:pt idx="0">
                  <c:v>Mexico CPI (%)</c:v>
                </c:pt>
              </c:strCache>
            </c:strRef>
          </c:tx>
          <c:spPr>
            <a:ln w="22225" cap="rnd">
              <a:solidFill>
                <a:srgbClr val="7F95AB"/>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Emerging!$D$18:$D$38</c:f>
              <c:numCache>
                <c:formatCode>General</c:formatCode>
                <c:ptCount val="21"/>
                <c:pt idx="0">
                  <c:v>5.8</c:v>
                </c:pt>
                <c:pt idx="1">
                  <c:v>6.99</c:v>
                </c:pt>
                <c:pt idx="2">
                  <c:v>7.27</c:v>
                </c:pt>
                <c:pt idx="3">
                  <c:v>7.77</c:v>
                </c:pt>
                <c:pt idx="4">
                  <c:v>8.52</c:v>
                </c:pt>
                <c:pt idx="5">
                  <c:v>8.01</c:v>
                </c:pt>
                <c:pt idx="6">
                  <c:v>7.46</c:v>
                </c:pt>
                <c:pt idx="7">
                  <c:v>5.72</c:v>
                </c:pt>
                <c:pt idx="8">
                  <c:v>4.63</c:v>
                </c:pt>
                <c:pt idx="9">
                  <c:v>4.41</c:v>
                </c:pt>
                <c:pt idx="10">
                  <c:v>4.57</c:v>
                </c:pt>
                <c:pt idx="11">
                  <c:v>4.7699999999999996</c:v>
                </c:pt>
                <c:pt idx="12">
                  <c:v>5.05</c:v>
                </c:pt>
                <c:pt idx="13">
                  <c:v>4.51</c:v>
                </c:pt>
                <c:pt idx="14">
                  <c:v>3.72</c:v>
                </c:pt>
                <c:pt idx="15">
                  <c:v>4.22</c:v>
                </c:pt>
                <c:pt idx="16">
                  <c:v>3.61</c:v>
                </c:pt>
                <c:pt idx="17">
                  <c:v>3.69</c:v>
                </c:pt>
                <c:pt idx="18">
                  <c:v>4.13</c:v>
                </c:pt>
                <c:pt idx="19">
                  <c:v>3.92</c:v>
                </c:pt>
                <c:pt idx="20">
                  <c:v>3.12</c:v>
                </c:pt>
              </c:numCache>
            </c:numRef>
          </c:val>
          <c:smooth val="0"/>
          <c:extLst>
            <c:ext xmlns:c16="http://schemas.microsoft.com/office/drawing/2014/chart" uri="{C3380CC4-5D6E-409C-BE32-E72D297353CC}">
              <c16:uniqueId val="{00000002-9F45-F446-A37A-327096235557}"/>
            </c:ext>
          </c:extLst>
        </c:ser>
        <c:ser>
          <c:idx val="3"/>
          <c:order val="3"/>
          <c:tx>
            <c:strRef>
              <c:f>Emerging!$E$17</c:f>
              <c:strCache>
                <c:ptCount val="1"/>
                <c:pt idx="0">
                  <c:v>South Africa CPI (%)</c:v>
                </c:pt>
              </c:strCache>
            </c:strRef>
          </c:tx>
          <c:spPr>
            <a:ln w="22225" cap="rnd">
              <a:solidFill>
                <a:srgbClr val="3A8D8C"/>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Emerging!$E$18:$E$38</c:f>
              <c:numCache>
                <c:formatCode>General</c:formatCode>
                <c:ptCount val="21"/>
                <c:pt idx="0">
                  <c:v>4.8</c:v>
                </c:pt>
                <c:pt idx="1">
                  <c:v>5.43</c:v>
                </c:pt>
                <c:pt idx="2">
                  <c:v>5.7</c:v>
                </c:pt>
                <c:pt idx="3">
                  <c:v>6.63</c:v>
                </c:pt>
                <c:pt idx="4">
                  <c:v>7.67</c:v>
                </c:pt>
                <c:pt idx="5">
                  <c:v>7.4</c:v>
                </c:pt>
                <c:pt idx="6">
                  <c:v>6.97</c:v>
                </c:pt>
                <c:pt idx="7">
                  <c:v>6.13</c:v>
                </c:pt>
                <c:pt idx="8">
                  <c:v>4.97</c:v>
                </c:pt>
                <c:pt idx="9">
                  <c:v>5.57</c:v>
                </c:pt>
                <c:pt idx="10">
                  <c:v>5.43</c:v>
                </c:pt>
                <c:pt idx="11">
                  <c:v>5.17</c:v>
                </c:pt>
                <c:pt idx="12">
                  <c:v>4.2699999999999996</c:v>
                </c:pt>
                <c:pt idx="13">
                  <c:v>2.9</c:v>
                </c:pt>
                <c:pt idx="14">
                  <c:v>3.03</c:v>
                </c:pt>
                <c:pt idx="15">
                  <c:v>2.87</c:v>
                </c:pt>
                <c:pt idx="16">
                  <c:v>3.4</c:v>
                </c:pt>
                <c:pt idx="17">
                  <c:v>3.57</c:v>
                </c:pt>
                <c:pt idx="18">
                  <c:v>3.2</c:v>
                </c:pt>
                <c:pt idx="19">
                  <c:v>4.5</c:v>
                </c:pt>
                <c:pt idx="20">
                  <c:v>4.3</c:v>
                </c:pt>
              </c:numCache>
            </c:numRef>
          </c:val>
          <c:smooth val="0"/>
          <c:extLst>
            <c:ext xmlns:c16="http://schemas.microsoft.com/office/drawing/2014/chart" uri="{C3380CC4-5D6E-409C-BE32-E72D297353CC}">
              <c16:uniqueId val="{00000003-9F45-F446-A37A-327096235557}"/>
            </c:ext>
          </c:extLst>
        </c:ser>
        <c:ser>
          <c:idx val="4"/>
          <c:order val="4"/>
          <c:tx>
            <c:strRef>
              <c:f>Emerging!$F$17</c:f>
              <c:strCache>
                <c:ptCount val="1"/>
                <c:pt idx="0">
                  <c:v>Indonesia CPI (%)</c:v>
                </c:pt>
              </c:strCache>
            </c:strRef>
          </c:tx>
          <c:spPr>
            <a:ln w="22225" cap="rnd">
              <a:solidFill>
                <a:srgbClr val="2F6690"/>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Emerging!$F$18:$F$38</c:f>
              <c:numCache>
                <c:formatCode>General</c:formatCode>
                <c:ptCount val="21"/>
                <c:pt idx="0">
                  <c:v>1.57</c:v>
                </c:pt>
                <c:pt idx="1">
                  <c:v>1.76</c:v>
                </c:pt>
                <c:pt idx="2">
                  <c:v>2.23</c:v>
                </c:pt>
                <c:pt idx="3">
                  <c:v>3.7</c:v>
                </c:pt>
                <c:pt idx="4">
                  <c:v>5.13</c:v>
                </c:pt>
                <c:pt idx="5">
                  <c:v>5.48</c:v>
                </c:pt>
                <c:pt idx="6">
                  <c:v>5.16</c:v>
                </c:pt>
                <c:pt idx="7">
                  <c:v>3.99</c:v>
                </c:pt>
                <c:pt idx="8">
                  <c:v>2.95</c:v>
                </c:pt>
                <c:pt idx="9">
                  <c:v>2.81</c:v>
                </c:pt>
                <c:pt idx="10">
                  <c:v>2.79</c:v>
                </c:pt>
                <c:pt idx="11">
                  <c:v>2.78</c:v>
                </c:pt>
                <c:pt idx="12">
                  <c:v>2.0299999999999998</c:v>
                </c:pt>
                <c:pt idx="13">
                  <c:v>1.61</c:v>
                </c:pt>
                <c:pt idx="14">
                  <c:v>0.56999999999999995</c:v>
                </c:pt>
                <c:pt idx="15">
                  <c:v>1.81</c:v>
                </c:pt>
                <c:pt idx="16">
                  <c:v>2.44</c:v>
                </c:pt>
                <c:pt idx="17">
                  <c:v>2.83</c:v>
                </c:pt>
                <c:pt idx="18">
                  <c:v>3.93</c:v>
                </c:pt>
                <c:pt idx="19">
                  <c:v>2.95</c:v>
                </c:pt>
                <c:pt idx="20">
                  <c:v>3.04</c:v>
                </c:pt>
              </c:numCache>
            </c:numRef>
          </c:val>
          <c:smooth val="0"/>
          <c:extLst>
            <c:ext xmlns:c16="http://schemas.microsoft.com/office/drawing/2014/chart" uri="{C3380CC4-5D6E-409C-BE32-E72D297353CC}">
              <c16:uniqueId val="{00000004-9F45-F446-A37A-327096235557}"/>
            </c:ext>
          </c:extLst>
        </c:ser>
        <c:dLbls>
          <c:showLegendKey val="0"/>
          <c:showVal val="0"/>
          <c:showCatName val="0"/>
          <c:showSerName val="0"/>
          <c:showPercent val="0"/>
          <c:showBubbleSize val="0"/>
        </c:dLbls>
        <c:smooth val="0"/>
        <c:axId val="2099604416"/>
        <c:axId val="1121867008"/>
      </c:lineChart>
      <c:dateAx>
        <c:axId val="209960441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67008"/>
        <c:crosses val="autoZero"/>
        <c:auto val="1"/>
        <c:lblOffset val="100"/>
        <c:baseTimeUnit val="months"/>
        <c:majorUnit val="12"/>
        <c:majorTimeUnit val="months"/>
      </c:dateAx>
      <c:valAx>
        <c:axId val="112186700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604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Emerging-Market Equities Claw Back From a 2022 Bear Market to Record Highs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Emerging!$B$42</c:f>
              <c:strCache>
                <c:ptCount val="1"/>
                <c:pt idx="0">
                  <c:v>MSCI EM Index</c:v>
                </c:pt>
              </c:strCache>
            </c:strRef>
          </c:tx>
          <c:spPr>
            <a:ln w="22225" cap="rnd">
              <a:solidFill>
                <a:srgbClr val="0B2C48"/>
              </a:solidFill>
              <a:round/>
            </a:ln>
            <a:effectLst/>
          </c:spPr>
          <c:marker>
            <c:symbol val="none"/>
          </c:marker>
          <c:cat>
            <c:numRef>
              <c:f>Emerging!$A$43:$A$103</c:f>
              <c:numCache>
                <c:formatCode>m/d/yy</c:formatCode>
                <c:ptCount val="61"/>
                <c:pt idx="0">
                  <c:v>44440</c:v>
                </c:pt>
                <c:pt idx="1">
                  <c:v>44470</c:v>
                </c:pt>
                <c:pt idx="2">
                  <c:v>44501</c:v>
                </c:pt>
                <c:pt idx="3">
                  <c:v>44531</c:v>
                </c:pt>
                <c:pt idx="4">
                  <c:v>44562</c:v>
                </c:pt>
                <c:pt idx="5">
                  <c:v>44593</c:v>
                </c:pt>
                <c:pt idx="6">
                  <c:v>44621</c:v>
                </c:pt>
                <c:pt idx="7">
                  <c:v>44652</c:v>
                </c:pt>
                <c:pt idx="8">
                  <c:v>44682</c:v>
                </c:pt>
                <c:pt idx="9">
                  <c:v>44713</c:v>
                </c:pt>
                <c:pt idx="10">
                  <c:v>44743</c:v>
                </c:pt>
                <c:pt idx="11">
                  <c:v>44774</c:v>
                </c:pt>
                <c:pt idx="12">
                  <c:v>44805</c:v>
                </c:pt>
                <c:pt idx="13">
                  <c:v>44835</c:v>
                </c:pt>
                <c:pt idx="14">
                  <c:v>44866</c:v>
                </c:pt>
                <c:pt idx="15">
                  <c:v>44896</c:v>
                </c:pt>
                <c:pt idx="16">
                  <c:v>44927</c:v>
                </c:pt>
                <c:pt idx="17">
                  <c:v>44958</c:v>
                </c:pt>
                <c:pt idx="18">
                  <c:v>44986</c:v>
                </c:pt>
                <c:pt idx="19">
                  <c:v>45017</c:v>
                </c:pt>
                <c:pt idx="20">
                  <c:v>45047</c:v>
                </c:pt>
                <c:pt idx="21">
                  <c:v>45078</c:v>
                </c:pt>
                <c:pt idx="22">
                  <c:v>45108</c:v>
                </c:pt>
                <c:pt idx="23">
                  <c:v>45139</c:v>
                </c:pt>
                <c:pt idx="24">
                  <c:v>45170</c:v>
                </c:pt>
                <c:pt idx="25">
                  <c:v>45200</c:v>
                </c:pt>
                <c:pt idx="26">
                  <c:v>45231</c:v>
                </c:pt>
                <c:pt idx="27">
                  <c:v>45261</c:v>
                </c:pt>
                <c:pt idx="28">
                  <c:v>45292</c:v>
                </c:pt>
                <c:pt idx="29">
                  <c:v>45323</c:v>
                </c:pt>
                <c:pt idx="30">
                  <c:v>45352</c:v>
                </c:pt>
                <c:pt idx="31">
                  <c:v>45383</c:v>
                </c:pt>
                <c:pt idx="32">
                  <c:v>45413</c:v>
                </c:pt>
                <c:pt idx="33">
                  <c:v>45444</c:v>
                </c:pt>
                <c:pt idx="34">
                  <c:v>45474</c:v>
                </c:pt>
                <c:pt idx="35">
                  <c:v>45505</c:v>
                </c:pt>
                <c:pt idx="36">
                  <c:v>45536</c:v>
                </c:pt>
                <c:pt idx="37">
                  <c:v>45566</c:v>
                </c:pt>
                <c:pt idx="38">
                  <c:v>45597</c:v>
                </c:pt>
                <c:pt idx="39">
                  <c:v>45627</c:v>
                </c:pt>
                <c:pt idx="40">
                  <c:v>45658</c:v>
                </c:pt>
                <c:pt idx="41">
                  <c:v>45689</c:v>
                </c:pt>
                <c:pt idx="42">
                  <c:v>45717</c:v>
                </c:pt>
                <c:pt idx="43">
                  <c:v>45748</c:v>
                </c:pt>
                <c:pt idx="44">
                  <c:v>45778</c:v>
                </c:pt>
                <c:pt idx="45">
                  <c:v>45809</c:v>
                </c:pt>
                <c:pt idx="46">
                  <c:v>45839</c:v>
                </c:pt>
                <c:pt idx="47">
                  <c:v>45870</c:v>
                </c:pt>
                <c:pt idx="48">
                  <c:v>45901</c:v>
                </c:pt>
                <c:pt idx="49">
                  <c:v>45931</c:v>
                </c:pt>
                <c:pt idx="50">
                  <c:v>45962</c:v>
                </c:pt>
                <c:pt idx="51">
                  <c:v>45992</c:v>
                </c:pt>
                <c:pt idx="52">
                  <c:v>46023</c:v>
                </c:pt>
                <c:pt idx="53">
                  <c:v>46054</c:v>
                </c:pt>
                <c:pt idx="54">
                  <c:v>46082</c:v>
                </c:pt>
                <c:pt idx="55">
                  <c:v>46113</c:v>
                </c:pt>
                <c:pt idx="56">
                  <c:v>46143</c:v>
                </c:pt>
                <c:pt idx="57">
                  <c:v>46174</c:v>
                </c:pt>
                <c:pt idx="58">
                  <c:v>46204</c:v>
                </c:pt>
                <c:pt idx="59">
                  <c:v>46235</c:v>
                </c:pt>
                <c:pt idx="60">
                  <c:v>46266</c:v>
                </c:pt>
              </c:numCache>
            </c:numRef>
          </c:cat>
          <c:val>
            <c:numRef>
              <c:f>Emerging!$B$43:$B$103</c:f>
              <c:numCache>
                <c:formatCode>General</c:formatCode>
                <c:ptCount val="61"/>
                <c:pt idx="0">
                  <c:v>1253.0999999999999</c:v>
                </c:pt>
                <c:pt idx="1">
                  <c:v>1264.75</c:v>
                </c:pt>
                <c:pt idx="2">
                  <c:v>1212.42</c:v>
                </c:pt>
                <c:pt idx="3">
                  <c:v>1232.01</c:v>
                </c:pt>
                <c:pt idx="4">
                  <c:v>1208.23</c:v>
                </c:pt>
                <c:pt idx="5">
                  <c:v>1171.31</c:v>
                </c:pt>
                <c:pt idx="6">
                  <c:v>1141.79</c:v>
                </c:pt>
                <c:pt idx="7">
                  <c:v>1076.19</c:v>
                </c:pt>
                <c:pt idx="8">
                  <c:v>1077.67</c:v>
                </c:pt>
                <c:pt idx="9">
                  <c:v>1000.67</c:v>
                </c:pt>
                <c:pt idx="10">
                  <c:v>993.78</c:v>
                </c:pt>
                <c:pt idx="11">
                  <c:v>994.11</c:v>
                </c:pt>
                <c:pt idx="12">
                  <c:v>875.79</c:v>
                </c:pt>
                <c:pt idx="13">
                  <c:v>848.16</c:v>
                </c:pt>
                <c:pt idx="14">
                  <c:v>972.29</c:v>
                </c:pt>
                <c:pt idx="15">
                  <c:v>956.38</c:v>
                </c:pt>
                <c:pt idx="16">
                  <c:v>1031.5</c:v>
                </c:pt>
                <c:pt idx="17">
                  <c:v>964.01</c:v>
                </c:pt>
                <c:pt idx="18">
                  <c:v>990.28</c:v>
                </c:pt>
                <c:pt idx="19">
                  <c:v>977.05</c:v>
                </c:pt>
                <c:pt idx="20">
                  <c:v>958.53</c:v>
                </c:pt>
                <c:pt idx="21">
                  <c:v>989.48</c:v>
                </c:pt>
                <c:pt idx="22">
                  <c:v>1046.9100000000001</c:v>
                </c:pt>
                <c:pt idx="23">
                  <c:v>980.33</c:v>
                </c:pt>
                <c:pt idx="24">
                  <c:v>952.78</c:v>
                </c:pt>
                <c:pt idx="25">
                  <c:v>915.2</c:v>
                </c:pt>
                <c:pt idx="26">
                  <c:v>987.1</c:v>
                </c:pt>
                <c:pt idx="27">
                  <c:v>1023.74</c:v>
                </c:pt>
                <c:pt idx="28">
                  <c:v>975.8</c:v>
                </c:pt>
                <c:pt idx="29">
                  <c:v>1020.94</c:v>
                </c:pt>
                <c:pt idx="30">
                  <c:v>1043.2</c:v>
                </c:pt>
                <c:pt idx="31">
                  <c:v>1045.95</c:v>
                </c:pt>
                <c:pt idx="32">
                  <c:v>1048.96</c:v>
                </c:pt>
                <c:pt idx="33">
                  <c:v>1086.25</c:v>
                </c:pt>
                <c:pt idx="34">
                  <c:v>1084.77</c:v>
                </c:pt>
                <c:pt idx="35">
                  <c:v>1099.92</c:v>
                </c:pt>
                <c:pt idx="36">
                  <c:v>1170.8499999999999</c:v>
                </c:pt>
                <c:pt idx="37">
                  <c:v>1119.52</c:v>
                </c:pt>
                <c:pt idx="38">
                  <c:v>1078.57</c:v>
                </c:pt>
                <c:pt idx="39">
                  <c:v>1075.48</c:v>
                </c:pt>
                <c:pt idx="40">
                  <c:v>1093.3699999999999</c:v>
                </c:pt>
                <c:pt idx="41">
                  <c:v>1097.25</c:v>
                </c:pt>
                <c:pt idx="42">
                  <c:v>1101.4000000000001</c:v>
                </c:pt>
                <c:pt idx="43">
                  <c:v>1112.8399999999999</c:v>
                </c:pt>
                <c:pt idx="44">
                  <c:v>1157.3399999999999</c:v>
                </c:pt>
                <c:pt idx="45">
                  <c:v>1222.78</c:v>
                </c:pt>
                <c:pt idx="46">
                  <c:v>1243.23</c:v>
                </c:pt>
                <c:pt idx="47">
                  <c:v>1258.44</c:v>
                </c:pt>
                <c:pt idx="48">
                  <c:v>1346.05</c:v>
                </c:pt>
                <c:pt idx="49">
                  <c:v>1401.55</c:v>
                </c:pt>
                <c:pt idx="50">
                  <c:v>1366.92</c:v>
                </c:pt>
                <c:pt idx="51">
                  <c:v>1404.37</c:v>
                </c:pt>
                <c:pt idx="52">
                  <c:v>1528.09</c:v>
                </c:pt>
                <c:pt idx="53">
                  <c:v>1610.7</c:v>
                </c:pt>
                <c:pt idx="54">
                  <c:v>1397.2</c:v>
                </c:pt>
                <c:pt idx="55">
                  <c:v>1600.21</c:v>
                </c:pt>
                <c:pt idx="56">
                  <c:v>1752.15</c:v>
                </c:pt>
                <c:pt idx="57">
                  <c:v>1722.89</c:v>
                </c:pt>
                <c:pt idx="58">
                  <c:v>1665.89</c:v>
                </c:pt>
                <c:pt idx="59">
                  <c:v>1719.31</c:v>
                </c:pt>
                <c:pt idx="60">
                  <c:v>1726.32</c:v>
                </c:pt>
              </c:numCache>
            </c:numRef>
          </c:val>
          <c:smooth val="0"/>
          <c:extLst>
            <c:ext xmlns:c16="http://schemas.microsoft.com/office/drawing/2014/chart" uri="{C3380CC4-5D6E-409C-BE32-E72D297353CC}">
              <c16:uniqueId val="{00000000-F305-044D-B001-1BCF7181A5BA}"/>
            </c:ext>
          </c:extLst>
        </c:ser>
        <c:dLbls>
          <c:showLegendKey val="0"/>
          <c:showVal val="0"/>
          <c:showCatName val="0"/>
          <c:showSerName val="0"/>
          <c:showPercent val="0"/>
          <c:showBubbleSize val="0"/>
        </c:dLbls>
        <c:smooth val="0"/>
        <c:axId val="186494783"/>
        <c:axId val="1121922880"/>
      </c:lineChart>
      <c:dateAx>
        <c:axId val="186494783"/>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922880"/>
        <c:crosses val="autoZero"/>
        <c:auto val="1"/>
        <c:lblOffset val="100"/>
        <c:baseTimeUnit val="months"/>
        <c:majorUnit val="12"/>
        <c:majorTimeUnit val="months"/>
      </c:dateAx>
      <c:valAx>
        <c:axId val="1121922880"/>
        <c:scaling>
          <c:orientation val="minMax"/>
          <c:min val="800.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4947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The Dollar's Grip on Emerging Markets Has Eased but Not Let Go</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Emerging!$S$3</c:f>
              <c:strCache>
                <c:ptCount val="1"/>
                <c:pt idx="0">
                  <c:v>TWEXEMEGSMTH</c:v>
                </c:pt>
              </c:strCache>
            </c:strRef>
          </c:tx>
          <c:spPr>
            <a:ln w="22225" cap="rnd">
              <a:solidFill>
                <a:srgbClr val="0B2C48"/>
              </a:solidFill>
              <a:round/>
            </a:ln>
            <a:effectLst/>
          </c:spPr>
          <c:marker>
            <c:symbol val="none"/>
          </c:marker>
          <c:cat>
            <c:numRef>
              <c:f>Emerging!$R$4:$R$64</c:f>
              <c:numCache>
                <c:formatCode>m/d/yy</c:formatCode>
                <c:ptCount val="61"/>
                <c:pt idx="0">
                  <c:v>44409</c:v>
                </c:pt>
                <c:pt idx="1">
                  <c:v>44440</c:v>
                </c:pt>
                <c:pt idx="2">
                  <c:v>44470</c:v>
                </c:pt>
                <c:pt idx="3">
                  <c:v>44501</c:v>
                </c:pt>
                <c:pt idx="4">
                  <c:v>44531</c:v>
                </c:pt>
                <c:pt idx="5">
                  <c:v>44562</c:v>
                </c:pt>
                <c:pt idx="6">
                  <c:v>44593</c:v>
                </c:pt>
                <c:pt idx="7">
                  <c:v>44621</c:v>
                </c:pt>
                <c:pt idx="8">
                  <c:v>44652</c:v>
                </c:pt>
                <c:pt idx="9">
                  <c:v>44682</c:v>
                </c:pt>
                <c:pt idx="10">
                  <c:v>44713</c:v>
                </c:pt>
                <c:pt idx="11">
                  <c:v>44743</c:v>
                </c:pt>
                <c:pt idx="12">
                  <c:v>44774</c:v>
                </c:pt>
                <c:pt idx="13">
                  <c:v>44805</c:v>
                </c:pt>
                <c:pt idx="14">
                  <c:v>44835</c:v>
                </c:pt>
                <c:pt idx="15">
                  <c:v>44866</c:v>
                </c:pt>
                <c:pt idx="16">
                  <c:v>44896</c:v>
                </c:pt>
                <c:pt idx="17">
                  <c:v>44927</c:v>
                </c:pt>
                <c:pt idx="18">
                  <c:v>44958</c:v>
                </c:pt>
                <c:pt idx="19">
                  <c:v>44986</c:v>
                </c:pt>
                <c:pt idx="20">
                  <c:v>45017</c:v>
                </c:pt>
                <c:pt idx="21">
                  <c:v>45047</c:v>
                </c:pt>
                <c:pt idx="22">
                  <c:v>45078</c:v>
                </c:pt>
                <c:pt idx="23">
                  <c:v>45108</c:v>
                </c:pt>
                <c:pt idx="24">
                  <c:v>45139</c:v>
                </c:pt>
                <c:pt idx="25">
                  <c:v>45170</c:v>
                </c:pt>
                <c:pt idx="26">
                  <c:v>45200</c:v>
                </c:pt>
                <c:pt idx="27">
                  <c:v>45231</c:v>
                </c:pt>
                <c:pt idx="28">
                  <c:v>45261</c:v>
                </c:pt>
                <c:pt idx="29">
                  <c:v>45292</c:v>
                </c:pt>
                <c:pt idx="30">
                  <c:v>45323</c:v>
                </c:pt>
                <c:pt idx="31">
                  <c:v>45352</c:v>
                </c:pt>
                <c:pt idx="32">
                  <c:v>45383</c:v>
                </c:pt>
                <c:pt idx="33">
                  <c:v>45413</c:v>
                </c:pt>
                <c:pt idx="34">
                  <c:v>45444</c:v>
                </c:pt>
                <c:pt idx="35">
                  <c:v>45474</c:v>
                </c:pt>
                <c:pt idx="36">
                  <c:v>45505</c:v>
                </c:pt>
                <c:pt idx="37">
                  <c:v>45536</c:v>
                </c:pt>
                <c:pt idx="38">
                  <c:v>45566</c:v>
                </c:pt>
                <c:pt idx="39">
                  <c:v>45597</c:v>
                </c:pt>
                <c:pt idx="40">
                  <c:v>45627</c:v>
                </c:pt>
                <c:pt idx="41">
                  <c:v>45658</c:v>
                </c:pt>
                <c:pt idx="42">
                  <c:v>45689</c:v>
                </c:pt>
                <c:pt idx="43">
                  <c:v>45717</c:v>
                </c:pt>
                <c:pt idx="44">
                  <c:v>45748</c:v>
                </c:pt>
                <c:pt idx="45">
                  <c:v>45778</c:v>
                </c:pt>
                <c:pt idx="46">
                  <c:v>45809</c:v>
                </c:pt>
                <c:pt idx="47">
                  <c:v>45839</c:v>
                </c:pt>
                <c:pt idx="48">
                  <c:v>45870</c:v>
                </c:pt>
                <c:pt idx="49">
                  <c:v>45901</c:v>
                </c:pt>
                <c:pt idx="50">
                  <c:v>45931</c:v>
                </c:pt>
                <c:pt idx="51">
                  <c:v>45962</c:v>
                </c:pt>
                <c:pt idx="52">
                  <c:v>45992</c:v>
                </c:pt>
                <c:pt idx="53">
                  <c:v>46023</c:v>
                </c:pt>
                <c:pt idx="54">
                  <c:v>46054</c:v>
                </c:pt>
                <c:pt idx="55">
                  <c:v>46082</c:v>
                </c:pt>
                <c:pt idx="56">
                  <c:v>46113</c:v>
                </c:pt>
                <c:pt idx="57">
                  <c:v>46143</c:v>
                </c:pt>
                <c:pt idx="58">
                  <c:v>46174</c:v>
                </c:pt>
                <c:pt idx="59">
                  <c:v>46204</c:v>
                </c:pt>
                <c:pt idx="60">
                  <c:v>46235</c:v>
                </c:pt>
              </c:numCache>
            </c:numRef>
          </c:cat>
          <c:val>
            <c:numRef>
              <c:f>Emerging!$S$4:$S$64</c:f>
              <c:numCache>
                <c:formatCode>General</c:formatCode>
                <c:ptCount val="61"/>
                <c:pt idx="0">
                  <c:v>123.7116</c:v>
                </c:pt>
                <c:pt idx="1">
                  <c:v>123.464</c:v>
                </c:pt>
                <c:pt idx="2">
                  <c:v>124.3734</c:v>
                </c:pt>
                <c:pt idx="3">
                  <c:v>124.8764</c:v>
                </c:pt>
                <c:pt idx="4">
                  <c:v>125.298</c:v>
                </c:pt>
                <c:pt idx="5">
                  <c:v>124.33159999999999</c:v>
                </c:pt>
                <c:pt idx="6">
                  <c:v>124.04179999999999</c:v>
                </c:pt>
                <c:pt idx="7">
                  <c:v>124.76179999999999</c:v>
                </c:pt>
                <c:pt idx="8">
                  <c:v>124.54430000000001</c:v>
                </c:pt>
                <c:pt idx="9">
                  <c:v>126.89919999999999</c:v>
                </c:pt>
                <c:pt idx="10">
                  <c:v>127.1571</c:v>
                </c:pt>
                <c:pt idx="11">
                  <c:v>129.77250000000001</c:v>
                </c:pt>
                <c:pt idx="12">
                  <c:v>129.023</c:v>
                </c:pt>
                <c:pt idx="13">
                  <c:v>131.64510000000001</c:v>
                </c:pt>
                <c:pt idx="14">
                  <c:v>133.66200000000001</c:v>
                </c:pt>
                <c:pt idx="15">
                  <c:v>131.8784</c:v>
                </c:pt>
                <c:pt idx="16">
                  <c:v>129.74340000000001</c:v>
                </c:pt>
                <c:pt idx="17">
                  <c:v>126.64449999999999</c:v>
                </c:pt>
                <c:pt idx="18">
                  <c:v>126.758</c:v>
                </c:pt>
                <c:pt idx="19">
                  <c:v>127.01479999999999</c:v>
                </c:pt>
                <c:pt idx="20">
                  <c:v>126.1816</c:v>
                </c:pt>
                <c:pt idx="21">
                  <c:v>126.0915</c:v>
                </c:pt>
                <c:pt idx="22">
                  <c:v>125.5637</c:v>
                </c:pt>
                <c:pt idx="23">
                  <c:v>124.8058</c:v>
                </c:pt>
                <c:pt idx="24">
                  <c:v>126.3969</c:v>
                </c:pt>
                <c:pt idx="25">
                  <c:v>127.98090000000001</c:v>
                </c:pt>
                <c:pt idx="26">
                  <c:v>130.4229</c:v>
                </c:pt>
                <c:pt idx="27">
                  <c:v>127.44889999999999</c:v>
                </c:pt>
                <c:pt idx="28">
                  <c:v>126.84480000000001</c:v>
                </c:pt>
                <c:pt idx="29">
                  <c:v>127.46720000000001</c:v>
                </c:pt>
                <c:pt idx="30">
                  <c:v>127.92100000000001</c:v>
                </c:pt>
                <c:pt idx="31">
                  <c:v>127.3586</c:v>
                </c:pt>
                <c:pt idx="32">
                  <c:v>128.5728</c:v>
                </c:pt>
                <c:pt idx="33">
                  <c:v>128.46729999999999</c:v>
                </c:pt>
                <c:pt idx="34">
                  <c:v>132.10079999999999</c:v>
                </c:pt>
                <c:pt idx="35">
                  <c:v>132.02010000000001</c:v>
                </c:pt>
                <c:pt idx="36">
                  <c:v>132.80799999999999</c:v>
                </c:pt>
                <c:pt idx="37">
                  <c:v>132.72049999999999</c:v>
                </c:pt>
                <c:pt idx="38">
                  <c:v>133.77090000000001</c:v>
                </c:pt>
                <c:pt idx="39">
                  <c:v>136.5813</c:v>
                </c:pt>
                <c:pt idx="40">
                  <c:v>137.4717</c:v>
                </c:pt>
                <c:pt idx="41">
                  <c:v>138.34379999999999</c:v>
                </c:pt>
                <c:pt idx="42">
                  <c:v>137.6507</c:v>
                </c:pt>
                <c:pt idx="43">
                  <c:v>137.10560000000001</c:v>
                </c:pt>
                <c:pt idx="44">
                  <c:v>136.86080000000001</c:v>
                </c:pt>
                <c:pt idx="45">
                  <c:v>133.77539999999999</c:v>
                </c:pt>
                <c:pt idx="46">
                  <c:v>132.2201</c:v>
                </c:pt>
                <c:pt idx="47">
                  <c:v>131.5744</c:v>
                </c:pt>
                <c:pt idx="48">
                  <c:v>132.0667</c:v>
                </c:pt>
                <c:pt idx="49">
                  <c:v>131.42500000000001</c:v>
                </c:pt>
                <c:pt idx="50">
                  <c:v>131.66679999999999</c:v>
                </c:pt>
                <c:pt idx="51">
                  <c:v>131.8663</c:v>
                </c:pt>
                <c:pt idx="52">
                  <c:v>130.93170000000001</c:v>
                </c:pt>
                <c:pt idx="53">
                  <c:v>129.36189999999999</c:v>
                </c:pt>
                <c:pt idx="54">
                  <c:v>127.6815</c:v>
                </c:pt>
                <c:pt idx="55">
                  <c:v>129.83179999999999</c:v>
                </c:pt>
                <c:pt idx="56">
                  <c:v>128.63560000000001</c:v>
                </c:pt>
                <c:pt idx="57">
                  <c:v>128.31039999999999</c:v>
                </c:pt>
                <c:pt idx="58">
                  <c:v>128.93530000000001</c:v>
                </c:pt>
                <c:pt idx="59">
                  <c:v>129.1848</c:v>
                </c:pt>
                <c:pt idx="60">
                  <c:v>127.31959999999999</c:v>
                </c:pt>
              </c:numCache>
            </c:numRef>
          </c:val>
          <c:smooth val="0"/>
          <c:extLst>
            <c:ext xmlns:c16="http://schemas.microsoft.com/office/drawing/2014/chart" uri="{C3380CC4-5D6E-409C-BE32-E72D297353CC}">
              <c16:uniqueId val="{00000000-EC73-9042-A186-92BCCC94C42C}"/>
            </c:ext>
          </c:extLst>
        </c:ser>
        <c:dLbls>
          <c:showLegendKey val="0"/>
          <c:showVal val="0"/>
          <c:showCatName val="0"/>
          <c:showSerName val="0"/>
          <c:showPercent val="0"/>
          <c:showBubbleSize val="0"/>
        </c:dLbls>
        <c:smooth val="0"/>
        <c:axId val="2099735040"/>
        <c:axId val="1122035776"/>
      </c:lineChart>
      <c:dateAx>
        <c:axId val="209973504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2035776"/>
        <c:crosses val="autoZero"/>
        <c:auto val="1"/>
        <c:lblOffset val="100"/>
        <c:baseTimeUnit val="months"/>
        <c:majorUnit val="12"/>
        <c:majorTimeUnit val="months"/>
      </c:dateAx>
      <c:valAx>
        <c:axId val="112203577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73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3"/>
          <c:y val="0.04"/>
          <c:w val="0.4"/>
          <c:h val="0.92"/>
        </c:manualLayout>
      </c:layout>
      <c:doughnutChart>
        <c:varyColors/>
        <c:ser>
          <c:idx val="0"/>
          <c:order val="0"/>
          <c:tx>
            <c:strRef>
              <c:f>Sheet1!$B$1</c:f>
              <c:strCache>
                <c:ptCount val="1"/>
                <c:pt idx="0">
                  <c:v>Weight</c:v>
                </c:pt>
              </c:strCache>
            </c:strRef>
          </c:tx>
          <c:dPt>
            <c:idx val="0"/>
            <c:spPr>
              <a:solidFill>
                <a:srgbClr val="0B2C48"/>
              </a:solidFill>
              <a:ln w="12700">
                <a:solidFill>
                  <a:srgbClr val="FFFFFF"/>
                </a:solidFill>
              </a:ln>
            </c:spPr>
          </c:dPt>
          <c:dPt>
            <c:idx val="1"/>
            <c:spPr>
              <a:solidFill>
                <a:srgbClr val="C9A03A"/>
              </a:solidFill>
              <a:ln w="12700">
                <a:solidFill>
                  <a:srgbClr val="FFFFFF"/>
                </a:solidFill>
              </a:ln>
            </c:spPr>
          </c:dPt>
          <c:dPt>
            <c:idx val="2"/>
            <c:spPr>
              <a:solidFill>
                <a:srgbClr val="2F6690"/>
              </a:solidFill>
              <a:ln w="12700">
                <a:solidFill>
                  <a:srgbClr val="FFFFFF"/>
                </a:solidFill>
              </a:ln>
            </c:spPr>
          </c:dPt>
          <c:dPt>
            <c:idx val="3"/>
            <c:spPr>
              <a:solidFill>
                <a:srgbClr val="3A8D8C"/>
              </a:solidFill>
              <a:ln w="12700">
                <a:solidFill>
                  <a:srgbClr val="FFFFFF"/>
                </a:solidFill>
              </a:ln>
            </c:spPr>
          </c:dPt>
          <c:dPt>
            <c:idx val="4"/>
            <c:spPr>
              <a:solidFill>
                <a:srgbClr val="E0B84F"/>
              </a:solidFill>
              <a:ln w="12700">
                <a:solidFill>
                  <a:srgbClr val="FFFFFF"/>
                </a:solidFill>
              </a:ln>
            </c:spPr>
          </c:dPt>
          <c:dPt>
            <c:idx val="5"/>
            <c:spPr>
              <a:solidFill>
                <a:srgbClr val="7F95AB"/>
              </a:solidFill>
              <a:ln w="12700">
                <a:solidFill>
                  <a:srgbClr val="FFFFFF"/>
                </a:solidFill>
              </a:ln>
            </c:spPr>
          </c:dPt>
          <c:dPt>
            <c:idx val="6"/>
            <c:spPr>
              <a:solidFill>
                <a:srgbClr val="5E7FA3"/>
              </a:solidFill>
              <a:ln w="12700">
                <a:solidFill>
                  <a:srgbClr val="FFFFFF"/>
                </a:solidFill>
              </a:ln>
            </c:spPr>
          </c:dPt>
          <c:dPt>
            <c:idx val="7"/>
            <c:spPr>
              <a:solidFill>
                <a:srgbClr val="9DB8D0"/>
              </a:solidFill>
              <a:ln w="12700">
                <a:solidFill>
                  <a:srgbClr val="FFFFFF"/>
                </a:solidFill>
              </a:ln>
            </c:spPr>
          </c:dPt>
          <c:dPt>
            <c:idx val="8"/>
            <c:spPr>
              <a:solidFill>
                <a:srgbClr val="E7D3A1"/>
              </a:solidFill>
              <a:ln w="12700">
                <a:solidFill>
                  <a:srgbClr val="FFFFFF"/>
                </a:solidFill>
              </a:ln>
            </c:spPr>
          </c:dPt>
          <c:dLbls>
            <c:dLbl>
              <c:idx val="1"/>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dLbl>
              <c:idx val="4"/>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dLbl>
              <c:idx val="5"/>
              <c:delete val="1"/>
            </c:dLbl>
            <c:dLbl>
              <c:idx val="6"/>
              <c:delete val="1"/>
            </c:dLbl>
            <c:dLbl>
              <c:idx val="7"/>
              <c:delete val="1"/>
            </c:dLbl>
            <c:dLbl>
              <c:idx val="8"/>
              <c:delete val="1"/>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Sheet1!$A$2:$A$10</c:f>
              <c:strCache>
                <c:ptCount val="9"/>
                <c:pt idx="0">
                  <c:v>SPY  US equities  29.0%</c:v>
                </c:pt>
                <c:pt idx="1">
                  <c:v>BILL  Australian cash  21.0%</c:v>
                </c:pt>
                <c:pt idx="2">
                  <c:v>ESGI  Global sustainable equities  19.0%</c:v>
                </c:pt>
                <c:pt idx="3">
                  <c:v>HJPN  Japan equities (hedged)  16.6%</c:v>
                </c:pt>
                <c:pt idx="4">
                  <c:v>GOLD  Physical gold  8.0%</c:v>
                </c:pt>
                <c:pt idx="5">
                  <c:v>VBLD  Global infrastructure  3.4%</c:v>
                </c:pt>
                <c:pt idx="6">
                  <c:v>VTS  US total market  1.0%</c:v>
                </c:pt>
                <c:pt idx="7">
                  <c:v>VETH  Australian sustainable equities  1.0%</c:v>
                </c:pt>
                <c:pt idx="8">
                  <c:v>VACF  Australian corporate bonds  1.0%</c:v>
                </c:pt>
              </c:strCache>
            </c:strRef>
          </c:cat>
          <c:val>
            <c:numRef>
              <c:f>Sheet1!$B$2:$B$10</c:f>
              <c:numCache>
                <c:formatCode>General</c:formatCode>
                <c:ptCount val="9"/>
                <c:pt idx="0">
                  <c:v>0.29</c:v>
                </c:pt>
                <c:pt idx="1">
                  <c:v>0.21</c:v>
                </c:pt>
                <c:pt idx="2">
                  <c:v>0.19</c:v>
                </c:pt>
                <c:pt idx="3">
                  <c:v>0.1661</c:v>
                </c:pt>
                <c:pt idx="4">
                  <c:v>0.08</c:v>
                </c:pt>
                <c:pt idx="5">
                  <c:v>0.0339</c:v>
                </c:pt>
                <c:pt idx="6">
                  <c:v>0.01</c:v>
                </c:pt>
                <c:pt idx="7">
                  <c:v>0.01</c:v>
                </c:pt>
                <c:pt idx="8">
                  <c:v>0.01</c:v>
                </c:pt>
              </c:numCache>
            </c:numRef>
          </c:val>
        </c:ser>
        <c:dLbls>
          <c:showLegendKey val="0"/>
          <c:showVal val="0"/>
          <c:showCatName val="0"/>
          <c:showSerName val="0"/>
          <c:showPercent val="0"/>
          <c:showBubbleSize val="0"/>
          <c:showLeaderLines val="1"/>
        </c:dLbls>
        <c:firstSliceAng val="0"/>
        <c:holeSize val="55"/>
      </c:doughnutChart>
    </c:plotArea>
    <c:legend>
      <c:legendPos val="r"/>
      <c:layout>
        <c:manualLayout>
          <c:xMode val="edge"/>
          <c:yMode val="edge"/>
          <c:x val="0.47"/>
          <c:y val="0.04"/>
          <c:w val="0.52"/>
          <c:h val="0.92"/>
        </c:manualLayout>
      </c:layout>
      <c:overlay val="0"/>
      <c:txPr>
        <a:bodyPr/>
        <a:lstStyle/>
        <a:p>
          <a:pPr>
            <a:defRPr sz="85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10-Year Yield Has Outrun the Cash Rate Since August 2025</a:t>
            </a:r>
          </a:p>
        </c:rich>
      </c:tx>
      <c:layout/>
      <c:overlay val="0"/>
    </c:title>
    <c:autoTitleDeleted val="0"/>
    <c:plotArea>
      <c:lineChart>
        <c:grouping val="standard"/>
        <c:varyColors val="0"/>
        <c:ser>
          <c:idx val="0"/>
          <c:order val="0"/>
          <c:tx>
            <c:strRef>
              <c:f>Sheet1!$B$1</c:f>
              <c:strCache>
                <c:ptCount val="1"/>
                <c:pt idx="0">
                  <c:v>10-year ACGB yield (%)</c:v>
                </c:pt>
              </c:strCache>
            </c:strRef>
          </c:tx>
          <c:spPr>
            <a:ln w="28575">
              <a:solidFill>
                <a:srgbClr val="0B2C48"/>
              </a:solidFill>
            </a:ln>
          </c:spPr>
          <c:marker>
            <c:symbol val="none"/>
          </c:marker>
          <c:cat>
            <c:numRef>
              <c:f>Sheet1!$A$2:$A$14</c:f>
              <c:numCache>
                <c:formatCode>yyyy\-mm\-dd</c:formatCode>
                <c:ptCount val="13"/>
                <c:pt idx="0">
                  <c:v>45870.0</c:v>
                </c:pt>
                <c:pt idx="1">
                  <c:v>45901.0</c:v>
                </c:pt>
                <c:pt idx="2">
                  <c:v>45931.0</c:v>
                </c:pt>
                <c:pt idx="3">
                  <c:v>45962.0</c:v>
                </c:pt>
                <c:pt idx="4">
                  <c:v>45992.0</c:v>
                </c:pt>
                <c:pt idx="5">
                  <c:v>46023.0</c:v>
                </c:pt>
                <c:pt idx="6">
                  <c:v>46054.0</c:v>
                </c:pt>
                <c:pt idx="7">
                  <c:v>46082.0</c:v>
                </c:pt>
                <c:pt idx="8">
                  <c:v>46113.0</c:v>
                </c:pt>
                <c:pt idx="9">
                  <c:v>46143.0</c:v>
                </c:pt>
                <c:pt idx="10">
                  <c:v>46174.0</c:v>
                </c:pt>
                <c:pt idx="11">
                  <c:v>46204.0</c:v>
                </c:pt>
                <c:pt idx="12">
                  <c:v>46235.0</c:v>
                </c:pt>
              </c:numCache>
            </c:numRef>
          </c:cat>
          <c:val>
            <c:numRef>
              <c:f>Sheet1!$B$2:$B$14</c:f>
              <c:numCache>
                <c:formatCode>General</c:formatCode>
                <c:ptCount val="13"/>
                <c:pt idx="0">
                  <c:v>4.371</c:v>
                </c:pt>
                <c:pt idx="1">
                  <c:v>4.427</c:v>
                </c:pt>
                <c:pt idx="2">
                  <c:v>4.366</c:v>
                </c:pt>
                <c:pt idx="3">
                  <c:v>4.584</c:v>
                </c:pt>
                <c:pt idx="4">
                  <c:v>4.807</c:v>
                </c:pt>
                <c:pt idx="5">
                  <c:v>4.852</c:v>
                </c:pt>
                <c:pt idx="6">
                  <c:v>4.68</c:v>
                </c:pt>
                <c:pt idx="7">
                  <c:v>5.004</c:v>
                </c:pt>
                <c:pt idx="8">
                  <c:v>5.101</c:v>
                </c:pt>
                <c:pt idx="9">
                  <c:v>4.869</c:v>
                </c:pt>
                <c:pt idx="10">
                  <c:v>4.744</c:v>
                </c:pt>
                <c:pt idx="11">
                  <c:v>4.999</c:v>
                </c:pt>
                <c:pt idx="12">
                  <c:v>5.099</c:v>
                </c:pt>
              </c:numCache>
            </c:numRef>
          </c:val>
          <c:smooth val="0"/>
        </c:ser>
        <c:ser>
          <c:idx val="1"/>
          <c:order val="1"/>
          <c:tx>
            <c:strRef>
              <c:f>Sheet1!$C$1</c:f>
              <c:strCache>
                <c:ptCount val="1"/>
                <c:pt idx="0">
                  <c:v>RBA cash rate (%)</c:v>
                </c:pt>
              </c:strCache>
            </c:strRef>
          </c:tx>
          <c:spPr>
            <a:ln w="28575">
              <a:solidFill>
                <a:srgbClr val="C9A03A"/>
              </a:solidFill>
            </a:ln>
          </c:spPr>
          <c:marker>
            <c:symbol val="none"/>
          </c:marker>
          <c:cat>
            <c:numRef>
              <c:f>Sheet1!$A$2:$A$14</c:f>
              <c:numCache>
                <c:formatCode>yyyy\-mm\-dd</c:formatCode>
                <c:ptCount val="13"/>
                <c:pt idx="0">
                  <c:v>45870.0</c:v>
                </c:pt>
                <c:pt idx="1">
                  <c:v>45901.0</c:v>
                </c:pt>
                <c:pt idx="2">
                  <c:v>45931.0</c:v>
                </c:pt>
                <c:pt idx="3">
                  <c:v>45962.0</c:v>
                </c:pt>
                <c:pt idx="4">
                  <c:v>45992.0</c:v>
                </c:pt>
                <c:pt idx="5">
                  <c:v>46023.0</c:v>
                </c:pt>
                <c:pt idx="6">
                  <c:v>46054.0</c:v>
                </c:pt>
                <c:pt idx="7">
                  <c:v>46082.0</c:v>
                </c:pt>
                <c:pt idx="8">
                  <c:v>46113.0</c:v>
                </c:pt>
                <c:pt idx="9">
                  <c:v>46143.0</c:v>
                </c:pt>
                <c:pt idx="10">
                  <c:v>46174.0</c:v>
                </c:pt>
                <c:pt idx="11">
                  <c:v>46204.0</c:v>
                </c:pt>
                <c:pt idx="12">
                  <c:v>46235.0</c:v>
                </c:pt>
              </c:numCache>
            </c:numRef>
          </c:cat>
          <c:val>
            <c:numRef>
              <c:f>Sheet1!$C$2:$C$14</c:f>
              <c:numCache>
                <c:formatCode>General</c:formatCode>
                <c:ptCount val="13"/>
                <c:pt idx="0">
                  <c:v>3.6</c:v>
                </c:pt>
                <c:pt idx="1">
                  <c:v>3.6</c:v>
                </c:pt>
                <c:pt idx="2">
                  <c:v>3.6</c:v>
                </c:pt>
                <c:pt idx="3">
                  <c:v>3.6</c:v>
                </c:pt>
                <c:pt idx="4">
                  <c:v>3.6</c:v>
                </c:pt>
                <c:pt idx="5">
                  <c:v>3.6</c:v>
                </c:pt>
                <c:pt idx="6">
                  <c:v>3.85</c:v>
                </c:pt>
                <c:pt idx="7">
                  <c:v>4.1</c:v>
                </c:pt>
                <c:pt idx="8">
                  <c:v>4.1</c:v>
                </c:pt>
                <c:pt idx="9">
                  <c:v>4.35</c:v>
                </c:pt>
                <c:pt idx="10">
                  <c:v>4.35</c:v>
                </c:pt>
                <c:pt idx="11">
                  <c:v>4.35</c:v>
                </c:pt>
                <c:pt idx="12">
                  <c:v>4.35</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3"/>
        <c:majorTimeUnit val="months"/>
      </c:dateAx>
      <c:valAx>
        <c:axId val="2140495176"/>
        <c:scaling>
          <c:max val="5.5"/>
          <c:min val="3.0"/>
        </c:scaling>
        <c:delete val="0"/>
        <c:axPos val="l"/>
        <c:majorGridlines>
          <c:spPr>
            <a:ln w="6350">
              <a:solidFill>
                <a:srgbClr val="E3E8EE"/>
              </a:solidFill>
            </a:ln>
          </c:spPr>
        </c:majorGridlines>
        <c:numFmt formatCode="0.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0.5"/>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Bond Prices Have Reset Lower Since 2021, Lifting Future Yields</a:t>
            </a:r>
          </a:p>
        </c:rich>
      </c:tx>
      <c:layout/>
      <c:overlay val="0"/>
    </c:title>
    <c:autoTitleDeleted val="0"/>
    <c:plotArea>
      <c:lineChart>
        <c:grouping val="standard"/>
        <c:varyColors val="0"/>
        <c:ser>
          <c:idx val="0"/>
          <c:order val="0"/>
          <c:tx>
            <c:strRef>
              <c:f>Sheet1!$B$1</c:f>
              <c:strCache>
                <c:ptCount val="1"/>
                <c:pt idx="0">
                  <c:v>BILL (cash)</c:v>
                </c:pt>
              </c:strCache>
            </c:strRef>
          </c:tx>
          <c:spPr>
            <a:ln w="25400">
              <a:solidFill>
                <a:srgbClr val="C9A03A"/>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100.0</c:v>
                </c:pt>
                <c:pt idx="1">
                  <c:v>100.02</c:v>
                </c:pt>
                <c:pt idx="2">
                  <c:v>100.0</c:v>
                </c:pt>
                <c:pt idx="3">
                  <c:v>100.0</c:v>
                </c:pt>
                <c:pt idx="4">
                  <c:v>99.99</c:v>
                </c:pt>
                <c:pt idx="5">
                  <c:v>100.0</c:v>
                </c:pt>
                <c:pt idx="6">
                  <c:v>100.02</c:v>
                </c:pt>
                <c:pt idx="7">
                  <c:v>100.02</c:v>
                </c:pt>
                <c:pt idx="8">
                  <c:v>100.02</c:v>
                </c:pt>
                <c:pt idx="9">
                  <c:v>100.02</c:v>
                </c:pt>
                <c:pt idx="10">
                  <c:v>100.03</c:v>
                </c:pt>
                <c:pt idx="11">
                  <c:v>100.06</c:v>
                </c:pt>
                <c:pt idx="12">
                  <c:v>100.07</c:v>
                </c:pt>
                <c:pt idx="13">
                  <c:v>100.15</c:v>
                </c:pt>
                <c:pt idx="14">
                  <c:v>100.13</c:v>
                </c:pt>
                <c:pt idx="15">
                  <c:v>100.24</c:v>
                </c:pt>
                <c:pt idx="16">
                  <c:v>100.26</c:v>
                </c:pt>
                <c:pt idx="17">
                  <c:v>100.31</c:v>
                </c:pt>
                <c:pt idx="18">
                  <c:v>100.38</c:v>
                </c:pt>
                <c:pt idx="19">
                  <c:v>100.28</c:v>
                </c:pt>
                <c:pt idx="20">
                  <c:v>100.35</c:v>
                </c:pt>
                <c:pt idx="21">
                  <c:v>100.34</c:v>
                </c:pt>
                <c:pt idx="22">
                  <c:v>100.39</c:v>
                </c:pt>
                <c:pt idx="23">
                  <c:v>100.36</c:v>
                </c:pt>
                <c:pt idx="24">
                  <c:v>100.48</c:v>
                </c:pt>
                <c:pt idx="25">
                  <c:v>100.47</c:v>
                </c:pt>
                <c:pt idx="26">
                  <c:v>100.45</c:v>
                </c:pt>
                <c:pt idx="27">
                  <c:v>100.43</c:v>
                </c:pt>
                <c:pt idx="28">
                  <c:v>100.44</c:v>
                </c:pt>
                <c:pt idx="29">
                  <c:v>100.47</c:v>
                </c:pt>
                <c:pt idx="30">
                  <c:v>100.47</c:v>
                </c:pt>
                <c:pt idx="31">
                  <c:v>100.46</c:v>
                </c:pt>
                <c:pt idx="32">
                  <c:v>100.43</c:v>
                </c:pt>
                <c:pt idx="33">
                  <c:v>100.42</c:v>
                </c:pt>
                <c:pt idx="34">
                  <c:v>100.46</c:v>
                </c:pt>
                <c:pt idx="35">
                  <c:v>100.45</c:v>
                </c:pt>
                <c:pt idx="36">
                  <c:v>100.5</c:v>
                </c:pt>
                <c:pt idx="37">
                  <c:v>100.47</c:v>
                </c:pt>
                <c:pt idx="38">
                  <c:v>100.46</c:v>
                </c:pt>
                <c:pt idx="39">
                  <c:v>100.43</c:v>
                </c:pt>
                <c:pt idx="40">
                  <c:v>100.43</c:v>
                </c:pt>
                <c:pt idx="41">
                  <c:v>100.48</c:v>
                </c:pt>
                <c:pt idx="42">
                  <c:v>100.47</c:v>
                </c:pt>
                <c:pt idx="43">
                  <c:v>100.45</c:v>
                </c:pt>
                <c:pt idx="44">
                  <c:v>100.5</c:v>
                </c:pt>
                <c:pt idx="45">
                  <c:v>100.52</c:v>
                </c:pt>
                <c:pt idx="46">
                  <c:v>100.56</c:v>
                </c:pt>
                <c:pt idx="47">
                  <c:v>100.56</c:v>
                </c:pt>
                <c:pt idx="48">
                  <c:v>100.56</c:v>
                </c:pt>
                <c:pt idx="49">
                  <c:v>100.5</c:v>
                </c:pt>
                <c:pt idx="50">
                  <c:v>100.51</c:v>
                </c:pt>
                <c:pt idx="51">
                  <c:v>100.46</c:v>
                </c:pt>
                <c:pt idx="52">
                  <c:v>100.47</c:v>
                </c:pt>
                <c:pt idx="53">
                  <c:v>100.51</c:v>
                </c:pt>
                <c:pt idx="54">
                  <c:v>100.45</c:v>
                </c:pt>
                <c:pt idx="55">
                  <c:v>100.45</c:v>
                </c:pt>
                <c:pt idx="56">
                  <c:v>100.47</c:v>
                </c:pt>
                <c:pt idx="57">
                  <c:v>100.41</c:v>
                </c:pt>
                <c:pt idx="58">
                  <c:v>100.4</c:v>
                </c:pt>
                <c:pt idx="59">
                  <c:v>100.46</c:v>
                </c:pt>
                <c:pt idx="60">
                  <c:v>100.53</c:v>
                </c:pt>
                <c:pt idx="61">
                  <c:v>100.44</c:v>
                </c:pt>
              </c:numCache>
            </c:numRef>
          </c:val>
          <c:smooth val="0"/>
        </c:ser>
        <c:ser>
          <c:idx val="1"/>
          <c:order val="1"/>
          <c:tx>
            <c:strRef>
              <c:f>Sheet1!$C$1</c:f>
              <c:strCache>
                <c:ptCount val="1"/>
                <c:pt idx="0">
                  <c:v>VACF (Aus corporate)</c:v>
                </c:pt>
              </c:strCache>
            </c:strRef>
          </c:tx>
          <c:spPr>
            <a:ln w="22225">
              <a:solidFill>
                <a:srgbClr val="7F95AB"/>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100.0</c:v>
                </c:pt>
                <c:pt idx="1">
                  <c:v>100.04</c:v>
                </c:pt>
                <c:pt idx="2">
                  <c:v>99.09</c:v>
                </c:pt>
                <c:pt idx="3">
                  <c:v>96.07</c:v>
                </c:pt>
                <c:pt idx="4">
                  <c:v>96.79</c:v>
                </c:pt>
                <c:pt idx="5">
                  <c:v>97.3</c:v>
                </c:pt>
                <c:pt idx="6">
                  <c:v>96.12</c:v>
                </c:pt>
                <c:pt idx="7">
                  <c:v>95.0</c:v>
                </c:pt>
                <c:pt idx="8">
                  <c:v>92.17</c:v>
                </c:pt>
                <c:pt idx="9">
                  <c:v>90.19</c:v>
                </c:pt>
                <c:pt idx="10">
                  <c:v>89.86</c:v>
                </c:pt>
                <c:pt idx="11">
                  <c:v>88.65</c:v>
                </c:pt>
                <c:pt idx="12">
                  <c:v>90.9</c:v>
                </c:pt>
                <c:pt idx="13">
                  <c:v>89.56</c:v>
                </c:pt>
                <c:pt idx="14">
                  <c:v>88.37</c:v>
                </c:pt>
                <c:pt idx="15">
                  <c:v>88.8</c:v>
                </c:pt>
                <c:pt idx="16">
                  <c:v>90.06</c:v>
                </c:pt>
                <c:pt idx="17">
                  <c:v>89.5</c:v>
                </c:pt>
                <c:pt idx="18">
                  <c:v>91.48</c:v>
                </c:pt>
                <c:pt idx="19">
                  <c:v>90.66</c:v>
                </c:pt>
                <c:pt idx="20">
                  <c:v>92.71</c:v>
                </c:pt>
                <c:pt idx="21">
                  <c:v>92.54</c:v>
                </c:pt>
                <c:pt idx="22">
                  <c:v>92.28</c:v>
                </c:pt>
                <c:pt idx="23">
                  <c:v>90.94</c:v>
                </c:pt>
                <c:pt idx="24">
                  <c:v>91.42</c:v>
                </c:pt>
                <c:pt idx="25">
                  <c:v>92.36</c:v>
                </c:pt>
                <c:pt idx="26">
                  <c:v>91.91</c:v>
                </c:pt>
                <c:pt idx="27">
                  <c:v>90.6</c:v>
                </c:pt>
                <c:pt idx="28">
                  <c:v>92.3</c:v>
                </c:pt>
                <c:pt idx="29">
                  <c:v>94.05</c:v>
                </c:pt>
                <c:pt idx="30">
                  <c:v>93.57</c:v>
                </c:pt>
                <c:pt idx="31">
                  <c:v>93.72</c:v>
                </c:pt>
                <c:pt idx="32">
                  <c:v>94.33</c:v>
                </c:pt>
                <c:pt idx="33">
                  <c:v>92.95</c:v>
                </c:pt>
                <c:pt idx="34">
                  <c:v>93.57</c:v>
                </c:pt>
                <c:pt idx="35">
                  <c:v>93.87</c:v>
                </c:pt>
                <c:pt idx="36">
                  <c:v>94.57</c:v>
                </c:pt>
                <c:pt idx="37">
                  <c:v>95.45</c:v>
                </c:pt>
                <c:pt idx="38">
                  <c:v>96.1</c:v>
                </c:pt>
                <c:pt idx="39">
                  <c:v>94.63</c:v>
                </c:pt>
                <c:pt idx="40">
                  <c:v>95.28</c:v>
                </c:pt>
                <c:pt idx="41">
                  <c:v>96.1</c:v>
                </c:pt>
                <c:pt idx="42">
                  <c:v>95.4</c:v>
                </c:pt>
                <c:pt idx="43">
                  <c:v>96.35</c:v>
                </c:pt>
                <c:pt idx="44">
                  <c:v>96.42</c:v>
                </c:pt>
                <c:pt idx="45">
                  <c:v>96.42</c:v>
                </c:pt>
                <c:pt idx="46">
                  <c:v>96.96</c:v>
                </c:pt>
                <c:pt idx="47">
                  <c:v>97.82</c:v>
                </c:pt>
                <c:pt idx="48">
                  <c:v>96.74</c:v>
                </c:pt>
                <c:pt idx="49">
                  <c:v>97.5</c:v>
                </c:pt>
                <c:pt idx="50">
                  <c:v>97.45</c:v>
                </c:pt>
                <c:pt idx="51">
                  <c:v>97.09</c:v>
                </c:pt>
                <c:pt idx="52">
                  <c:v>96.4</c:v>
                </c:pt>
                <c:pt idx="53">
                  <c:v>96.18</c:v>
                </c:pt>
                <c:pt idx="54">
                  <c:v>95.51</c:v>
                </c:pt>
                <c:pt idx="55">
                  <c:v>96.22</c:v>
                </c:pt>
                <c:pt idx="56">
                  <c:v>95.23</c:v>
                </c:pt>
                <c:pt idx="57">
                  <c:v>94.28</c:v>
                </c:pt>
                <c:pt idx="58">
                  <c:v>95.45</c:v>
                </c:pt>
                <c:pt idx="59">
                  <c:v>96.48</c:v>
                </c:pt>
                <c:pt idx="60">
                  <c:v>95.19</c:v>
                </c:pt>
                <c:pt idx="61">
                  <c:v>95.12</c:v>
                </c:pt>
              </c:numCache>
            </c:numRef>
          </c:val>
          <c:smooth val="0"/>
        </c:ser>
        <c:ser>
          <c:idx val="2"/>
          <c:order val="2"/>
          <c:tx>
            <c:strRef>
              <c:f>Sheet1!$D$1</c:f>
              <c:strCache>
                <c:ptCount val="1"/>
                <c:pt idx="0">
                  <c:v>VEFI (global hedged)</c:v>
                </c:pt>
              </c:strCache>
            </c:strRef>
          </c:tx>
          <c:spPr>
            <a:ln w="28575">
              <a:solidFill>
                <a:srgbClr val="0B2C48"/>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100.0</c:v>
                </c:pt>
                <c:pt idx="1">
                  <c:v>100.02</c:v>
                </c:pt>
                <c:pt idx="2">
                  <c:v>98.78</c:v>
                </c:pt>
                <c:pt idx="3">
                  <c:v>98.34</c:v>
                </c:pt>
                <c:pt idx="4">
                  <c:v>98.62</c:v>
                </c:pt>
                <c:pt idx="5">
                  <c:v>98.3</c:v>
                </c:pt>
                <c:pt idx="6">
                  <c:v>96.41</c:v>
                </c:pt>
                <c:pt idx="7">
                  <c:v>95.01</c:v>
                </c:pt>
                <c:pt idx="8">
                  <c:v>92.34</c:v>
                </c:pt>
                <c:pt idx="9">
                  <c:v>89.8</c:v>
                </c:pt>
                <c:pt idx="10">
                  <c:v>89.42</c:v>
                </c:pt>
                <c:pt idx="11">
                  <c:v>87.23</c:v>
                </c:pt>
                <c:pt idx="12">
                  <c:v>89.72</c:v>
                </c:pt>
                <c:pt idx="13">
                  <c:v>87.01</c:v>
                </c:pt>
                <c:pt idx="14">
                  <c:v>83.58</c:v>
                </c:pt>
                <c:pt idx="15">
                  <c:v>83.18</c:v>
                </c:pt>
                <c:pt idx="16">
                  <c:v>84.77</c:v>
                </c:pt>
                <c:pt idx="17">
                  <c:v>84.23</c:v>
                </c:pt>
                <c:pt idx="18">
                  <c:v>84.99</c:v>
                </c:pt>
                <c:pt idx="19">
                  <c:v>83.6</c:v>
                </c:pt>
                <c:pt idx="20">
                  <c:v>85.09</c:v>
                </c:pt>
                <c:pt idx="21">
                  <c:v>84.89</c:v>
                </c:pt>
                <c:pt idx="22">
                  <c:v>84.65</c:v>
                </c:pt>
                <c:pt idx="23">
                  <c:v>84.47</c:v>
                </c:pt>
                <c:pt idx="24">
                  <c:v>83.7</c:v>
                </c:pt>
                <c:pt idx="25">
                  <c:v>83.2</c:v>
                </c:pt>
                <c:pt idx="26">
                  <c:v>81.42</c:v>
                </c:pt>
                <c:pt idx="27">
                  <c:v>80.76</c:v>
                </c:pt>
                <c:pt idx="28">
                  <c:v>83.46</c:v>
                </c:pt>
                <c:pt idx="29">
                  <c:v>86.11</c:v>
                </c:pt>
                <c:pt idx="30">
                  <c:v>85.07</c:v>
                </c:pt>
                <c:pt idx="31">
                  <c:v>84.21</c:v>
                </c:pt>
                <c:pt idx="32">
                  <c:v>84.79</c:v>
                </c:pt>
                <c:pt idx="33">
                  <c:v>83.4</c:v>
                </c:pt>
                <c:pt idx="34">
                  <c:v>83.4</c:v>
                </c:pt>
                <c:pt idx="35">
                  <c:v>84.25</c:v>
                </c:pt>
                <c:pt idx="36">
                  <c:v>85.13</c:v>
                </c:pt>
                <c:pt idx="37">
                  <c:v>86.29</c:v>
                </c:pt>
                <c:pt idx="38">
                  <c:v>87.23</c:v>
                </c:pt>
                <c:pt idx="39">
                  <c:v>85.29</c:v>
                </c:pt>
                <c:pt idx="40">
                  <c:v>86.27</c:v>
                </c:pt>
                <c:pt idx="41">
                  <c:v>85.37</c:v>
                </c:pt>
                <c:pt idx="42">
                  <c:v>84.99</c:v>
                </c:pt>
                <c:pt idx="43">
                  <c:v>86.31</c:v>
                </c:pt>
                <c:pt idx="44">
                  <c:v>85.91</c:v>
                </c:pt>
                <c:pt idx="45">
                  <c:v>85.97</c:v>
                </c:pt>
                <c:pt idx="46">
                  <c:v>85.81</c:v>
                </c:pt>
                <c:pt idx="47">
                  <c:v>86.33</c:v>
                </c:pt>
                <c:pt idx="48">
                  <c:v>85.23</c:v>
                </c:pt>
                <c:pt idx="49">
                  <c:v>85.55</c:v>
                </c:pt>
                <c:pt idx="50">
                  <c:v>86.35</c:v>
                </c:pt>
                <c:pt idx="51">
                  <c:v>86.55</c:v>
                </c:pt>
                <c:pt idx="52">
                  <c:v>86.89</c:v>
                </c:pt>
                <c:pt idx="53">
                  <c:v>86.73</c:v>
                </c:pt>
                <c:pt idx="54">
                  <c:v>86.03</c:v>
                </c:pt>
                <c:pt idx="55">
                  <c:v>87.31</c:v>
                </c:pt>
                <c:pt idx="56">
                  <c:v>85.41</c:v>
                </c:pt>
                <c:pt idx="57">
                  <c:v>84.99</c:v>
                </c:pt>
                <c:pt idx="58">
                  <c:v>85.77</c:v>
                </c:pt>
                <c:pt idx="59">
                  <c:v>86.33</c:v>
                </c:pt>
                <c:pt idx="60">
                  <c:v>84.77</c:v>
                </c:pt>
                <c:pt idx="61">
                  <c:v>84.67</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105.0"/>
          <c:min val="80.0"/>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5.0"/>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70/30 Grew A$100 to A$157, Clearing the 7% Target</a:t>
            </a:r>
          </a:p>
        </c:rich>
      </c:tx>
      <c:layout/>
      <c:overlay val="0"/>
    </c:title>
    <c:autoTitleDeleted val="0"/>
    <c:plotArea>
      <c:lineChart>
        <c:grouping val="standard"/>
        <c:varyColors val="0"/>
        <c:ser>
          <c:idx val="0"/>
          <c:order val="0"/>
          <c:tx>
            <c:strRef>
              <c:f>Sheet1!$B$1</c:f>
              <c:strCache>
                <c:ptCount val="1"/>
                <c:pt idx="0">
                  <c:v>70/30 SAA</c:v>
                </c:pt>
              </c:strCache>
            </c:strRef>
          </c:tx>
          <c:spPr>
            <a:ln w="31750">
              <a:solidFill>
                <a:srgbClr val="C9A03A"/>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100</c:v>
                </c:pt>
                <c:pt idx="1">
                  <c:v>102.61295770229084</c:v>
                </c:pt>
                <c:pt idx="2">
                  <c:v>101.91138549312984</c:v>
                </c:pt>
                <c:pt idx="3">
                  <c:v>101.33147434840427</c:v>
                </c:pt>
                <c:pt idx="4">
                  <c:v>105.2526494097373</c:v>
                </c:pt>
                <c:pt idx="5">
                  <c:v>106.27680639809768</c:v>
                </c:pt>
                <c:pt idx="6">
                  <c:v>103.01337683845627</c:v>
                </c:pt>
                <c:pt idx="7">
                  <c:v>99.54012291937397</c:v>
                </c:pt>
                <c:pt idx="8">
                  <c:v>101.44956409048952</c:v>
                </c:pt>
                <c:pt idx="9">
                  <c:v>100.10879648174112</c:v>
                </c:pt>
                <c:pt idx="10">
                  <c:v>98.82227917349597</c:v>
                </c:pt>
                <c:pt idx="11">
                  <c:v>95.56964665375877</c:v>
                </c:pt>
                <c:pt idx="12">
                  <c:v>96.94227124151814</c:v>
                </c:pt>
                <c:pt idx="13">
                  <c:v>96.55878890576575</c:v>
                </c:pt>
                <c:pt idx="14">
                  <c:v>93.28158699208986</c:v>
                </c:pt>
                <c:pt idx="15">
                  <c:v>98.32885417700638</c:v>
                </c:pt>
                <c:pt idx="16">
                  <c:v>99.4653674770641</c:v>
                </c:pt>
                <c:pt idx="17">
                  <c:v>96.82758073849517</c:v>
                </c:pt>
                <c:pt idx="18">
                  <c:v>98.23809617274819</c:v>
                </c:pt>
                <c:pt idx="19">
                  <c:v>99.63183647916973</c:v>
                </c:pt>
                <c:pt idx="20">
                  <c:v>102.25502440582049</c:v>
                </c:pt>
                <c:pt idx="21">
                  <c:v>104.3779309072067</c:v>
                </c:pt>
                <c:pt idx="22">
                  <c:v>106.25767597597697</c:v>
                </c:pt>
                <c:pt idx="23">
                  <c:v>108.42901605979831</c:v>
                </c:pt>
                <c:pt idx="24">
                  <c:v>109.29409449786533</c:v>
                </c:pt>
                <c:pt idx="25">
                  <c:v>110.48919672620696</c:v>
                </c:pt>
                <c:pt idx="26">
                  <c:v>107.10064731579216</c:v>
                </c:pt>
                <c:pt idx="27">
                  <c:v>106.28584150779672</c:v>
                </c:pt>
                <c:pt idx="28">
                  <c:v>110.70013195873943</c:v>
                </c:pt>
                <c:pt idx="29">
                  <c:v>111.69593412995947</c:v>
                </c:pt>
                <c:pt idx="30">
                  <c:v>117.39192093293536</c:v>
                </c:pt>
                <c:pt idx="31">
                  <c:v>121.47289018026898</c:v>
                </c:pt>
                <c:pt idx="32">
                  <c:v>125.02754339182886</c:v>
                </c:pt>
                <c:pt idx="33">
                  <c:v>123.33109623049268</c:v>
                </c:pt>
                <c:pt idx="34">
                  <c:v>124.47892023513545</c:v>
                </c:pt>
                <c:pt idx="35">
                  <c:v>127.36616597228934</c:v>
                </c:pt>
                <c:pt idx="36">
                  <c:v>126.97121919337201</c:v>
                </c:pt>
                <c:pt idx="37">
                  <c:v>125.01270722486107</c:v>
                </c:pt>
                <c:pt idx="38">
                  <c:v>124.6468974790669</c:v>
                </c:pt>
                <c:pt idx="39">
                  <c:v>129.39005947268274</c:v>
                </c:pt>
                <c:pt idx="40">
                  <c:v>131.79014695961504</c:v>
                </c:pt>
                <c:pt idx="41">
                  <c:v>133.97050946823398</c:v>
                </c:pt>
                <c:pt idx="42">
                  <c:v>136.76283460850843</c:v>
                </c:pt>
                <c:pt idx="43">
                  <c:v>134.35729405424232</c:v>
                </c:pt>
                <c:pt idx="44">
                  <c:v>131.60485712401908</c:v>
                </c:pt>
                <c:pt idx="45">
                  <c:v>130.94103508407397</c:v>
                </c:pt>
                <c:pt idx="46">
                  <c:v>136.56901247416533</c:v>
                </c:pt>
                <c:pt idx="47">
                  <c:v>138.03061942866987</c:v>
                </c:pt>
                <c:pt idx="48">
                  <c:v>139.4061715019606</c:v>
                </c:pt>
                <c:pt idx="49">
                  <c:v>140.5410955073171</c:v>
                </c:pt>
                <c:pt idx="50">
                  <c:v>143.54660411665517</c:v>
                </c:pt>
                <c:pt idx="51">
                  <c:v>148.16924625772143</c:v>
                </c:pt>
                <c:pt idx="52">
                  <c:v>148.93733651007605</c:v>
                </c:pt>
                <c:pt idx="53">
                  <c:v>148.34298450138306</c:v>
                </c:pt>
                <c:pt idx="54">
                  <c:v>148.5013256473947</c:v>
                </c:pt>
                <c:pt idx="55">
                  <c:v>149.62827903668713</c:v>
                </c:pt>
                <c:pt idx="56">
                  <c:v>142.75552083912132</c:v>
                </c:pt>
                <c:pt idx="57">
                  <c:v>147.58637509763383</c:v>
                </c:pt>
                <c:pt idx="58">
                  <c:v>153.68136462141786</c:v>
                </c:pt>
                <c:pt idx="59">
                  <c:v>158.58715631214105</c:v>
                </c:pt>
                <c:pt idx="60">
                  <c:v>154.15719324526444</c:v>
                </c:pt>
                <c:pt idx="61">
                  <c:v>156.98996627266578</c:v>
                </c:pt>
              </c:numCache>
            </c:numRef>
          </c:val>
          <c:smooth val="0"/>
        </c:ser>
        <c:ser>
          <c:idx val="1"/>
          <c:order val="1"/>
          <c:tx>
            <c:strRef>
              <c:f>Sheet1!$C$1</c:f>
              <c:strCache>
                <c:ptCount val="1"/>
                <c:pt idx="0">
                  <c:v>60/40 TAA</c:v>
                </c:pt>
              </c:strCache>
            </c:strRef>
          </c:tx>
          <c:spPr>
            <a:ln w="19050">
              <a:solidFill>
                <a:srgbClr val="0B2C48"/>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100</c:v>
                </c:pt>
                <c:pt idx="1">
                  <c:v>102.31332700721904</c:v>
                </c:pt>
                <c:pt idx="2">
                  <c:v>101.16593599684447</c:v>
                </c:pt>
                <c:pt idx="3">
                  <c:v>100.62359028324796</c:v>
                </c:pt>
                <c:pt idx="4">
                  <c:v>104.75187916675338</c:v>
                </c:pt>
                <c:pt idx="5">
                  <c:v>105.55013099457734</c:v>
                </c:pt>
                <c:pt idx="6">
                  <c:v>103.12369004381081</c:v>
                </c:pt>
                <c:pt idx="7">
                  <c:v>100.33085753198972</c:v>
                </c:pt>
                <c:pt idx="8">
                  <c:v>101.55983809171134</c:v>
                </c:pt>
                <c:pt idx="9">
                  <c:v>100.6467298249478</c:v>
                </c:pt>
                <c:pt idx="10">
                  <c:v>99.17798381592645</c:v>
                </c:pt>
                <c:pt idx="11">
                  <c:v>96.46982867511102</c:v>
                </c:pt>
                <c:pt idx="12">
                  <c:v>97.81710756748579</c:v>
                </c:pt>
                <c:pt idx="13">
                  <c:v>97.29615449884659</c:v>
                </c:pt>
                <c:pt idx="14">
                  <c:v>94.68590035806945</c:v>
                </c:pt>
                <c:pt idx="15">
                  <c:v>99.05687074284916</c:v>
                </c:pt>
                <c:pt idx="16">
                  <c:v>99.95979660288839</c:v>
                </c:pt>
                <c:pt idx="17">
                  <c:v>98.01027913214854</c:v>
                </c:pt>
                <c:pt idx="18">
                  <c:v>99.05128212022463</c:v>
                </c:pt>
                <c:pt idx="19">
                  <c:v>100.29320942792178</c:v>
                </c:pt>
                <c:pt idx="20">
                  <c:v>103.22325897665438</c:v>
                </c:pt>
                <c:pt idx="21">
                  <c:v>105.30309919237409</c:v>
                </c:pt>
                <c:pt idx="22">
                  <c:v>106.81885569785098</c:v>
                </c:pt>
                <c:pt idx="23">
                  <c:v>108.01354281826879</c:v>
                </c:pt>
                <c:pt idx="24">
                  <c:v>109.11326752831252</c:v>
                </c:pt>
                <c:pt idx="25">
                  <c:v>110.38538825455342</c:v>
                </c:pt>
                <c:pt idx="26">
                  <c:v>106.87840646591314</c:v>
                </c:pt>
                <c:pt idx="27">
                  <c:v>107.0757872244478</c:v>
                </c:pt>
                <c:pt idx="28">
                  <c:v>110.59163661163649</c:v>
                </c:pt>
                <c:pt idx="29">
                  <c:v>111.47097480802701</c:v>
                </c:pt>
                <c:pt idx="30">
                  <c:v>116.3430844459804</c:v>
                </c:pt>
                <c:pt idx="31">
                  <c:v>119.6212542179432</c:v>
                </c:pt>
                <c:pt idx="32">
                  <c:v>123.31235785504842</c:v>
                </c:pt>
                <c:pt idx="33">
                  <c:v>122.38771239199932</c:v>
                </c:pt>
                <c:pt idx="34">
                  <c:v>123.20860171604475</c:v>
                </c:pt>
                <c:pt idx="35">
                  <c:v>125.77433798954145</c:v>
                </c:pt>
                <c:pt idx="36">
                  <c:v>126.68126882221662</c:v>
                </c:pt>
                <c:pt idx="37">
                  <c:v>125.06109023330373</c:v>
                </c:pt>
                <c:pt idx="38">
                  <c:v>125.31908511956698</c:v>
                </c:pt>
                <c:pt idx="39">
                  <c:v>130.62051760468862</c:v>
                </c:pt>
                <c:pt idx="40">
                  <c:v>132.68777004059152</c:v>
                </c:pt>
                <c:pt idx="41">
                  <c:v>134.6619267956352</c:v>
                </c:pt>
                <c:pt idx="42">
                  <c:v>137.9306286512871</c:v>
                </c:pt>
                <c:pt idx="43">
                  <c:v>136.33944905194858</c:v>
                </c:pt>
                <c:pt idx="44">
                  <c:v>134.5293916565441</c:v>
                </c:pt>
                <c:pt idx="45">
                  <c:v>134.20551856908995</c:v>
                </c:pt>
                <c:pt idx="46">
                  <c:v>138.9259161089211</c:v>
                </c:pt>
                <c:pt idx="47">
                  <c:v>140.062229991101</c:v>
                </c:pt>
                <c:pt idx="48">
                  <c:v>141.57505716888292</c:v>
                </c:pt>
                <c:pt idx="49">
                  <c:v>142.60509799269104</c:v>
                </c:pt>
                <c:pt idx="50">
                  <c:v>146.58304502085753</c:v>
                </c:pt>
                <c:pt idx="51">
                  <c:v>150.83015715047537</c:v>
                </c:pt>
                <c:pt idx="52">
                  <c:v>152.1967944790304</c:v>
                </c:pt>
                <c:pt idx="53">
                  <c:v>151.5262167650507</c:v>
                </c:pt>
                <c:pt idx="54">
                  <c:v>152.8135597437016</c:v>
                </c:pt>
                <c:pt idx="55">
                  <c:v>152.91065232668745</c:v>
                </c:pt>
                <c:pt idx="56">
                  <c:v>146.3583830927747</c:v>
                </c:pt>
                <c:pt idx="57">
                  <c:v>149.87951463778208</c:v>
                </c:pt>
                <c:pt idx="58">
                  <c:v>154.84642370593824</c:v>
                </c:pt>
                <c:pt idx="59">
                  <c:v>158.0117610901189</c:v>
                </c:pt>
                <c:pt idx="60">
                  <c:v>154.5446785640456</c:v>
                </c:pt>
                <c:pt idx="61">
                  <c:v>157.44796323626167</c:v>
                </c:pt>
              </c:numCache>
            </c:numRef>
          </c:val>
          <c:smooth val="0"/>
        </c:ser>
        <c:ser>
          <c:idx val="2"/>
          <c:order val="2"/>
          <c:tx>
            <c:strRef>
              <c:f>Sheet1!$D$1</c:f>
              <c:strCache>
                <c:ptCount val="1"/>
                <c:pt idx="0">
                  <c:v>80/20 Aggressive</c:v>
                </c:pt>
              </c:strCache>
            </c:strRef>
          </c:tx>
          <c:spPr>
            <a:ln w="19050">
              <a:solidFill>
                <a:srgbClr val="7F95AB"/>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100</c:v>
                </c:pt>
                <c:pt idx="1">
                  <c:v>102.92784765945451</c:v>
                </c:pt>
                <c:pt idx="2">
                  <c:v>102.28924769080595</c:v>
                </c:pt>
                <c:pt idx="3">
                  <c:v>102.11992686965674</c:v>
                </c:pt>
                <c:pt idx="4">
                  <c:v>105.32353193847464</c:v>
                </c:pt>
                <c:pt idx="5">
                  <c:v>106.72522764417812</c:v>
                </c:pt>
                <c:pt idx="6">
                  <c:v>102.44511812177306</c:v>
                </c:pt>
                <c:pt idx="7">
                  <c:v>99.1183000376004</c:v>
                </c:pt>
                <c:pt idx="8">
                  <c:v>102.48779454209114</c:v>
                </c:pt>
                <c:pt idx="9">
                  <c:v>100.88922375626086</c:v>
                </c:pt>
                <c:pt idx="10">
                  <c:v>99.41259861982785</c:v>
                </c:pt>
                <c:pt idx="11">
                  <c:v>95.10145630501154</c:v>
                </c:pt>
                <c:pt idx="12">
                  <c:v>97.41680398990007</c:v>
                </c:pt>
                <c:pt idx="13">
                  <c:v>97.49369648178212</c:v>
                </c:pt>
                <c:pt idx="14">
                  <c:v>93.04606081336598</c:v>
                </c:pt>
                <c:pt idx="15">
                  <c:v>98.05972689063783</c:v>
                </c:pt>
                <c:pt idx="16">
                  <c:v>99.34988714145645</c:v>
                </c:pt>
                <c:pt idx="17">
                  <c:v>96.00533087485483</c:v>
                </c:pt>
                <c:pt idx="18">
                  <c:v>97.48946606706996</c:v>
                </c:pt>
                <c:pt idx="19">
                  <c:v>98.70642093395494</c:v>
                </c:pt>
                <c:pt idx="20">
                  <c:v>100.5577885465499</c:v>
                </c:pt>
                <c:pt idx="21">
                  <c:v>102.65328837544983</c:v>
                </c:pt>
                <c:pt idx="22">
                  <c:v>104.24825798175652</c:v>
                </c:pt>
                <c:pt idx="23">
                  <c:v>106.88495676631786</c:v>
                </c:pt>
                <c:pt idx="24">
                  <c:v>107.7805729036772</c:v>
                </c:pt>
                <c:pt idx="25">
                  <c:v>108.42541483803963</c:v>
                </c:pt>
                <c:pt idx="26">
                  <c:v>104.95315524543423</c:v>
                </c:pt>
                <c:pt idx="27">
                  <c:v>102.92489738043625</c:v>
                </c:pt>
                <c:pt idx="28">
                  <c:v>107.86942531156755</c:v>
                </c:pt>
                <c:pt idx="29">
                  <c:v>109.64952184474639</c:v>
                </c:pt>
                <c:pt idx="30">
                  <c:v>114.6066464296292</c:v>
                </c:pt>
                <c:pt idx="31">
                  <c:v>118.72471493008115</c:v>
                </c:pt>
                <c:pt idx="32">
                  <c:v>122.01562988067778</c:v>
                </c:pt>
                <c:pt idx="33">
                  <c:v>119.66530201625162</c:v>
                </c:pt>
                <c:pt idx="34">
                  <c:v>120.67185751676402</c:v>
                </c:pt>
                <c:pt idx="35">
                  <c:v>123.25933715518765</c:v>
                </c:pt>
                <c:pt idx="36">
                  <c:v>123.93398948516572</c:v>
                </c:pt>
                <c:pt idx="37">
                  <c:v>122.16426210993704</c:v>
                </c:pt>
                <c:pt idx="38">
                  <c:v>121.8665085922185</c:v>
                </c:pt>
                <c:pt idx="39">
                  <c:v>125.61158985814794</c:v>
                </c:pt>
                <c:pt idx="40">
                  <c:v>128.88123505354565</c:v>
                </c:pt>
                <c:pt idx="41">
                  <c:v>130.22278720193674</c:v>
                </c:pt>
                <c:pt idx="42">
                  <c:v>132.57070138096424</c:v>
                </c:pt>
                <c:pt idx="43">
                  <c:v>129.69485911321974</c:v>
                </c:pt>
                <c:pt idx="44">
                  <c:v>126.41854346135189</c:v>
                </c:pt>
                <c:pt idx="45">
                  <c:v>125.74547195083069</c:v>
                </c:pt>
                <c:pt idx="46">
                  <c:v>131.2668988686435</c:v>
                </c:pt>
                <c:pt idx="47">
                  <c:v>132.88868599219202</c:v>
                </c:pt>
                <c:pt idx="48">
                  <c:v>135.15921103826906</c:v>
                </c:pt>
                <c:pt idx="49">
                  <c:v>136.5928139242727</c:v>
                </c:pt>
                <c:pt idx="50">
                  <c:v>138.42628310817838</c:v>
                </c:pt>
                <c:pt idx="51">
                  <c:v>142.4134753791627</c:v>
                </c:pt>
                <c:pt idx="52">
                  <c:v>142.59646033885488</c:v>
                </c:pt>
                <c:pt idx="53">
                  <c:v>141.9283003011575</c:v>
                </c:pt>
                <c:pt idx="54">
                  <c:v>141.0982456764007</c:v>
                </c:pt>
                <c:pt idx="55">
                  <c:v>144.2615019925718</c:v>
                </c:pt>
                <c:pt idx="56">
                  <c:v>137.85946851316567</c:v>
                </c:pt>
                <c:pt idx="57">
                  <c:v>142.72465847182144</c:v>
                </c:pt>
                <c:pt idx="58">
                  <c:v>148.22262297649308</c:v>
                </c:pt>
                <c:pt idx="59">
                  <c:v>152.91721791191608</c:v>
                </c:pt>
                <c:pt idx="60">
                  <c:v>148.63110891021475</c:v>
                </c:pt>
                <c:pt idx="61">
                  <c:v>150.29589113582432</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165.0"/>
          <c:min val="90.0"/>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15.0"/>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Worst Fall Was -12.2%, Inside the -15% Limit</a:t>
            </a:r>
          </a:p>
        </c:rich>
      </c:tx>
      <c:layout/>
      <c:overlay val="0"/>
    </c:title>
    <c:autoTitleDeleted val="0"/>
    <c:plotArea>
      <c:lineChart>
        <c:grouping val="standard"/>
        <c:varyColors val="0"/>
        <c:ser>
          <c:idx val="0"/>
          <c:order val="0"/>
          <c:tx>
            <c:strRef>
              <c:f>Sheet1!$B$1</c:f>
              <c:strCache>
                <c:ptCount val="1"/>
                <c:pt idx="0">
                  <c:v>70/30 drawdown</c:v>
                </c:pt>
              </c:strCache>
            </c:strRef>
          </c:tx>
          <c:spPr>
            <a:ln w="28575">
              <a:solidFill>
                <a:srgbClr val="0B2C48"/>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0.0</c:v>
                </c:pt>
                <c:pt idx="1">
                  <c:v>0.0</c:v>
                </c:pt>
                <c:pt idx="2">
                  <c:v>-0.00684</c:v>
                </c:pt>
                <c:pt idx="3">
                  <c:v>-0.01249</c:v>
                </c:pt>
                <c:pt idx="4">
                  <c:v>0.0</c:v>
                </c:pt>
                <c:pt idx="5">
                  <c:v>0.0</c:v>
                </c:pt>
                <c:pt idx="6">
                  <c:v>-0.03071</c:v>
                </c:pt>
                <c:pt idx="7">
                  <c:v>-0.06339</c:v>
                </c:pt>
                <c:pt idx="8">
                  <c:v>-0.04542</c:v>
                </c:pt>
                <c:pt idx="9">
                  <c:v>-0.05804</c:v>
                </c:pt>
                <c:pt idx="10">
                  <c:v>-0.07014</c:v>
                </c:pt>
                <c:pt idx="11">
                  <c:v>-0.10075</c:v>
                </c:pt>
                <c:pt idx="12">
                  <c:v>-0.08783</c:v>
                </c:pt>
                <c:pt idx="13">
                  <c:v>-0.09144</c:v>
                </c:pt>
                <c:pt idx="14">
                  <c:v>-0.12228</c:v>
                </c:pt>
                <c:pt idx="15">
                  <c:v>-0.07479</c:v>
                </c:pt>
                <c:pt idx="16">
                  <c:v>-0.06409</c:v>
                </c:pt>
                <c:pt idx="17">
                  <c:v>-0.08891</c:v>
                </c:pt>
                <c:pt idx="18">
                  <c:v>-0.07564</c:v>
                </c:pt>
                <c:pt idx="19">
                  <c:v>-0.06253</c:v>
                </c:pt>
                <c:pt idx="20">
                  <c:v>-0.03784</c:v>
                </c:pt>
                <c:pt idx="21">
                  <c:v>-0.01787</c:v>
                </c:pt>
                <c:pt idx="22">
                  <c:v>-0.00018</c:v>
                </c:pt>
                <c:pt idx="23">
                  <c:v>0.0</c:v>
                </c:pt>
                <c:pt idx="24">
                  <c:v>0.0</c:v>
                </c:pt>
                <c:pt idx="25">
                  <c:v>0.0</c:v>
                </c:pt>
                <c:pt idx="26">
                  <c:v>-0.03067</c:v>
                </c:pt>
                <c:pt idx="27">
                  <c:v>-0.03804</c:v>
                </c:pt>
                <c:pt idx="28">
                  <c:v>0.0</c:v>
                </c:pt>
                <c:pt idx="29">
                  <c:v>0.0</c:v>
                </c:pt>
                <c:pt idx="30">
                  <c:v>0.0</c:v>
                </c:pt>
                <c:pt idx="31">
                  <c:v>0.0</c:v>
                </c:pt>
                <c:pt idx="32">
                  <c:v>0.0</c:v>
                </c:pt>
                <c:pt idx="33">
                  <c:v>-0.01357</c:v>
                </c:pt>
                <c:pt idx="34">
                  <c:v>-0.00439</c:v>
                </c:pt>
                <c:pt idx="35">
                  <c:v>0.0</c:v>
                </c:pt>
                <c:pt idx="36">
                  <c:v>-0.0031</c:v>
                </c:pt>
                <c:pt idx="37">
                  <c:v>-0.01848</c:v>
                </c:pt>
                <c:pt idx="38">
                  <c:v>-0.02135</c:v>
                </c:pt>
                <c:pt idx="39">
                  <c:v>0.0</c:v>
                </c:pt>
                <c:pt idx="40">
                  <c:v>0.0</c:v>
                </c:pt>
                <c:pt idx="41">
                  <c:v>0.0</c:v>
                </c:pt>
                <c:pt idx="42">
                  <c:v>0.0</c:v>
                </c:pt>
                <c:pt idx="43">
                  <c:v>-0.01759</c:v>
                </c:pt>
                <c:pt idx="44">
                  <c:v>-0.03771</c:v>
                </c:pt>
                <c:pt idx="45">
                  <c:v>-0.04257</c:v>
                </c:pt>
                <c:pt idx="46">
                  <c:v>-0.00142</c:v>
                </c:pt>
                <c:pt idx="47">
                  <c:v>0.0</c:v>
                </c:pt>
                <c:pt idx="48">
                  <c:v>0.0</c:v>
                </c:pt>
                <c:pt idx="49">
                  <c:v>0.0</c:v>
                </c:pt>
                <c:pt idx="50">
                  <c:v>0.0</c:v>
                </c:pt>
                <c:pt idx="51">
                  <c:v>0.0</c:v>
                </c:pt>
                <c:pt idx="52">
                  <c:v>0.0</c:v>
                </c:pt>
                <c:pt idx="53">
                  <c:v>-0.00399</c:v>
                </c:pt>
                <c:pt idx="54">
                  <c:v>-0.00293</c:v>
                </c:pt>
                <c:pt idx="55">
                  <c:v>0.0</c:v>
                </c:pt>
                <c:pt idx="56">
                  <c:v>-0.04593</c:v>
                </c:pt>
                <c:pt idx="57">
                  <c:v>-0.01365</c:v>
                </c:pt>
                <c:pt idx="58">
                  <c:v>0.0</c:v>
                </c:pt>
                <c:pt idx="59">
                  <c:v>0.0</c:v>
                </c:pt>
                <c:pt idx="60">
                  <c:v>-0.02793</c:v>
                </c:pt>
                <c:pt idx="61">
                  <c:v>-0.01007</c:v>
                </c:pt>
              </c:numCache>
            </c:numRef>
          </c:val>
          <c:smooth val="0"/>
        </c:ser>
        <c:ser>
          <c:idx val="1"/>
          <c:order val="1"/>
          <c:tx>
            <c:strRef>
              <c:f>Sheet1!$C$1</c:f>
              <c:strCache>
                <c:ptCount val="1"/>
                <c:pt idx="0">
                  <c:v>-10% review trigger</c:v>
                </c:pt>
              </c:strCache>
            </c:strRef>
          </c:tx>
          <c:spPr>
            <a:ln w="19050">
              <a:solidFill>
                <a:srgbClr val="D6AB52"/>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numCache>
            </c:numRef>
          </c:val>
          <c:smooth val="0"/>
        </c:ser>
        <c:ser>
          <c:idx val="2"/>
          <c:order val="2"/>
          <c:tx>
            <c:strRef>
              <c:f>Sheet1!$D$1</c:f>
              <c:strCache>
                <c:ptCount val="1"/>
                <c:pt idx="0">
                  <c:v>-15% client limit</c:v>
                </c:pt>
              </c:strCache>
            </c:strRef>
          </c:tx>
          <c:spPr>
            <a:ln w="22225">
              <a:solidFill>
                <a:srgbClr val="B32D2E"/>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-0.15</c:v>
                </c:pt>
                <c:pt idx="1">
                  <c:v>-0.15</c:v>
                </c:pt>
                <c:pt idx="2">
                  <c:v>-0.15</c:v>
                </c:pt>
                <c:pt idx="3">
                  <c:v>-0.15</c:v>
                </c:pt>
                <c:pt idx="4">
                  <c:v>-0.15</c:v>
                </c:pt>
                <c:pt idx="5">
                  <c:v>-0.15</c:v>
                </c:pt>
                <c:pt idx="6">
                  <c:v>-0.15</c:v>
                </c:pt>
                <c:pt idx="7">
                  <c:v>-0.15</c:v>
                </c:pt>
                <c:pt idx="8">
                  <c:v>-0.15</c:v>
                </c:pt>
                <c:pt idx="9">
                  <c:v>-0.15</c:v>
                </c:pt>
                <c:pt idx="10">
                  <c:v>-0.15</c:v>
                </c:pt>
                <c:pt idx="11">
                  <c:v>-0.15</c:v>
                </c:pt>
                <c:pt idx="12">
                  <c:v>-0.15</c:v>
                </c:pt>
                <c:pt idx="13">
                  <c:v>-0.15</c:v>
                </c:pt>
                <c:pt idx="14">
                  <c:v>-0.15</c:v>
                </c:pt>
                <c:pt idx="15">
                  <c:v>-0.15</c:v>
                </c:pt>
                <c:pt idx="16">
                  <c:v>-0.15</c:v>
                </c:pt>
                <c:pt idx="17">
                  <c:v>-0.15</c:v>
                </c:pt>
                <c:pt idx="18">
                  <c:v>-0.15</c:v>
                </c:pt>
                <c:pt idx="19">
                  <c:v>-0.15</c:v>
                </c:pt>
                <c:pt idx="20">
                  <c:v>-0.15</c:v>
                </c:pt>
                <c:pt idx="21">
                  <c:v>-0.15</c:v>
                </c:pt>
                <c:pt idx="22">
                  <c:v>-0.15</c:v>
                </c:pt>
                <c:pt idx="23">
                  <c:v>-0.15</c:v>
                </c:pt>
                <c:pt idx="24">
                  <c:v>-0.15</c:v>
                </c:pt>
                <c:pt idx="25">
                  <c:v>-0.15</c:v>
                </c:pt>
                <c:pt idx="26">
                  <c:v>-0.15</c:v>
                </c:pt>
                <c:pt idx="27">
                  <c:v>-0.15</c:v>
                </c:pt>
                <c:pt idx="28">
                  <c:v>-0.15</c:v>
                </c:pt>
                <c:pt idx="29">
                  <c:v>-0.15</c:v>
                </c:pt>
                <c:pt idx="30">
                  <c:v>-0.15</c:v>
                </c:pt>
                <c:pt idx="31">
                  <c:v>-0.15</c:v>
                </c:pt>
                <c:pt idx="32">
                  <c:v>-0.15</c:v>
                </c:pt>
                <c:pt idx="33">
                  <c:v>-0.15</c:v>
                </c:pt>
                <c:pt idx="34">
                  <c:v>-0.15</c:v>
                </c:pt>
                <c:pt idx="35">
                  <c:v>-0.15</c:v>
                </c:pt>
                <c:pt idx="36">
                  <c:v>-0.15</c:v>
                </c:pt>
                <c:pt idx="37">
                  <c:v>-0.15</c:v>
                </c:pt>
                <c:pt idx="38">
                  <c:v>-0.15</c:v>
                </c:pt>
                <c:pt idx="39">
                  <c:v>-0.15</c:v>
                </c:pt>
                <c:pt idx="40">
                  <c:v>-0.15</c:v>
                </c:pt>
                <c:pt idx="41">
                  <c:v>-0.15</c:v>
                </c:pt>
                <c:pt idx="42">
                  <c:v>-0.15</c:v>
                </c:pt>
                <c:pt idx="43">
                  <c:v>-0.15</c:v>
                </c:pt>
                <c:pt idx="44">
                  <c:v>-0.15</c:v>
                </c:pt>
                <c:pt idx="45">
                  <c:v>-0.15</c:v>
                </c:pt>
                <c:pt idx="46">
                  <c:v>-0.15</c:v>
                </c:pt>
                <c:pt idx="47">
                  <c:v>-0.15</c:v>
                </c:pt>
                <c:pt idx="48">
                  <c:v>-0.15</c:v>
                </c:pt>
                <c:pt idx="49">
                  <c:v>-0.15</c:v>
                </c:pt>
                <c:pt idx="50">
                  <c:v>-0.15</c:v>
                </c:pt>
                <c:pt idx="51">
                  <c:v>-0.15</c:v>
                </c:pt>
                <c:pt idx="52">
                  <c:v>-0.15</c:v>
                </c:pt>
                <c:pt idx="53">
                  <c:v>-0.15</c:v>
                </c:pt>
                <c:pt idx="54">
                  <c:v>-0.15</c:v>
                </c:pt>
                <c:pt idx="55">
                  <c:v>-0.15</c:v>
                </c:pt>
                <c:pt idx="56">
                  <c:v>-0.15</c:v>
                </c:pt>
                <c:pt idx="57">
                  <c:v>-0.15</c:v>
                </c:pt>
                <c:pt idx="58">
                  <c:v>-0.15</c:v>
                </c:pt>
                <c:pt idx="59">
                  <c:v>-0.15</c:v>
                </c:pt>
                <c:pt idx="60">
                  <c:v>-0.15</c:v>
                </c:pt>
                <c:pt idx="61">
                  <c:v>-0.15</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0.0"/>
          <c:min val="-0.2"/>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0.05"/>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000" b="1">
                <a:solidFill>
                  <a:srgbClr val="1A1F26"/>
                </a:solidFill>
                <a:latin typeface="Arial"/>
              </a:rPr>
              <a:t>20% of the SAA Sits in Screened ETFs</a:t>
            </a:r>
          </a:p>
        </c:rich>
      </c:tx>
      <c:layout/>
      <c:overlay val="0"/>
    </c:title>
    <c:autoTitleDeleted val="0"/>
    <c:plotArea>
      <c:layout/>
      <c:doughnutChart>
        <c:varyColors/>
        <c:ser>
          <c:idx val="0"/>
          <c:order val="0"/>
          <c:tx>
            <c:strRef>
              <c:f>Sheet1!$B$1</c:f>
              <c:strCache>
                <c:ptCount val="1"/>
                <c:pt idx="0">
                  <c:v>Weight</c:v>
                </c:pt>
              </c:strCache>
            </c:strRef>
          </c:tx>
          <c:dPt>
            <c:idx val="0"/>
            <c:spPr>
              <a:solidFill>
                <a:srgbClr val="2E7D32"/>
              </a:solidFill>
              <a:ln w="12700">
                <a:solidFill>
                  <a:srgbClr val="FFFFFF"/>
                </a:solidFill>
              </a:ln>
            </c:spPr>
          </c:dPt>
          <c:dPt>
            <c:idx val="1"/>
            <c:spPr>
              <a:solidFill>
                <a:srgbClr val="7FB77E"/>
              </a:solidFill>
              <a:ln w="12700">
                <a:solidFill>
                  <a:srgbClr val="FFFFFF"/>
                </a:solidFill>
              </a:ln>
            </c:spPr>
          </c:dPt>
          <c:dPt>
            <c:idx val="2"/>
            <c:spPr>
              <a:solidFill>
                <a:srgbClr val="C9D1DA"/>
              </a:solidFill>
              <a:ln w="12700">
                <a:solidFill>
                  <a:srgbClr val="FFFFFF"/>
                </a:solidFill>
              </a:ln>
            </c:spPr>
          </c:dPt>
          <c:dLbls>
            <c:dLbl>
              <c:idx val="1"/>
              <c:delete val="1"/>
            </c:dLbl>
            <c:dLbl>
              <c:idx val="2"/>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Sheet1!$A$2:$A$4</c:f>
              <c:strCache>
                <c:ptCount val="3"/>
                <c:pt idx="0">
                  <c:v>ESGI  International sustainable 19%</c:v>
                </c:pt>
                <c:pt idx="1">
                  <c:v>VETH  Australian sustainable 1%</c:v>
                </c:pt>
                <c:pt idx="2">
                  <c:v>Other holdings 80%</c:v>
                </c:pt>
              </c:strCache>
            </c:strRef>
          </c:cat>
          <c:val>
            <c:numRef>
              <c:f>Sheet1!$B$2:$B$4</c:f>
              <c:numCache>
                <c:formatCode>General</c:formatCode>
                <c:ptCount val="3"/>
                <c:pt idx="0">
                  <c:v>0.19</c:v>
                </c:pt>
                <c:pt idx="1">
                  <c:v>0.01</c:v>
                </c:pt>
                <c:pt idx="2">
                  <c:v>0.8</c:v>
                </c:pt>
              </c:numCache>
            </c:numRef>
          </c:val>
        </c:ser>
        <c:dLbls>
          <c:showLegendKey val="0"/>
          <c:showVal val="0"/>
          <c:showCatName val="0"/>
          <c:showSerName val="0"/>
          <c:showPercent val="0"/>
          <c:showBubbleSize val="0"/>
          <c:showLeaderLines val="1"/>
        </c:dLbls>
        <c:firstSliceAng val="0"/>
        <c:holeSize val="60"/>
      </c:doughnutChart>
    </c:plotArea>
    <c:legend>
      <c:legendPos val="b"/>
      <c:layout/>
      <c:overlay val="0"/>
      <c:txPr>
        <a:bodyPr/>
        <a:lstStyle/>
        <a:p>
          <a:pPr>
            <a:defRPr sz="85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000" b="1">
                <a:solidFill>
                  <a:srgbClr val="1A1F26"/>
                </a:solidFill>
                <a:latin typeface="Arial"/>
              </a:rPr>
              <a:t>70% Growth, 30% Defensive, With No Borrowing Anywhere</a:t>
            </a:r>
          </a:p>
        </c:rich>
      </c:tx>
      <c:layout/>
      <c:overlay val="0"/>
    </c:title>
    <c:autoTitleDeleted val="0"/>
    <c:plotArea>
      <c:layout/>
      <c:doughnutChart>
        <c:varyColors/>
        <c:ser>
          <c:idx val="0"/>
          <c:order val="0"/>
          <c:tx>
            <c:strRef>
              <c:f>Sheet1!$B$1</c:f>
              <c:strCache>
                <c:ptCount val="1"/>
                <c:pt idx="0">
                  <c:v>Weight</c:v>
                </c:pt>
              </c:strCache>
            </c:strRef>
          </c:tx>
          <c:dPt>
            <c:idx val="0"/>
            <c:spPr>
              <a:solidFill>
                <a:srgbClr val="0B2C48"/>
              </a:solidFill>
              <a:ln w="12700">
                <a:solidFill>
                  <a:srgbClr val="FFFFFF"/>
                </a:solidFill>
              </a:ln>
            </c:spPr>
          </c:dPt>
          <c:dPt>
            <c:idx val="1"/>
            <c:spPr>
              <a:solidFill>
                <a:srgbClr val="2F6690"/>
              </a:solidFill>
              <a:ln w="12700">
                <a:solidFill>
                  <a:srgbClr val="FFFFFF"/>
                </a:solidFill>
              </a:ln>
            </c:spPr>
          </c:dPt>
          <c:dPt>
            <c:idx val="2"/>
            <c:spPr>
              <a:solidFill>
                <a:srgbClr val="8FB3CF"/>
              </a:solidFill>
              <a:ln w="12700">
                <a:solidFill>
                  <a:srgbClr val="FFFFFF"/>
                </a:solidFill>
              </a:ln>
            </c:spPr>
          </c:dPt>
          <c:dPt>
            <c:idx val="3"/>
            <c:spPr>
              <a:solidFill>
                <a:srgbClr val="D4A437"/>
              </a:solidFill>
              <a:ln w="12700">
                <a:solidFill>
                  <a:srgbClr val="FFFFFF"/>
                </a:solidFill>
              </a:ln>
            </c:spPr>
          </c:dPt>
          <c:dPt>
            <c:idx val="4"/>
            <c:spPr>
              <a:solidFill>
                <a:srgbClr val="E7D3A1"/>
              </a:solidFill>
              <a:ln w="12700">
                <a:solidFill>
                  <a:srgbClr val="FFFFFF"/>
                </a:solidFill>
              </a:ln>
            </c:spPr>
          </c:dPt>
          <c:dLbls>
            <c:dLbl>
              <c:idx val="1"/>
              <c:delete val="1"/>
            </c:dLbl>
            <c:dLbl>
              <c:idx val="4"/>
              <c:delete val="1"/>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Sheet1!$A$2:$A$6</c:f>
              <c:strCache>
                <c:ptCount val="5"/>
                <c:pt idx="0">
                  <c:v>Equities 66.6%</c:v>
                </c:pt>
                <c:pt idx="1">
                  <c:v>Infrastructure 3.4%</c:v>
                </c:pt>
                <c:pt idx="2">
                  <c:v>Cash (BILL) 21.0%</c:v>
                </c:pt>
                <c:pt idx="3">
                  <c:v>Gold 8.0%</c:v>
                </c:pt>
                <c:pt idx="4">
                  <c:v>Bonds (VACF) 1.0%</c:v>
                </c:pt>
              </c:strCache>
            </c:strRef>
          </c:cat>
          <c:val>
            <c:numRef>
              <c:f>Sheet1!$B$2:$B$6</c:f>
              <c:numCache>
                <c:formatCode>General</c:formatCode>
                <c:ptCount val="5"/>
                <c:pt idx="0">
                  <c:v>0.6661</c:v>
                </c:pt>
                <c:pt idx="1">
                  <c:v>0.0339</c:v>
                </c:pt>
                <c:pt idx="2">
                  <c:v>0.21</c:v>
                </c:pt>
                <c:pt idx="3">
                  <c:v>0.08</c:v>
                </c:pt>
                <c:pt idx="4">
                  <c:v>0.01</c:v>
                </c:pt>
              </c:numCache>
            </c:numRef>
          </c:val>
        </c:ser>
        <c:dLbls>
          <c:showLegendKey val="0"/>
          <c:showVal val="0"/>
          <c:showCatName val="0"/>
          <c:showSerName val="0"/>
          <c:showPercent val="0"/>
          <c:showBubbleSize val="0"/>
          <c:showLeaderLines val="1"/>
        </c:dLbls>
        <c:firstSliceAng val="0"/>
        <c:holeSize val="55"/>
      </c:doughnutChart>
    </c:plotArea>
    <c:legend>
      <c:legendPos val="b"/>
      <c:layout/>
      <c:overlay val="0"/>
      <c:txPr>
        <a:bodyPr/>
        <a:lstStyle/>
        <a:p>
          <a:pPr>
            <a:defRPr sz="90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Every Asset Class in Every Region Sits at or Below 30%</a:t>
            </a:r>
          </a:p>
        </c:rich>
      </c:tx>
      <c:layout/>
      <c:overlay val="0"/>
    </c:title>
    <c:autoTitleDeleted val="0"/>
    <c:plotArea>
      <c:barChart>
        <c:barDir val="bar"/>
        <c:grouping val="stacked"/>
        <c:ser>
          <c:idx val="0"/>
          <c:order val="0"/>
          <c:tx>
            <c:strRef>
              <c:f>Sheet1!$B$1</c:f>
              <c:strCache>
                <c:ptCount val="1"/>
                <c:pt idx="0">
                  <c:v>70/30 weight</c:v>
                </c:pt>
              </c:strCache>
            </c:strRef>
          </c:tx>
          <c:spPr>
            <a:solidFill>
              <a:srgbClr val="0B2C48"/>
            </a:solidFill>
          </c:spPr>
          <c:cat>
            <c:strRef>
              <c:f>Sheet1!$A$2:$A$9</c:f>
              <c:strCache>
                <c:ptCount val="8"/>
                <c:pt idx="0">
                  <c:v>US equities  30.0%</c:v>
                </c:pt>
                <c:pt idx="1">
                  <c:v>Australian cash  21.0%</c:v>
                </c:pt>
                <c:pt idx="2">
                  <c:v>Global equities (ESGI)  19.0%</c:v>
                </c:pt>
                <c:pt idx="3">
                  <c:v>Japan equities  16.6%</c:v>
                </c:pt>
                <c:pt idx="4">
                  <c:v>Global gold  8.0%</c:v>
                </c:pt>
                <c:pt idx="5">
                  <c:v>Global infrastructure  3.4%</c:v>
                </c:pt>
                <c:pt idx="6">
                  <c:v>Australian equities  1.0%</c:v>
                </c:pt>
                <c:pt idx="7">
                  <c:v>Australian bonds  1.0%</c:v>
                </c:pt>
              </c:strCache>
            </c:strRef>
          </c:cat>
          <c:val>
            <c:numRef>
              <c:f>Sheet1!$B$2:$B$9</c:f>
              <c:numCache>
                <c:formatCode>General</c:formatCode>
                <c:ptCount val="8"/>
                <c:pt idx="0">
                  <c:v>0.3</c:v>
                </c:pt>
                <c:pt idx="1">
                  <c:v>0.21</c:v>
                </c:pt>
                <c:pt idx="2">
                  <c:v>0.19</c:v>
                </c:pt>
                <c:pt idx="3">
                  <c:v>0.1661</c:v>
                </c:pt>
                <c:pt idx="4">
                  <c:v>0.08</c:v>
                </c:pt>
                <c:pt idx="5">
                  <c:v>0.0339</c:v>
                </c:pt>
                <c:pt idx="6">
                  <c:v>0.01</c:v>
                </c:pt>
                <c:pt idx="7">
                  <c:v>0.01</c:v>
                </c:pt>
              </c:numCache>
            </c:numRef>
          </c:val>
        </c:ser>
        <c:ser>
          <c:idx val="1"/>
          <c:order val="1"/>
          <c:tx>
            <c:strRef>
              <c:f>Sheet1!$C$1</c:f>
              <c:strCache>
                <c:ptCount val="1"/>
                <c:pt idx="0">
                  <c:v>Headroom to 30% cap</c:v>
                </c:pt>
              </c:strCache>
            </c:strRef>
          </c:tx>
          <c:spPr>
            <a:solidFill>
              <a:srgbClr val="E3E8EE"/>
            </a:solidFill>
          </c:spPr>
          <c:cat>
            <c:strRef>
              <c:f>Sheet1!$A$2:$A$9</c:f>
              <c:strCache>
                <c:ptCount val="8"/>
                <c:pt idx="0">
                  <c:v>US equities  30.0%</c:v>
                </c:pt>
                <c:pt idx="1">
                  <c:v>Australian cash  21.0%</c:v>
                </c:pt>
                <c:pt idx="2">
                  <c:v>Global equities (ESGI)  19.0%</c:v>
                </c:pt>
                <c:pt idx="3">
                  <c:v>Japan equities  16.6%</c:v>
                </c:pt>
                <c:pt idx="4">
                  <c:v>Global gold  8.0%</c:v>
                </c:pt>
                <c:pt idx="5">
                  <c:v>Global infrastructure  3.4%</c:v>
                </c:pt>
                <c:pt idx="6">
                  <c:v>Australian equities  1.0%</c:v>
                </c:pt>
                <c:pt idx="7">
                  <c:v>Australian bonds  1.0%</c:v>
                </c:pt>
              </c:strCache>
            </c:strRef>
          </c:cat>
          <c:val>
            <c:numRef>
              <c:f>Sheet1!$C$2:$C$9</c:f>
              <c:numCache>
                <c:formatCode>General</c:formatCode>
                <c:ptCount val="8"/>
                <c:pt idx="0">
                  <c:v>0.0</c:v>
                </c:pt>
                <c:pt idx="1">
                  <c:v>0.09</c:v>
                </c:pt>
                <c:pt idx="2">
                  <c:v>0.11</c:v>
                </c:pt>
                <c:pt idx="3">
                  <c:v>0.1339</c:v>
                </c:pt>
                <c:pt idx="4">
                  <c:v>0.22</c:v>
                </c:pt>
                <c:pt idx="5">
                  <c:v>0.2661</c:v>
                </c:pt>
                <c:pt idx="6">
                  <c:v>0.29</c:v>
                </c:pt>
                <c:pt idx="7">
                  <c:v>0.29</c:v>
                </c:pt>
              </c:numCache>
            </c:numRef>
          </c:val>
        </c:ser>
        <c:gapWidth val="45"/>
        <c:overlap val="100"/>
        <c:axId val="-2068027336"/>
        <c:axId val="-2113994440"/>
      </c:barChart>
      <c:catAx>
        <c:axId val="-2068027336"/>
        <c:scaling>
          <c:orientation val="maxMin"/>
        </c:scaling>
        <c:delete val="0"/>
        <c:axPos val="l"/>
        <c:majorTickMark val="none"/>
        <c:minorTickMark val="none"/>
        <c:tickLblPos val="nextTo"/>
        <c:spPr>
          <a:ln w="9525">
            <a:solidFill>
              <a:srgbClr val="B8C2CC"/>
            </a:solidFill>
          </a:ln>
        </c:spPr>
        <c:txPr>
          <a:bodyPr/>
          <a:lstStyle/>
          <a:p>
            <a:pPr>
              <a:defRPr sz="800">
                <a:solidFill>
                  <a:srgbClr val="46505A"/>
                </a:solidFill>
                <a:latin typeface="Arial"/>
              </a:defRPr>
            </a:pPr>
          </a:p>
        </c:txPr>
        <c:crossAx val="-2113994440"/>
        <c:crosses val="autoZero"/>
        <c:auto val="1"/>
        <c:lblAlgn val="ctr"/>
        <c:lblOffset val="100"/>
        <c:noMultiLvlLbl val="0"/>
      </c:catAx>
      <c:valAx>
        <c:axId val="-2113994440"/>
        <c:scaling>
          <c:max val="0.3"/>
          <c:min val="0.0"/>
        </c:scaling>
        <c:delete val="0"/>
        <c:axPos val="b"/>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068027336"/>
        <c:crosses val="max"/>
        <c:majorUnit val="0.05"/>
      </c:valAx>
    </c:plotArea>
    <c:legend>
      <c:legendPos val="b"/>
      <c:overlay val="0"/>
      <c:txPr>
        <a:bodyPr/>
        <a:lstStyle/>
        <a:p>
          <a:pPr>
            <a:defRPr sz="800">
              <a:solidFill>
                <a:srgbClr val="46505A"/>
              </a:solidFill>
              <a:latin typeface="Arial"/>
            </a:defRPr>
          </a:pPr>
        </a:p>
      </c:txPr>
    </c:legend>
    <c:dispBlanksAs val="gap"/>
  </c:chart>
  <c:txPr>
    <a:bodyPr/>
    <a:lstStyle/>
    <a:p>
      <a:pPr>
        <a:defRPr sz="800">
          <a:latin typeface="Arial"/>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3836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784530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GION">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B51E23"/>
          </a:solidFill>
          <a:ln w="12700">
            <a:solidFill>
              <a:srgbClr val="B51E23"/>
            </a:solidFill>
            <a:prstDash val="solid"/>
          </a:ln>
        </p:spPr>
        <p:txBody>
          <a:bodyPr/>
          <a:lstStyle/>
          <a:p>
            <a:endParaRPr lang="en-AU"/>
          </a:p>
        </p:txBody>
      </p:sp>
      <p:sp>
        <p:nvSpPr>
          <p:cNvPr id="3" name="Shape 1"/>
          <p:cNvSpPr/>
          <p:nvPr/>
        </p:nvSpPr>
        <p:spPr>
          <a:xfrm>
            <a:off x="274320" y="850392"/>
            <a:ext cx="11631168" cy="0"/>
          </a:xfrm>
          <a:prstGeom prst="line">
            <a:avLst/>
          </a:prstGeom>
          <a:noFill/>
          <a:ln w="15240">
            <a:solidFill>
              <a:srgbClr val="222222"/>
            </a:solidFill>
            <a:prstDash val="solid"/>
          </a:ln>
        </p:spPr>
        <p:txBody>
          <a:bodyPr/>
          <a:lstStyle/>
          <a:p>
            <a:endParaRPr lang="en-AU"/>
          </a:p>
        </p:txBody>
      </p:sp>
      <p:sp>
        <p:nvSpPr>
          <p:cNvPr id="4" name="Text 2"/>
          <p:cNvSpPr/>
          <p:nvPr/>
        </p:nvSpPr>
        <p:spPr>
          <a:xfrm>
            <a:off x="9491472" y="155448"/>
            <a:ext cx="2359152" cy="182880"/>
          </a:xfrm>
          <a:prstGeom prst="rect">
            <a:avLst/>
          </a:prstGeom>
          <a:noFill/>
          <a:ln/>
        </p:spPr>
        <p:txBody>
          <a:bodyPr wrap="square" lIns="0" tIns="0" rIns="0" bIns="0" rtlCol="0" anchor="ctr"/>
          <a:lstStyle/>
          <a:p>
            <a:pPr algn="r">
              <a:defRPr sz="750" b="1">
                <a:solidFill>
                  <a:srgbClr val="FFFFFF"/>
                </a:solidFill>
              </a:defRPr>
            </a:pPr>
            <a:r>
              <a:rPr sz="750" b="1">
                <a:solidFill>
                  <a:srgbClr val="FFFFFF"/>
                </a:solidFill>
              </a:rPr>
              <a:t>NEO-EDGE CAPITAL</a:t>
            </a:r>
          </a:p>
        </p:txBody>
      </p:sp>
      <p:sp>
        <p:nvSpPr>
          <p:cNvPr id="2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77777"/>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77777"/>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5.xml"/><Relationship Id="rId9" Type="http://schemas.openxmlformats.org/officeDocument/2006/relationships/slide" Target="slide16.xml"/><Relationship Id="rId10" Type="http://schemas.openxmlformats.org/officeDocument/2006/relationships/slide" Target="slide17.xml"/><Relationship Id="rId11" Type="http://schemas.openxmlformats.org/officeDocument/2006/relationships/slide" Target="slide18.xml"/><Relationship Id="rId12" Type="http://schemas.openxmlformats.org/officeDocument/2006/relationships/slide" Target="slide22.xml"/><Relationship Id="rId13" Type="http://schemas.openxmlformats.org/officeDocument/2006/relationships/slide" Target="slide3.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3.xml"/><Relationship Id="rId17" Type="http://schemas.openxmlformats.org/officeDocument/2006/relationships/slide" Target="slide14.xml"/><Relationship Id="rId18" Type="http://schemas.openxmlformats.org/officeDocument/2006/relationships/slide" Target="slide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 Id="rId18" Type="http://schemas.openxmlformats.org/officeDocument/2006/relationships/slide" Target="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33.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6.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5.xml"/><Relationship Id="rId17" Type="http://schemas.openxmlformats.org/officeDocument/2006/relationships/slide" Target="slide16.xml"/><Relationship Id="rId18" Type="http://schemas.openxmlformats.org/officeDocument/2006/relationships/slide" Target="slide17.xml"/><Relationship Id="rId19" Type="http://schemas.openxmlformats.org/officeDocument/2006/relationships/slide" Target="slide18.xml"/><Relationship Id="rId20" Type="http://schemas.openxmlformats.org/officeDocument/2006/relationships/slide" Target="slide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slide" Target="slide24.xml"/><Relationship Id="rId6" Type="http://schemas.openxmlformats.org/officeDocument/2006/relationships/slide" Target="slide25.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6.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chart" Target="../charts/chart9.xml"/><Relationship Id="rId23" Type="http://schemas.openxmlformats.org/officeDocument/2006/relationships/chart" Target="../charts/chart10.xml"/><Relationship Id="rId24" Type="http://schemas.openxmlformats.org/officeDocument/2006/relationships/chart" Target="../charts/chart11.xml"/><Relationship Id="rId25" Type="http://schemas.openxmlformats.org/officeDocument/2006/relationships/chart" Target="../charts/char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chart" Target="../charts/chart15.xml"/><Relationship Id="rId6" Type="http://schemas.openxmlformats.org/officeDocument/2006/relationships/chart" Target="../charts/chart16.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 Id="rId6" Type="http://schemas.openxmlformats.org/officeDocument/2006/relationships/chart" Target="../charts/chart28.xml"/><Relationship Id="rId7" Type="http://schemas.openxmlformats.org/officeDocument/2006/relationships/slide" Target="slide25.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6.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6" Type="http://schemas.openxmlformats.org/officeDocument/2006/relationships/slide" Target="slide13.xml"/><Relationship Id="rId17" Type="http://schemas.openxmlformats.org/officeDocument/2006/relationships/slide" Target="slide14.xml"/><Relationship Id="rId18" Type="http://schemas.openxmlformats.org/officeDocument/2006/relationships/slide" Target="slide15.xml"/><Relationship Id="rId19" Type="http://schemas.openxmlformats.org/officeDocument/2006/relationships/slide" Target="slide16.xml"/><Relationship Id="rId20" Type="http://schemas.openxmlformats.org/officeDocument/2006/relationships/slide" Target="slide17.xml"/><Relationship Id="rId21" Type="http://schemas.openxmlformats.org/officeDocument/2006/relationships/slide" Target="slide18.xml"/><Relationship Id="rId22" Type="http://schemas.openxmlformats.org/officeDocument/2006/relationships/slide" Target="slide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chart" Target="../charts/chart32.xml"/><Relationship Id="rId7" Type="http://schemas.openxmlformats.org/officeDocument/2006/relationships/slide" Target="slide25.xml"/><Relationship Id="rId8" Type="http://schemas.openxmlformats.org/officeDocument/2006/relationships/slide" Target="slide24.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5.xml"/><Relationship Id="rId3" Type="http://schemas.openxmlformats.org/officeDocument/2006/relationships/slide" Target="slide24.xml"/><Relationship Id="rId4" Type="http://schemas.openxmlformats.org/officeDocument/2006/relationships/chart" Target="../charts/chart34.xml"/><Relationship Id="rId5" Type="http://schemas.openxmlformats.org/officeDocument/2006/relationships/chart" Target="../charts/chart35.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6.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5.xml"/><Relationship Id="rId17" Type="http://schemas.openxmlformats.org/officeDocument/2006/relationships/slide" Target="slide16.xml"/><Relationship Id="rId18" Type="http://schemas.openxmlformats.org/officeDocument/2006/relationships/slide" Target="slide17.xml"/><Relationship Id="rId19" Type="http://schemas.openxmlformats.org/officeDocument/2006/relationships/slide" Target="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6.xml"/><Relationship Id="rId3" Type="http://schemas.openxmlformats.org/officeDocument/2006/relationships/chart" Target="../charts/chart37.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 Id="rId18" Type="http://schemas.openxmlformats.org/officeDocument/2006/relationships/slide" Target="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8.xml"/><Relationship Id="rId3" Type="http://schemas.openxmlformats.org/officeDocument/2006/relationships/slide" Target="slide25.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 Id="rId18" Type="http://schemas.openxmlformats.org/officeDocument/2006/relationships/slide" Target="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0.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wide_high_resolution_digital_infographic_backgrou.png"/>
          <p:cNvPicPr>
            <a:picLocks noChangeAspect="1"/>
          </p:cNvPicPr>
          <p:nvPr/>
        </p:nvPicPr>
        <p:blipFill>
          <a:blip r:embed="rId3"/>
          <a:srcRect t="25" b="25"/>
          <a:stretch/>
        </p:blipFill>
        <p:spPr>
          <a:xfrm>
            <a:off x="0" y="25167"/>
            <a:ext cx="12191695" cy="6858000"/>
          </a:xfrm>
          <a:prstGeom prst="rect">
            <a:avLst/>
          </a:prstGeom>
        </p:spPr>
      </p:pic>
      <p:sp>
        <p:nvSpPr>
          <p:cNvPr id="3" name="Text 0"/>
          <p:cNvSpPr/>
          <p:nvPr/>
        </p:nvSpPr>
        <p:spPr>
          <a:xfrm>
            <a:off x="594360" y="438912"/>
            <a:ext cx="4617720" cy="292608"/>
          </a:xfrm>
          <a:prstGeom prst="rect">
            <a:avLst/>
          </a:prstGeom>
          <a:solidFill>
            <a:srgbClr val="03101F">
              <a:alpha val="68000"/>
            </a:srgbClr>
          </a:solidFill>
          <a:ln/>
        </p:spPr>
        <p:txBody>
          <a:bodyPr wrap="square" lIns="0" tIns="0" rIns="0" bIns="0" rtlCol="0" anchor="ctr"/>
          <a:lstStyle/>
          <a:p>
            <a:pPr marL="0" indent="0">
              <a:buNone/>
            </a:pPr>
            <a:r>
              <a:rPr lang="en-US" sz="1100" b="1">
                <a:solidFill>
                  <a:srgbClr val="D7E7F8"/>
                </a:solidFill>
                <a:latin typeface="Arial" pitchFamily="34" charset="0"/>
                <a:ea typeface="Arial" pitchFamily="34" charset="-122"/>
                <a:cs typeface="Arial" pitchFamily="34" charset="-120"/>
              </a:rPr>
              <a:t>NEO-EDGE CAPITAL</a:t>
            </a:r>
            <a:endParaRPr lang="en-US" sz="1100"/>
          </a:p>
        </p:txBody>
      </p:sp>
      <p:sp>
        <p:nvSpPr>
          <p:cNvPr id="4" name="Shape 1"/>
          <p:cNvSpPr/>
          <p:nvPr/>
        </p:nvSpPr>
        <p:spPr>
          <a:xfrm>
            <a:off x="594360" y="868680"/>
            <a:ext cx="4617720" cy="0"/>
          </a:xfrm>
          <a:prstGeom prst="line">
            <a:avLst/>
          </a:prstGeom>
          <a:noFill/>
          <a:ln w="16510">
            <a:solidFill>
              <a:srgbClr val="D9A45F"/>
            </a:solidFill>
            <a:prstDash val="solid"/>
            <a:headEnd type="none"/>
            <a:tailEnd type="none"/>
          </a:ln>
        </p:spPr>
        <p:txBody>
          <a:bodyPr/>
          <a:lstStyle/>
          <a:p>
            <a:endParaRPr lang="en-AU"/>
          </a:p>
        </p:txBody>
      </p:sp>
      <p:sp>
        <p:nvSpPr>
          <p:cNvPr id="5" name="Text 2"/>
          <p:cNvSpPr/>
          <p:nvPr/>
        </p:nvSpPr>
        <p:spPr>
          <a:xfrm>
            <a:off x="594360" y="1426464"/>
            <a:ext cx="4617720" cy="1572768"/>
          </a:xfrm>
          <a:prstGeom prst="rect">
            <a:avLst/>
          </a:prstGeom>
          <a:solidFill>
            <a:srgbClr val="03101F">
              <a:alpha val="86000"/>
            </a:srgbClr>
          </a:solidFill>
          <a:ln>
            <a:solidFill>
              <a:srgbClr val="FFFFFF">
                <a:alpha val="0"/>
              </a:srgbClr>
            </a:solidFill>
          </a:ln>
        </p:spPr>
        <p:txBody>
          <a:bodyPr wrap="square" lIns="1016" tIns="1016" rIns="1016" bIns="1016" rtlCol="0" anchor="ctr">
            <a:normAutofit/>
          </a:bodyPr>
          <a:lstStyle/>
          <a:p>
            <a:r>
              <a:rPr sz="3200" b="1">
                <a:solidFill>
                  <a:srgbClr val="FFFFFF"/>
                </a:solidFill>
                <a:latin typeface="Aptos Display"/>
              </a:rPr>
              <a:t>INVESTMENT STRATEGY</a:t>
            </a:r>
          </a:p>
          <a:p>
            <a:r>
              <a:rPr sz="3200" b="1">
                <a:solidFill>
                  <a:srgbClr val="FFFFFF"/>
                </a:solidFill>
                <a:latin typeface="Aptos Display"/>
              </a:rPr>
              <a:t>PROPOSAL</a:t>
            </a:r>
          </a:p>
        </p:txBody>
      </p:sp>
      <p:sp>
        <p:nvSpPr>
          <p:cNvPr id="7" name="Shape 4"/>
          <p:cNvSpPr/>
          <p:nvPr/>
        </p:nvSpPr>
        <p:spPr>
          <a:xfrm>
            <a:off x="594360" y="3813048"/>
            <a:ext cx="4617720" cy="0"/>
          </a:xfrm>
          <a:prstGeom prst="line">
            <a:avLst/>
          </a:prstGeom>
          <a:noFill/>
          <a:ln w="9525">
            <a:solidFill>
              <a:srgbClr val="FFFFFF">
                <a:alpha val="65000"/>
              </a:srgbClr>
            </a:solidFill>
            <a:prstDash val="solid"/>
          </a:ln>
        </p:spPr>
        <p:txBody>
          <a:bodyPr/>
          <a:lstStyle/>
          <a:p>
            <a:endParaRPr lang="en-AU"/>
          </a:p>
        </p:txBody>
      </p:sp>
      <p:sp>
        <p:nvSpPr>
          <p:cNvPr id="8" name="Text 5"/>
          <p:cNvSpPr/>
          <p:nvPr/>
        </p:nvSpPr>
        <p:spPr>
          <a:xfrm>
            <a:off x="594360" y="3977640"/>
            <a:ext cx="5760720" cy="530352"/>
          </a:xfrm>
          <a:prstGeom prst="rect">
            <a:avLst/>
          </a:prstGeom>
          <a:solidFill>
            <a:srgbClr val="03101F">
              <a:alpha val="65000"/>
            </a:srgbClr>
          </a:solidFill>
          <a:ln/>
        </p:spPr>
        <p:txBody>
          <a:bodyPr wrap="square" lIns="254" tIns="254" rIns="254" bIns="254" rtlCol="0" anchor="ctr">
            <a:normAutofit/>
          </a:bodyPr>
          <a:lstStyle/>
          <a:p>
            <a:r>
              <a:rPr sz="1150">
                <a:solidFill>
                  <a:srgbClr val="E8F3FF"/>
                </a:solidFill>
                <a:latin typeface="Arial"/>
              </a:rPr>
              <a:t>Jenny Smith  |  A$100m Griffith Scholarship Portfolio</a:t>
            </a:r>
          </a:p>
          <a:p>
            <a:r>
              <a:rPr sz="1150">
                <a:solidFill>
                  <a:srgbClr val="E8F3FF"/>
                </a:solidFill>
                <a:latin typeface="Arial"/>
              </a:rPr>
              <a:t>Strategic Asset Allocation  •  Tactical Asset Allocation  •  ASX-listed ETFs</a:t>
            </a:r>
          </a:p>
        </p:txBody>
      </p:sp>
      <p:sp>
        <p:nvSpPr>
          <p:cNvPr id="10" name="Text 7"/>
          <p:cNvSpPr/>
          <p:nvPr/>
        </p:nvSpPr>
        <p:spPr>
          <a:xfrm>
            <a:off x="594360" y="5715000"/>
            <a:ext cx="4617720" cy="201168"/>
          </a:xfrm>
          <a:prstGeom prst="rect">
            <a:avLst/>
          </a:prstGeom>
          <a:solidFill>
            <a:srgbClr val="03101F">
              <a:alpha val="52000"/>
            </a:srgbClr>
          </a:solidFill>
          <a:ln/>
        </p:spPr>
        <p:txBody>
          <a:bodyPr wrap="square" lIns="0" tIns="0" rIns="0" bIns="0" rtlCol="0" anchor="ctr"/>
          <a:lstStyle/>
          <a:p>
            <a:r>
              <a:rPr sz="850" b="1">
                <a:solidFill>
                  <a:srgbClr val="B8C8D7"/>
                </a:solidFill>
                <a:latin typeface="Arial"/>
              </a:rPr>
              <a:t>3233AFE Global Investments and Markets</a:t>
            </a:r>
          </a:p>
        </p:txBody>
      </p:sp>
      <p:sp>
        <p:nvSpPr>
          <p:cNvPr id="10" name="Text 7"/>
          <p:cNvSpPr/>
          <p:nvPr/>
        </p:nvSpPr>
        <p:spPr>
          <a:xfrm>
            <a:off x="594360" y="5961888"/>
            <a:ext cx="4617720" cy="201168"/>
          </a:xfrm>
          <a:prstGeom prst="rect">
            <a:avLst/>
          </a:prstGeom>
          <a:solidFill>
            <a:srgbClr val="03101F">
              <a:alpha val="52000"/>
            </a:srgbClr>
          </a:solidFill>
          <a:ln/>
        </p:spPr>
        <p:txBody>
          <a:bodyPr wrap="square" lIns="0" tIns="0" rIns="0" bIns="0" rtlCol="0" anchor="ctr"/>
          <a:lstStyle/>
          <a:p>
            <a:r>
              <a:rPr sz="850">
                <a:solidFill>
                  <a:srgbClr val="B8C8D7"/>
                </a:solidFill>
                <a:latin typeface="Arial"/>
              </a:rPr>
              <a:t>Prepared by: Mitchell Cooper  |  s5230347  |  September 2026</a:t>
            </a:r>
          </a:p>
        </p:txBody>
      </p:sp>
      <p:sp>
        <p:nvSpPr>
          <p:cNvPr id="12" name="Shape 9"/>
          <p:cNvSpPr/>
          <p:nvPr/>
        </p:nvSpPr>
        <p:spPr>
          <a:xfrm>
            <a:off x="0" y="6729984"/>
            <a:ext cx="12191695" cy="0"/>
          </a:xfrm>
          <a:prstGeom prst="line">
            <a:avLst/>
          </a:prstGeom>
          <a:noFill/>
          <a:ln w="25400">
            <a:solidFill>
              <a:srgbClr val="D9A45F"/>
            </a:solidFill>
            <a:prstDash val="solid"/>
            <a:headEnd type="none"/>
            <a:tailEnd type="none"/>
          </a:ln>
        </p:spPr>
        <p:txBody>
          <a:bodyPr/>
          <a:lstStyle/>
          <a:p>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Art gallery – Australian Indigenous HealthInfoNet">
            <a:extLst>
              <a:ext uri="{FF2B5EF4-FFF2-40B4-BE49-F238E27FC236}">
                <a16:creationId xmlns:a16="http://schemas.microsoft.com/office/drawing/2014/main" id="{9C9DC267-F22E-AA36-3851-F8152977B8F7}"/>
              </a:ext>
            </a:extLst>
          </p:cNvPr>
          <p:cNvPicPr>
            <a:picLocks noChangeAspect="1"/>
          </p:cNvPicPr>
          <p:nvPr/>
        </p:nvPicPr>
        <p:blipFill>
          <a:blip r:embed="rId2"/>
          <a:srcRect t="14465" b="14465"/>
          <a:stretch>
            <a:fillRect/>
          </a:stretch>
        </p:blipFill>
        <p:spPr>
          <a:xfrm>
            <a:off x="0" y="0"/>
            <a:ext cx="12191695" cy="6858000"/>
          </a:xfrm>
          <a:prstGeom prst="rect">
            <a:avLst/>
          </a:prstGeom>
        </p:spPr>
      </p:pic>
      <p:sp>
        <p:nvSpPr>
          <p:cNvPr id="28" name="Overlay"/>
          <p:cNvSpPr/>
          <p:nvPr/>
        </p:nvSpPr>
        <p:spPr>
          <a:xfrm>
            <a:off x="0" y="2331720"/>
            <a:ext cx="12191695" cy="2194560"/>
          </a:xfrm>
          <a:prstGeom prst="rect">
            <a:avLst/>
          </a:prstGeom>
          <a:solidFill>
            <a:srgbClr val="051221">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Ack title"/>
          <p:cNvSpPr txBox="1"/>
          <p:nvPr/>
        </p:nvSpPr>
        <p:spPr>
          <a:xfrm>
            <a:off x="1371600" y="2560320"/>
            <a:ext cx="9445752" cy="548640"/>
          </a:xfrm>
          <a:prstGeom prst="rect">
            <a:avLst/>
          </a:prstGeom>
          <a:noFill/>
        </p:spPr>
        <p:txBody>
          <a:bodyPr wrap="square" lIns="0" tIns="0" rIns="0" bIns="0" anchor="ctr">
            <a:noAutofit/>
          </a:bodyPr>
          <a:lstStyle/>
          <a:p>
            <a:pPr algn="ctr">
              <a:buNone/>
            </a:pPr>
            <a:r>
              <a:rPr sz="2800" b="1" i="0">
                <a:solidFill>
                  <a:srgbClr val="FFFFFF"/>
                </a:solidFill>
                <a:latin typeface="Cambria"/>
              </a:rPr>
              <a:t>Acknowledgement of Country</a:t>
            </a:r>
            <a:endParaRPr lang="en-AU" sz="2800" dirty="0"/>
          </a:p>
        </p:txBody>
      </p:sp>
      <p:sp>
        <p:nvSpPr>
          <p:cNvPr id="30" name="Ack rule"/>
          <p:cNvSpPr/>
          <p:nvPr/>
        </p:nvSpPr>
        <p:spPr>
          <a:xfrm>
            <a:off x="5641848" y="3200400"/>
            <a:ext cx="914400" cy="2286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Ack text"/>
          <p:cNvSpPr txBox="1"/>
          <p:nvPr/>
        </p:nvSpPr>
        <p:spPr>
          <a:xfrm>
            <a:off x="1645920" y="3337560"/>
            <a:ext cx="8897112" cy="1005840"/>
          </a:xfrm>
          <a:prstGeom prst="rect">
            <a:avLst/>
          </a:prstGeom>
          <a:noFill/>
        </p:spPr>
        <p:txBody>
          <a:bodyPr wrap="square" lIns="0" tIns="0" rIns="0" bIns="0" anchor="t">
            <a:noAutofit/>
          </a:bodyPr>
          <a:lstStyle/>
          <a:p>
            <a:pPr algn="ctr">
              <a:lnSpc>
                <a:spcPct val="115000"/>
              </a:lnSpc>
              <a:buNone/>
            </a:pPr>
            <a:r>
              <a:rPr sz="1600" b="0" i="0">
                <a:solidFill>
                  <a:srgbClr val="E8ECF1"/>
                </a:solidFill>
                <a:latin typeface="Arial"/>
              </a:rPr>
              <a:t>Neo-Edge Capital acknowledges the Traditional Custodians of the land on which we work, and pays respect to Elders past and present. We extend that respect to all Aboriginal and Torres Strait Islander peoples.</a:t>
            </a:r>
            <a:endParaRPr lang="en-AU"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Agenda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All figures in AUD. Portfolio data to 31 August 2026; market and policy data to 21 September 2026 unless otherwise stated</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Card"/>
          <p:cNvSpPr/>
          <p:nvPr/>
        </p:nvSpPr>
        <p:spPr>
          <a:xfrm>
            <a:off x="384048" y="1024128"/>
            <a:ext cx="5440680" cy="5138928"/>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ard header"/>
          <p:cNvSpPr/>
          <p:nvPr/>
        </p:nvSpPr>
        <p:spPr>
          <a:xfrm>
            <a:off x="384048" y="1024128"/>
            <a:ext cx="5440680" cy="347472"/>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ard title"/>
          <p:cNvSpPr txBox="1"/>
          <p:nvPr/>
        </p:nvSpPr>
        <p:spPr>
          <a:xfrm>
            <a:off x="384048" y="1024128"/>
            <a:ext cx="5440680" cy="347472"/>
          </a:xfrm>
          <a:prstGeom prst="rect">
            <a:avLst/>
          </a:prstGeom>
          <a:noFill/>
        </p:spPr>
        <p:txBody>
          <a:bodyPr wrap="square" tIns="0" bIns="0" anchor="ctr">
            <a:noAutofit/>
          </a:bodyPr>
          <a:lstStyle/>
          <a:p>
            <a:pPr algn="ctr">
              <a:buNone/>
            </a:pPr>
            <a:r>
              <a:rPr sz="1200" b="1" i="0">
                <a:solidFill>
                  <a:srgbClr val="FFFFFF"/>
                </a:solidFill>
                <a:latin typeface="Arial"/>
              </a:rPr>
              <a:t>OUTLINE</a:t>
            </a:r>
            <a:endParaRPr lang="en-AU" sz="1200" dirty="0"/>
          </a:p>
        </p:txBody>
      </p:sp>
      <p:sp>
        <p:nvSpPr>
          <p:cNvPr id="25" name="Agenda section bar"/>
          <p:cNvSpPr/>
          <p:nvPr/>
        </p:nvSpPr>
        <p:spPr>
          <a:xfrm>
            <a:off x="384048" y="1481328"/>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Agenda section label"/>
          <p:cNvSpPr txBox="1"/>
          <p:nvPr/>
        </p:nvSpPr>
        <p:spPr>
          <a:xfrm>
            <a:off x="384048" y="1481328"/>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CLIENT UNDERSTANDING</a:t>
            </a:r>
            <a:endParaRPr lang="en-AU" sz="1050" dirty="0"/>
          </a:p>
        </p:txBody>
      </p:sp>
      <p:sp>
        <p:nvSpPr>
          <p:cNvPr id="27" name="Agenda item">
            <a:hlinkClick action="ppaction://hlinksldjump" r:id="rId2"/>
          </p:cNvPr>
          <p:cNvSpPr txBox="1"/>
          <p:nvPr/>
        </p:nvSpPr>
        <p:spPr>
          <a:xfrm>
            <a:off x="612648" y="1828800"/>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First Nations perspective and values alignment</a:t>
            </a:r>
            <a:endParaRPr lang="en-AU" sz="1200" dirty="0"/>
          </a:p>
        </p:txBody>
      </p:sp>
      <p:sp>
        <p:nvSpPr>
          <p:cNvPr id="28" name="Agenda page">
            <a:hlinkClick action="ppaction://hlinksldjump" r:id="rId2"/>
          </p:cNvPr>
          <p:cNvSpPr txBox="1"/>
          <p:nvPr/>
        </p:nvSpPr>
        <p:spPr>
          <a:xfrm>
            <a:off x="5138928" y="1828800"/>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p.4</a:t>
            </a:r>
            <a:endParaRPr lang="en-AU" sz="900" dirty="0"/>
          </a:p>
        </p:txBody>
      </p:sp>
      <p:sp>
        <p:nvSpPr>
          <p:cNvPr id="29" name="Agenda item">
            <a:hlinkClick action="ppaction://hlinksldjump" r:id="rId3"/>
          </p:cNvPr>
          <p:cNvSpPr txBox="1"/>
          <p:nvPr/>
        </p:nvSpPr>
        <p:spPr>
          <a:xfrm>
            <a:off x="612648" y="213055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Jenny Smith's needs and objectives</a:t>
            </a:r>
            <a:endParaRPr lang="en-AU" sz="1200" dirty="0"/>
          </a:p>
        </p:txBody>
      </p:sp>
      <p:sp>
        <p:nvSpPr>
          <p:cNvPr id="30" name="Agenda page">
            <a:hlinkClick action="ppaction://hlinksldjump" r:id="rId3"/>
          </p:cNvPr>
          <p:cNvSpPr txBox="1"/>
          <p:nvPr/>
        </p:nvSpPr>
        <p:spPr>
          <a:xfrm>
            <a:off x="5138928" y="213055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p.5</a:t>
            </a:r>
            <a:endParaRPr lang="en-AU" sz="900" dirty="0"/>
          </a:p>
        </p:txBody>
      </p:sp>
      <p:sp>
        <p:nvSpPr>
          <p:cNvPr id="31" name="Agenda item">
            <a:hlinkClick action="ppaction://hlinksldjump" r:id="rId4"/>
          </p:cNvPr>
          <p:cNvSpPr txBox="1"/>
          <p:nvPr/>
        </p:nvSpPr>
        <p:spPr>
          <a:xfrm>
            <a:off x="612648" y="243230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Strategic asset allocation, backtest and COVID stress test</a:t>
            </a:r>
            <a:endParaRPr lang="en-AU" sz="1200" dirty="0"/>
          </a:p>
        </p:txBody>
      </p:sp>
      <p:sp>
        <p:nvSpPr>
          <p:cNvPr id="32" name="Agenda page">
            <a:hlinkClick action="ppaction://hlinksldjump" r:id="rId4"/>
          </p:cNvPr>
          <p:cNvSpPr txBox="1"/>
          <p:nvPr/>
        </p:nvSpPr>
        <p:spPr>
          <a:xfrm>
            <a:off x="5138928" y="243230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p.6</a:t>
            </a:r>
            <a:endParaRPr lang="en-AU" sz="900" dirty="0"/>
          </a:p>
        </p:txBody>
      </p:sp>
      <p:sp>
        <p:nvSpPr>
          <p:cNvPr id="33" name="Agenda section bar"/>
          <p:cNvSpPr/>
          <p:nvPr/>
        </p:nvSpPr>
        <p:spPr>
          <a:xfrm>
            <a:off x="384048" y="2825496"/>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Agenda section label"/>
          <p:cNvSpPr txBox="1"/>
          <p:nvPr/>
        </p:nvSpPr>
        <p:spPr>
          <a:xfrm>
            <a:off x="384048" y="2825496"/>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MARKET ANALYSIS</a:t>
            </a:r>
            <a:endParaRPr lang="en-AU" sz="1050" dirty="0"/>
          </a:p>
        </p:txBody>
      </p:sp>
      <p:sp>
        <p:nvSpPr>
          <p:cNvPr id="35" name="Agenda item">
            <a:hlinkClick action="ppaction://hlinksldjump" r:id="rId5"/>
          </p:cNvPr>
          <p:cNvSpPr txBox="1"/>
          <p:nvPr/>
        </p:nvSpPr>
        <p:spPr>
          <a:xfrm>
            <a:off x="612648" y="3172968"/>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Macro outlook 2027</a:t>
            </a:r>
            <a:endParaRPr lang="en-AU" sz="1200" dirty="0"/>
          </a:p>
        </p:txBody>
      </p:sp>
      <p:sp>
        <p:nvSpPr>
          <p:cNvPr id="36" name="Agenda page">
            <a:hlinkClick action="ppaction://hlinksldjump" r:id="rId5"/>
          </p:cNvPr>
          <p:cNvSpPr txBox="1"/>
          <p:nvPr/>
        </p:nvSpPr>
        <p:spPr>
          <a:xfrm>
            <a:off x="5138928" y="3172968"/>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p.8</a:t>
            </a:r>
            <a:endParaRPr lang="en-AU" sz="900" dirty="0"/>
          </a:p>
        </p:txBody>
      </p:sp>
      <p:sp>
        <p:nvSpPr>
          <p:cNvPr id="37" name="Agenda item">
            <a:hlinkClick action="ppaction://hlinksldjump" r:id="rId6"/>
          </p:cNvPr>
          <p:cNvSpPr txBox="1"/>
          <p:nvPr/>
        </p:nvSpPr>
        <p:spPr>
          <a:xfrm>
            <a:off x="612648" y="3474720"/>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Australia, United States and Eurozone</a:t>
            </a:r>
            <a:endParaRPr lang="en-AU" sz="1200" dirty="0"/>
          </a:p>
        </p:txBody>
      </p:sp>
      <p:sp>
        <p:nvSpPr>
          <p:cNvPr id="38" name="Agenda page">
            <a:hlinkClick action="ppaction://hlinksldjump" r:id="rId6"/>
          </p:cNvPr>
          <p:cNvSpPr txBox="1"/>
          <p:nvPr/>
        </p:nvSpPr>
        <p:spPr>
          <a:xfrm>
            <a:off x="5138928" y="3474720"/>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p.9</a:t>
            </a:r>
            <a:endParaRPr lang="en-AU" sz="900" dirty="0"/>
          </a:p>
        </p:txBody>
      </p:sp>
      <p:sp>
        <p:nvSpPr>
          <p:cNvPr id="39" name="Agenda item">
            <a:hlinkClick action="ppaction://hlinksldjump" r:id="rId7"/>
          </p:cNvPr>
          <p:cNvSpPr txBox="1"/>
          <p:nvPr/>
        </p:nvSpPr>
        <p:spPr>
          <a:xfrm>
            <a:off x="612648" y="377647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Japan, China and emerging markets</a:t>
            </a:r>
            <a:endParaRPr lang="en-AU" sz="1200" dirty="0"/>
          </a:p>
        </p:txBody>
      </p:sp>
      <p:sp>
        <p:nvSpPr>
          <p:cNvPr id="40" name="Agenda page">
            <a:hlinkClick action="ppaction://hlinksldjump" r:id="rId7"/>
          </p:cNvPr>
          <p:cNvSpPr txBox="1"/>
          <p:nvPr/>
        </p:nvSpPr>
        <p:spPr>
          <a:xfrm>
            <a:off x="5138928" y="377647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p.12</a:t>
            </a:r>
            <a:endParaRPr lang="en-AU" sz="900" dirty="0"/>
          </a:p>
        </p:txBody>
      </p:sp>
      <p:sp>
        <p:nvSpPr>
          <p:cNvPr id="41" name="Agenda item">
            <a:hlinkClick action="ppaction://hlinksldjump" r:id="rId8"/>
          </p:cNvPr>
          <p:cNvSpPr txBox="1"/>
          <p:nvPr/>
        </p:nvSpPr>
        <p:spPr>
          <a:xfrm>
            <a:off x="612648" y="407822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Equity outlook</a:t>
            </a:r>
            <a:endParaRPr lang="en-AU" sz="1200" dirty="0"/>
          </a:p>
        </p:txBody>
      </p:sp>
      <p:sp>
        <p:nvSpPr>
          <p:cNvPr id="42" name="Agenda page">
            <a:hlinkClick action="ppaction://hlinksldjump" r:id="rId8"/>
          </p:cNvPr>
          <p:cNvSpPr txBox="1"/>
          <p:nvPr/>
        </p:nvSpPr>
        <p:spPr>
          <a:xfrm>
            <a:off x="5138928" y="407822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p.15</a:t>
            </a:r>
            <a:endParaRPr lang="en-AU" sz="900" dirty="0"/>
          </a:p>
        </p:txBody>
      </p:sp>
      <p:sp>
        <p:nvSpPr>
          <p:cNvPr id="43" name="Agenda item">
            <a:hlinkClick action="ppaction://hlinksldjump" r:id="rId9"/>
          </p:cNvPr>
          <p:cNvSpPr txBox="1"/>
          <p:nvPr/>
        </p:nvSpPr>
        <p:spPr>
          <a:xfrm>
            <a:off x="612648" y="4379976"/>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Fixed income outlook</a:t>
            </a:r>
            <a:endParaRPr lang="en-AU" sz="1200" dirty="0"/>
          </a:p>
        </p:txBody>
      </p:sp>
      <p:sp>
        <p:nvSpPr>
          <p:cNvPr id="44" name="Agenda page">
            <a:hlinkClick action="ppaction://hlinksldjump" r:id="rId9"/>
          </p:cNvPr>
          <p:cNvSpPr txBox="1"/>
          <p:nvPr/>
        </p:nvSpPr>
        <p:spPr>
          <a:xfrm>
            <a:off x="5138928" y="4379976"/>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p.16</a:t>
            </a:r>
            <a:endParaRPr lang="en-AU" sz="900" dirty="0"/>
          </a:p>
        </p:txBody>
      </p:sp>
      <p:sp>
        <p:nvSpPr>
          <p:cNvPr id="45" name="Agenda item">
            <a:hlinkClick action="ppaction://hlinksldjump" r:id="rId10"/>
          </p:cNvPr>
          <p:cNvSpPr txBox="1"/>
          <p:nvPr/>
        </p:nvSpPr>
        <p:spPr>
          <a:xfrm>
            <a:off x="612648" y="4681728"/>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Tactical asset allocation</a:t>
            </a:r>
            <a:endParaRPr lang="en-AU" sz="1200" dirty="0"/>
          </a:p>
        </p:txBody>
      </p:sp>
      <p:sp>
        <p:nvSpPr>
          <p:cNvPr id="46" name="Agenda page">
            <a:hlinkClick action="ppaction://hlinksldjump" r:id="rId10"/>
          </p:cNvPr>
          <p:cNvSpPr txBox="1"/>
          <p:nvPr/>
        </p:nvSpPr>
        <p:spPr>
          <a:xfrm>
            <a:off x="5138928" y="4681728"/>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p.17</a:t>
            </a:r>
            <a:endParaRPr lang="en-AU" sz="900" dirty="0"/>
          </a:p>
        </p:txBody>
      </p:sp>
      <p:sp>
        <p:nvSpPr>
          <p:cNvPr id="47" name="Agenda section bar"/>
          <p:cNvSpPr/>
          <p:nvPr/>
        </p:nvSpPr>
        <p:spPr>
          <a:xfrm>
            <a:off x="384048" y="5074920"/>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Agenda section label"/>
          <p:cNvSpPr txBox="1"/>
          <p:nvPr/>
        </p:nvSpPr>
        <p:spPr>
          <a:xfrm>
            <a:off x="384048" y="5074920"/>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REQUESTS FULFILLED</a:t>
            </a:r>
            <a:endParaRPr lang="en-AU" sz="1050" dirty="0"/>
          </a:p>
        </p:txBody>
      </p:sp>
      <p:sp>
        <p:nvSpPr>
          <p:cNvPr id="49" name="Agenda item">
            <a:hlinkClick action="ppaction://hlinksldjump" r:id="rId11"/>
          </p:cNvPr>
          <p:cNvSpPr txBox="1"/>
          <p:nvPr/>
        </p:nvSpPr>
        <p:spPr>
          <a:xfrm>
            <a:off x="612648" y="542239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Jenny Smith's requests 1 to 6</a:t>
            </a:r>
            <a:endParaRPr lang="en-AU" sz="1200" dirty="0"/>
          </a:p>
        </p:txBody>
      </p:sp>
      <p:sp>
        <p:nvSpPr>
          <p:cNvPr id="50" name="Agenda page">
            <a:hlinkClick action="ppaction://hlinksldjump" r:id="rId11"/>
          </p:cNvPr>
          <p:cNvSpPr txBox="1"/>
          <p:nvPr/>
        </p:nvSpPr>
        <p:spPr>
          <a:xfrm>
            <a:off x="5138928" y="542239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p.18</a:t>
            </a:r>
            <a:endParaRPr lang="en-AU" sz="900" dirty="0"/>
          </a:p>
        </p:txBody>
      </p:sp>
      <p:sp>
        <p:nvSpPr>
          <p:cNvPr id="51" name="Agenda item">
            <a:hlinkClick action="ppaction://hlinksldjump" r:id="rId12"/>
          </p:cNvPr>
          <p:cNvSpPr txBox="1"/>
          <p:nvPr/>
        </p:nvSpPr>
        <p:spPr>
          <a:xfrm>
            <a:off x="612648" y="572414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Portfolio breakdown and ETF selection</a:t>
            </a:r>
            <a:endParaRPr lang="en-AU" sz="1200" dirty="0"/>
          </a:p>
        </p:txBody>
      </p:sp>
      <p:sp>
        <p:nvSpPr>
          <p:cNvPr id="52" name="Agenda page">
            <a:hlinkClick action="ppaction://hlinksldjump" r:id="rId12"/>
          </p:cNvPr>
          <p:cNvSpPr txBox="1"/>
          <p:nvPr/>
        </p:nvSpPr>
        <p:spPr>
          <a:xfrm>
            <a:off x="5138928" y="572414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p.22</a:t>
            </a:r>
            <a:endParaRPr lang="en-AU" sz="900" dirty="0"/>
          </a:p>
        </p:txBody>
      </p:sp>
      <p:sp>
        <p:nvSpPr>
          <p:cNvPr id="53" name="Card"/>
          <p:cNvSpPr/>
          <p:nvPr/>
        </p:nvSpPr>
        <p:spPr>
          <a:xfrm>
            <a:off x="6007608" y="1024128"/>
            <a:ext cx="5797296" cy="5138928"/>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ard header"/>
          <p:cNvSpPr/>
          <p:nvPr/>
        </p:nvSpPr>
        <p:spPr>
          <a:xfrm>
            <a:off x="6007608" y="1024128"/>
            <a:ext cx="5797296" cy="347472"/>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Card title"/>
          <p:cNvSpPr txBox="1"/>
          <p:nvPr/>
        </p:nvSpPr>
        <p:spPr>
          <a:xfrm>
            <a:off x="6007608" y="1024128"/>
            <a:ext cx="5797296" cy="347472"/>
          </a:xfrm>
          <a:prstGeom prst="rect">
            <a:avLst/>
          </a:prstGeom>
          <a:noFill/>
        </p:spPr>
        <p:txBody>
          <a:bodyPr wrap="square" tIns="0" bIns="0" anchor="ctr">
            <a:noAutofit/>
          </a:bodyPr>
          <a:lstStyle/>
          <a:p>
            <a:pPr algn="ctr">
              <a:buNone/>
            </a:pPr>
            <a:r>
              <a:rPr sz="1200" b="1" i="0">
                <a:solidFill>
                  <a:srgbClr val="FFFFFF"/>
                </a:solidFill>
                <a:latin typeface="Arial"/>
              </a:rPr>
              <a:t>EXECUTIVE SUMMARY</a:t>
            </a:r>
            <a:endParaRPr lang="en-AU" sz="1200" dirty="0"/>
          </a:p>
        </p:txBody>
      </p:sp>
      <p:sp>
        <p:nvSpPr>
          <p:cNvPr id="56" name="Number circle"/>
          <p:cNvSpPr/>
          <p:nvPr/>
        </p:nvSpPr>
        <p:spPr>
          <a:xfrm>
            <a:off x="6281928" y="1640434"/>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umber"/>
          <p:cNvSpPr txBox="1"/>
          <p:nvPr/>
        </p:nvSpPr>
        <p:spPr>
          <a:xfrm>
            <a:off x="6281928" y="1640434"/>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1</a:t>
            </a:r>
            <a:endParaRPr lang="en-AU" sz="1600" dirty="0"/>
          </a:p>
        </p:txBody>
      </p:sp>
      <p:sp>
        <p:nvSpPr>
          <p:cNvPr id="58" name="Summary statement"/>
          <p:cNvSpPr txBox="1"/>
          <p:nvPr/>
        </p:nvSpPr>
        <p:spPr>
          <a:xfrm>
            <a:off x="6967728" y="1417320"/>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A 70/30 portfolio fits Jenny's 10-year horizon because it clears the 7% target while staying inside her -15% drawdown limit.</a:t>
            </a:r>
            <a:endParaRPr lang="en-AU" sz="1250" dirty="0"/>
          </a:p>
        </p:txBody>
      </p:sp>
      <p:sp>
        <p:nvSpPr>
          <p:cNvPr id="59" name="Divider"/>
          <p:cNvSpPr/>
          <p:nvPr/>
        </p:nvSpPr>
        <p:spPr>
          <a:xfrm>
            <a:off x="6281928" y="2357323"/>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Number circle"/>
          <p:cNvSpPr/>
          <p:nvPr/>
        </p:nvSpPr>
        <p:spPr>
          <a:xfrm>
            <a:off x="6281928" y="2580437"/>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umber"/>
          <p:cNvSpPr txBox="1"/>
          <p:nvPr/>
        </p:nvSpPr>
        <p:spPr>
          <a:xfrm>
            <a:off x="6281928" y="2580437"/>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2</a:t>
            </a:r>
            <a:endParaRPr lang="en-AU" sz="1600" dirty="0"/>
          </a:p>
        </p:txBody>
      </p:sp>
      <p:sp>
        <p:nvSpPr>
          <p:cNvPr id="62" name="Summary statement"/>
          <p:cNvSpPr txBox="1"/>
          <p:nvPr/>
        </p:nvSpPr>
        <p:spPr>
          <a:xfrm>
            <a:off x="6967728" y="2357323"/>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The 70/30 returned 8.9% p.a. after fees in our backtest, and its worst fall of -12.2% stayed inside the -15% limit.</a:t>
            </a:r>
            <a:endParaRPr lang="en-AU" sz="1250" dirty="0"/>
          </a:p>
        </p:txBody>
      </p:sp>
      <p:sp>
        <p:nvSpPr>
          <p:cNvPr id="63" name="Divider"/>
          <p:cNvSpPr/>
          <p:nvPr/>
        </p:nvSpPr>
        <p:spPr>
          <a:xfrm>
            <a:off x="6281928" y="3297326"/>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Number circle"/>
          <p:cNvSpPr/>
          <p:nvPr/>
        </p:nvSpPr>
        <p:spPr>
          <a:xfrm>
            <a:off x="6281928" y="3520440"/>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umber"/>
          <p:cNvSpPr txBox="1"/>
          <p:nvPr/>
        </p:nvSpPr>
        <p:spPr>
          <a:xfrm>
            <a:off x="6281928" y="3520440"/>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3</a:t>
            </a:r>
            <a:endParaRPr lang="en-AU" sz="1600" dirty="0"/>
          </a:p>
        </p:txBody>
      </p:sp>
      <p:sp>
        <p:nvSpPr>
          <p:cNvPr id="66" name="Summary statement"/>
          <p:cNvSpPr txBox="1"/>
          <p:nvPr/>
        </p:nvSpPr>
        <p:spPr>
          <a:xfrm>
            <a:off x="6967728" y="3297326"/>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No leverage and a 21% cash buffer fund about five years of scholarships, so we avoid selling growth assets in a downturn.</a:t>
            </a:r>
            <a:endParaRPr lang="en-AU" sz="1250" dirty="0"/>
          </a:p>
        </p:txBody>
      </p:sp>
      <p:sp>
        <p:nvSpPr>
          <p:cNvPr id="67" name="Divider"/>
          <p:cNvSpPr/>
          <p:nvPr/>
        </p:nvSpPr>
        <p:spPr>
          <a:xfrm>
            <a:off x="6281928" y="4237330"/>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Number circle"/>
          <p:cNvSpPr/>
          <p:nvPr/>
        </p:nvSpPr>
        <p:spPr>
          <a:xfrm>
            <a:off x="6281928" y="4460443"/>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umber"/>
          <p:cNvSpPr txBox="1"/>
          <p:nvPr/>
        </p:nvSpPr>
        <p:spPr>
          <a:xfrm>
            <a:off x="6281928" y="4460443"/>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4</a:t>
            </a:r>
            <a:endParaRPr lang="en-AU" sz="1600" dirty="0"/>
          </a:p>
        </p:txBody>
      </p:sp>
      <p:sp>
        <p:nvSpPr>
          <p:cNvPr id="70" name="Summary statement"/>
          <p:cNvSpPr txBox="1"/>
          <p:nvPr/>
        </p:nvSpPr>
        <p:spPr>
          <a:xfrm>
            <a:off x="6967728" y="4237330"/>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20% of the SAA sits in screened sustainable ETFs (19.4% in the TAA with VEFI), in line with Jenny's values and caring for Country.</a:t>
            </a:r>
            <a:endParaRPr lang="en-AU" sz="1250" dirty="0"/>
          </a:p>
        </p:txBody>
      </p:sp>
      <p:sp>
        <p:nvSpPr>
          <p:cNvPr id="71" name="Divider"/>
          <p:cNvSpPr/>
          <p:nvPr/>
        </p:nvSpPr>
        <p:spPr>
          <a:xfrm>
            <a:off x="6281928" y="5177333"/>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Number circle"/>
          <p:cNvSpPr/>
          <p:nvPr/>
        </p:nvSpPr>
        <p:spPr>
          <a:xfrm>
            <a:off x="6281928" y="5400446"/>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umber"/>
          <p:cNvSpPr txBox="1"/>
          <p:nvPr/>
        </p:nvSpPr>
        <p:spPr>
          <a:xfrm>
            <a:off x="6281928" y="5400446"/>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5</a:t>
            </a:r>
            <a:endParaRPr lang="en-AU" sz="1600" dirty="0"/>
          </a:p>
        </p:txBody>
      </p:sp>
      <p:sp>
        <p:nvSpPr>
          <p:cNvPr id="74" name="Summary statement"/>
          <p:cNvSpPr txBox="1"/>
          <p:nvPr/>
        </p:nvSpPr>
        <p:spPr>
          <a:xfrm>
            <a:off x="6967728" y="5177333"/>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Because energy and inflation risks are elevated, we recommend a tactical 60/40 tilt into gold and hedged global bonds.</a:t>
            </a:r>
            <a:endParaRPr lang="en-AU" sz="1250" dirty="0"/>
          </a:p>
        </p:txBody>
      </p:sp>
      <p:sp>
        <p:nvSpPr>
          <p:cNvPr id="7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03</a:t>
            </a:r>
            <a:endParaRPr lang="en-AU" sz="900" dirty="0"/>
          </a:p>
        </p:txBody>
      </p:sp>
      <p:sp>
        <p:nvSpPr>
          <p:cNvPr id="7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AGENDA">
            <a:hlinkClick action="ppaction://hlinksldjump" r:id="rId13"/>
          </p:cNvPr>
          <p:cNvSpPr/>
          <p:nvPr/>
        </p:nvSpPr>
        <p:spPr>
          <a:xfrm>
            <a:off x="55321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Nav label AGENDA">
            <a:hlinkClick action="ppaction://hlinksldjump" r:id="rId1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AGENDA</a:t>
            </a:r>
            <a:endParaRPr lang="en-AU" sz="800" dirty="0"/>
          </a:p>
        </p:txBody>
      </p:sp>
      <p:sp>
        <p:nvSpPr>
          <p:cNvPr id="79" name="Nav CLIENT NEEDS">
            <a:hlinkClick action="ppaction://hlinksldjump" r:id="rId2"/>
          </p:cNvPr>
          <p:cNvSpPr/>
          <p:nvPr/>
        </p:nvSpPr>
        <p:spPr>
          <a:xfrm>
            <a:off x="133829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Nav label CLIENT NEEDS">
            <a:hlinkClick action="ppaction://hlinksldjump" r:id="rId2"/>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CLIENT NEEDS</a:t>
            </a:r>
            <a:endParaRPr lang="en-AU" sz="800" dirty="0"/>
          </a:p>
        </p:txBody>
      </p:sp>
      <p:sp>
        <p:nvSpPr>
          <p:cNvPr id="81" name="Nav SAA">
            <a:hlinkClick action="ppaction://hlinksldjump" r:id="rId4"/>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83" name="Nav MACRO">
            <a:hlinkClick action="ppaction://hlinksldjump" r:id="rId5"/>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85" name="Nav AUSTRALIA">
            <a:hlinkClick action="ppaction://hlinksldjump" r:id="rId6"/>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87" name="Nav USA">
            <a:hlinkClick action="ppaction://hlinksldjump" r:id="rId14"/>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89"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91" name="Nav JAPAN">
            <a:hlinkClick action="ppaction://hlinksldjump" r:id="rId7"/>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JAPAN">
            <a:hlinkClick action="ppaction://hlinksldjump" r:id="rId7"/>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93" name="Nav CHINA">
            <a:hlinkClick action="ppaction://hlinksldjump" r:id="rId16"/>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CHINA">
            <a:hlinkClick action="ppaction://hlinksldjump" r:id="rId16"/>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95" name="Nav EM">
            <a:hlinkClick action="ppaction://hlinksldjump" r:id="rId17"/>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EM">
            <a:hlinkClick action="ppaction://hlinksldjump" r:id="rId17"/>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97" name="Nav EQUITY">
            <a:hlinkClick action="ppaction://hlinksldjump" r:id="rId8"/>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EQUITY">
            <a:hlinkClick action="ppaction://hlinksldjump" r:id="rId8"/>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99" name="Nav FIXED INCOME">
            <a:hlinkClick action="ppaction://hlinksldjump" r:id="rId9"/>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FIXED INCOME">
            <a:hlinkClick action="ppaction://hlinksldjump" r:id="rId9"/>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01" name="Nav TAA">
            <a:hlinkClick action="ppaction://hlinksldjump" r:id="rId10"/>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TAA">
            <a:hlinkClick action="ppaction://hlinksldjump" r:id="rId10"/>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03" name="Nav REQUESTS">
            <a:hlinkClick action="ppaction://hlinksldjump" r:id="rId11"/>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REQUESTS">
            <a:hlinkClick action="ppaction://hlinksldjump" r:id="rId11"/>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05"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First Nations Perspective &amp; Values Alignment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How Jenny's values and her community's future guide the portfolio</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pic>
        <p:nvPicPr>
          <p:cNvPr id="22" name="Artwork" descr="image.jpeg"/>
          <p:cNvPicPr>
            <a:picLocks noChangeAspect="1"/>
          </p:cNvPicPr>
          <p:nvPr/>
        </p:nvPicPr>
        <p:blipFill>
          <a:blip r:embed="rId2"/>
          <a:srcRect l="22732" r="22732"/>
          <a:stretch>
            <a:fillRect/>
          </a:stretch>
        </p:blipFill>
        <p:spPr>
          <a:xfrm>
            <a:off x="384048" y="1024128"/>
            <a:ext cx="3383280" cy="4919472"/>
          </a:xfrm>
          <a:prstGeom prst="rect">
            <a:avLst/>
          </a:prstGeom>
          <a:ln w="9525">
            <a:solidFill>
              <a:srgbClr val="CEA659"/>
            </a:solidFill>
          </a:ln>
        </p:spPr>
      </p:pic>
      <p:sp>
        <p:nvSpPr>
          <p:cNvPr id="23" name="Artwork caption"/>
          <p:cNvSpPr txBox="1"/>
          <p:nvPr/>
        </p:nvSpPr>
        <p:spPr>
          <a:xfrm>
            <a:off x="384048" y="5980176"/>
            <a:ext cx="3520440" cy="155448"/>
          </a:xfrm>
          <a:prstGeom prst="rect">
            <a:avLst/>
          </a:prstGeom>
          <a:noFill/>
        </p:spPr>
        <p:txBody>
          <a:bodyPr wrap="square" lIns="0" tIns="0" rIns="0" bIns="0" anchor="t">
            <a:noAutofit/>
          </a:bodyPr>
          <a:lstStyle/>
          <a:p>
            <a:pPr algn="r"/>
            <a:r>
              <a:rPr sz="800" b="0" i="1">
                <a:solidFill>
                  <a:srgbClr val="AEB9C4"/>
                </a:solidFill>
                <a:latin typeface="Arial"/>
              </a:rPr>
              <a:t>Artwork: Australian Indigenous HealthInfoNet</a:t>
            </a:r>
          </a:p>
        </p:txBody>
      </p:sp>
      <p:sp>
        <p:nvSpPr>
          <p:cNvPr id="40" name="Footnote"/>
          <p:cNvSpPr txBox="1"/>
          <p:nvPr/>
        </p:nvSpPr>
        <p:spPr>
          <a:xfrm>
            <a:off x="384048" y="6208776"/>
            <a:ext cx="11420856" cy="201168"/>
          </a:xfrm>
          <a:prstGeom prst="rect">
            <a:avLst/>
          </a:prstGeom>
          <a:noFill/>
        </p:spPr>
        <p:txBody>
          <a:bodyPr wrap="square" lIns="0" tIns="0" rIns="0" bIns="0" anchor="t">
            <a:noAutofit/>
          </a:bodyPr>
          <a:lstStyle/>
          <a:p>
            <a:pPr algn="l"/>
            <a:r>
              <a:rPr sz="800" b="0" i="1">
                <a:solidFill>
                  <a:srgbClr val="5B6573"/>
                </a:solidFill>
                <a:latin typeface="Arial"/>
              </a:rPr>
              <a:t>Source: Client brief; LSEG Workspace; RIAA.</a:t>
            </a:r>
          </a:p>
        </p:txBody>
      </p:sp>
      <p:sp>
        <p:nvSpPr>
          <p:cNvPr id="41" name="Card"/>
          <p:cNvSpPr/>
          <p:nvPr/>
        </p:nvSpPr>
        <p:spPr>
          <a:xfrm>
            <a:off x="3950208" y="1024128"/>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Card header"/>
          <p:cNvSpPr/>
          <p:nvPr/>
        </p:nvSpPr>
        <p:spPr>
          <a:xfrm>
            <a:off x="3950208" y="1024128"/>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Card title"/>
          <p:cNvSpPr txBox="1"/>
          <p:nvPr/>
        </p:nvSpPr>
        <p:spPr>
          <a:xfrm>
            <a:off x="3950208" y="1024128"/>
            <a:ext cx="3831336" cy="329184"/>
          </a:xfrm>
          <a:prstGeom prst="rect">
            <a:avLst/>
          </a:prstGeom>
          <a:noFill/>
        </p:spPr>
        <p:txBody>
          <a:bodyPr wrap="square" tIns="0" bIns="0" anchor="ctr">
            <a:noAutofit/>
          </a:bodyPr>
          <a:lstStyle/>
          <a:p>
            <a:pPr algn="ctr">
              <a:buNone/>
            </a:pPr>
            <a:r>
              <a:rPr sz="1100" b="1" i="0">
                <a:solidFill>
                  <a:srgbClr val="FFFFFF"/>
                </a:solidFill>
                <a:latin typeface="Arial"/>
              </a:rPr>
              <a:t>WHO IS JENNY</a:t>
            </a:r>
            <a:endParaRPr lang="en-AU" sz="1100" dirty="0"/>
          </a:p>
        </p:txBody>
      </p:sp>
      <p:sp>
        <p:nvSpPr>
          <p:cNvPr id="44" name="Card body"/>
          <p:cNvSpPr txBox="1"/>
          <p:nvPr/>
        </p:nvSpPr>
        <p:spPr>
          <a:xfrm>
            <a:off x="4023360" y="1417320"/>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Indigenous Australian from South-East Queensland with a deep connection to Aboriginal heritage</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Griffith Business School alumna using her Native Title settlement to fund student scholarships</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Experienced businesswoman who puts capital preservation and sound governance first</a:t>
            </a:r>
            <a:endParaRPr lang="en-AU" sz="1150" dirty="0"/>
          </a:p>
        </p:txBody>
      </p:sp>
      <p:sp>
        <p:nvSpPr>
          <p:cNvPr id="45" name="Card"/>
          <p:cNvSpPr/>
          <p:nvPr/>
        </p:nvSpPr>
        <p:spPr>
          <a:xfrm>
            <a:off x="7964424" y="1024128"/>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Card header"/>
          <p:cNvSpPr/>
          <p:nvPr/>
        </p:nvSpPr>
        <p:spPr>
          <a:xfrm>
            <a:off x="7964424" y="1024128"/>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Card title"/>
          <p:cNvSpPr txBox="1"/>
          <p:nvPr/>
        </p:nvSpPr>
        <p:spPr>
          <a:xfrm>
            <a:off x="7964424" y="1024128"/>
            <a:ext cx="3831336" cy="329184"/>
          </a:xfrm>
          <a:prstGeom prst="rect">
            <a:avLst/>
          </a:prstGeom>
          <a:noFill/>
        </p:spPr>
        <p:txBody>
          <a:bodyPr wrap="square" tIns="0" bIns="0" anchor="ctr">
            <a:noAutofit/>
          </a:bodyPr>
          <a:lstStyle/>
          <a:p>
            <a:pPr algn="ctr">
              <a:buNone/>
            </a:pPr>
            <a:r>
              <a:rPr sz="1100" b="1" i="0">
                <a:solidFill>
                  <a:srgbClr val="FFFFFF"/>
                </a:solidFill>
                <a:latin typeface="Arial"/>
              </a:rPr>
              <a:t>SUPPORTING YOUR COMMUNITY</a:t>
            </a:r>
            <a:endParaRPr lang="en-AU" sz="1100" dirty="0"/>
          </a:p>
        </p:txBody>
      </p:sp>
      <p:sp>
        <p:nvSpPr>
          <p:cNvPr id="48" name="Card body"/>
          <p:cNvSpPr txBox="1"/>
          <p:nvPr/>
        </p:nvSpPr>
        <p:spPr>
          <a:xfrm>
            <a:off x="8037576" y="1417320"/>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An 8.9% p.a. backtested return, above the 7% target, keeps your Griffith University scholarships funded</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Scholarships remove financial barriers for students and uplift future generations of your community</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Payouts come from a 21% cash holding, so disbursements never erode the principal</a:t>
            </a:r>
            <a:endParaRPr lang="en-AU" sz="1150" dirty="0"/>
          </a:p>
        </p:txBody>
      </p:sp>
      <p:sp>
        <p:nvSpPr>
          <p:cNvPr id="49" name="Card"/>
          <p:cNvSpPr/>
          <p:nvPr/>
        </p:nvSpPr>
        <p:spPr>
          <a:xfrm>
            <a:off x="3950208" y="3108960"/>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Card header"/>
          <p:cNvSpPr/>
          <p:nvPr/>
        </p:nvSpPr>
        <p:spPr>
          <a:xfrm>
            <a:off x="3950208" y="3108960"/>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Card title"/>
          <p:cNvSpPr txBox="1"/>
          <p:nvPr/>
        </p:nvSpPr>
        <p:spPr>
          <a:xfrm>
            <a:off x="3950208" y="3108960"/>
            <a:ext cx="3831336" cy="329184"/>
          </a:xfrm>
          <a:prstGeom prst="rect">
            <a:avLst/>
          </a:prstGeom>
          <a:noFill/>
        </p:spPr>
        <p:txBody>
          <a:bodyPr wrap="square" tIns="0" bIns="0" anchor="ctr">
            <a:noAutofit/>
          </a:bodyPr>
          <a:lstStyle/>
          <a:p>
            <a:pPr algn="ctr">
              <a:buNone/>
            </a:pPr>
            <a:r>
              <a:rPr sz="1100" b="1" i="0">
                <a:solidFill>
                  <a:srgbClr val="FFFFFF"/>
                </a:solidFill>
                <a:latin typeface="Arial"/>
              </a:rPr>
              <a:t>ETHICAL STEWARDSHIP</a:t>
            </a:r>
            <a:endParaRPr lang="en-AU" sz="1100" dirty="0"/>
          </a:p>
        </p:txBody>
      </p:sp>
      <p:sp>
        <p:nvSpPr>
          <p:cNvPr id="52" name="Card body"/>
          <p:cNvSpPr txBox="1"/>
          <p:nvPr/>
        </p:nvSpPr>
        <p:spPr>
          <a:xfrm>
            <a:off x="4023360" y="3502152"/>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20% of the portfolio is held in screened sustainable ETFs, ESGI and VETH</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ESGI is certified by the Responsible Investment Association Australasia</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We will confirm your exclusions and reporting preferences with you directly</a:t>
            </a:r>
            <a:endParaRPr lang="en-AU" sz="1150" dirty="0"/>
          </a:p>
        </p:txBody>
      </p:sp>
      <p:sp>
        <p:nvSpPr>
          <p:cNvPr id="53" name="Card"/>
          <p:cNvSpPr/>
          <p:nvPr/>
        </p:nvSpPr>
        <p:spPr>
          <a:xfrm>
            <a:off x="7964424" y="3108960"/>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ard header"/>
          <p:cNvSpPr/>
          <p:nvPr/>
        </p:nvSpPr>
        <p:spPr>
          <a:xfrm>
            <a:off x="7964424" y="3108960"/>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Card title"/>
          <p:cNvSpPr txBox="1"/>
          <p:nvPr/>
        </p:nvSpPr>
        <p:spPr>
          <a:xfrm>
            <a:off x="7964424" y="3108960"/>
            <a:ext cx="3831336" cy="329184"/>
          </a:xfrm>
          <a:prstGeom prst="rect">
            <a:avLst/>
          </a:prstGeom>
          <a:noFill/>
        </p:spPr>
        <p:txBody>
          <a:bodyPr wrap="square" tIns="0" bIns="0" anchor="ctr">
            <a:noAutofit/>
          </a:bodyPr>
          <a:lstStyle/>
          <a:p>
            <a:pPr algn="ctr">
              <a:buNone/>
            </a:pPr>
            <a:r>
              <a:rPr sz="1100" b="1" i="0">
                <a:solidFill>
                  <a:srgbClr val="FFFFFF"/>
                </a:solidFill>
                <a:latin typeface="Arial"/>
              </a:rPr>
              <a:t>PROTECTING YOUR LEGACY</a:t>
            </a:r>
            <a:endParaRPr lang="en-AU" sz="1100" dirty="0"/>
          </a:p>
        </p:txBody>
      </p:sp>
      <p:sp>
        <p:nvSpPr>
          <p:cNvPr id="56" name="Card body"/>
          <p:cNvSpPr txBox="1"/>
          <p:nvPr/>
        </p:nvSpPr>
        <p:spPr>
          <a:xfrm>
            <a:off x="8037576" y="3502152"/>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Recognising your settlement's significance, we put capital preservation first</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Strict zero leverage and a -15% drawdown limit, with a worst backtested fall of -12.2%</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Diversified across 9 ETFs and four regions to avoid the boom-and-bust cycles of your previous management</a:t>
            </a:r>
            <a:endParaRPr lang="en-AU" sz="1150" dirty="0"/>
          </a:p>
        </p:txBody>
      </p:sp>
      <p:sp>
        <p:nvSpPr>
          <p:cNvPr id="57" name="Values band"/>
          <p:cNvSpPr/>
          <p:nvPr/>
        </p:nvSpPr>
        <p:spPr>
          <a:xfrm>
            <a:off x="3950208" y="5212080"/>
            <a:ext cx="7845552" cy="950976"/>
          </a:xfrm>
          <a:prstGeom prst="rect">
            <a:avLst/>
          </a:prstGeom>
          <a:solidFill>
            <a:srgbClr val="0B2C48"/>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Value"/>
          <p:cNvSpPr txBox="1"/>
          <p:nvPr/>
        </p:nvSpPr>
        <p:spPr>
          <a:xfrm>
            <a:off x="4096512"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CARING FOR COUNTRY</a:t>
            </a:r>
            <a:endParaRPr lang="en-AU" sz="900" dirty="0"/>
          </a:p>
          <a:p>
            <a:pPr algn="l">
              <a:buNone/>
            </a:pPr>
            <a:r>
              <a:rPr sz="950" b="0" i="0">
                <a:solidFill>
                  <a:srgbClr val="FFFFFF"/>
                </a:solidFill>
                <a:latin typeface="Arial"/>
              </a:rPr>
              <a:t>ESGI and VETH screen out fossil fuels, weapons, tobacco and gambling.</a:t>
            </a:r>
            <a:endParaRPr lang="en-AU" sz="950" dirty="0"/>
          </a:p>
        </p:txBody>
      </p:sp>
      <p:sp>
        <p:nvSpPr>
          <p:cNvPr id="59" name="Values divider"/>
          <p:cNvSpPr/>
          <p:nvPr/>
        </p:nvSpPr>
        <p:spPr>
          <a:xfrm>
            <a:off x="5939028"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Value"/>
          <p:cNvSpPr txBox="1"/>
          <p:nvPr/>
        </p:nvSpPr>
        <p:spPr>
          <a:xfrm>
            <a:off x="6012180"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FUTURE GENERATIONS</a:t>
            </a:r>
            <a:endParaRPr lang="en-AU" sz="900" dirty="0"/>
          </a:p>
          <a:p>
            <a:pPr algn="l">
              <a:buNone/>
            </a:pPr>
            <a:r>
              <a:rPr sz="950" b="0" i="0">
                <a:solidFill>
                  <a:srgbClr val="FFFFFF"/>
                </a:solidFill>
                <a:latin typeface="Arial"/>
              </a:rPr>
              <a:t>No leverage and a -15% limit protect the settlement for future generations.</a:t>
            </a:r>
            <a:endParaRPr lang="en-AU" sz="950" dirty="0"/>
          </a:p>
        </p:txBody>
      </p:sp>
      <p:sp>
        <p:nvSpPr>
          <p:cNvPr id="61" name="Values divider"/>
          <p:cNvSpPr/>
          <p:nvPr/>
        </p:nvSpPr>
        <p:spPr>
          <a:xfrm>
            <a:off x="7854696"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Value"/>
          <p:cNvSpPr txBox="1"/>
          <p:nvPr/>
        </p:nvSpPr>
        <p:spPr>
          <a:xfrm>
            <a:off x="7927848"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COMMUNITY FIRST</a:t>
            </a:r>
            <a:endParaRPr lang="en-AU" sz="900" dirty="0"/>
          </a:p>
          <a:p>
            <a:pPr algn="l">
              <a:buNone/>
            </a:pPr>
            <a:r>
              <a:rPr sz="950" b="0" i="0">
                <a:solidFill>
                  <a:srgbClr val="FFFFFF"/>
                </a:solidFill>
                <a:latin typeface="Arial"/>
              </a:rPr>
              <a:t>A 21% cash buffer funds Griffith scholarships every year without forced selling.</a:t>
            </a:r>
            <a:endParaRPr lang="en-AU" sz="950" dirty="0"/>
          </a:p>
        </p:txBody>
      </p:sp>
      <p:sp>
        <p:nvSpPr>
          <p:cNvPr id="63" name="Values divider"/>
          <p:cNvSpPr/>
          <p:nvPr/>
        </p:nvSpPr>
        <p:spPr>
          <a:xfrm>
            <a:off x="9770364"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Value"/>
          <p:cNvSpPr txBox="1"/>
          <p:nvPr/>
        </p:nvSpPr>
        <p:spPr>
          <a:xfrm>
            <a:off x="9843516"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SELF-DETERMINATION</a:t>
            </a:r>
            <a:endParaRPr lang="en-AU" sz="900" dirty="0"/>
          </a:p>
          <a:p>
            <a:pPr algn="l">
              <a:buNone/>
            </a:pPr>
            <a:r>
              <a:rPr sz="950" b="0" i="0">
                <a:solidFill>
                  <a:srgbClr val="FFFFFF"/>
                </a:solidFill>
                <a:latin typeface="Arial"/>
              </a:rPr>
              <a:t>Jenny sets the exclusions, and we review them with her every quarter.</a:t>
            </a:r>
            <a:endParaRPr lang="en-AU" sz="950" dirty="0"/>
          </a:p>
        </p:txBody>
      </p:sp>
      <p:sp>
        <p:nvSpPr>
          <p:cNvPr id="6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04</a:t>
            </a:r>
            <a:endParaRPr lang="en-AU" sz="900" dirty="0"/>
          </a:p>
        </p:txBody>
      </p:sp>
      <p:sp>
        <p:nvSpPr>
          <p:cNvPr id="6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progress"/>
          <p:cNvSpPr/>
          <p:nvPr/>
        </p:nvSpPr>
        <p:spPr>
          <a:xfrm>
            <a:off x="603504" y="6466637"/>
            <a:ext cx="78507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70" name="Nav CLIENT NEEDS">
            <a:hlinkClick action="ppaction://hlinksldjump" r:id="rId4"/>
          </p:cNvPr>
          <p:cNvSpPr/>
          <p:nvPr/>
        </p:nvSpPr>
        <p:spPr>
          <a:xfrm>
            <a:off x="133829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CLIENT NEEDS</a:t>
            </a:r>
            <a:endParaRPr lang="en-AU" sz="800" dirty="0"/>
          </a:p>
        </p:txBody>
      </p:sp>
      <p:sp>
        <p:nvSpPr>
          <p:cNvPr id="72" name="Nav SAA">
            <a:hlinkClick action="ppaction://hlinksldjump" r:id="rId5"/>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74" name="Nav MACRO">
            <a:hlinkClick action="ppaction://hlinksldjump" r:id="rId6"/>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76" name="Nav AUSTRALIA">
            <a:hlinkClick action="ppaction://hlinksldjump" r:id="rId7"/>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78" name="Nav USA">
            <a:hlinkClick action="ppaction://hlinksldjump" r:id="rId8"/>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80" name="Nav EUROZONE">
            <a:hlinkClick action="ppaction://hlinksldjump" r:id="rId9"/>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82" name="Nav JAPAN">
            <a:hlinkClick action="ppaction://hlinksldjump" r:id="rId10"/>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84" name="Nav CHINA">
            <a:hlinkClick action="ppaction://hlinksldjump" r:id="rId11"/>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86" name="Nav EM">
            <a:hlinkClick action="ppaction://hlinksldjump" r:id="rId12"/>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88" name="Nav EQUITY">
            <a:hlinkClick action="ppaction://hlinksldjump" r:id="rId13"/>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90" name="Nav FIXED INCOME">
            <a:hlinkClick action="ppaction://hlinksldjump" r:id="rId14"/>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92" name="Nav TAA">
            <a:hlinkClick action="ppaction://hlinksldjump" r:id="rId15"/>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94" name="Nav REQUESTS">
            <a:hlinkClick action="ppaction://hlinksldjump" r:id="rId16"/>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96"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Delivering Sustainable Returns Without Compromising Capital</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What Jenny needs from the A$100m, and how the 70/30 portfolio delivers it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Rectangle 21"/>
          <p:cNvSpPr/>
          <p:nvPr/>
        </p:nvSpPr>
        <p:spPr>
          <a:xfrm>
            <a:off x="384048" y="1051560"/>
            <a:ext cx="7744968" cy="5093208"/>
          </a:xfrm>
          <a:prstGeom prst="rect">
            <a:avLst/>
          </a:prstGeom>
          <a:solidFill>
            <a:srgbClr val="FFFFFF"/>
          </a:solidFill>
          <a:ln w="10160">
            <a:solidFill>
              <a:srgbClr val="CDB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84048" y="6199632"/>
            <a:ext cx="11420856" cy="182880"/>
          </a:xfrm>
          <a:prstGeom prst="rect">
            <a:avLst/>
          </a:prstGeom>
          <a:noFill/>
        </p:spPr>
        <p:txBody>
          <a:bodyPr wrap="square" lIns="45720" rIns="45720" anchor="t">
            <a:spAutoFit/>
          </a:bodyPr>
          <a:lstStyle/>
          <a:p>
            <a:pPr algn="ctr"/>
            <a:r>
              <a:rPr sz="950" b="1" i="0">
                <a:solidFill>
                  <a:srgbClr val="CEA659"/>
                </a:solidFill>
                <a:latin typeface="Arial"/>
              </a:rPr>
              <a:t>Mandate: ASX-listed ETFs only • no leverage • ≤30% per asset class in each geographical region.</a:t>
            </a:r>
          </a:p>
        </p:txBody>
      </p:sp>
      <p:graphicFrame>
        <p:nvGraphicFramePr>
          <p:cNvPr id="54" name="Chart 53">
            <a:extLst>
              <a:ext uri="{FF2B5EF4-FFF2-40B4-BE49-F238E27FC236}">
                <a16:creationId xmlns:a16="http://schemas.microsoft.com/office/drawing/2014/main" id="{94C0877B-D878-6547-C2D6-2FF154303C61}"/>
              </a:ext>
            </a:extLst>
          </p:cNvPr>
          <p:cNvGraphicFramePr>
            <a:graphicFrameLocks/>
          </p:cNvGraphicFramePr>
          <p:nvPr>
            <p:extLst>
              <p:ext uri="{D42A27DB-BD31-4B8C-83A1-F6EECF244321}">
                <p14:modId xmlns:p14="http://schemas.microsoft.com/office/powerpoint/2010/main" val="3672677548"/>
              </p:ext>
            </p:extLst>
          </p:nvPr>
        </p:nvGraphicFramePr>
        <p:xfrm>
          <a:off x="420624" y="1399032"/>
          <a:ext cx="7671816"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5" name="Rectangle 54">
            <a:extLst>
              <a:ext uri="{FF2B5EF4-FFF2-40B4-BE49-F238E27FC236}">
                <a16:creationId xmlns:a16="http://schemas.microsoft.com/office/drawing/2014/main" id="{09078A39-E6ED-034C-8F18-F24C8F195F3C}"/>
              </a:ext>
            </a:extLst>
          </p:cNvPr>
          <p:cNvSpPr/>
          <p:nvPr/>
        </p:nvSpPr>
        <p:spPr>
          <a:xfrm>
            <a:off x="384048" y="1051560"/>
            <a:ext cx="7744968" cy="310896"/>
          </a:xfrm>
          <a:prstGeom prst="rect">
            <a:avLst/>
          </a:prstGeom>
          <a:solidFill>
            <a:srgbClr val="0B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7758969E-FCCC-24F8-3441-71B9051A12A9}"/>
              </a:ext>
            </a:extLst>
          </p:cNvPr>
          <p:cNvSpPr txBox="1"/>
          <p:nvPr/>
        </p:nvSpPr>
        <p:spPr>
          <a:xfrm>
            <a:off x="384048" y="1099286"/>
            <a:ext cx="7744968" cy="215444"/>
          </a:xfrm>
          <a:prstGeom prst="rect">
            <a:avLst/>
          </a:prstGeom>
          <a:noFill/>
        </p:spPr>
        <p:txBody>
          <a:bodyPr wrap="square" lIns="0" tIns="0" rIns="0" bIns="0" anchor="ctr">
            <a:spAutoFit/>
          </a:bodyPr>
          <a:lstStyle/>
          <a:p>
            <a:pPr algn="ctr"/>
            <a:r>
              <a:rPr lang="en-AU" sz="1400" b="1">
                <a:solidFill>
                  <a:srgbClr val="FFFFFF"/>
                </a:solidFill>
              </a:rPr>
              <a:t>PORTFOLIO FORECAST FOR THE NEXT TEN YEARS</a:t>
            </a:r>
            <a:endParaRPr sz="1400" b="1" i="0">
              <a:solidFill>
                <a:srgbClr val="FFFFFF"/>
              </a:solidFill>
              <a:latin typeface="Arial"/>
            </a:endParaRPr>
          </a:p>
        </p:txBody>
      </p:sp>
      <p:sp>
        <p:nvSpPr>
          <p:cNvPr id="60" name="Card"/>
          <p:cNvSpPr/>
          <p:nvPr/>
        </p:nvSpPr>
        <p:spPr>
          <a:xfrm>
            <a:off x="8311896" y="1051560"/>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Card header"/>
          <p:cNvSpPr/>
          <p:nvPr/>
        </p:nvSpPr>
        <p:spPr>
          <a:xfrm>
            <a:off x="8311896" y="1051560"/>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Card title"/>
          <p:cNvSpPr txBox="1"/>
          <p:nvPr/>
        </p:nvSpPr>
        <p:spPr>
          <a:xfrm>
            <a:off x="8311896" y="1051560"/>
            <a:ext cx="3493008" cy="310896"/>
          </a:xfrm>
          <a:prstGeom prst="rect">
            <a:avLst/>
          </a:prstGeom>
          <a:noFill/>
        </p:spPr>
        <p:txBody>
          <a:bodyPr wrap="square" tIns="0" bIns="0" anchor="ctr">
            <a:noAutofit/>
          </a:bodyPr>
          <a:lstStyle/>
          <a:p>
            <a:pPr algn="ctr">
              <a:buNone/>
            </a:pPr>
            <a:r>
              <a:rPr sz="1100" b="1" i="0">
                <a:solidFill>
                  <a:srgbClr val="FFFFFF"/>
                </a:solidFill>
                <a:latin typeface="Arial"/>
              </a:rPr>
              <a:t>OVERVIEW</a:t>
            </a:r>
            <a:endParaRPr lang="en-AU" sz="1100" dirty="0"/>
          </a:p>
        </p:txBody>
      </p:sp>
      <p:sp>
        <p:nvSpPr>
          <p:cNvPr id="63" name="Card body"/>
          <p:cNvSpPr txBox="1"/>
          <p:nvPr/>
        </p:nvSpPr>
        <p:spPr>
          <a:xfrm>
            <a:off x="8385048" y="1426464"/>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We recommend a diversified portfolio of ASX-listed ETFs across Australian and global equities, cash, bonds and gold. It returned 8.9% p.a. after fees in our backtest, sustainably funding Griffith University scholarships while preserving Jenny's A$100m capital.</a:t>
            </a:r>
            <a:endParaRPr lang="en-AU" sz="1000" dirty="0"/>
          </a:p>
        </p:txBody>
      </p:sp>
      <p:sp>
        <p:nvSpPr>
          <p:cNvPr id="64" name="Card"/>
          <p:cNvSpPr/>
          <p:nvPr/>
        </p:nvSpPr>
        <p:spPr>
          <a:xfrm>
            <a:off x="8311896" y="2428494"/>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Card header"/>
          <p:cNvSpPr/>
          <p:nvPr/>
        </p:nvSpPr>
        <p:spPr>
          <a:xfrm>
            <a:off x="8311896" y="2428494"/>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ard title"/>
          <p:cNvSpPr txBox="1"/>
          <p:nvPr/>
        </p:nvSpPr>
        <p:spPr>
          <a:xfrm>
            <a:off x="8311896" y="2428494"/>
            <a:ext cx="3493008" cy="310896"/>
          </a:xfrm>
          <a:prstGeom prst="rect">
            <a:avLst/>
          </a:prstGeom>
          <a:noFill/>
        </p:spPr>
        <p:txBody>
          <a:bodyPr wrap="square" tIns="0" bIns="0" anchor="ctr">
            <a:noAutofit/>
          </a:bodyPr>
          <a:lstStyle/>
          <a:p>
            <a:pPr algn="ctr">
              <a:buNone/>
            </a:pPr>
            <a:r>
              <a:rPr sz="1100" b="1" i="0">
                <a:solidFill>
                  <a:srgbClr val="FFFFFF"/>
                </a:solidFill>
                <a:latin typeface="Arial"/>
              </a:rPr>
              <a:t>CLIENT RISK ASSESSMENT</a:t>
            </a:r>
            <a:endParaRPr lang="en-AU" sz="1100" dirty="0"/>
          </a:p>
        </p:txBody>
      </p:sp>
      <p:sp>
        <p:nvSpPr>
          <p:cNvPr id="67" name="Card body"/>
          <p:cNvSpPr txBox="1"/>
          <p:nvPr/>
        </p:nvSpPr>
        <p:spPr>
          <a:xfrm>
            <a:off x="8385048" y="2803398"/>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Jenny prioritises capital preservation, with a -15% maximum drawdown and no leverage. We recommend a 70/30 strategic allocation, moving between 60/40 and 80/20 tactically. The 70/30 backtest's worst fall was -12.2%, within her limit.</a:t>
            </a:r>
            <a:endParaRPr lang="en-AU" sz="1000" dirty="0"/>
          </a:p>
        </p:txBody>
      </p:sp>
      <p:sp>
        <p:nvSpPr>
          <p:cNvPr id="68" name="Card"/>
          <p:cNvSpPr/>
          <p:nvPr/>
        </p:nvSpPr>
        <p:spPr>
          <a:xfrm>
            <a:off x="8311896" y="3805428"/>
            <a:ext cx="3493008" cy="9624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Card header"/>
          <p:cNvSpPr/>
          <p:nvPr/>
        </p:nvSpPr>
        <p:spPr>
          <a:xfrm>
            <a:off x="8311896" y="3805428"/>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Card title"/>
          <p:cNvSpPr txBox="1"/>
          <p:nvPr/>
        </p:nvSpPr>
        <p:spPr>
          <a:xfrm>
            <a:off x="8311896" y="3805428"/>
            <a:ext cx="3493008" cy="310896"/>
          </a:xfrm>
          <a:prstGeom prst="rect">
            <a:avLst/>
          </a:prstGeom>
          <a:noFill/>
        </p:spPr>
        <p:txBody>
          <a:bodyPr wrap="square" tIns="0" bIns="0" anchor="ctr">
            <a:noAutofit/>
          </a:bodyPr>
          <a:lstStyle/>
          <a:p>
            <a:pPr algn="ctr">
              <a:buNone/>
            </a:pPr>
            <a:r>
              <a:rPr sz="1100" b="1" i="0">
                <a:solidFill>
                  <a:srgbClr val="FFFFFF"/>
                </a:solidFill>
                <a:latin typeface="Arial"/>
              </a:rPr>
              <a:t>INVESTMENT OBJECTIVE</a:t>
            </a:r>
            <a:endParaRPr lang="en-AU" sz="1100" dirty="0"/>
          </a:p>
        </p:txBody>
      </p:sp>
      <p:sp>
        <p:nvSpPr>
          <p:cNvPr id="71" name="Card body"/>
          <p:cNvSpPr txBox="1"/>
          <p:nvPr/>
        </p:nvSpPr>
        <p:spPr>
          <a:xfrm>
            <a:off x="8385048" y="4180332"/>
            <a:ext cx="3346704" cy="560070"/>
          </a:xfrm>
          <a:prstGeom prst="rect">
            <a:avLst/>
          </a:prstGeom>
          <a:noFill/>
        </p:spPr>
        <p:txBody>
          <a:bodyPr wrap="square" lIns="45720" tIns="0" rIns="45720" bIns="0" anchor="t">
            <a:noAutofit/>
          </a:bodyPr>
          <a:lstStyle/>
          <a:p>
            <a:pPr algn="l">
              <a:buNone/>
            </a:pPr>
            <a:r>
              <a:rPr sz="1000" b="0" i="0">
                <a:solidFill>
                  <a:srgbClr val="1A1F26"/>
                </a:solidFill>
                <a:latin typeface="Arial"/>
              </a:rPr>
              <a:t>At least 7% p.a. after fees with drawdowns no worse than -15%. 20% of the portfolio is held in sustainable ETFs (ESGI and VETH) to reflect Jenny's values.</a:t>
            </a:r>
            <a:endParaRPr lang="en-AU" sz="1000" dirty="0"/>
          </a:p>
        </p:txBody>
      </p:sp>
      <p:sp>
        <p:nvSpPr>
          <p:cNvPr id="72" name="Card"/>
          <p:cNvSpPr/>
          <p:nvPr/>
        </p:nvSpPr>
        <p:spPr>
          <a:xfrm>
            <a:off x="8311896" y="4877562"/>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Card header"/>
          <p:cNvSpPr/>
          <p:nvPr/>
        </p:nvSpPr>
        <p:spPr>
          <a:xfrm>
            <a:off x="8311896" y="4877562"/>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Card title"/>
          <p:cNvSpPr txBox="1"/>
          <p:nvPr/>
        </p:nvSpPr>
        <p:spPr>
          <a:xfrm>
            <a:off x="8311896" y="4877562"/>
            <a:ext cx="3493008" cy="310896"/>
          </a:xfrm>
          <a:prstGeom prst="rect">
            <a:avLst/>
          </a:prstGeom>
          <a:noFill/>
        </p:spPr>
        <p:txBody>
          <a:bodyPr wrap="square" tIns="0" bIns="0" anchor="ctr">
            <a:noAutofit/>
          </a:bodyPr>
          <a:lstStyle/>
          <a:p>
            <a:pPr algn="ctr">
              <a:buNone/>
            </a:pPr>
            <a:r>
              <a:rPr sz="1100" b="1" i="0">
                <a:solidFill>
                  <a:srgbClr val="FFFFFF"/>
                </a:solidFill>
                <a:latin typeface="Arial"/>
              </a:rPr>
              <a:t>INVESTMENT HORIZON</a:t>
            </a:r>
            <a:endParaRPr lang="en-AU" sz="1100" dirty="0"/>
          </a:p>
        </p:txBody>
      </p:sp>
      <p:sp>
        <p:nvSpPr>
          <p:cNvPr id="75" name="Card body"/>
          <p:cNvSpPr txBox="1"/>
          <p:nvPr/>
        </p:nvSpPr>
        <p:spPr>
          <a:xfrm>
            <a:off x="8385048" y="5252466"/>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10 years and beyond. An intergenerational capital pool that grows the A$100m while funding recurring scholarships for financially disadvantaged students. A 21% cash allocation funds payouts without forced selling in downturns.</a:t>
            </a:r>
            <a:endParaRPr lang="en-AU" sz="1000" dirty="0"/>
          </a:p>
        </p:txBody>
      </p:sp>
      <p:sp>
        <p:nvSpPr>
          <p:cNvPr id="76"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05</a:t>
            </a:r>
            <a:endParaRPr lang="en-AU" sz="900" dirty="0"/>
          </a:p>
        </p:txBody>
      </p:sp>
      <p:sp>
        <p:nvSpPr>
          <p:cNvPr id="77"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Nav progress"/>
          <p:cNvSpPr/>
          <p:nvPr/>
        </p:nvSpPr>
        <p:spPr>
          <a:xfrm>
            <a:off x="603504" y="6466637"/>
            <a:ext cx="78507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81" name="Nav CLIENT NEEDS">
            <a:hlinkClick action="ppaction://hlinksldjump" r:id="rId5"/>
          </p:cNvPr>
          <p:cNvSpPr/>
          <p:nvPr/>
        </p:nvSpPr>
        <p:spPr>
          <a:xfrm>
            <a:off x="133829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CLIENT NEEDS</a:t>
            </a:r>
            <a:endParaRPr lang="en-AU" sz="800" dirty="0"/>
          </a:p>
        </p:txBody>
      </p:sp>
      <p:sp>
        <p:nvSpPr>
          <p:cNvPr id="83" name="Nav SAA">
            <a:hlinkClick action="ppaction://hlinksldjump" r:id="rId6"/>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85" name="Nav MACRO">
            <a:hlinkClick action="ppaction://hlinksldjump" r:id="rId7"/>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87" name="Nav AUSTRALIA">
            <a:hlinkClick action="ppaction://hlinksldjump" r:id="rId8"/>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89" name="Nav USA">
            <a:hlinkClick action="ppaction://hlinksldjump" r:id="rId9"/>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91" name="Nav EUROZONE">
            <a:hlinkClick action="ppaction://hlinksldjump" r:id="rId10"/>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93" name="Nav JAPAN">
            <a:hlinkClick action="ppaction://hlinksldjump" r:id="rId11"/>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95" name="Nav CHINA">
            <a:hlinkClick action="ppaction://hlinksldjump" r:id="rId12"/>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97" name="Nav EM">
            <a:hlinkClick action="ppaction://hlinksldjump" r:id="rId13"/>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99" name="Nav EQUITY">
            <a:hlinkClick action="ppaction://hlinksldjump" r:id="rId14"/>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01" name="Nav FIXED INCOME">
            <a:hlinkClick action="ppaction://hlinksldjump" r:id="rId15"/>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03" name="Nav TAA">
            <a:hlinkClick action="ppaction://hlinksldjump" r:id="rId16"/>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05" name="Nav REQUESTS">
            <a:hlinkClick action="ppaction://hlinksldjump" r:id="rId17"/>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07"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30" y="-18288"/>
            <a:ext cx="12225530" cy="6876288"/>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Strategic Asset Allocation (SAA)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 70/30 mix clears the 7% target and stayed inside the -15% limit through the 2021-2026 backtest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71" name="Panel"/>
          <p:cNvSpPr/>
          <p:nvPr/>
        </p:nvSpPr>
        <p:spPr>
          <a:xfrm>
            <a:off x="384048" y="1024128"/>
            <a:ext cx="5623560" cy="26517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Panel header"/>
          <p:cNvSpPr/>
          <p:nvPr/>
        </p:nvSpPr>
        <p:spPr>
          <a:xfrm>
            <a:off x="384048" y="1024128"/>
            <a:ext cx="562356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Panel title"/>
          <p:cNvSpPr txBox="1"/>
          <p:nvPr/>
        </p:nvSpPr>
        <p:spPr>
          <a:xfrm>
            <a:off x="384048" y="1024128"/>
            <a:ext cx="5623560"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70% GROWTH / 30% DEFENSIVE</a:t>
            </a:r>
            <a:endParaRPr lang="en-AU" sz="1100" dirty="0"/>
          </a:p>
        </p:txBody>
      </p:sp>
      <p:graphicFrame>
        <p:nvGraphicFramePr>
          <p:cNvPr id="70" name="Chart 69">
            <a:extLst>
              <a:ext uri="{FF2B5EF4-FFF2-40B4-BE49-F238E27FC236}">
                <a16:creationId xmlns:a16="http://schemas.microsoft.com/office/drawing/2014/main" id="{3C3C1BE1-333A-6792-A6B4-C4E309A026EC}"/>
              </a:ext>
            </a:extLst>
          </p:cNvPr>
          <p:cNvGraphicFramePr>
            <a:graphicFrameLocks/>
          </p:cNvGraphicFramePr>
          <p:nvPr>
            <p:extLst>
              <p:ext uri="{D42A27DB-BD31-4B8C-83A1-F6EECF244321}">
                <p14:modId xmlns:p14="http://schemas.microsoft.com/office/powerpoint/2010/main" val="3632680649"/>
              </p:ext>
            </p:extLst>
          </p:nvPr>
        </p:nvGraphicFramePr>
        <p:xfrm>
          <a:off x="438912" y="1371600"/>
          <a:ext cx="5513832" cy="2084832"/>
        </p:xfrm>
        <a:graphic>
          <a:graphicData uri="http://schemas.openxmlformats.org/drawingml/2006/chart">
            <c:chart xmlns:c="http://schemas.openxmlformats.org/drawingml/2006/chart" r:id="rId4"/>
          </a:graphicData>
        </a:graphic>
      </p:graphicFrame>
      <p:sp>
        <p:nvSpPr>
          <p:cNvPr id="74" name="Chart source"/>
          <p:cNvSpPr txBox="1"/>
          <p:nvPr/>
        </p:nvSpPr>
        <p:spPr>
          <a:xfrm>
            <a:off x="475488" y="3474720"/>
            <a:ext cx="544068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Neo-Edge Capital portfolio model</a:t>
            </a:r>
            <a:endParaRPr lang="en-AU" sz="800" dirty="0"/>
          </a:p>
        </p:txBody>
      </p:sp>
      <p:sp>
        <p:nvSpPr>
          <p:cNvPr id="75" name="Panel"/>
          <p:cNvSpPr/>
          <p:nvPr/>
        </p:nvSpPr>
        <p:spPr>
          <a:xfrm>
            <a:off x="6190488" y="1024128"/>
            <a:ext cx="5614416" cy="26517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Panel header"/>
          <p:cNvSpPr/>
          <p:nvPr/>
        </p:nvSpPr>
        <p:spPr>
          <a:xfrm>
            <a:off x="6190488" y="1024128"/>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Panel title"/>
          <p:cNvSpPr txBox="1"/>
          <p:nvPr/>
        </p:nvSpPr>
        <p:spPr>
          <a:xfrm>
            <a:off x="6190488" y="1024128"/>
            <a:ext cx="5614416"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WE RECOMMEND A 70/30 SAA FOR 2026 AND BEYOND</a:t>
            </a:r>
            <a:endParaRPr lang="en-AU" sz="1100" dirty="0"/>
          </a:p>
        </p:txBody>
      </p:sp>
      <p:graphicFrame>
        <p:nvGraphicFramePr>
          <p:cNvPr id="78" name="Chart 77"/>
          <p:cNvGraphicFramePr>
            <a:graphicFrameLocks noGrp="1"/>
          </p:cNvGraphicFramePr>
          <p:nvPr/>
        </p:nvGraphicFramePr>
        <p:xfrm>
          <a:off x="6236208" y="1371600"/>
          <a:ext cx="5522976" cy="2267712"/>
        </p:xfrm>
        <a:graphic>
          <a:graphicData uri="http://schemas.openxmlformats.org/drawingml/2006/chart">
            <c:chart xmlns:c="http://schemas.openxmlformats.org/drawingml/2006/chart" r:id="rId5"/>
          </a:graphicData>
        </a:graphic>
      </p:graphicFrame>
      <p:graphicFrame>
        <p:nvGraphicFramePr>
          <p:cNvPr id="79" name="Backtest statistics"/>
          <p:cNvGraphicFramePr>
            <a:graphicFrameLocks noGrp="1"/>
          </p:cNvGraphicFramePr>
          <p:nvPr/>
        </p:nvGraphicFramePr>
        <p:xfrm>
          <a:off x="384048" y="3803904"/>
          <a:ext cx="5623561" cy="2359152"/>
        </p:xfrm>
        <a:graphic>
          <a:graphicData uri="http://schemas.openxmlformats.org/drawingml/2006/table">
            <a:tbl>
              <a:tblPr firstRow="0" bandRow="0">
                <a:tableStyleId>{2D5ABB26-0587-4C30-8999-92F81FD0307C}</a:tableStyleId>
              </a:tblPr>
              <a:tblGrid>
                <a:gridCol w="2080717"/>
                <a:gridCol w="1180948"/>
                <a:gridCol w="1180948"/>
                <a:gridCol w="1180948"/>
              </a:tblGrid>
              <a:tr h="420624">
                <a:tc>
                  <a:txBody>
                    <a:bodyPr wrap="square" lIns="73152" tIns="27432" rIns="73152" bIns="27432" anchor="ctr">
                      <a:noAutofit/>
                    </a:bodyPr>
                    <a:lstStyle/>
                    <a:p>
                      <a:pPr algn="l">
                        <a:buNone/>
                      </a:pPr>
                      <a:r>
                        <a:rPr sz="950" b="1" i="0">
                          <a:solidFill>
                            <a:srgbClr val="FFFFFF"/>
                          </a:solidFill>
                          <a:latin typeface="Arial"/>
                        </a:rPr>
                        <a:t>Quarterly backtest</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80/20</a:t>
                      </a:r>
                      <a:endParaRPr lang="en-AU" sz="950" dirty="0"/>
                    </a:p>
                    <a:p>
                      <a:pPr algn="ctr">
                        <a:buNone/>
                      </a:pPr>
                      <a:r>
                        <a:rPr sz="950" b="1" i="0">
                          <a:solidFill>
                            <a:srgbClr val="FFFFFF"/>
                          </a:solidFill>
                          <a:latin typeface="Arial"/>
                        </a:rPr>
                        <a:t>Aggressive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70/30</a:t>
                      </a:r>
                      <a:endParaRPr lang="en-AU" sz="950" dirty="0"/>
                    </a:p>
                    <a:p>
                      <a:pPr algn="ctr">
                        <a:buNone/>
                      </a:pPr>
                      <a:r>
                        <a:rPr sz="950" b="1" i="0">
                          <a:solidFill>
                            <a:srgbClr val="FFFFFF"/>
                          </a:solidFill>
                          <a:latin typeface="Arial"/>
                        </a:rPr>
                        <a:t>Strategic (SAA)</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8A6A22"/>
                    </a:solidFill>
                  </a:tcPr>
                </a:tc>
                <a:tc>
                  <a:txBody>
                    <a:bodyPr wrap="square" lIns="73152" tIns="27432" rIns="73152" bIns="27432" anchor="ctr">
                      <a:noAutofit/>
                    </a:bodyPr>
                    <a:lstStyle/>
                    <a:p>
                      <a:pPr algn="ctr">
                        <a:buNone/>
                      </a:pPr>
                      <a:r>
                        <a:rPr sz="950" b="1" i="0">
                          <a:solidFill>
                            <a:srgbClr val="FFFFFF"/>
                          </a:solidFill>
                          <a:latin typeface="Arial"/>
                        </a:rPr>
                        <a:t>60/40</a:t>
                      </a:r>
                      <a:endParaRPr lang="en-AU" sz="950" dirty="0"/>
                    </a:p>
                    <a:p>
                      <a:pPr algn="ctr">
                        <a:buNone/>
                      </a:pPr>
                      <a:r>
                        <a:rPr sz="950" b="1" i="0">
                          <a:solidFill>
                            <a:srgbClr val="FFFFFF"/>
                          </a:solidFill>
                          <a:latin typeface="Arial"/>
                        </a:rPr>
                        <a:t>Defensive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323088">
                <a:tc>
                  <a:txBody>
                    <a:bodyPr wrap="square" lIns="73152" tIns="27432" rIns="73152" bIns="27432" anchor="ctr">
                      <a:noAutofit/>
                    </a:bodyPr>
                    <a:lstStyle/>
                    <a:p>
                      <a:pPr algn="l">
                        <a:buNone/>
                      </a:pPr>
                      <a:r>
                        <a:rPr sz="1000" b="1" i="0">
                          <a:solidFill>
                            <a:srgbClr val="1A1F26"/>
                          </a:solidFill>
                          <a:latin typeface="Arial"/>
                        </a:rPr>
                        <a:t>Quarterly mean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2.26%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2.47%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2.46%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Quarterly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5.01%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5.07%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4.26%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23088">
                <a:tc>
                  <a:txBody>
                    <a:bodyPr wrap="square" lIns="73152" tIns="27432" rIns="73152" bIns="27432" anchor="ctr">
                      <a:noAutofit/>
                    </a:bodyPr>
                    <a:lstStyle/>
                    <a:p>
                      <a:pPr algn="l">
                        <a:buNone/>
                      </a:pPr>
                      <a:r>
                        <a:rPr sz="1000" b="1" i="0">
                          <a:solidFill>
                            <a:srgbClr val="1A1F26"/>
                          </a:solidFill>
                          <a:latin typeface="Arial"/>
                        </a:rPr>
                        <a:t>Annualised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9.02%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9.89%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9.83%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Annualised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10.03%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10.13%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8.51%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23088">
                <a:tc>
                  <a:txBody>
                    <a:bodyPr wrap="square" lIns="73152" tIns="27432" rIns="73152" bIns="27432" anchor="ctr">
                      <a:noAutofit/>
                    </a:bodyPr>
                    <a:lstStyle/>
                    <a:p>
                      <a:pPr algn="l">
                        <a:buNone/>
                      </a:pPr>
                      <a:r>
                        <a:rPr sz="1000" b="1" i="0">
                          <a:solidFill>
                            <a:srgbClr val="1A1F26"/>
                          </a:solidFill>
                          <a:latin typeface="Arial"/>
                        </a:rPr>
                        <a:t>Sharpe ratio</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0.52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0.60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0.71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Maximum drawdown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B32D2E"/>
                          </a:solidFill>
                          <a:latin typeface="Arial"/>
                        </a:rPr>
                        <a:t>-12.82%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B32D2E"/>
                          </a:solidFill>
                          <a:latin typeface="Arial"/>
                        </a:rPr>
                        <a:t>-12.23%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B32D2E"/>
                          </a:solidFill>
                          <a:latin typeface="Arial"/>
                        </a:rPr>
                        <a:t>-10.29%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bl>
          </a:graphicData>
        </a:graphic>
      </p:graphicFrame>
      <p:sp>
        <p:nvSpPr>
          <p:cNvPr id="80" name="Card"/>
          <p:cNvSpPr/>
          <p:nvPr/>
        </p:nvSpPr>
        <p:spPr>
          <a:xfrm>
            <a:off x="6190488"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header"/>
          <p:cNvSpPr/>
          <p:nvPr/>
        </p:nvSpPr>
        <p:spPr>
          <a:xfrm>
            <a:off x="6190488"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ard title"/>
          <p:cNvSpPr txBox="1"/>
          <p:nvPr/>
        </p:nvSpPr>
        <p:spPr>
          <a:xfrm>
            <a:off x="6190488"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10-YEAR SAA</a:t>
            </a:r>
            <a:endParaRPr lang="en-AU" sz="1000" dirty="0"/>
          </a:p>
        </p:txBody>
      </p:sp>
      <p:sp>
        <p:nvSpPr>
          <p:cNvPr id="83" name="Card body"/>
          <p:cNvSpPr txBox="1"/>
          <p:nvPr/>
        </p:nvSpPr>
        <p:spPr>
          <a:xfrm>
            <a:off x="6245352"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The 70/30 mix best balances Jenny's goals: 8.9% p.a. after fees with a -12.2% maximum drawdown. The 60/40 leans on gold's unusually strong 19% p.a. run, and the 80/20 earned less with a deeper -12.8% drawdown.</a:t>
            </a:r>
            <a:endParaRPr lang="en-AU" sz="1050" dirty="0"/>
          </a:p>
        </p:txBody>
      </p:sp>
      <p:sp>
        <p:nvSpPr>
          <p:cNvPr id="84" name="Card"/>
          <p:cNvSpPr/>
          <p:nvPr/>
        </p:nvSpPr>
        <p:spPr>
          <a:xfrm>
            <a:off x="8107680"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ard header"/>
          <p:cNvSpPr/>
          <p:nvPr/>
        </p:nvSpPr>
        <p:spPr>
          <a:xfrm>
            <a:off x="8107680"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Card title"/>
          <p:cNvSpPr txBox="1"/>
          <p:nvPr/>
        </p:nvSpPr>
        <p:spPr>
          <a:xfrm>
            <a:off x="8107680"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LIQUIDITY</a:t>
            </a:r>
            <a:endParaRPr lang="en-AU" sz="1000" dirty="0"/>
          </a:p>
        </p:txBody>
      </p:sp>
      <p:sp>
        <p:nvSpPr>
          <p:cNvPr id="87" name="Card body"/>
          <p:cNvSpPr txBox="1"/>
          <p:nvPr/>
        </p:nvSpPr>
        <p:spPr>
          <a:xfrm>
            <a:off x="8162544"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21% is held in cash (BILL), enough to fund about five years of scholarships at a 4% payout, so we can pay scholarships and rebalance in a downturn without selling growth assets at a loss.</a:t>
            </a:r>
            <a:endParaRPr lang="en-AU" sz="1050" dirty="0"/>
          </a:p>
        </p:txBody>
      </p:sp>
      <p:sp>
        <p:nvSpPr>
          <p:cNvPr id="88" name="Card"/>
          <p:cNvSpPr/>
          <p:nvPr/>
        </p:nvSpPr>
        <p:spPr>
          <a:xfrm>
            <a:off x="10024872"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Card header"/>
          <p:cNvSpPr/>
          <p:nvPr/>
        </p:nvSpPr>
        <p:spPr>
          <a:xfrm>
            <a:off x="10024872"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Card title"/>
          <p:cNvSpPr txBox="1"/>
          <p:nvPr/>
        </p:nvSpPr>
        <p:spPr>
          <a:xfrm>
            <a:off x="10024872"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RISK CONTROL</a:t>
            </a:r>
            <a:endParaRPr lang="en-AU" sz="1000" dirty="0"/>
          </a:p>
        </p:txBody>
      </p:sp>
      <p:sp>
        <p:nvSpPr>
          <p:cNvPr id="91" name="Card body"/>
          <p:cNvSpPr txBox="1"/>
          <p:nvPr/>
        </p:nvSpPr>
        <p:spPr>
          <a:xfrm>
            <a:off x="10079736"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No asset class in any region exceeds 30% and no ETF exceeds 29%, across 9 ETFs in four regions. Volatility is 8.1% p.a. on monthly data, with no leverage.</a:t>
            </a:r>
            <a:endParaRPr lang="en-AU" sz="1050" dirty="0"/>
          </a:p>
        </p:txBody>
      </p:sp>
      <p:sp>
        <p:nvSpPr>
          <p:cNvPr id="92"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Quarterly statistics are before fees (Sep 2021 to Jun 2026). The 8.9% p.a. headline is the weighted ETF return from monthly data after the 0.29% MER. Sharpe uses a 3.78% risk-free rate.</a:t>
            </a:r>
            <a:endParaRPr lang="en-AU" sz="800" dirty="0"/>
          </a:p>
        </p:txBody>
      </p:sp>
      <p:sp>
        <p:nvSpPr>
          <p:cNvPr id="9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06</a:t>
            </a:r>
            <a:endParaRPr lang="en-AU" sz="900" dirty="0"/>
          </a:p>
        </p:txBody>
      </p:sp>
      <p:sp>
        <p:nvSpPr>
          <p:cNvPr id="9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progress"/>
          <p:cNvSpPr/>
          <p:nvPr/>
        </p:nvSpPr>
        <p:spPr>
          <a:xfrm>
            <a:off x="603504" y="6466637"/>
            <a:ext cx="15701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AGENDA">
            <a:hlinkClick action="ppaction://hlinksldjump" r:id="rId6"/>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GENDA">
            <a:hlinkClick action="ppaction://hlinksldjump" r:id="rId6"/>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8" name="Nav CLIENT NEEDS">
            <a:hlinkClick action="ppaction://hlinksldjump" r:id="rId7"/>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CLIENT NEEDS">
            <a:hlinkClick action="ppaction://hlinksldjump" r:id="rId7"/>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00" name="Nav SAA">
            <a:hlinkClick action="ppaction://hlinksldjump" r:id="rId8"/>
          </p:cNvPr>
          <p:cNvSpPr/>
          <p:nvPr/>
        </p:nvSpPr>
        <p:spPr>
          <a:xfrm>
            <a:off x="21233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SAA">
            <a:hlinkClick action="ppaction://hlinksldjump" r:id="rId8"/>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SAA</a:t>
            </a:r>
            <a:endParaRPr lang="en-AU" sz="800" dirty="0"/>
          </a:p>
        </p:txBody>
      </p:sp>
      <p:sp>
        <p:nvSpPr>
          <p:cNvPr id="102" name="Nav MACRO">
            <a:hlinkClick action="ppaction://hlinksldjump" r:id="rId9"/>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MACRO">
            <a:hlinkClick action="ppaction://hlinksldjump" r:id="rId9"/>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104" name="Nav AUSTRALIA">
            <a:hlinkClick action="ppaction://hlinksldjump" r:id="rId10"/>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AUSTRALIA">
            <a:hlinkClick action="ppaction://hlinksldjump" r:id="rId10"/>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106" name="Nav USA">
            <a:hlinkClick action="ppaction://hlinksldjump" r:id="rId11"/>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USA">
            <a:hlinkClick action="ppaction://hlinksldjump" r:id="rId11"/>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8" name="Nav EUROZONE">
            <a:hlinkClick action="ppaction://hlinksldjump" r:id="rId12"/>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UROZONE">
            <a:hlinkClick action="ppaction://hlinksldjump" r:id="rId12"/>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10" name="Nav JAPAN">
            <a:hlinkClick action="ppaction://hlinksldjump" r:id="rId13"/>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JAPAN">
            <a:hlinkClick action="ppaction://hlinksldjump" r:id="rId13"/>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12" name="Nav CHINA">
            <a:hlinkClick action="ppaction://hlinksldjump" r:id="rId14"/>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CHINA">
            <a:hlinkClick action="ppaction://hlinksldjump" r:id="rId14"/>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4" name="Nav EM">
            <a:hlinkClick action="ppaction://hlinksldjump" r:id="rId15"/>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EM">
            <a:hlinkClick action="ppaction://hlinksldjump" r:id="rId15"/>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6" name="Nav EQUITY">
            <a:hlinkClick action="ppaction://hlinksldjump" r:id="rId16"/>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EQUITY">
            <a:hlinkClick action="ppaction://hlinksldjump" r:id="rId16"/>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8" name="Nav FIXED INCOME">
            <a:hlinkClick action="ppaction://hlinksldjump" r:id="rId17"/>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FIXED INCOME">
            <a:hlinkClick action="ppaction://hlinksldjump" r:id="rId17"/>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20" name="Nav TAA">
            <a:hlinkClick action="ppaction://hlinksldjump" r:id="rId18"/>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TAA">
            <a:hlinkClick action="ppaction://hlinksldjump" r:id="rId18"/>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22" name="Nav REQUESTS">
            <a:hlinkClick action="ppaction://hlinksldjump" r:id="rId19"/>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REQUESTS">
            <a:hlinkClick action="ppaction://hlinksldjump" r:id="rId19"/>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4" name="Nav REFERENCES">
            <a:hlinkClick action="ppaction://hlinksldjump" r:id="rId20"/>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REFERENCES">
            <a:hlinkClick action="ppaction://hlinksldjump" r:id="rId20"/>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345" y="-63544"/>
            <a:ext cx="12255345" cy="6921544"/>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SAA Stress Testing: The COVID-19 Crash</a:t>
            </a:r>
            <a:endParaRPr lang="en-AU" sz="24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 COVID-style crash would push the 70/30 past -15% (-17.6%), so a -10% trigger moves us toward the 60/40, which held at -15.0%</a:t>
            </a:r>
            <a:endParaRPr lang="en-AU" sz="1100" dirty="0"/>
          </a:p>
        </p:txBody>
      </p:sp>
      <p:sp>
        <p:nvSpPr>
          <p:cNvPr id="71" name="Panel"/>
          <p:cNvSpPr/>
          <p:nvPr/>
        </p:nvSpPr>
        <p:spPr>
          <a:xfrm>
            <a:off x="384048" y="1024128"/>
            <a:ext cx="6492240" cy="2542032"/>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Panel header"/>
          <p:cNvSpPr/>
          <p:nvPr/>
        </p:nvSpPr>
        <p:spPr>
          <a:xfrm>
            <a:off x="384048" y="1024128"/>
            <a:ext cx="64922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Panel title"/>
          <p:cNvSpPr txBox="1"/>
          <p:nvPr/>
        </p:nvSpPr>
        <p:spPr>
          <a:xfrm>
            <a:off x="384048" y="1024128"/>
            <a:ext cx="6492240"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QUARTERLY RETURNS THROUGH COVID-19 (2018 TO 2023)</a:t>
            </a:r>
            <a:endParaRPr lang="en-AU" sz="1100" dirty="0"/>
          </a:p>
        </p:txBody>
      </p:sp>
      <p:graphicFrame>
        <p:nvGraphicFramePr>
          <p:cNvPr id="70" name="Chart 69">
            <a:extLst>
              <a:ext uri="{FF2B5EF4-FFF2-40B4-BE49-F238E27FC236}">
                <a16:creationId xmlns:a16="http://schemas.microsoft.com/office/drawing/2014/main" id="{7C638864-B165-9496-DC16-C7190A61FC2B}"/>
              </a:ext>
            </a:extLst>
          </p:cNvPr>
          <p:cNvGraphicFramePr>
            <a:graphicFrameLocks/>
          </p:cNvGraphicFramePr>
          <p:nvPr>
            <p:extLst>
              <p:ext uri="{D42A27DB-BD31-4B8C-83A1-F6EECF244321}">
                <p14:modId xmlns:p14="http://schemas.microsoft.com/office/powerpoint/2010/main" val="432648939"/>
              </p:ext>
            </p:extLst>
          </p:nvPr>
        </p:nvGraphicFramePr>
        <p:xfrm>
          <a:off x="438912" y="1371600"/>
          <a:ext cx="6382512" cy="1975104"/>
        </p:xfrm>
        <a:graphic>
          <a:graphicData uri="http://schemas.openxmlformats.org/drawingml/2006/chart">
            <c:chart xmlns:c="http://schemas.openxmlformats.org/drawingml/2006/chart" r:id="rId2"/>
          </a:graphicData>
        </a:graphic>
      </p:graphicFrame>
      <p:sp>
        <p:nvSpPr>
          <p:cNvPr id="74" name="Chart source"/>
          <p:cNvSpPr txBox="1"/>
          <p:nvPr/>
        </p:nvSpPr>
        <p:spPr>
          <a:xfrm>
            <a:off x="475488" y="3364992"/>
            <a:ext cx="630936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daily closes</a:t>
            </a:r>
            <a:endParaRPr lang="en-AU" sz="800" dirty="0"/>
          </a:p>
        </p:txBody>
      </p:sp>
      <p:graphicFrame>
        <p:nvGraphicFramePr>
          <p:cNvPr id="75" name="Backtest statistics"/>
          <p:cNvGraphicFramePr>
            <a:graphicFrameLocks noGrp="1"/>
          </p:cNvGraphicFramePr>
          <p:nvPr/>
        </p:nvGraphicFramePr>
        <p:xfrm>
          <a:off x="384048" y="3694176"/>
          <a:ext cx="6492239" cy="2468880"/>
        </p:xfrm>
        <a:graphic>
          <a:graphicData uri="http://schemas.openxmlformats.org/drawingml/2006/table">
            <a:tbl>
              <a:tblPr firstRow="0" bandRow="0">
                <a:tableStyleId>{2D5ABB26-0587-4C30-8999-92F81FD0307C}</a:tableStyleId>
              </a:tblPr>
              <a:tblGrid>
                <a:gridCol w="2402129"/>
                <a:gridCol w="1363370"/>
                <a:gridCol w="1363370"/>
                <a:gridCol w="1363370"/>
              </a:tblGrid>
              <a:tr h="420624">
                <a:tc>
                  <a:txBody>
                    <a:bodyPr wrap="square" lIns="73152" tIns="27432" rIns="73152" bIns="27432" anchor="ctr">
                      <a:noAutofit/>
                    </a:bodyPr>
                    <a:lstStyle/>
                    <a:p>
                      <a:pPr algn="l">
                        <a:buNone/>
                      </a:pPr>
                      <a:r>
                        <a:rPr sz="950" b="1" i="0">
                          <a:solidFill>
                            <a:srgbClr val="FFFFFF"/>
                          </a:solidFill>
                          <a:latin typeface="Arial"/>
                        </a:rPr>
                        <a:t>COVID window, 2018-2023</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80/20</a:t>
                      </a:r>
                      <a:endParaRPr lang="en-AU" sz="950" dirty="0"/>
                    </a:p>
                    <a:p>
                      <a:pPr algn="ctr">
                        <a:buNone/>
                      </a:pPr>
                      <a:r>
                        <a:rPr sz="950" b="1" i="0">
                          <a:solidFill>
                            <a:srgbClr val="FFFFFF"/>
                          </a:solidFill>
                          <a:latin typeface="Arial"/>
                        </a:rPr>
                        <a:t>Aggressive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70/30</a:t>
                      </a:r>
                      <a:endParaRPr lang="en-AU" sz="950" dirty="0"/>
                    </a:p>
                    <a:p>
                      <a:pPr algn="ctr">
                        <a:buNone/>
                      </a:pPr>
                      <a:r>
                        <a:rPr sz="950" b="1" i="0">
                          <a:solidFill>
                            <a:srgbClr val="FFFFFF"/>
                          </a:solidFill>
                          <a:latin typeface="Arial"/>
                        </a:rPr>
                        <a:t>Strategic (SAA)</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8A6A22"/>
                    </a:solidFill>
                  </a:tcPr>
                </a:tc>
                <a:tc>
                  <a:txBody>
                    <a:bodyPr wrap="square" lIns="73152" tIns="27432" rIns="73152" bIns="27432" anchor="ctr">
                      <a:noAutofit/>
                    </a:bodyPr>
                    <a:lstStyle/>
                    <a:p>
                      <a:pPr algn="ctr">
                        <a:buNone/>
                      </a:pPr>
                      <a:r>
                        <a:rPr sz="950" b="1" i="0">
                          <a:solidFill>
                            <a:srgbClr val="FFFFFF"/>
                          </a:solidFill>
                          <a:latin typeface="Arial"/>
                        </a:rPr>
                        <a:t>60/40</a:t>
                      </a:r>
                      <a:endParaRPr lang="en-AU" sz="950" dirty="0"/>
                    </a:p>
                    <a:p>
                      <a:pPr algn="ctr">
                        <a:buNone/>
                      </a:pPr>
                      <a:r>
                        <a:rPr sz="950" b="1" i="0">
                          <a:solidFill>
                            <a:srgbClr val="FFFFFF"/>
                          </a:solidFill>
                          <a:latin typeface="Arial"/>
                        </a:rPr>
                        <a:t>Defensive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341376">
                <a:tc>
                  <a:txBody>
                    <a:bodyPr wrap="square" lIns="73152" tIns="27432" rIns="73152" bIns="27432" anchor="ctr">
                      <a:noAutofit/>
                    </a:bodyPr>
                    <a:lstStyle/>
                    <a:p>
                      <a:pPr algn="l">
                        <a:buNone/>
                      </a:pPr>
                      <a:r>
                        <a:rPr sz="1000" b="1" i="0">
                          <a:solidFill>
                            <a:srgbClr val="1A1F26"/>
                          </a:solidFill>
                          <a:latin typeface="Arial"/>
                        </a:rPr>
                        <a:t>Quarterly mean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1.69%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1.98%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1.95%</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Quarterly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5.30%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4.56%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3.70%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41376">
                <a:tc>
                  <a:txBody>
                    <a:bodyPr wrap="square" lIns="73152" tIns="27432" rIns="73152" bIns="27432" anchor="ctr">
                      <a:noAutofit/>
                    </a:bodyPr>
                    <a:lstStyle/>
                    <a:p>
                      <a:pPr algn="l">
                        <a:buNone/>
                      </a:pPr>
                      <a:r>
                        <a:rPr sz="1000" b="1" i="0">
                          <a:solidFill>
                            <a:srgbClr val="1A1F26"/>
                          </a:solidFill>
                          <a:latin typeface="Arial"/>
                        </a:rPr>
                        <a:t>Annualised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6.76%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7.93%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7.78%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Annualised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10.59%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9.11%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7.40%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41376">
                <a:tc>
                  <a:txBody>
                    <a:bodyPr wrap="square" lIns="73152" tIns="27432" rIns="73152" bIns="27432" anchor="ctr">
                      <a:noAutofit/>
                    </a:bodyPr>
                    <a:lstStyle/>
                    <a:p>
                      <a:pPr algn="l">
                        <a:buNone/>
                      </a:pPr>
                      <a:r>
                        <a:rPr sz="1000" b="1" i="0">
                          <a:solidFill>
                            <a:srgbClr val="1A1F26"/>
                          </a:solidFill>
                          <a:latin typeface="Arial"/>
                        </a:rPr>
                        <a:t>Sharpe ratio</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0.28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0.46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0.54</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Maximum drawdown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B32D2E"/>
                          </a:solidFill>
                          <a:latin typeface="Arial"/>
                        </a:rPr>
                        <a:t>-22.15%</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B32D2E"/>
                          </a:solidFill>
                          <a:latin typeface="Arial"/>
                        </a:rPr>
                        <a:t>-17.63%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B32D2E"/>
                          </a:solidFill>
                          <a:latin typeface="Arial"/>
                        </a:rPr>
                        <a:t>-14.97%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bl>
          </a:graphicData>
        </a:graphic>
      </p:graphicFrame>
      <p:sp>
        <p:nvSpPr>
          <p:cNvPr id="76" name="Card"/>
          <p:cNvSpPr/>
          <p:nvPr/>
        </p:nvSpPr>
        <p:spPr>
          <a:xfrm>
            <a:off x="7059168" y="1024128"/>
            <a:ext cx="4745736" cy="254203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rd header"/>
          <p:cNvSpPr/>
          <p:nvPr/>
        </p:nvSpPr>
        <p:spPr>
          <a:xfrm>
            <a:off x="7059168" y="1024128"/>
            <a:ext cx="47457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Card title"/>
          <p:cNvSpPr txBox="1"/>
          <p:nvPr/>
        </p:nvSpPr>
        <p:spPr>
          <a:xfrm>
            <a:off x="7059168" y="1024128"/>
            <a:ext cx="4745736" cy="329184"/>
          </a:xfrm>
          <a:prstGeom prst="rect">
            <a:avLst/>
          </a:prstGeom>
          <a:noFill/>
        </p:spPr>
        <p:txBody>
          <a:bodyPr wrap="square" tIns="0" bIns="0" anchor="ctr">
            <a:noAutofit/>
          </a:bodyPr>
          <a:lstStyle/>
          <a:p>
            <a:pPr algn="ctr">
              <a:buNone/>
            </a:pPr>
            <a:r>
              <a:rPr sz="1100" b="1" i="0">
                <a:solidFill>
                  <a:srgbClr val="FFFFFF"/>
                </a:solidFill>
                <a:latin typeface="Arial"/>
              </a:rPr>
              <a:t>PORTFOLIO DOWNTURN AND RECOVERY</a:t>
            </a:r>
            <a:endParaRPr lang="en-AU" sz="1100" dirty="0"/>
          </a:p>
        </p:txBody>
      </p:sp>
      <p:sp>
        <p:nvSpPr>
          <p:cNvPr id="79" name="Card body"/>
          <p:cNvSpPr txBox="1"/>
          <p:nvPr/>
        </p:nvSpPr>
        <p:spPr>
          <a:xfrm>
            <a:off x="7132320" y="1426464"/>
            <a:ext cx="4599432" cy="2075688"/>
          </a:xfrm>
          <a:prstGeom prst="rect">
            <a:avLst/>
          </a:prstGeom>
          <a:noFill/>
        </p:spPr>
        <p:txBody>
          <a:bodyPr wrap="square" lIns="36576" tIns="18288" rIns="36576" bIns="18288" anchor="t">
            <a:noAutofit/>
          </a:bodyPr>
          <a:lstStyle/>
          <a:p>
            <a:pPr algn="l" marL="128016" indent="-128016">
              <a:spcAft>
                <a:spcPts val="400"/>
              </a:spcAft>
              <a:buClr>
                <a:srgbClr val="CEA659"/>
              </a:buClr>
              <a:buSzPct val="100000"/>
              <a:buFont typeface="Arial"/>
              <a:buChar char="▪"/>
            </a:pPr>
            <a:r>
              <a:rPr sz="1100" b="0" i="0">
                <a:solidFill>
                  <a:srgbClr val="1A1F26"/>
                </a:solidFill>
                <a:latin typeface="Arial"/>
              </a:rPr>
              <a:t>The COVID crash was the worst fall in the backtest, with all three portfolios bottoming on 23 March 2020.</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The 70/30 fell 17.6% against 36.5% for the ASX 200, and the 60/40 stayed inside the -15% limit at -14.97%.</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All three portfolios regained their pre-COVID highs by November 2020, while the ASX 200 took until May 2021.</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Should a similar crisis occur, we will contact you at a 10% drawdown and move toward the 60/40 defensive allocation.</a:t>
            </a:r>
            <a:endParaRPr lang="en-AU" sz="1050" dirty="0"/>
          </a:p>
        </p:txBody>
      </p:sp>
      <p:sp>
        <p:nvSpPr>
          <p:cNvPr id="80" name="Card"/>
          <p:cNvSpPr/>
          <p:nvPr/>
        </p:nvSpPr>
        <p:spPr>
          <a:xfrm>
            <a:off x="7059168" y="3694176"/>
            <a:ext cx="4745736" cy="2468880"/>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header"/>
          <p:cNvSpPr/>
          <p:nvPr/>
        </p:nvSpPr>
        <p:spPr>
          <a:xfrm>
            <a:off x="7059168" y="3694176"/>
            <a:ext cx="47457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ard title"/>
          <p:cNvSpPr txBox="1"/>
          <p:nvPr/>
        </p:nvSpPr>
        <p:spPr>
          <a:xfrm>
            <a:off x="7059168" y="3694176"/>
            <a:ext cx="4745736" cy="329184"/>
          </a:xfrm>
          <a:prstGeom prst="rect">
            <a:avLst/>
          </a:prstGeom>
          <a:noFill/>
        </p:spPr>
        <p:txBody>
          <a:bodyPr wrap="square" tIns="0" bIns="0" anchor="ctr">
            <a:noAutofit/>
          </a:bodyPr>
          <a:lstStyle/>
          <a:p>
            <a:pPr algn="ctr">
              <a:buNone/>
            </a:pPr>
            <a:r>
              <a:rPr sz="1100" b="1" i="0">
                <a:solidFill>
                  <a:srgbClr val="FFFFFF"/>
                </a:solidFill>
                <a:latin typeface="Arial"/>
              </a:rPr>
              <a:t>CASH KEPT SCHOLARSHIPS FUNDED</a:t>
            </a:r>
            <a:endParaRPr lang="en-AU" sz="1100" dirty="0"/>
          </a:p>
        </p:txBody>
      </p:sp>
      <p:sp>
        <p:nvSpPr>
          <p:cNvPr id="83" name="Card body"/>
          <p:cNvSpPr txBox="1"/>
          <p:nvPr/>
        </p:nvSpPr>
        <p:spPr>
          <a:xfrm>
            <a:off x="7132320" y="4096512"/>
            <a:ext cx="4599432" cy="2075688"/>
          </a:xfrm>
          <a:prstGeom prst="rect">
            <a:avLst/>
          </a:prstGeom>
          <a:noFill/>
        </p:spPr>
        <p:txBody>
          <a:bodyPr wrap="square" lIns="36576" tIns="18288" rIns="36576" bIns="18288" anchor="t">
            <a:noAutofit/>
          </a:bodyPr>
          <a:lstStyle/>
          <a:p>
            <a:pPr algn="l" marL="128016" indent="-128016">
              <a:spcAft>
                <a:spcPts val="400"/>
              </a:spcAft>
              <a:buClr>
                <a:srgbClr val="CEA659"/>
              </a:buClr>
              <a:buSzPct val="100000"/>
              <a:buFont typeface="Arial"/>
              <a:buChar char="▪"/>
            </a:pPr>
            <a:r>
              <a:rPr sz="1100" b="0" i="0">
                <a:solidFill>
                  <a:srgbClr val="1A1F26"/>
                </a:solidFill>
                <a:latin typeface="Arial"/>
              </a:rPr>
              <a:t>Equities fell sharply, with Japan (HJPN) down 38% and global infrastructure down 36%.</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Cash remained highly stable, with BILL and AAA falling less than 0.3%.</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Gold and bonds cushioned the fall, with gold down only 12%.</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The 21% cash allocation could fund around five years of scholarships, so no assets had to be sold at the bottom. The 70/30 still returned 8.1% in 2020, while the ASX 200 lost 1.5%.</a:t>
            </a:r>
            <a:endParaRPr lang="en-AU" sz="1050" dirty="0"/>
          </a:p>
        </p:txBody>
      </p:sp>
      <p:sp>
        <p:nvSpPr>
          <p:cNvPr id="84"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Source: LSEG Workspace daily closes, Jan 2018 to Dec 2023. ETHI, FAIR, IFRA and VBND stand in for ESGI, VETH, VBLD and VEFI, which listed after January 2018.</a:t>
            </a:r>
            <a:endParaRPr lang="en-AU" sz="800" dirty="0"/>
          </a:p>
        </p:txBody>
      </p:sp>
      <p:sp>
        <p:nvSpPr>
          <p:cNvPr id="8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07</a:t>
            </a:r>
            <a:endParaRPr lang="en-AU" sz="900" dirty="0"/>
          </a:p>
        </p:txBody>
      </p:sp>
      <p:sp>
        <p:nvSpPr>
          <p:cNvPr id="8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progress"/>
          <p:cNvSpPr/>
          <p:nvPr/>
        </p:nvSpPr>
        <p:spPr>
          <a:xfrm>
            <a:off x="603504" y="6466637"/>
            <a:ext cx="15701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0" name="Nav CLIENT NEEDS">
            <a:hlinkClick action="ppaction://hlinksldjump" r:id="rId4"/>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2" name="Nav SAA">
            <a:hlinkClick action="ppaction://hlinksldjump" r:id="rId5"/>
          </p:cNvPr>
          <p:cNvSpPr/>
          <p:nvPr/>
        </p:nvSpPr>
        <p:spPr>
          <a:xfrm>
            <a:off x="21233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SAA</a:t>
            </a:r>
            <a:endParaRPr lang="en-AU" sz="800" dirty="0"/>
          </a:p>
        </p:txBody>
      </p:sp>
      <p:sp>
        <p:nvSpPr>
          <p:cNvPr id="94" name="Nav MACRO">
            <a:hlinkClick action="ppaction://hlinksldjump" r:id="rId6"/>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96" name="Nav AUSTRALIA">
            <a:hlinkClick action="ppaction://hlinksldjump" r:id="rId7"/>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98" name="Nav USA">
            <a:hlinkClick action="ppaction://hlinksldjump" r:id="rId8"/>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0" name="Nav EUROZONE">
            <a:hlinkClick action="ppaction://hlinksldjump" r:id="rId9"/>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02" name="Nav JAPAN">
            <a:hlinkClick action="ppaction://hlinksldjump" r:id="rId10"/>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4" name="Nav CHINA">
            <a:hlinkClick action="ppaction://hlinksldjump" r:id="rId11"/>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6" name="Nav EM">
            <a:hlinkClick action="ppaction://hlinksldjump" r:id="rId12"/>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8" name="Nav EQUITY">
            <a:hlinkClick action="ppaction://hlinksldjump" r:id="rId13"/>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0" name="Nav FIXED INCOME">
            <a:hlinkClick action="ppaction://hlinksldjump" r:id="rId14"/>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2" name="Nav TAA">
            <a:hlinkClick action="ppaction://hlinksldjump" r:id="rId15"/>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4" name="Nav REQUESTS">
            <a:hlinkClick action="ppaction://hlinksldjump" r:id="rId16"/>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6"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262104" cy="7161478"/>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lvl="0"/>
            <a:endParaRPr lang="en-AU"/>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Macro Outlook for 2027</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Three forces will drive markets over the next 12-18 months, and each one changes how we invest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75" name="Card"/>
          <p:cNvSpPr/>
          <p:nvPr/>
        </p:nvSpPr>
        <p:spPr>
          <a:xfrm>
            <a:off x="384048"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rd header"/>
          <p:cNvSpPr/>
          <p:nvPr/>
        </p:nvSpPr>
        <p:spPr>
          <a:xfrm>
            <a:off x="384048"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rd title"/>
          <p:cNvSpPr txBox="1"/>
          <p:nvPr/>
        </p:nvSpPr>
        <p:spPr>
          <a:xfrm>
            <a:off x="384048"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1. SYNCHRONISED RE-TIGHTENING:</a:t>
            </a:r>
            <a:endParaRPr lang="en-AU" sz="1050" dirty="0"/>
          </a:p>
          <a:p>
            <a:pPr algn="ctr">
              <a:buNone/>
            </a:pPr>
            <a:r>
              <a:rPr sz="1050" b="1" i="0">
                <a:solidFill>
                  <a:srgbClr val="FFFFFF"/>
                </a:solidFill>
                <a:latin typeface="Arial"/>
              </a:rPr>
              <a:t>RATES STAY HIGHER FOR LONGER</a:t>
            </a:r>
            <a:endParaRPr lang="en-AU" sz="1050" dirty="0"/>
          </a:p>
        </p:txBody>
      </p:sp>
      <p:sp>
        <p:nvSpPr>
          <p:cNvPr id="78" name="Theme bullets"/>
          <p:cNvSpPr txBox="1"/>
          <p:nvPr/>
        </p:nvSpPr>
        <p:spPr>
          <a:xfrm>
            <a:off x="457200"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Fed hiked to 3.75% to 4.00% in September, first hike since 2023</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6</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ECB lifted its deposit rate to 2.50%, its second hike this year</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13</a:t>
            </a:r>
            <a:r>
              <a:rPr sz="1100" b="0" i="0" baseline="30000">
                <a:solidFill>
                  <a:srgbClr val="9A7428"/>
                </a:solidFill>
                <a:latin typeface="Arial"/>
              </a:rPr>
              <a:t>,</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14</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BOJ raised rates to 1.25% in September, the highest in 31 years</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RBA holds 4.35% as 10-year bond yields hit 15-year highs</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31</a:t>
            </a:r>
            <a:r>
              <a:rPr sz="1100" b="0" i="0" baseline="30000">
                <a:solidFill>
                  <a:srgbClr val="9A7428"/>
                </a:solidFill>
                <a:latin typeface="Arial"/>
              </a:rPr>
              <a:t>,</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35</a:t>
            </a:r>
            <a:endParaRPr lang="en-AU" sz="1100" dirty="0"/>
          </a:p>
        </p:txBody>
      </p:sp>
      <p:sp>
        <p:nvSpPr>
          <p:cNvPr id="79" name="Card"/>
          <p:cNvSpPr/>
          <p:nvPr/>
        </p:nvSpPr>
        <p:spPr>
          <a:xfrm>
            <a:off x="4283964"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Card header"/>
          <p:cNvSpPr/>
          <p:nvPr/>
        </p:nvSpPr>
        <p:spPr>
          <a:xfrm>
            <a:off x="4283964"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title"/>
          <p:cNvSpPr txBox="1"/>
          <p:nvPr/>
        </p:nvSpPr>
        <p:spPr>
          <a:xfrm>
            <a:off x="4283964"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2. AI CAPEX BOOM:</a:t>
            </a:r>
            <a:endParaRPr lang="en-AU" sz="1050" dirty="0"/>
          </a:p>
          <a:p>
            <a:pPr algn="ctr">
              <a:buNone/>
            </a:pPr>
            <a:r>
              <a:rPr sz="1050" b="1" i="0">
                <a:solidFill>
                  <a:srgbClr val="FFFFFF"/>
                </a:solidFill>
                <a:latin typeface="Arial"/>
              </a:rPr>
              <a:t>PRODUCTIVITY UPSIDE, CONCENTRATION RISK</a:t>
            </a:r>
            <a:endParaRPr lang="en-AU" sz="1050" dirty="0"/>
          </a:p>
        </p:txBody>
      </p:sp>
      <p:sp>
        <p:nvSpPr>
          <p:cNvPr id="82" name="Theme bullets"/>
          <p:cNvSpPr txBox="1"/>
          <p:nvPr/>
        </p:nvSpPr>
        <p:spPr>
          <a:xfrm>
            <a:off x="4357116"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Big Tech plans US$760bn AI capex in 2026, nearly double 2025</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TSMC revenue jumped 53% as AI chip demand outstripped supply</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Chips reached 47% of South Korean exports on AI memory demand</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Magnificent Seven are a third of S&amp;P 500, raising concentration risk</a:t>
            </a:r>
            <a:endParaRPr lang="en-AU" sz="1100" dirty="0"/>
          </a:p>
        </p:txBody>
      </p:sp>
      <p:sp>
        <p:nvSpPr>
          <p:cNvPr id="83" name="Card"/>
          <p:cNvSpPr/>
          <p:nvPr/>
        </p:nvSpPr>
        <p:spPr>
          <a:xfrm>
            <a:off x="8183880"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ard header"/>
          <p:cNvSpPr/>
          <p:nvPr/>
        </p:nvSpPr>
        <p:spPr>
          <a:xfrm>
            <a:off x="8183880"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ard title"/>
          <p:cNvSpPr txBox="1"/>
          <p:nvPr/>
        </p:nvSpPr>
        <p:spPr>
          <a:xfrm>
            <a:off x="8183880"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3. HORMUZ DISRUPTION:</a:t>
            </a:r>
            <a:endParaRPr lang="en-AU" sz="1050" dirty="0"/>
          </a:p>
          <a:p>
            <a:pPr algn="ctr">
              <a:buNone/>
            </a:pPr>
            <a:r>
              <a:rPr sz="1050" b="1" i="0">
                <a:solidFill>
                  <a:srgbClr val="FFFFFF"/>
                </a:solidFill>
                <a:latin typeface="Arial"/>
              </a:rPr>
              <a:t>ENERGY SHOCK REVIVES STAGFLATION RISK</a:t>
            </a:r>
            <a:endParaRPr lang="en-AU" sz="1050" dirty="0"/>
          </a:p>
        </p:txBody>
      </p:sp>
      <p:sp>
        <p:nvSpPr>
          <p:cNvPr id="86" name="Theme bullets"/>
          <p:cNvSpPr txBox="1"/>
          <p:nvPr/>
        </p:nvSpPr>
        <p:spPr>
          <a:xfrm>
            <a:off x="8257032"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Brent rose 19% in a month to around US$97 per barrel</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37</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Strikes disrupt Hormuz, which carries around a fifth of global oil supply</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19</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Eurozone inflation rose to 3.3% while major economies grew only 0.2%</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16</a:t>
            </a:r>
            <a:r>
              <a:rPr sz="1100" b="0" i="0" baseline="30000">
                <a:solidFill>
                  <a:srgbClr val="9A7428"/>
                </a:solidFill>
                <a:latin typeface="Arial"/>
              </a:rPr>
              <a:t>,</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17</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Australian Treasury flags stagflation risk as diesel prices stay above prewar levels</a:t>
            </a:r>
            <a:endParaRPr lang="en-AU" sz="1100" dirty="0"/>
          </a:p>
        </p:txBody>
      </p:sp>
      <p:sp>
        <p:nvSpPr>
          <p:cNvPr id="87" name="Chart card"/>
          <p:cNvSpPr/>
          <p:nvPr/>
        </p:nvSpPr>
        <p:spPr>
          <a:xfrm>
            <a:off x="384048"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3" name="Chart 72">
            <a:extLst>
              <a:ext uri="{FF2B5EF4-FFF2-40B4-BE49-F238E27FC236}">
                <a16:creationId xmlns:a16="http://schemas.microsoft.com/office/drawing/2014/main" id="{66B7C4A6-25CB-B14C-4B32-F0597AF05550}"/>
              </a:ext>
            </a:extLst>
          </p:cNvPr>
          <p:cNvGraphicFramePr>
            <a:graphicFrameLocks/>
          </p:cNvGraphicFramePr>
          <p:nvPr>
            <p:extLst>
              <p:ext uri="{D42A27DB-BD31-4B8C-83A1-F6EECF244321}">
                <p14:modId xmlns:p14="http://schemas.microsoft.com/office/powerpoint/2010/main" val="1057595974"/>
              </p:ext>
            </p:extLst>
          </p:nvPr>
        </p:nvGraphicFramePr>
        <p:xfrm>
          <a:off x="420624" y="3446272"/>
          <a:ext cx="3547872" cy="2515616"/>
        </p:xfrm>
        <a:graphic>
          <a:graphicData uri="http://schemas.openxmlformats.org/drawingml/2006/chart">
            <c:chart xmlns:c="http://schemas.openxmlformats.org/drawingml/2006/chart" r:id="rId3"/>
          </a:graphicData>
        </a:graphic>
      </p:graphicFrame>
      <p:sp>
        <p:nvSpPr>
          <p:cNvPr id="88" name="Chart source"/>
          <p:cNvSpPr txBox="1"/>
          <p:nvPr/>
        </p:nvSpPr>
        <p:spPr>
          <a:xfrm>
            <a:off x="475488"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sp>
        <p:nvSpPr>
          <p:cNvPr id="89" name="Chart card"/>
          <p:cNvSpPr/>
          <p:nvPr/>
        </p:nvSpPr>
        <p:spPr>
          <a:xfrm>
            <a:off x="4283964"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1" name="Chart 70">
            <a:extLst>
              <a:ext uri="{FF2B5EF4-FFF2-40B4-BE49-F238E27FC236}">
                <a16:creationId xmlns:a16="http://schemas.microsoft.com/office/drawing/2014/main" id="{41F3CFC5-0FD6-9AD8-E8A4-E01DA22D892E}"/>
              </a:ext>
            </a:extLst>
          </p:cNvPr>
          <p:cNvGraphicFramePr>
            <a:graphicFrameLocks/>
          </p:cNvGraphicFramePr>
          <p:nvPr>
            <p:extLst>
              <p:ext uri="{D42A27DB-BD31-4B8C-83A1-F6EECF244321}">
                <p14:modId xmlns:p14="http://schemas.microsoft.com/office/powerpoint/2010/main" val="4067542384"/>
              </p:ext>
            </p:extLst>
          </p:nvPr>
        </p:nvGraphicFramePr>
        <p:xfrm>
          <a:off x="4320540" y="3446272"/>
          <a:ext cx="3547872" cy="2515616"/>
        </p:xfrm>
        <a:graphic>
          <a:graphicData uri="http://schemas.openxmlformats.org/drawingml/2006/chart">
            <c:chart xmlns:c="http://schemas.openxmlformats.org/drawingml/2006/chart" r:id="rId2"/>
          </a:graphicData>
        </a:graphic>
      </p:graphicFrame>
      <p:sp>
        <p:nvSpPr>
          <p:cNvPr id="90" name="Chart source"/>
          <p:cNvSpPr txBox="1"/>
          <p:nvPr/>
        </p:nvSpPr>
        <p:spPr>
          <a:xfrm>
            <a:off x="4375404"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sp>
        <p:nvSpPr>
          <p:cNvPr id="91" name="Chart card"/>
          <p:cNvSpPr/>
          <p:nvPr/>
        </p:nvSpPr>
        <p:spPr>
          <a:xfrm>
            <a:off x="8183880"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4" name="Chart 73">
            <a:extLst>
              <a:ext uri="{FF2B5EF4-FFF2-40B4-BE49-F238E27FC236}">
                <a16:creationId xmlns:a16="http://schemas.microsoft.com/office/drawing/2014/main" id="{77BE422F-135F-4923-83D8-0608C90EFCEA}"/>
              </a:ext>
            </a:extLst>
          </p:cNvPr>
          <p:cNvGraphicFramePr>
            <a:graphicFrameLocks/>
          </p:cNvGraphicFramePr>
          <p:nvPr>
            <p:extLst>
              <p:ext uri="{D42A27DB-BD31-4B8C-83A1-F6EECF244321}">
                <p14:modId xmlns:p14="http://schemas.microsoft.com/office/powerpoint/2010/main" val="644202898"/>
              </p:ext>
            </p:extLst>
          </p:nvPr>
        </p:nvGraphicFramePr>
        <p:xfrm>
          <a:off x="8220456" y="3446272"/>
          <a:ext cx="3547872" cy="2515616"/>
        </p:xfrm>
        <a:graphic>
          <a:graphicData uri="http://schemas.openxmlformats.org/drawingml/2006/chart">
            <c:chart xmlns:c="http://schemas.openxmlformats.org/drawingml/2006/chart" r:id="rId4"/>
          </a:graphicData>
        </a:graphic>
      </p:graphicFrame>
      <p:sp>
        <p:nvSpPr>
          <p:cNvPr id="92" name="Chart source"/>
          <p:cNvSpPr txBox="1"/>
          <p:nvPr/>
        </p:nvSpPr>
        <p:spPr>
          <a:xfrm>
            <a:off x="8275320"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IMF PortWatch; LSEG Workspace</a:t>
            </a:r>
            <a:endParaRPr lang="en-AU" sz="800" dirty="0"/>
          </a:p>
        </p:txBody>
      </p:sp>
      <p:sp>
        <p:nvSpPr>
          <p:cNvPr id="9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08</a:t>
            </a:r>
            <a:endParaRPr lang="en-AU" sz="900" dirty="0"/>
          </a:p>
        </p:txBody>
      </p:sp>
      <p:sp>
        <p:nvSpPr>
          <p:cNvPr id="9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progress"/>
          <p:cNvSpPr/>
          <p:nvPr/>
        </p:nvSpPr>
        <p:spPr>
          <a:xfrm>
            <a:off x="603504" y="6466637"/>
            <a:ext cx="2355233"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AGENDA">
            <a:hlinkClick action="ppaction://hlinksldjump" r:id="rId7"/>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GENDA">
            <a:hlinkClick action="ppaction://hlinksldjump" r:id="rId7"/>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8" name="Nav CLIENT NEEDS">
            <a:hlinkClick action="ppaction://hlinksldjump" r:id="rId8"/>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CLIENT NEEDS">
            <a:hlinkClick action="ppaction://hlinksldjump" r:id="rId8"/>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00" name="Nav SAA">
            <a:hlinkClick action="ppaction://hlinksldjump" r:id="rId9"/>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SAA">
            <a:hlinkClick action="ppaction://hlinksldjump" r:id="rId9"/>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102" name="Nav MACRO">
            <a:hlinkClick action="ppaction://hlinksldjump" r:id="rId10"/>
          </p:cNvPr>
          <p:cNvSpPr/>
          <p:nvPr/>
        </p:nvSpPr>
        <p:spPr>
          <a:xfrm>
            <a:off x="2908445"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MACRO">
            <a:hlinkClick action="ppaction://hlinksldjump" r:id="rId10"/>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MACRO</a:t>
            </a:r>
            <a:endParaRPr lang="en-AU" sz="800" dirty="0"/>
          </a:p>
        </p:txBody>
      </p:sp>
      <p:sp>
        <p:nvSpPr>
          <p:cNvPr id="104" name="Nav AUSTRALIA">
            <a:hlinkClick action="ppaction://hlinksldjump" r:id="rId11"/>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AUSTRALIA">
            <a:hlinkClick action="ppaction://hlinksldjump" r:id="rId11"/>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106" name="Nav USA">
            <a:hlinkClick action="ppaction://hlinksldjump" r:id="rId12"/>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USA">
            <a:hlinkClick action="ppaction://hlinksldjump" r:id="rId12"/>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8" name="Nav EUROZONE">
            <a:hlinkClick action="ppaction://hlinksldjump" r:id="rId13"/>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UROZONE">
            <a:hlinkClick action="ppaction://hlinksldjump" r:id="rId13"/>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10" name="Nav JAPAN">
            <a:hlinkClick action="ppaction://hlinksldjump" r:id="rId14"/>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JAPAN">
            <a:hlinkClick action="ppaction://hlinksldjump" r:id="rId14"/>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12" name="Nav CHINA">
            <a:hlinkClick action="ppaction://hlinksldjump" r:id="rId15"/>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CHINA">
            <a:hlinkClick action="ppaction://hlinksldjump" r:id="rId15"/>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4" name="Nav EM">
            <a:hlinkClick action="ppaction://hlinksldjump" r:id="rId16"/>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EM">
            <a:hlinkClick action="ppaction://hlinksldjump" r:id="rId16"/>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6" name="Nav EQUITY">
            <a:hlinkClick action="ppaction://hlinksldjump" r:id="rId17"/>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EQUITY">
            <a:hlinkClick action="ppaction://hlinksldjump" r:id="rId17"/>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8" name="Nav FIXED INCOME">
            <a:hlinkClick action="ppaction://hlinksldjump" r:id="rId18"/>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FIXED INCOME">
            <a:hlinkClick action="ppaction://hlinksldjump" r:id="rId18"/>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20" name="Nav TAA">
            <a:hlinkClick action="ppaction://hlinksldjump" r:id="rId19"/>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TAA">
            <a:hlinkClick action="ppaction://hlinksldjump" r:id="rId19"/>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22" name="Nav REQUESTS">
            <a:hlinkClick action="ppaction://hlinksldjump" r:id="rId20"/>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REQUESTS">
            <a:hlinkClick action="ppaction://hlinksldjump" r:id="rId20"/>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4" name="Nav REFERENCES">
            <a:hlinkClick action="ppaction://hlinksldjump" r:id="rId5"/>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REFERENCES">
            <a:hlinkClick action="ppaction://hlinksldjump" r:id="rId5"/>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051221"/>
        </a:solidFill>
        <a:effectLst/>
      </p:bgPr>
    </p:bg>
    <p:spTree>
      <p:nvGrpSpPr>
        <p:cNvPr id="1" name=""/>
        <p:cNvGrpSpPr/>
        <p:nvPr/>
      </p:nvGrpSpPr>
      <p:grpSpPr>
        <a:xfrm>
          <a:off x="0" y="0"/>
          <a:ext cx="0" cy="0"/>
          <a:chOff x="0" y="0"/>
          <a:chExt cx="0" cy="0"/>
        </a:xfrm>
      </p:grpSpPr>
      <p:sp>
        <p:nvSpPr>
          <p:cNvPr id="72" name="Rectangle 7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Sticky Inflation Keeps Australian Rates Elevated</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Sticky inflation delays RBA easing, so we hold Australia mainly as cash and cut local equities</a:t>
            </a:r>
            <a:endParaRPr lang="en-AU" sz="1100" dirty="0"/>
          </a:p>
        </p:txBody>
      </p:sp>
      <p:sp>
        <p:nvSpPr>
          <p:cNvPr id="73" name="Rectangle 72"/>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75"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78"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June-quarter GDP beat consensus at 0.4% (2.1% y/y), which gives the RBA room to stay tight; it sees growth of 1.6% by end-2027.</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32</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CPI eased to 3.5% from a 4.6% peak, but housing and food keep it above the 2-3% target, so rate cuts stay off the table.</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a:t>
            </a:r>
            <a:endParaRPr lang="en-AU" sz="1000" dirty="0"/>
          </a:p>
        </p:txBody>
      </p:sp>
      <p:sp>
        <p:nvSpPr>
          <p:cNvPr id="79"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82"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RBA held at 4.35% on 11 August but flagged upside inflation risk, so a hike is still live and borrowing costs stay high.</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31</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32</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ACGB yield hit a 15-year high of 5.17%; higher discount rates cut the value of future earnings and push bond prices down.</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35</a:t>
            </a:r>
            <a:endParaRPr lang="en-AU" sz="1000" dirty="0"/>
          </a:p>
        </p:txBody>
      </p:sp>
      <p:sp>
        <p:nvSpPr>
          <p:cNvPr id="83"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86"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China buys $325bn of Australian goods ($117bn iron ore), so weaker demand there hits commodity prices, the AUD and resource earnings.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US-Iran conflict keeps diesel above pre-war levels, lifting transport and food costs, and Treasury now flags stagflation risk.</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ASX 200 trades on 18.1x forward earnings against a 14.8x average, leaving little buffer if yields or China cut earnings.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87"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90"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0B2C48"/>
                </a:solidFill>
                <a:latin typeface="Arial"/>
              </a:rPr>
              <a:t>Neutral (N)</a:t>
            </a:r>
            <a:endParaRPr lang="en-AU" sz="1300" dirty="0"/>
          </a:p>
        </p:txBody>
      </p:sp>
      <p:sp>
        <p:nvSpPr>
          <p:cNvPr id="92"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B32D2E"/>
                </a:solidFill>
                <a:latin typeface="Arial"/>
              </a:rPr>
              <a:t>Underweight (UW)</a:t>
            </a:r>
            <a:endParaRPr lang="en-AU" sz="1300" dirty="0"/>
          </a:p>
        </p:txBody>
      </p:sp>
      <p:sp>
        <p:nvSpPr>
          <p:cNvPr id="94"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We hold Australia mainly as cash (23% SAA, 21% TAA) and cut VETH to 0% while inflation squeezes margins at 18.1x earnings.</a:t>
            </a:r>
            <a:endParaRPr lang="en-AU" sz="1000" dirty="0"/>
          </a:p>
        </p:txBody>
      </p:sp>
      <p:sp>
        <p:nvSpPr>
          <p:cNvPr id="95"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6" name="Chart 15">
            <a:extLst>
              <a:ext uri="{FF2B5EF4-FFF2-40B4-BE49-F238E27FC236}">
                <a16:creationId xmlns:a16="http://schemas.microsoft.com/office/drawing/2014/main" id="{D32C7190-6FC2-8BD3-21F3-CC0C54C9B7E2}"/>
              </a:ext>
            </a:extLst>
          </p:cNvPr>
          <p:cNvGraphicFramePr>
            <a:graphicFrameLocks/>
          </p:cNvGraphicFramePr>
          <p:nvPr>
            <p:extLst>
              <p:ext uri="{D42A27DB-BD31-4B8C-83A1-F6EECF244321}">
                <p14:modId xmlns:p14="http://schemas.microsoft.com/office/powerpoint/2010/main" val="3090197838"/>
              </p:ext>
            </p:extLst>
          </p:nvPr>
        </p:nvGraphicFramePr>
        <p:xfrm>
          <a:off x="4901184" y="1060704"/>
          <a:ext cx="3314700" cy="2249424"/>
        </p:xfrm>
        <a:graphic>
          <a:graphicData uri="http://schemas.openxmlformats.org/drawingml/2006/chart">
            <c:chart xmlns:c="http://schemas.openxmlformats.org/drawingml/2006/chart" r:id="rId22"/>
          </a:graphicData>
        </a:graphic>
      </p:graphicFrame>
      <p:sp>
        <p:nvSpPr>
          <p:cNvPr id="97"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7" name="Chart 16">
            <a:extLst>
              <a:ext uri="{FF2B5EF4-FFF2-40B4-BE49-F238E27FC236}">
                <a16:creationId xmlns:a16="http://schemas.microsoft.com/office/drawing/2014/main" id="{EE175CF9-8794-41CF-A1E2-50657D840EB2}"/>
              </a:ext>
            </a:extLst>
          </p:cNvPr>
          <p:cNvGraphicFramePr>
            <a:graphicFrameLocks/>
          </p:cNvGraphicFramePr>
          <p:nvPr>
            <p:extLst>
              <p:ext uri="{D42A27DB-BD31-4B8C-83A1-F6EECF244321}">
                <p14:modId xmlns:p14="http://schemas.microsoft.com/office/powerpoint/2010/main" val="1908372461"/>
              </p:ext>
            </p:extLst>
          </p:nvPr>
        </p:nvGraphicFramePr>
        <p:xfrm>
          <a:off x="8453628" y="1060704"/>
          <a:ext cx="3314700" cy="2249424"/>
        </p:xfrm>
        <a:graphic>
          <a:graphicData uri="http://schemas.openxmlformats.org/drawingml/2006/chart">
            <c:chart xmlns:c="http://schemas.openxmlformats.org/drawingml/2006/chart" r:id="rId23"/>
          </a:graphicData>
        </a:graphic>
      </p:graphicFrame>
      <p:sp>
        <p:nvSpPr>
          <p:cNvPr id="99"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RBA; LSEG Workspace</a:t>
            </a:r>
            <a:endParaRPr lang="en-AU" sz="800" dirty="0"/>
          </a:p>
        </p:txBody>
      </p:sp>
      <p:graphicFrame>
        <p:nvGraphicFramePr>
          <p:cNvPr id="57" name="Chart 56">
            <a:extLst>
              <a:ext uri="{FF2B5EF4-FFF2-40B4-BE49-F238E27FC236}">
                <a16:creationId xmlns:a16="http://schemas.microsoft.com/office/drawing/2014/main" id="{2B9BC617-E000-EC21-F4E0-26EBD0ECA804}"/>
              </a:ext>
            </a:extLst>
          </p:cNvPr>
          <p:cNvGraphicFramePr>
            <a:graphicFrameLocks/>
          </p:cNvGraphicFramePr>
          <p:nvPr>
            <p:extLst>
              <p:ext uri="{D42A27DB-BD31-4B8C-83A1-F6EECF244321}">
                <p14:modId xmlns:p14="http://schemas.microsoft.com/office/powerpoint/2010/main" val="983793810"/>
              </p:ext>
            </p:extLst>
          </p:nvPr>
        </p:nvGraphicFramePr>
        <p:xfrm>
          <a:off x="4901184" y="3712464"/>
          <a:ext cx="3314700" cy="2249424"/>
        </p:xfrm>
        <a:graphic>
          <a:graphicData uri="http://schemas.openxmlformats.org/drawingml/2006/chart">
            <c:chart xmlns:c="http://schemas.openxmlformats.org/drawingml/2006/chart" r:id="rId24"/>
          </a:graphicData>
        </a:graphic>
      </p:graphicFrame>
      <p:sp>
        <p:nvSpPr>
          <p:cNvPr id="101"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ABS</a:t>
            </a:r>
            <a:endParaRPr lang="en-AU" sz="800" dirty="0"/>
          </a:p>
        </p:txBody>
      </p:sp>
      <p:graphicFrame>
        <p:nvGraphicFramePr>
          <p:cNvPr id="64" name="Chart 63">
            <a:extLst>
              <a:ext uri="{FF2B5EF4-FFF2-40B4-BE49-F238E27FC236}">
                <a16:creationId xmlns:a16="http://schemas.microsoft.com/office/drawing/2014/main" id="{88F57D0B-84DB-B1EB-E7AB-CC8752FA1619}"/>
              </a:ext>
            </a:extLst>
          </p:cNvPr>
          <p:cNvGraphicFramePr>
            <a:graphicFrameLocks/>
          </p:cNvGraphicFramePr>
          <p:nvPr>
            <p:extLst>
              <p:ext uri="{D42A27DB-BD31-4B8C-83A1-F6EECF244321}">
                <p14:modId xmlns:p14="http://schemas.microsoft.com/office/powerpoint/2010/main" val="1801540622"/>
              </p:ext>
            </p:extLst>
          </p:nvPr>
        </p:nvGraphicFramePr>
        <p:xfrm>
          <a:off x="8453628" y="3712464"/>
          <a:ext cx="3314700" cy="2249424"/>
        </p:xfrm>
        <a:graphic>
          <a:graphicData uri="http://schemas.openxmlformats.org/drawingml/2006/chart">
            <c:chart xmlns:c="http://schemas.openxmlformats.org/drawingml/2006/chart" r:id="rId25"/>
          </a:graphicData>
        </a:graphic>
      </p:graphicFrame>
      <p:sp>
        <p:nvSpPr>
          <p:cNvPr id="10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09</a:t>
            </a:r>
            <a:endParaRPr lang="en-AU" sz="900" dirty="0"/>
          </a:p>
        </p:txBody>
      </p:sp>
      <p:sp>
        <p:nvSpPr>
          <p:cNvPr id="10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progress"/>
          <p:cNvSpPr/>
          <p:nvPr/>
        </p:nvSpPr>
        <p:spPr>
          <a:xfrm>
            <a:off x="603504" y="6466637"/>
            <a:ext cx="3140311"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08"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10"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112"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114" name="Nav AUSTRALIA">
            <a:hlinkClick action="ppaction://hlinksldjump" r:id="rId13"/>
          </p:cNvPr>
          <p:cNvSpPr/>
          <p:nvPr/>
        </p:nvSpPr>
        <p:spPr>
          <a:xfrm>
            <a:off x="3693523"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AUSTRALIA</a:t>
            </a:r>
            <a:endParaRPr lang="en-AU" sz="800" dirty="0"/>
          </a:p>
        </p:txBody>
      </p:sp>
      <p:sp>
        <p:nvSpPr>
          <p:cNvPr id="116" name="Nav USA">
            <a:hlinkClick action="ppaction://hlinksldjump" r:id="rId14"/>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18"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20"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22"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24"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26"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28"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30"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32" name="Nav REQUESTS">
            <a:hlinkClick action="ppaction://hlinksldjump" r:id="rId6"/>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Nav label REQUESTS">
            <a:hlinkClick action="ppaction://hlinksldjump" r:id="rId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34"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051221"/>
        </a:solidFill>
        <a:effectLst/>
      </p:bgPr>
    </p:bg>
    <p:spTree>
      <p:nvGrpSpPr>
        <p:cNvPr id="1" name=""/>
        <p:cNvGrpSpPr/>
        <p:nvPr/>
      </p:nvGrpSpPr>
      <p:grpSpPr>
        <a:xfrm>
          <a:off x="0" y="0"/>
          <a:ext cx="0" cy="0"/>
          <a:chOff x="0" y="0"/>
          <a:chExt cx="0" cy="0"/>
        </a:xfrm>
      </p:grpSpPr>
      <p:sp>
        <p:nvSpPr>
          <p:cNvPr id="58" name="Rectangle 57"/>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Resilient Growth Lets the Fed Tighten Again</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Earnings momentum justifies a full 30% weight, but Fed hikes and a flat curve rule out adding more</a:t>
            </a:r>
            <a:endParaRPr lang="en-AU" sz="1100" dirty="0"/>
          </a:p>
        </p:txBody>
      </p:sp>
      <p:sp>
        <p:nvSpPr>
          <p:cNvPr id="59" name="Rectangle 58"/>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1"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4"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Q2 GDP slowed to 1.5% annualised, but the Fed sees 2.2-2.3% growth to 2028, which supports earnings.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11</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39</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CPI eased to 3.4% (core 2.5%), but a $1.9tn deficit and 101% debt-to-GDP mean heavy issuance, keeping long yields high.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12</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40</a:t>
            </a:r>
            <a:endParaRPr lang="en-AU" sz="1000" dirty="0"/>
          </a:p>
        </p:txBody>
      </p:sp>
      <p:sp>
        <p:nvSpPr>
          <p:cNvPr id="65"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8"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Fed hiked to 3.75-4.00% in September, its first hike since 2023, which raises the discount rate on long-duration growth stocks.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6</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9</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10</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sits near 4.78% with the 2s10s at about 40bp, a flat late-cycle curve that usually precedes slower growth.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7</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18</a:t>
            </a:r>
            <a:endParaRPr lang="en-AU" sz="1000" dirty="0"/>
          </a:p>
        </p:txBody>
      </p:sp>
      <p:sp>
        <p:nvSpPr>
          <p:cNvPr id="69"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2"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WTI rose 9% in a week to about $91 as US strikes on Iran resumed, feeding inflation and leaving the Fed less room to ease.</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31% tariff on China and the 3 November midterms raise fiscal and trade-policy risk, so volatility could rise into year-end.</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Payrolls beat at 162,000 and unemployment held at 4.1%, so the Fed need not cut; the dollar index firmed toward 99 on the news.</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41</a:t>
            </a:r>
            <a:endParaRPr lang="en-AU" sz="1000" dirty="0"/>
          </a:p>
        </p:txBody>
      </p:sp>
      <p:sp>
        <p:nvSpPr>
          <p:cNvPr id="73"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6"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2E7D32"/>
                </a:solidFill>
                <a:latin typeface="Arial"/>
              </a:rPr>
              <a:t>Overweight (OW)</a:t>
            </a:r>
            <a:endParaRPr lang="en-AU" sz="1300" dirty="0"/>
          </a:p>
        </p:txBody>
      </p:sp>
      <p:sp>
        <p:nvSpPr>
          <p:cNvPr id="78"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0B2C48"/>
                </a:solidFill>
                <a:latin typeface="Arial"/>
              </a:rPr>
              <a:t>Neutral (N)</a:t>
            </a:r>
            <a:endParaRPr lang="en-AU" sz="1300" dirty="0"/>
          </a:p>
        </p:txBody>
      </p:sp>
      <p:sp>
        <p:nvSpPr>
          <p:cNvPr id="80"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US equities are our largest sleeve (SPY 29%, VTS 1%); the 30% regional cap binds, so the TAA holds rather than adds.</a:t>
            </a:r>
            <a:endParaRPr lang="en-AU" sz="1000" dirty="0"/>
          </a:p>
        </p:txBody>
      </p:sp>
      <p:sp>
        <p:nvSpPr>
          <p:cNvPr id="81"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8" name="Chart 17">
            <a:extLst>
              <a:ext uri="{FF2B5EF4-FFF2-40B4-BE49-F238E27FC236}">
                <a16:creationId xmlns:a16="http://schemas.microsoft.com/office/drawing/2014/main" id="{203E3E62-E699-D915-F4F6-FF04E2F9F561}"/>
              </a:ext>
            </a:extLst>
          </p:cNvPr>
          <p:cNvGraphicFramePr>
            <a:graphicFrameLocks/>
          </p:cNvGraphicFramePr>
          <p:nvPr>
            <p:extLst>
              <p:ext uri="{D42A27DB-BD31-4B8C-83A1-F6EECF244321}">
                <p14:modId xmlns:p14="http://schemas.microsoft.com/office/powerpoint/2010/main" val="3940714322"/>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3"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endParaRPr lang="en-AU" sz="800" dirty="0"/>
          </a:p>
        </p:txBody>
      </p:sp>
      <p:graphicFrame>
        <p:nvGraphicFramePr>
          <p:cNvPr id="19" name="Chart 18">
            <a:extLst>
              <a:ext uri="{FF2B5EF4-FFF2-40B4-BE49-F238E27FC236}">
                <a16:creationId xmlns:a16="http://schemas.microsoft.com/office/drawing/2014/main" id="{BC4F3890-D56C-DCA9-1318-87F6AF1E9A6E}"/>
              </a:ext>
            </a:extLst>
          </p:cNvPr>
          <p:cNvGraphicFramePr>
            <a:graphicFrameLocks/>
          </p:cNvGraphicFramePr>
          <p:nvPr>
            <p:extLst>
              <p:ext uri="{D42A27DB-BD31-4B8C-83A1-F6EECF244321}">
                <p14:modId xmlns:p14="http://schemas.microsoft.com/office/powerpoint/2010/main" val="3962269047"/>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5"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endParaRPr lang="en-AU" sz="800" dirty="0"/>
          </a:p>
        </p:txBody>
      </p:sp>
      <p:graphicFrame>
        <p:nvGraphicFramePr>
          <p:cNvPr id="53" name="Chart 52">
            <a:extLst>
              <a:ext uri="{FF2B5EF4-FFF2-40B4-BE49-F238E27FC236}">
                <a16:creationId xmlns:a16="http://schemas.microsoft.com/office/drawing/2014/main" id="{39E0F861-BDA3-BB03-0EDB-1D4C2BC18BB7}"/>
              </a:ext>
            </a:extLst>
          </p:cNvPr>
          <p:cNvGraphicFramePr>
            <a:graphicFrameLocks/>
          </p:cNvGraphicFramePr>
          <p:nvPr>
            <p:extLst>
              <p:ext uri="{D42A27DB-BD31-4B8C-83A1-F6EECF244321}">
                <p14:modId xmlns:p14="http://schemas.microsoft.com/office/powerpoint/2010/main" val="3657142742"/>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7"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endParaRPr lang="en-AU" sz="800" dirty="0"/>
          </a:p>
        </p:txBody>
      </p:sp>
      <p:graphicFrame>
        <p:nvGraphicFramePr>
          <p:cNvPr id="56" name="Chart 55">
            <a:extLst>
              <a:ext uri="{FF2B5EF4-FFF2-40B4-BE49-F238E27FC236}">
                <a16:creationId xmlns:a16="http://schemas.microsoft.com/office/drawing/2014/main" id="{A2D26744-8294-6082-E2AB-D83F593559A3}"/>
              </a:ext>
            </a:extLst>
          </p:cNvPr>
          <p:cNvGraphicFramePr>
            <a:graphicFrameLocks/>
          </p:cNvGraphicFramePr>
          <p:nvPr>
            <p:extLst>
              <p:ext uri="{D42A27DB-BD31-4B8C-83A1-F6EECF244321}">
                <p14:modId xmlns:p14="http://schemas.microsoft.com/office/powerpoint/2010/main" val="341280895"/>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9"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10</a:t>
            </a:r>
            <a:endParaRPr lang="en-AU" sz="900" dirty="0"/>
          </a:p>
        </p:txBody>
      </p:sp>
      <p:sp>
        <p:nvSpPr>
          <p:cNvPr id="90"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progress"/>
          <p:cNvSpPr/>
          <p:nvPr/>
        </p:nvSpPr>
        <p:spPr>
          <a:xfrm>
            <a:off x="603504" y="6466637"/>
            <a:ext cx="3925389"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4"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6"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8"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100"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102" name="Nav USA">
            <a:hlinkClick action="ppaction://hlinksldjump" r:id="rId14"/>
          </p:cNvPr>
          <p:cNvSpPr/>
          <p:nvPr/>
        </p:nvSpPr>
        <p:spPr>
          <a:xfrm>
            <a:off x="4478601"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USA</a:t>
            </a:r>
            <a:endParaRPr lang="en-AU" sz="800" dirty="0"/>
          </a:p>
        </p:txBody>
      </p:sp>
      <p:sp>
        <p:nvSpPr>
          <p:cNvPr id="104"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06"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8"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0"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2"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4"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6"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8"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0"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051221"/>
        </a:solidFill>
        <a:effectLst/>
      </p:bgPr>
    </p:bg>
    <p:spTree>
      <p:nvGrpSpPr>
        <p:cNvPr id="1" name=""/>
        <p:cNvGrpSpPr/>
        <p:nvPr/>
      </p:nvGrpSpPr>
      <p:grpSpPr>
        <a:xfrm>
          <a:off x="0" y="0"/>
          <a:ext cx="0" cy="0"/>
          <a:chOff x="0" y="0"/>
          <a:chExt cx="0" cy="0"/>
        </a:xfrm>
      </p:grpSpPr>
      <p:sp>
        <p:nvSpPr>
          <p:cNvPr id="57" name="Rectangle 56"/>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An Energy Shock Reopens Europe's Inflation Fight</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Imported energy inflation forces the ECB to tighten into weak growth, so we trim European exposure</a:t>
            </a:r>
            <a:endParaRPr lang="en-AU" sz="1100" dirty="0"/>
          </a:p>
        </p:txBody>
      </p:sp>
      <p:sp>
        <p:nvSpPr>
          <p:cNvPr id="58" name="Rectangle 57"/>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0"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3"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grew just 0.4% q/q, with Germany, France and Italy at 0.2%, so growth is too narrow to absorb an energy shock.</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16</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HICP jumped to 3.3% on a 14.3% energy surge while core eased to 2.4%, which shows inflation is imported through energy.</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17</a:t>
            </a:r>
            <a:endParaRPr lang="en-AU" sz="1000" dirty="0"/>
          </a:p>
        </p:txBody>
      </p:sp>
      <p:sp>
        <p:nvSpPr>
          <p:cNvPr id="64"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7"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ECB hiked to 2.25% in June and 2.50% in September, tightening credit into weak growth and raising stagflation risk.</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13</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14</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Bunds near 3.35% and an 84bp France-Germany spread show investors want more to fund deficits, lifting borrowing costs.</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27</a:t>
            </a:r>
            <a:endParaRPr lang="en-AU" sz="1000" dirty="0"/>
          </a:p>
        </p:txBody>
      </p:sp>
      <p:sp>
        <p:nvSpPr>
          <p:cNvPr id="68"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1"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France's 5% deficit drew a Fitch downgrade while Germany adds over €180bn of debt, so bond supply rises as the ECB tightens.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If Hormuz stays shut, EU modelling puts oil near $180/bbl and gas near €80/MWh, which would hit energy-importing industry hardest.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15</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disputed 25% US car tariff and a 30-41% fall in German carmakers' China sales squeeze Europe's export engine.</a:t>
            </a:r>
            <a:endParaRPr lang="en-AU" sz="1000" dirty="0"/>
          </a:p>
        </p:txBody>
      </p:sp>
      <p:sp>
        <p:nvSpPr>
          <p:cNvPr id="72"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5"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0B2C48"/>
                </a:solidFill>
                <a:latin typeface="Arial"/>
              </a:rPr>
              <a:t>Neutral (N)</a:t>
            </a:r>
            <a:endParaRPr lang="en-AU" sz="1300" dirty="0"/>
          </a:p>
        </p:txBody>
      </p:sp>
      <p:sp>
        <p:nvSpPr>
          <p:cNvPr id="77"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B32D2E"/>
                </a:solidFill>
                <a:latin typeface="Arial"/>
              </a:rPr>
              <a:t>Underweight (UW)</a:t>
            </a:r>
            <a:endParaRPr lang="en-AU" sz="1300" dirty="0"/>
          </a:p>
        </p:txBody>
      </p:sp>
      <p:sp>
        <p:nvSpPr>
          <p:cNvPr id="79"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We trim ESGI, which carries our European exposure, from 19.0% to 15.4% as energy inflation hits earnings.</a:t>
            </a:r>
            <a:endParaRPr lang="en-AU" sz="1000" dirty="0"/>
          </a:p>
        </p:txBody>
      </p:sp>
      <p:sp>
        <p:nvSpPr>
          <p:cNvPr id="80"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6" name="Chart 15">
            <a:extLst>
              <a:ext uri="{FF2B5EF4-FFF2-40B4-BE49-F238E27FC236}">
                <a16:creationId xmlns:a16="http://schemas.microsoft.com/office/drawing/2014/main" id="{650852D0-83D4-5EF2-D88B-3427218145FA}"/>
              </a:ext>
            </a:extLst>
          </p:cNvPr>
          <p:cNvGraphicFramePr>
            <a:graphicFrameLocks/>
          </p:cNvGraphicFramePr>
          <p:nvPr>
            <p:extLst>
              <p:ext uri="{D42A27DB-BD31-4B8C-83A1-F6EECF244321}">
                <p14:modId xmlns:p14="http://schemas.microsoft.com/office/powerpoint/2010/main" val="592785968"/>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2"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7" name="Chart 16">
            <a:extLst>
              <a:ext uri="{FF2B5EF4-FFF2-40B4-BE49-F238E27FC236}">
                <a16:creationId xmlns:a16="http://schemas.microsoft.com/office/drawing/2014/main" id="{D106E5AE-A185-9946-BA2A-35EC5FDFA639}"/>
              </a:ext>
            </a:extLst>
          </p:cNvPr>
          <p:cNvGraphicFramePr>
            <a:graphicFrameLocks/>
          </p:cNvGraphicFramePr>
          <p:nvPr>
            <p:extLst>
              <p:ext uri="{D42A27DB-BD31-4B8C-83A1-F6EECF244321}">
                <p14:modId xmlns:p14="http://schemas.microsoft.com/office/powerpoint/2010/main" val="2796727248"/>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4"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8" name="Chart 17">
            <a:extLst>
              <a:ext uri="{FF2B5EF4-FFF2-40B4-BE49-F238E27FC236}">
                <a16:creationId xmlns:a16="http://schemas.microsoft.com/office/drawing/2014/main" id="{2ECEF6F8-4ED5-9549-AB22-D565D4271509}"/>
              </a:ext>
            </a:extLst>
          </p:cNvPr>
          <p:cNvGraphicFramePr>
            <a:graphicFrameLocks/>
          </p:cNvGraphicFramePr>
          <p:nvPr>
            <p:extLst>
              <p:ext uri="{D42A27DB-BD31-4B8C-83A1-F6EECF244321}">
                <p14:modId xmlns:p14="http://schemas.microsoft.com/office/powerpoint/2010/main" val="2820944693"/>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6"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endParaRPr lang="en-AU" sz="800" dirty="0"/>
          </a:p>
        </p:txBody>
      </p:sp>
      <p:graphicFrame>
        <p:nvGraphicFramePr>
          <p:cNvPr id="55" name="Chart 54">
            <a:extLst>
              <a:ext uri="{FF2B5EF4-FFF2-40B4-BE49-F238E27FC236}">
                <a16:creationId xmlns:a16="http://schemas.microsoft.com/office/drawing/2014/main" id="{39B8A212-BE5B-F115-BD3F-B31C9C679AC4}"/>
              </a:ext>
            </a:extLst>
          </p:cNvPr>
          <p:cNvGraphicFramePr>
            <a:graphicFrameLocks/>
          </p:cNvGraphicFramePr>
          <p:nvPr>
            <p:extLst>
              <p:ext uri="{D42A27DB-BD31-4B8C-83A1-F6EECF244321}">
                <p14:modId xmlns:p14="http://schemas.microsoft.com/office/powerpoint/2010/main" val="1242304752"/>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8"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11</a:t>
            </a:r>
            <a:endParaRPr lang="en-AU" sz="900" dirty="0"/>
          </a:p>
        </p:txBody>
      </p:sp>
      <p:sp>
        <p:nvSpPr>
          <p:cNvPr id="89"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progress"/>
          <p:cNvSpPr/>
          <p:nvPr/>
        </p:nvSpPr>
        <p:spPr>
          <a:xfrm>
            <a:off x="603504" y="6466637"/>
            <a:ext cx="4710466"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3"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5"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7"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9"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101"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3" name="Nav EUROZONE">
            <a:hlinkClick action="ppaction://hlinksldjump" r:id="rId15"/>
          </p:cNvPr>
          <p:cNvSpPr/>
          <p:nvPr/>
        </p:nvSpPr>
        <p:spPr>
          <a:xfrm>
            <a:off x="5263678"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EUROZONE</a:t>
            </a:r>
            <a:endParaRPr lang="en-AU" sz="800" dirty="0"/>
          </a:p>
        </p:txBody>
      </p:sp>
      <p:sp>
        <p:nvSpPr>
          <p:cNvPr id="105"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7"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9"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1"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3"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5"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7"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9"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051221"/>
        </a:solidFill>
        <a:effectLst/>
      </p:bgPr>
    </p:bg>
    <p:spTree>
      <p:nvGrpSpPr>
        <p:cNvPr id="1" name=""/>
        <p:cNvGrpSpPr/>
        <p:nvPr/>
      </p:nvGrpSpPr>
      <p:grpSpPr>
        <a:xfrm>
          <a:off x="0" y="0"/>
          <a:ext cx="0" cy="0"/>
          <a:chOff x="0" y="0"/>
          <a:chExt cx="0" cy="0"/>
        </a:xfrm>
      </p:grpSpPr>
      <p:sp>
        <p:nvSpPr>
          <p:cNvPr id="55" name="Rectangle 54"/>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Slow Policy Normalisation Has Left the Yen Weak and Volatile</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Reform supports a core Japan holding, but BOJ hikes and yen swings argue for a tactical cut</a:t>
            </a:r>
            <a:endParaRPr lang="en-AU" sz="1100" dirty="0"/>
          </a:p>
        </p:txBody>
      </p:sp>
      <p:sp>
        <p:nvSpPr>
          <p:cNvPr id="56" name="Rectangle 55"/>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58" name="Section card"/>
          <p:cNvSpPr/>
          <p:nvPr/>
        </p:nvSpPr>
        <p:spPr>
          <a:xfrm>
            <a:off x="384048" y="1024128"/>
            <a:ext cx="4297680" cy="10408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1" name="Section body"/>
          <p:cNvSpPr txBox="1"/>
          <p:nvPr/>
        </p:nvSpPr>
        <p:spPr>
          <a:xfrm>
            <a:off x="438912" y="1316736"/>
            <a:ext cx="4187952" cy="7208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grew only 0.3% q/q against a 2.0% forecast as capex fell 1.2%; the IMF sees 0.8% growth in 2026, which limits earnings upside.</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20</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Shunto gave 5.01% pay rises, yet real wages fell for a fourth year, so consumption stays weak even as firms regain pricing power.</a:t>
            </a:r>
            <a:endParaRPr lang="en-AU" sz="1000" dirty="0"/>
          </a:p>
        </p:txBody>
      </p:sp>
      <p:sp>
        <p:nvSpPr>
          <p:cNvPr id="62" name="Section card"/>
          <p:cNvSpPr/>
          <p:nvPr/>
        </p:nvSpPr>
        <p:spPr>
          <a:xfrm>
            <a:off x="384048" y="2156460"/>
            <a:ext cx="4297680" cy="10408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header"/>
          <p:cNvSpPr/>
          <p:nvPr/>
        </p:nvSpPr>
        <p:spPr>
          <a:xfrm>
            <a:off x="384048" y="21564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ection title"/>
          <p:cNvSpPr txBox="1"/>
          <p:nvPr/>
        </p:nvSpPr>
        <p:spPr>
          <a:xfrm>
            <a:off x="475488" y="21564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5" name="Section body"/>
          <p:cNvSpPr txBox="1"/>
          <p:nvPr/>
        </p:nvSpPr>
        <p:spPr>
          <a:xfrm>
            <a:off x="438912" y="2449068"/>
            <a:ext cx="4187952" cy="7208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BOJ raised its rate to 1.25% in September, a 31-year high, which narrows the gap with US rates and can trigger sharp yen rallies.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26</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JGB yield broke 3.00% for the first time since 1996, which pulls Japanese savings home and lifts funding costs.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66" name="Section card"/>
          <p:cNvSpPr/>
          <p:nvPr/>
        </p:nvSpPr>
        <p:spPr>
          <a:xfrm>
            <a:off x="384048" y="3288792"/>
            <a:ext cx="4297680" cy="15361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header"/>
          <p:cNvSpPr/>
          <p:nvPr/>
        </p:nvSpPr>
        <p:spPr>
          <a:xfrm>
            <a:off x="384048" y="32887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ection title"/>
          <p:cNvSpPr txBox="1"/>
          <p:nvPr/>
        </p:nvSpPr>
        <p:spPr>
          <a:xfrm>
            <a:off x="475488" y="32887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69" name="Section body"/>
          <p:cNvSpPr txBox="1"/>
          <p:nvPr/>
        </p:nvSpPr>
        <p:spPr>
          <a:xfrm>
            <a:off x="438912" y="3581400"/>
            <a:ext cx="4187952" cy="12161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China halted seafood imports and rare-earth flows after PM Takaichi's Taiwan remarks, which threatens manufacturers' supply chains.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Middle East disruption pushed the energy import bill to a record $89.46bn in June, which widens the trade deficit and weakens the yen.</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USD/JPY swung from 163.87 to 155.82 after a joint intervention; because the yen can swing sharply, we hold HJPN hedged to AUD.</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70"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3"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2E7D32"/>
                </a:solidFill>
                <a:latin typeface="Arial"/>
              </a:rPr>
              <a:t>Overweight (OW)</a:t>
            </a:r>
            <a:endParaRPr lang="en-AU" sz="1300" dirty="0"/>
          </a:p>
        </p:txBody>
      </p:sp>
      <p:sp>
        <p:nvSpPr>
          <p:cNvPr id="75"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B32D2E"/>
                </a:solidFill>
                <a:latin typeface="Arial"/>
              </a:rPr>
              <a:t>Underweight (UW)</a:t>
            </a:r>
            <a:endParaRPr lang="en-AU" sz="1300" dirty="0"/>
          </a:p>
        </p:txBody>
      </p:sp>
      <p:sp>
        <p:nvSpPr>
          <p:cNvPr id="77"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Reform earns HJPN a 16.6% strategic weight; the TAA cuts it to 10% while BOJ hikes and yen swings play out.</a:t>
            </a:r>
            <a:endParaRPr lang="en-AU" sz="1000" dirty="0"/>
          </a:p>
        </p:txBody>
      </p:sp>
      <p:sp>
        <p:nvSpPr>
          <p:cNvPr id="78"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6" name="Chart 15">
            <a:extLst>
              <a:ext uri="{FF2B5EF4-FFF2-40B4-BE49-F238E27FC236}">
                <a16:creationId xmlns:a16="http://schemas.microsoft.com/office/drawing/2014/main" id="{9523D6D1-C966-09EF-2920-DAA726C039C3}"/>
              </a:ext>
            </a:extLst>
          </p:cNvPr>
          <p:cNvGraphicFramePr>
            <a:graphicFrameLocks/>
          </p:cNvGraphicFramePr>
          <p:nvPr>
            <p:extLst>
              <p:ext uri="{D42A27DB-BD31-4B8C-83A1-F6EECF244321}">
                <p14:modId xmlns:p14="http://schemas.microsoft.com/office/powerpoint/2010/main" val="3783889482"/>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0"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FRED</a:t>
            </a:r>
            <a:endParaRPr lang="en-AU" sz="800" dirty="0"/>
          </a:p>
        </p:txBody>
      </p:sp>
      <p:graphicFrame>
        <p:nvGraphicFramePr>
          <p:cNvPr id="18" name="Chart 17">
            <a:extLst>
              <a:ext uri="{FF2B5EF4-FFF2-40B4-BE49-F238E27FC236}">
                <a16:creationId xmlns:a16="http://schemas.microsoft.com/office/drawing/2014/main" id="{1D2B4FD8-2AE3-7114-9E95-A7E309D7C547}"/>
              </a:ext>
            </a:extLst>
          </p:cNvPr>
          <p:cNvGraphicFramePr>
            <a:graphicFrameLocks/>
          </p:cNvGraphicFramePr>
          <p:nvPr>
            <p:extLst>
              <p:ext uri="{D42A27DB-BD31-4B8C-83A1-F6EECF244321}">
                <p14:modId xmlns:p14="http://schemas.microsoft.com/office/powerpoint/2010/main" val="984426687"/>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2"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51" name="Chart 50">
            <a:extLst>
              <a:ext uri="{FF2B5EF4-FFF2-40B4-BE49-F238E27FC236}">
                <a16:creationId xmlns:a16="http://schemas.microsoft.com/office/drawing/2014/main" id="{6CFE7338-68A7-F0DA-31DA-D610D599769A}"/>
              </a:ext>
            </a:extLst>
          </p:cNvPr>
          <p:cNvGraphicFramePr>
            <a:graphicFrameLocks/>
          </p:cNvGraphicFramePr>
          <p:nvPr>
            <p:extLst>
              <p:ext uri="{D42A27DB-BD31-4B8C-83A1-F6EECF244321}">
                <p14:modId xmlns:p14="http://schemas.microsoft.com/office/powerpoint/2010/main" val="907170513"/>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4"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53" name="Chart 52">
            <a:extLst>
              <a:ext uri="{FF2B5EF4-FFF2-40B4-BE49-F238E27FC236}">
                <a16:creationId xmlns:a16="http://schemas.microsoft.com/office/drawing/2014/main" id="{7810A724-34D0-BB22-91E0-BE9433F47DCB}"/>
              </a:ext>
            </a:extLst>
          </p:cNvPr>
          <p:cNvGraphicFramePr>
            <a:graphicFrameLocks/>
          </p:cNvGraphicFramePr>
          <p:nvPr>
            <p:extLst>
              <p:ext uri="{D42A27DB-BD31-4B8C-83A1-F6EECF244321}">
                <p14:modId xmlns:p14="http://schemas.microsoft.com/office/powerpoint/2010/main" val="1920825781"/>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6"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12</a:t>
            </a:r>
            <a:endParaRPr lang="en-AU" sz="900" dirty="0"/>
          </a:p>
        </p:txBody>
      </p:sp>
      <p:sp>
        <p:nvSpPr>
          <p:cNvPr id="87"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progress"/>
          <p:cNvSpPr/>
          <p:nvPr/>
        </p:nvSpPr>
        <p:spPr>
          <a:xfrm>
            <a:off x="603504" y="6466637"/>
            <a:ext cx="5495544"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1"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3"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5"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7"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9"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1" name="Nav EUROZONE">
            <a:hlinkClick action="ppaction://hlinksldjump" r:id="rId15"/>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3" name="Nav JAPAN">
            <a:hlinkClick action="ppaction://hlinksldjump" r:id="rId16"/>
          </p:cNvPr>
          <p:cNvSpPr/>
          <p:nvPr/>
        </p:nvSpPr>
        <p:spPr>
          <a:xfrm>
            <a:off x="6048756"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JAPAN</a:t>
            </a:r>
            <a:endParaRPr lang="en-AU" sz="800" dirty="0"/>
          </a:p>
        </p:txBody>
      </p:sp>
      <p:sp>
        <p:nvSpPr>
          <p:cNvPr id="105"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7"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9"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1"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3"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5"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7"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051221"/>
        </a:solidFill>
        <a:effectLst/>
      </p:bgPr>
    </p:bg>
    <p:spTree>
      <p:nvGrpSpPr>
        <p:cNvPr id="1" name=""/>
        <p:cNvGrpSpPr/>
        <p:nvPr/>
      </p:nvGrpSpPr>
      <p:grpSpPr>
        <a:xfrm>
          <a:off x="0" y="0"/>
          <a:ext cx="0" cy="0"/>
          <a:chOff x="0" y="0"/>
          <a:chExt cx="0" cy="0"/>
        </a:xfrm>
      </p:grpSpPr>
      <p:sp>
        <p:nvSpPr>
          <p:cNvPr id="58" name="Rectangle 57"/>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Loose Policy Cannot Fix China's Property Slump</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Stimulus is funding supply rather than households, so China stays out of both portfolios</a:t>
            </a:r>
            <a:endParaRPr lang="en-AU" sz="1100" dirty="0"/>
          </a:p>
        </p:txBody>
      </p:sp>
      <p:sp>
        <p:nvSpPr>
          <p:cNvPr id="59" name="Rectangle 58"/>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1" name="Section card"/>
          <p:cNvSpPr/>
          <p:nvPr/>
        </p:nvSpPr>
        <p:spPr>
          <a:xfrm>
            <a:off x="384048" y="1024128"/>
            <a:ext cx="4297680" cy="10408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4" name="Section body"/>
          <p:cNvSpPr txBox="1"/>
          <p:nvPr/>
        </p:nvSpPr>
        <p:spPr>
          <a:xfrm>
            <a:off x="438912" y="1316736"/>
            <a:ext cx="4187952" cy="7208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growth slowed to 4.3% y/y in Q2, the weakest since late 2022, as weak household demand offsets exports.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24</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PPI rose 3.5%, ending a 41-month deflation streak, but CPI at 0.5% shows demand is too weak to lift consumer prices.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23</a:t>
            </a:r>
            <a:endParaRPr lang="en-AU" sz="1000" dirty="0"/>
          </a:p>
        </p:txBody>
      </p:sp>
      <p:sp>
        <p:nvSpPr>
          <p:cNvPr id="65" name="Section card"/>
          <p:cNvSpPr/>
          <p:nvPr/>
        </p:nvSpPr>
        <p:spPr>
          <a:xfrm>
            <a:off x="384048" y="2156460"/>
            <a:ext cx="4297680" cy="11932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header"/>
          <p:cNvSpPr/>
          <p:nvPr/>
        </p:nvSpPr>
        <p:spPr>
          <a:xfrm>
            <a:off x="384048" y="21564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title"/>
          <p:cNvSpPr txBox="1"/>
          <p:nvPr/>
        </p:nvSpPr>
        <p:spPr>
          <a:xfrm>
            <a:off x="475488" y="21564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8" name="Section body"/>
          <p:cNvSpPr txBox="1"/>
          <p:nvPr/>
        </p:nvSpPr>
        <p:spPr>
          <a:xfrm>
            <a:off x="438912" y="2449068"/>
            <a:ext cx="4187952" cy="8732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LPR has held at 3.00% for 15 months and the 10-year CGB yield hit a record-low 1.68%, which signals markets expect prolonged weak growth.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29</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36</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Debt near 75% of GDP and a six-trillion-yuan hidden-debt swap limit fiscal firepower, so stimulus is defensive rather than growth-boosting.</a:t>
            </a:r>
            <a:endParaRPr lang="en-AU" sz="1000" dirty="0"/>
          </a:p>
        </p:txBody>
      </p:sp>
      <p:sp>
        <p:nvSpPr>
          <p:cNvPr id="69" name="Section card"/>
          <p:cNvSpPr/>
          <p:nvPr/>
        </p:nvSpPr>
        <p:spPr>
          <a:xfrm>
            <a:off x="384048" y="3441192"/>
            <a:ext cx="4297680" cy="13837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header"/>
          <p:cNvSpPr/>
          <p:nvPr/>
        </p:nvSpPr>
        <p:spPr>
          <a:xfrm>
            <a:off x="384048" y="34411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ection title"/>
          <p:cNvSpPr txBox="1"/>
          <p:nvPr/>
        </p:nvSpPr>
        <p:spPr>
          <a:xfrm>
            <a:off x="475488" y="34411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2" name="Section body"/>
          <p:cNvSpPr txBox="1"/>
          <p:nvPr/>
        </p:nvSpPr>
        <p:spPr>
          <a:xfrm>
            <a:off x="438912" y="3733800"/>
            <a:ext cx="4187952" cy="10637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Property investment is down 19% year-to-date and home prices keep falling, eroding household wealth and confidence.</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US tariff eased from 41% to 31%, but a new forced-labour tariff keeps pressure on export margins.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China took 60Mt of Australian iron ore in July, about three-quarters of the total, so its slowdown flows straight into Australian earnings.</a:t>
            </a:r>
            <a:endParaRPr lang="en-AU" sz="1000" dirty="0"/>
          </a:p>
        </p:txBody>
      </p:sp>
      <p:sp>
        <p:nvSpPr>
          <p:cNvPr id="73"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6"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B32D2E"/>
                </a:solidFill>
                <a:latin typeface="Arial"/>
              </a:rPr>
              <a:t>Underweight (UW)</a:t>
            </a:r>
            <a:endParaRPr lang="en-AU" sz="1300" dirty="0"/>
          </a:p>
        </p:txBody>
      </p:sp>
      <p:sp>
        <p:nvSpPr>
          <p:cNvPr id="78"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0B2C48"/>
                </a:solidFill>
                <a:latin typeface="Arial"/>
              </a:rPr>
              <a:t>Neutral (N)</a:t>
            </a:r>
            <a:endParaRPr lang="en-AU" sz="1300" dirty="0"/>
          </a:p>
        </p:txBody>
      </p:sp>
      <p:sp>
        <p:nvSpPr>
          <p:cNvPr id="80"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China stays at 0% in both portfolios because policy support is not reaching household demand.</a:t>
            </a:r>
            <a:endParaRPr lang="en-AU" sz="1000" dirty="0"/>
          </a:p>
        </p:txBody>
      </p:sp>
      <p:sp>
        <p:nvSpPr>
          <p:cNvPr id="81"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57" name="Chart 56">
            <a:extLst>
              <a:ext uri="{FF2B5EF4-FFF2-40B4-BE49-F238E27FC236}">
                <a16:creationId xmlns:a16="http://schemas.microsoft.com/office/drawing/2014/main" id="{84C4B860-DBFD-A64A-B3D1-2EE374AABC98}"/>
              </a:ext>
            </a:extLst>
          </p:cNvPr>
          <p:cNvGraphicFramePr>
            <a:graphicFrameLocks/>
          </p:cNvGraphicFramePr>
          <p:nvPr>
            <p:extLst>
              <p:ext uri="{D42A27DB-BD31-4B8C-83A1-F6EECF244321}">
                <p14:modId xmlns:p14="http://schemas.microsoft.com/office/powerpoint/2010/main" val="762866373"/>
              </p:ext>
            </p:extLst>
          </p:nvPr>
        </p:nvGraphicFramePr>
        <p:xfrm>
          <a:off x="4901184" y="1060704"/>
          <a:ext cx="3314700" cy="2249424"/>
        </p:xfrm>
        <a:graphic>
          <a:graphicData uri="http://schemas.openxmlformats.org/drawingml/2006/chart">
            <c:chart xmlns:c="http://schemas.openxmlformats.org/drawingml/2006/chart" r:id="rId6"/>
          </a:graphicData>
        </a:graphic>
      </p:graphicFrame>
      <p:sp>
        <p:nvSpPr>
          <p:cNvPr id="83"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endParaRPr lang="en-AU" sz="800" dirty="0"/>
          </a:p>
        </p:txBody>
      </p:sp>
      <p:graphicFrame>
        <p:nvGraphicFramePr>
          <p:cNvPr id="18" name="Chart 17">
            <a:extLst>
              <a:ext uri="{FF2B5EF4-FFF2-40B4-BE49-F238E27FC236}">
                <a16:creationId xmlns:a16="http://schemas.microsoft.com/office/drawing/2014/main" id="{78A39ECF-1493-83D5-F202-5CBF3E657300}"/>
              </a:ext>
            </a:extLst>
          </p:cNvPr>
          <p:cNvGraphicFramePr>
            <a:graphicFrameLocks/>
          </p:cNvGraphicFramePr>
          <p:nvPr>
            <p:extLst>
              <p:ext uri="{D42A27DB-BD31-4B8C-83A1-F6EECF244321}">
                <p14:modId xmlns:p14="http://schemas.microsoft.com/office/powerpoint/2010/main" val="2825871890"/>
              </p:ext>
            </p:extLst>
          </p:nvPr>
        </p:nvGraphicFramePr>
        <p:xfrm>
          <a:off x="8453628" y="1060704"/>
          <a:ext cx="3314700" cy="2249424"/>
        </p:xfrm>
        <a:graphic>
          <a:graphicData uri="http://schemas.openxmlformats.org/drawingml/2006/chart">
            <c:chart xmlns:c="http://schemas.openxmlformats.org/drawingml/2006/chart" r:id="rId3"/>
          </a:graphicData>
        </a:graphic>
      </p:graphicFrame>
      <p:sp>
        <p:nvSpPr>
          <p:cNvPr id="85"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51" name="Chart 50">
            <a:extLst>
              <a:ext uri="{FF2B5EF4-FFF2-40B4-BE49-F238E27FC236}">
                <a16:creationId xmlns:a16="http://schemas.microsoft.com/office/drawing/2014/main" id="{410C8860-3D6C-B10A-AAC5-5429672EFB0D}"/>
              </a:ext>
            </a:extLst>
          </p:cNvPr>
          <p:cNvGraphicFramePr>
            <a:graphicFrameLocks/>
          </p:cNvGraphicFramePr>
          <p:nvPr>
            <p:extLst>
              <p:ext uri="{D42A27DB-BD31-4B8C-83A1-F6EECF244321}">
                <p14:modId xmlns:p14="http://schemas.microsoft.com/office/powerpoint/2010/main" val="503040008"/>
              </p:ext>
            </p:extLst>
          </p:nvPr>
        </p:nvGraphicFramePr>
        <p:xfrm>
          <a:off x="4901184" y="3712464"/>
          <a:ext cx="3314700" cy="2249424"/>
        </p:xfrm>
        <a:graphic>
          <a:graphicData uri="http://schemas.openxmlformats.org/drawingml/2006/chart">
            <c:chart xmlns:c="http://schemas.openxmlformats.org/drawingml/2006/chart" r:id="rId4"/>
          </a:graphicData>
        </a:graphic>
      </p:graphicFrame>
      <p:sp>
        <p:nvSpPr>
          <p:cNvPr id="87"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(BIS)</a:t>
            </a:r>
            <a:endParaRPr lang="en-AU" sz="800" dirty="0"/>
          </a:p>
        </p:txBody>
      </p:sp>
      <p:graphicFrame>
        <p:nvGraphicFramePr>
          <p:cNvPr id="55" name="Chart 54">
            <a:extLst>
              <a:ext uri="{FF2B5EF4-FFF2-40B4-BE49-F238E27FC236}">
                <a16:creationId xmlns:a16="http://schemas.microsoft.com/office/drawing/2014/main" id="{D15B48DC-8265-10D9-D642-79145DCF8981}"/>
              </a:ext>
            </a:extLst>
          </p:cNvPr>
          <p:cNvGraphicFramePr>
            <a:graphicFrameLocks/>
          </p:cNvGraphicFramePr>
          <p:nvPr>
            <p:extLst>
              <p:ext uri="{D42A27DB-BD31-4B8C-83A1-F6EECF244321}">
                <p14:modId xmlns:p14="http://schemas.microsoft.com/office/powerpoint/2010/main" val="1818128995"/>
              </p:ext>
            </p:extLst>
          </p:nvPr>
        </p:nvGraphicFramePr>
        <p:xfrm>
          <a:off x="8453628" y="3712464"/>
          <a:ext cx="3314700" cy="2249424"/>
        </p:xfrm>
        <a:graphic>
          <a:graphicData uri="http://schemas.openxmlformats.org/drawingml/2006/chart">
            <c:chart xmlns:c="http://schemas.openxmlformats.org/drawingml/2006/chart" r:id="rId5"/>
          </a:graphicData>
        </a:graphic>
      </p:graphicFrame>
      <p:sp>
        <p:nvSpPr>
          <p:cNvPr id="89"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13</a:t>
            </a:r>
            <a:endParaRPr lang="en-AU" sz="900" dirty="0"/>
          </a:p>
        </p:txBody>
      </p:sp>
      <p:sp>
        <p:nvSpPr>
          <p:cNvPr id="90"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progress"/>
          <p:cNvSpPr/>
          <p:nvPr/>
        </p:nvSpPr>
        <p:spPr>
          <a:xfrm>
            <a:off x="603504" y="6466637"/>
            <a:ext cx="6280622"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AGENDA">
            <a:hlinkClick action="ppaction://hlinksldjump" r:id="rId8"/>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AGENDA">
            <a:hlinkClick action="ppaction://hlinksldjump" r:id="rId8"/>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4" name="Nav CLIENT NEEDS">
            <a:hlinkClick action="ppaction://hlinksldjump" r:id="rId9"/>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CLIENT NEEDS">
            <a:hlinkClick action="ppaction://hlinksldjump" r:id="rId9"/>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6" name="Nav SAA">
            <a:hlinkClick action="ppaction://hlinksldjump" r:id="rId10"/>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SAA">
            <a:hlinkClick action="ppaction://hlinksldjump" r:id="rId10"/>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8" name="Nav MACRO">
            <a:hlinkClick action="ppaction://hlinksldjump" r:id="rId11"/>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MACRO">
            <a:hlinkClick action="ppaction://hlinksldjump" r:id="rId11"/>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100" name="Nav AUSTRALIA">
            <a:hlinkClick action="ppaction://hlinksldjump" r:id="rId12"/>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AUSTRALIA">
            <a:hlinkClick action="ppaction://hlinksldjump" r:id="rId12"/>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102" name="Nav USA">
            <a:hlinkClick action="ppaction://hlinksldjump" r:id="rId13"/>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USA">
            <a:hlinkClick action="ppaction://hlinksldjump" r:id="rId13"/>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4" name="Nav EUROZONE">
            <a:hlinkClick action="ppaction://hlinksldjump" r:id="rId14"/>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EUROZONE">
            <a:hlinkClick action="ppaction://hlinksldjump" r:id="rId14"/>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6" name="Nav JAPAN">
            <a:hlinkClick action="ppaction://hlinksldjump" r:id="rId15"/>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JAPAN">
            <a:hlinkClick action="ppaction://hlinksldjump" r:id="rId15"/>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8" name="Nav CHINA">
            <a:hlinkClick action="ppaction://hlinksldjump" r:id="rId16"/>
          </p:cNvPr>
          <p:cNvSpPr/>
          <p:nvPr/>
        </p:nvSpPr>
        <p:spPr>
          <a:xfrm>
            <a:off x="6833834"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CHINA">
            <a:hlinkClick action="ppaction://hlinksldjump" r:id="rId16"/>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CHINA</a:t>
            </a:r>
            <a:endParaRPr lang="en-AU" sz="800" dirty="0"/>
          </a:p>
        </p:txBody>
      </p:sp>
      <p:sp>
        <p:nvSpPr>
          <p:cNvPr id="110" name="Nav EM">
            <a:hlinkClick action="ppaction://hlinksldjump" r:id="rId17"/>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EM">
            <a:hlinkClick action="ppaction://hlinksldjump" r:id="rId17"/>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2" name="Nav EQUITY">
            <a:hlinkClick action="ppaction://hlinksldjump" r:id="rId18"/>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EQUITY">
            <a:hlinkClick action="ppaction://hlinksldjump" r:id="rId18"/>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4" name="Nav FIXED INCOME">
            <a:hlinkClick action="ppaction://hlinksldjump" r:id="rId19"/>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FIXED INCOME">
            <a:hlinkClick action="ppaction://hlinksldjump" r:id="rId19"/>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6" name="Nav TAA">
            <a:hlinkClick action="ppaction://hlinksldjump" r:id="rId20"/>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TAA">
            <a:hlinkClick action="ppaction://hlinksldjump" r:id="rId20"/>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8" name="Nav REQUESTS">
            <a:hlinkClick action="ppaction://hlinksldjump" r:id="rId21"/>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REQUESTS">
            <a:hlinkClick action="ppaction://hlinksldjump" r:id="rId21"/>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0" name="Nav REFERENCES">
            <a:hlinkClick action="ppaction://hlinksldjump" r:id="rId22"/>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REFERENCES">
            <a:hlinkClick action="ppaction://hlinksldjump" r:id="rId22"/>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051221"/>
        </a:solidFill>
        <a:effectLst/>
      </p:bgPr>
    </p:bg>
    <p:spTree>
      <p:nvGrpSpPr>
        <p:cNvPr id="1" name=""/>
        <p:cNvGrpSpPr/>
        <p:nvPr/>
      </p:nvGrpSpPr>
      <p:grpSpPr>
        <a:xfrm>
          <a:off x="0" y="0"/>
          <a:ext cx="0" cy="0"/>
          <a:chOff x="0" y="0"/>
          <a:chExt cx="0" cy="0"/>
        </a:xfrm>
      </p:grpSpPr>
      <p:sp>
        <p:nvSpPr>
          <p:cNvPr id="55" name="Rectangle 54"/>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Emerging Markets Diverge Behind a Calm Average</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A strong dollar and $95 oil outweigh India's growth, so EM stays out until the USD turns</a:t>
            </a:r>
            <a:endParaRPr lang="en-AU" sz="1100" dirty="0"/>
          </a:p>
        </p:txBody>
      </p:sp>
      <p:sp>
        <p:nvSpPr>
          <p:cNvPr id="56" name="Rectangle 55"/>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58"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1"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India grew 7.8% y/y, the fastest major economy, but a 10% rupee fall lifted CPI to 4.45%, which erodes returns for foreign investors.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30</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Brazil grew 2.0% with the Selic at a restrictive 14.25%, and South Africa hiked to 7.00%, so credit growth stays weak.</a:t>
            </a:r>
            <a:endParaRPr lang="en-AU" sz="1000" dirty="0"/>
          </a:p>
        </p:txBody>
      </p:sp>
      <p:sp>
        <p:nvSpPr>
          <p:cNvPr id="62"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5"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A stronger dollar lifts EM yields (India near 7%, Brazil 14%, South Africa 8.74%), which raises funding costs for USD borrowers.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38</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Policy is diverging: India on hold, Brazil cutting and South Africa hiking, so an EM-wide ETF hides very different risks.</a:t>
            </a:r>
            <a:endParaRPr lang="en-AU" sz="1000" dirty="0"/>
          </a:p>
        </p:txBody>
      </p:sp>
      <p:sp>
        <p:nvSpPr>
          <p:cNvPr id="66"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69"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Oil near $95 and a firmer dollar hit oil importers such as India hardest by widening their current-account deficits.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25% US tariff on Brazil, possibly rising to 37.5%, cuts export earnings and weighs on the real.</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Fed's hawkish turn lifts EM borrowing costs, partly offset by China's export shift toward Asia and Latin America.</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9</a:t>
            </a:r>
            <a:endParaRPr lang="en-AU" sz="1000" dirty="0"/>
          </a:p>
        </p:txBody>
      </p:sp>
      <p:sp>
        <p:nvSpPr>
          <p:cNvPr id="70"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3"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B32D2E"/>
                </a:solidFill>
                <a:latin typeface="Arial"/>
              </a:rPr>
              <a:t>Underweight (UW)</a:t>
            </a:r>
            <a:endParaRPr lang="en-AU" sz="1300" dirty="0"/>
          </a:p>
        </p:txBody>
      </p:sp>
      <p:sp>
        <p:nvSpPr>
          <p:cNvPr id="75"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0B2C48"/>
                </a:solidFill>
                <a:latin typeface="Arial"/>
              </a:rPr>
              <a:t>Neutral (N)</a:t>
            </a:r>
            <a:endParaRPr lang="en-AU" sz="1300" dirty="0"/>
          </a:p>
        </p:txBody>
      </p:sp>
      <p:sp>
        <p:nvSpPr>
          <p:cNvPr id="77"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EM stays at 0% in both portfolios because dollar strength and $95 oil outweigh India's growth.</a:t>
            </a:r>
            <a:endParaRPr lang="en-AU" sz="1000" dirty="0"/>
          </a:p>
        </p:txBody>
      </p:sp>
      <p:sp>
        <p:nvSpPr>
          <p:cNvPr id="78"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6" name="Chart 15">
            <a:extLst>
              <a:ext uri="{FF2B5EF4-FFF2-40B4-BE49-F238E27FC236}">
                <a16:creationId xmlns:a16="http://schemas.microsoft.com/office/drawing/2014/main" id="{CBDF429A-2DB9-A191-16D9-64D22587D8D0}"/>
              </a:ext>
            </a:extLst>
          </p:cNvPr>
          <p:cNvGraphicFramePr>
            <a:graphicFrameLocks/>
          </p:cNvGraphicFramePr>
          <p:nvPr>
            <p:extLst>
              <p:ext uri="{D42A27DB-BD31-4B8C-83A1-F6EECF244321}">
                <p14:modId xmlns:p14="http://schemas.microsoft.com/office/powerpoint/2010/main" val="1596841143"/>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0"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8" name="Chart 17">
            <a:extLst>
              <a:ext uri="{FF2B5EF4-FFF2-40B4-BE49-F238E27FC236}">
                <a16:creationId xmlns:a16="http://schemas.microsoft.com/office/drawing/2014/main" id="{0F568D21-8E05-21BD-B203-E9B7E35FBD55}"/>
              </a:ext>
            </a:extLst>
          </p:cNvPr>
          <p:cNvGraphicFramePr>
            <a:graphicFrameLocks/>
          </p:cNvGraphicFramePr>
          <p:nvPr>
            <p:extLst>
              <p:ext uri="{D42A27DB-BD31-4B8C-83A1-F6EECF244321}">
                <p14:modId xmlns:p14="http://schemas.microsoft.com/office/powerpoint/2010/main" val="3216974831"/>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2"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51" name="Chart 50">
            <a:extLst>
              <a:ext uri="{FF2B5EF4-FFF2-40B4-BE49-F238E27FC236}">
                <a16:creationId xmlns:a16="http://schemas.microsoft.com/office/drawing/2014/main" id="{88F18E62-FCD7-37A4-BAAC-F3FF0C9BD71B}"/>
              </a:ext>
            </a:extLst>
          </p:cNvPr>
          <p:cNvGraphicFramePr>
            <a:graphicFrameLocks/>
          </p:cNvGraphicFramePr>
          <p:nvPr>
            <p:extLst>
              <p:ext uri="{D42A27DB-BD31-4B8C-83A1-F6EECF244321}">
                <p14:modId xmlns:p14="http://schemas.microsoft.com/office/powerpoint/2010/main" val="3538150465"/>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4"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endParaRPr lang="en-AU" sz="800" dirty="0"/>
          </a:p>
        </p:txBody>
      </p:sp>
      <p:graphicFrame>
        <p:nvGraphicFramePr>
          <p:cNvPr id="53" name="Chart 52">
            <a:extLst>
              <a:ext uri="{FF2B5EF4-FFF2-40B4-BE49-F238E27FC236}">
                <a16:creationId xmlns:a16="http://schemas.microsoft.com/office/drawing/2014/main" id="{D73D4E36-C90A-328A-4D32-A1E328CC6B44}"/>
              </a:ext>
            </a:extLst>
          </p:cNvPr>
          <p:cNvGraphicFramePr>
            <a:graphicFrameLocks/>
          </p:cNvGraphicFramePr>
          <p:nvPr>
            <p:extLst>
              <p:ext uri="{D42A27DB-BD31-4B8C-83A1-F6EECF244321}">
                <p14:modId xmlns:p14="http://schemas.microsoft.com/office/powerpoint/2010/main" val="1999543115"/>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6"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14</a:t>
            </a:r>
            <a:endParaRPr lang="en-AU" sz="900" dirty="0"/>
          </a:p>
        </p:txBody>
      </p:sp>
      <p:sp>
        <p:nvSpPr>
          <p:cNvPr id="87"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progress"/>
          <p:cNvSpPr/>
          <p:nvPr/>
        </p:nvSpPr>
        <p:spPr>
          <a:xfrm>
            <a:off x="603504" y="6466637"/>
            <a:ext cx="7065699"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1"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3"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5"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7"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9"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1" name="Nav EUROZONE">
            <a:hlinkClick action="ppaction://hlinksldjump" r:id="rId15"/>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3" name="Nav JAPAN">
            <a:hlinkClick action="ppaction://hlinksldjump" r:id="rId16"/>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5" name="Nav CHINA">
            <a:hlinkClick action="ppaction://hlinksldjump" r:id="rId17"/>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107" name="Nav EM">
            <a:hlinkClick action="ppaction://hlinksldjump" r:id="rId18"/>
          </p:cNvPr>
          <p:cNvSpPr/>
          <p:nvPr/>
        </p:nvSpPr>
        <p:spPr>
          <a:xfrm>
            <a:off x="7618911"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EM</a:t>
            </a:r>
            <a:endParaRPr lang="en-AU" sz="800" dirty="0"/>
          </a:p>
        </p:txBody>
      </p:sp>
      <p:sp>
        <p:nvSpPr>
          <p:cNvPr id="109"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1"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3"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5"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7" name="Nav REFERENCES">
            <a:hlinkClick action="ppaction://hlinksldjump" r:id="rId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Nav label REFERENCES">
            <a:hlinkClick action="ppaction://hlinksldjump" r:id="rId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US and Japan Anchor Equities While China and EM Stay Out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How the six regional views translate into equity weights over the next 12-18 months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Column"/>
          <p:cNvSpPr/>
          <p:nvPr/>
        </p:nvSpPr>
        <p:spPr>
          <a:xfrm>
            <a:off x="384048"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gion strip"/>
          <p:cNvSpPr/>
          <p:nvPr/>
        </p:nvSpPr>
        <p:spPr>
          <a:xfrm>
            <a:off x="384048" y="1024128"/>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gion name"/>
          <p:cNvSpPr txBox="1"/>
          <p:nvPr/>
        </p:nvSpPr>
        <p:spPr>
          <a:xfrm>
            <a:off x="493776" y="1024128"/>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AUSTRALIA</a:t>
            </a:r>
            <a:endParaRPr lang="en-AU" sz="1150" dirty="0"/>
          </a:p>
        </p:txBody>
      </p:sp>
      <p:sp>
        <p:nvSpPr>
          <p:cNvPr id="25" name="Region call"/>
          <p:cNvSpPr txBox="1"/>
          <p:nvPr/>
        </p:nvSpPr>
        <p:spPr>
          <a:xfrm>
            <a:off x="2047799" y="1024128"/>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N</a:t>
            </a:r>
            <a:r>
              <a:rPr sz="900" b="1" i="0">
                <a:solidFill>
                  <a:srgbClr val="CEA659"/>
                </a:solidFill>
                <a:latin typeface="Arial"/>
              </a:rPr>
              <a:t>    TAA </a:t>
            </a:r>
            <a:r>
              <a:rPr sz="1100" b="1" i="0">
                <a:solidFill>
                  <a:srgbClr val="FFFFFF"/>
                </a:solidFill>
                <a:latin typeface="Arial"/>
              </a:rPr>
              <a:t>UW</a:t>
            </a:r>
            <a:endParaRPr lang="en-AU" sz="1100" dirty="0"/>
          </a:p>
        </p:txBody>
      </p:sp>
      <p:sp>
        <p:nvSpPr>
          <p:cNvPr id="26" name="Region bullets"/>
          <p:cNvSpPr txBox="1"/>
          <p:nvPr/>
        </p:nvSpPr>
        <p:spPr>
          <a:xfrm>
            <a:off x="475488" y="1426464"/>
            <a:ext cx="3514344" cy="180898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VETH gives ethically screened exposure to Australian shares.</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Sticky 3.5% inflation keeps the cash rate at 4.35%, which squeezes consumer spending and company margins.</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At 18.1x forward earnings the ASX has little buffer if China cuts its iron ore demand.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An RBA cut, once CPI is back inside 2-3%, would re-rate the banks and bring VETH back.</a:t>
            </a:r>
            <a:endParaRPr lang="en-AU" sz="1150" dirty="0"/>
          </a:p>
        </p:txBody>
      </p:sp>
      <p:sp>
        <p:nvSpPr>
          <p:cNvPr id="27" name="Region strip"/>
          <p:cNvSpPr/>
          <p:nvPr/>
        </p:nvSpPr>
        <p:spPr>
          <a:xfrm>
            <a:off x="384048" y="3253740"/>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gion name"/>
          <p:cNvSpPr txBox="1"/>
          <p:nvPr/>
        </p:nvSpPr>
        <p:spPr>
          <a:xfrm>
            <a:off x="493776" y="3253740"/>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UNITED STATES</a:t>
            </a:r>
            <a:endParaRPr lang="en-AU" sz="1150" dirty="0"/>
          </a:p>
        </p:txBody>
      </p:sp>
      <p:sp>
        <p:nvSpPr>
          <p:cNvPr id="29" name="Region call"/>
          <p:cNvSpPr txBox="1"/>
          <p:nvPr/>
        </p:nvSpPr>
        <p:spPr>
          <a:xfrm>
            <a:off x="2047799" y="3253740"/>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OW</a:t>
            </a:r>
            <a:r>
              <a:rPr sz="900" b="1" i="0">
                <a:solidFill>
                  <a:srgbClr val="CEA659"/>
                </a:solidFill>
                <a:latin typeface="Arial"/>
              </a:rPr>
              <a:t>    TAA </a:t>
            </a:r>
            <a:r>
              <a:rPr sz="1100" b="1" i="0">
                <a:solidFill>
                  <a:srgbClr val="FFFFFF"/>
                </a:solidFill>
                <a:latin typeface="Arial"/>
              </a:rPr>
              <a:t>N</a:t>
            </a:r>
            <a:endParaRPr lang="en-AU" sz="1100" dirty="0"/>
          </a:p>
        </p:txBody>
      </p:sp>
      <p:sp>
        <p:nvSpPr>
          <p:cNvPr id="30" name="Region bullets"/>
          <p:cNvSpPr txBox="1"/>
          <p:nvPr/>
        </p:nvSpPr>
        <p:spPr>
          <a:xfrm>
            <a:off x="475488" y="3656076"/>
            <a:ext cx="3514344" cy="163372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SPY and VTS give broad exposure to the AI-driven US market.</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US$760bn of AI capex keeps lifting Big Tech earnings, which offsets slower GDP growth.</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Seven AI-linked stocks make up a third of the S&amp;P 500, so an AI stumble would hit the index hard.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The Fed's path after its September hike and the November midterms are the catalysts to watch.</a:t>
            </a:r>
            <a:endParaRPr lang="en-AU" sz="1150" dirty="0"/>
          </a:p>
        </p:txBody>
      </p:sp>
      <p:sp>
        <p:nvSpPr>
          <p:cNvPr id="31" name="Summary"/>
          <p:cNvSpPr/>
          <p:nvPr/>
        </p:nvSpPr>
        <p:spPr>
          <a:xfrm>
            <a:off x="448056" y="5372100"/>
            <a:ext cx="3569208" cy="726948"/>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Summary text"/>
          <p:cNvSpPr txBox="1"/>
          <p:nvPr/>
        </p:nvSpPr>
        <p:spPr>
          <a:xfrm>
            <a:off x="448056" y="5372100"/>
            <a:ext cx="3569208" cy="726948"/>
          </a:xfrm>
          <a:prstGeom prst="rect">
            <a:avLst/>
          </a:prstGeom>
          <a:noFill/>
        </p:spPr>
        <p:txBody>
          <a:bodyPr wrap="square" lIns="109728" tIns="27432" rIns="109728" bIns="27432" anchor="ctr">
            <a:noAutofit/>
          </a:bodyPr>
          <a:lstStyle/>
          <a:p>
            <a:pPr algn="ctr">
              <a:buNone/>
            </a:pPr>
            <a:r>
              <a:rPr sz="1150" b="1" i="0">
                <a:solidFill>
                  <a:srgbClr val="0B2C48"/>
                </a:solidFill>
                <a:latin typeface="Arial"/>
              </a:rPr>
              <a:t>Tight Australian policy limits domestic upside, while AI earnings keep the US at its 30% cap.</a:t>
            </a:r>
            <a:endParaRPr lang="en-AU" sz="1150" dirty="0"/>
          </a:p>
        </p:txBody>
      </p:sp>
      <p:sp>
        <p:nvSpPr>
          <p:cNvPr id="33" name="Column"/>
          <p:cNvSpPr/>
          <p:nvPr/>
        </p:nvSpPr>
        <p:spPr>
          <a:xfrm>
            <a:off x="4245864"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gion strip"/>
          <p:cNvSpPr/>
          <p:nvPr/>
        </p:nvSpPr>
        <p:spPr>
          <a:xfrm>
            <a:off x="4245864" y="1024128"/>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gion name"/>
          <p:cNvSpPr txBox="1"/>
          <p:nvPr/>
        </p:nvSpPr>
        <p:spPr>
          <a:xfrm>
            <a:off x="4355592" y="1024128"/>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EUROZONE</a:t>
            </a:r>
            <a:endParaRPr lang="en-AU" sz="1150" dirty="0"/>
          </a:p>
        </p:txBody>
      </p:sp>
      <p:sp>
        <p:nvSpPr>
          <p:cNvPr id="36" name="Region call"/>
          <p:cNvSpPr txBox="1"/>
          <p:nvPr/>
        </p:nvSpPr>
        <p:spPr>
          <a:xfrm>
            <a:off x="5909615" y="1024128"/>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N</a:t>
            </a:r>
            <a:r>
              <a:rPr sz="900" b="1" i="0">
                <a:solidFill>
                  <a:srgbClr val="CEA659"/>
                </a:solidFill>
                <a:latin typeface="Arial"/>
              </a:rPr>
              <a:t>    TAA </a:t>
            </a:r>
            <a:r>
              <a:rPr sz="1100" b="1" i="0">
                <a:solidFill>
                  <a:srgbClr val="FFFFFF"/>
                </a:solidFill>
                <a:latin typeface="Arial"/>
              </a:rPr>
              <a:t>UW</a:t>
            </a:r>
            <a:endParaRPr lang="en-AU" sz="1100" dirty="0"/>
          </a:p>
        </p:txBody>
      </p:sp>
      <p:sp>
        <p:nvSpPr>
          <p:cNvPr id="37" name="Region bullets"/>
          <p:cNvSpPr txBox="1"/>
          <p:nvPr/>
        </p:nvSpPr>
        <p:spPr>
          <a:xfrm>
            <a:off x="4337304" y="1426464"/>
            <a:ext cx="3514344" cy="180898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ESGI carries our European exposure, as we hold no dedicated Eurozone ETF.</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Imported energy inflation is forcing the ECB to hike into weak growth, which weighs on earnings.</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German defence and infrastructure spending helps industrials, but $180 oil would mean stagflation.</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ECB meetings, the French budget and EU-US car tariffs will set the tone.</a:t>
            </a:r>
            <a:endParaRPr lang="en-AU" sz="1150" dirty="0"/>
          </a:p>
        </p:txBody>
      </p:sp>
      <p:sp>
        <p:nvSpPr>
          <p:cNvPr id="38" name="Region strip"/>
          <p:cNvSpPr/>
          <p:nvPr/>
        </p:nvSpPr>
        <p:spPr>
          <a:xfrm>
            <a:off x="4245864" y="3253740"/>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gion name"/>
          <p:cNvSpPr txBox="1"/>
          <p:nvPr/>
        </p:nvSpPr>
        <p:spPr>
          <a:xfrm>
            <a:off x="4355592" y="3253740"/>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JAPAN</a:t>
            </a:r>
            <a:endParaRPr lang="en-AU" sz="1150" dirty="0"/>
          </a:p>
        </p:txBody>
      </p:sp>
      <p:sp>
        <p:nvSpPr>
          <p:cNvPr id="40" name="Region call"/>
          <p:cNvSpPr txBox="1"/>
          <p:nvPr/>
        </p:nvSpPr>
        <p:spPr>
          <a:xfrm>
            <a:off x="5909615" y="3253740"/>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OW</a:t>
            </a:r>
            <a:r>
              <a:rPr sz="900" b="1" i="0">
                <a:solidFill>
                  <a:srgbClr val="CEA659"/>
                </a:solidFill>
                <a:latin typeface="Arial"/>
              </a:rPr>
              <a:t>    TAA </a:t>
            </a:r>
            <a:r>
              <a:rPr sz="1100" b="1" i="0">
                <a:solidFill>
                  <a:srgbClr val="FFFFFF"/>
                </a:solidFill>
                <a:latin typeface="Arial"/>
              </a:rPr>
              <a:t>UW</a:t>
            </a:r>
            <a:endParaRPr lang="en-AU" sz="1100" dirty="0"/>
          </a:p>
        </p:txBody>
      </p:sp>
      <p:sp>
        <p:nvSpPr>
          <p:cNvPr id="41" name="Region bullets"/>
          <p:cNvSpPr txBox="1"/>
          <p:nvPr/>
        </p:nvSpPr>
        <p:spPr>
          <a:xfrm>
            <a:off x="4337304" y="3656076"/>
            <a:ext cx="3514344" cy="163372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HJPN gives Japanese equity exposure, hedged back to AUD.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Governance reform keeps lifting returns on equity, which supports a core strategic holding.</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BOJ hikes can spark sharp yen rallies that cut exporters' earnings, so we trim tactically.</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Falling real wages keep domestic demand soft, and the next BOJ move is the key catalyst.</a:t>
            </a:r>
            <a:endParaRPr lang="en-AU" sz="1150" dirty="0"/>
          </a:p>
        </p:txBody>
      </p:sp>
      <p:sp>
        <p:nvSpPr>
          <p:cNvPr id="42" name="Summary"/>
          <p:cNvSpPr/>
          <p:nvPr/>
        </p:nvSpPr>
        <p:spPr>
          <a:xfrm>
            <a:off x="4309872" y="5372100"/>
            <a:ext cx="3569208" cy="726948"/>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ummary text"/>
          <p:cNvSpPr txBox="1"/>
          <p:nvPr/>
        </p:nvSpPr>
        <p:spPr>
          <a:xfrm>
            <a:off x="4309872" y="5372100"/>
            <a:ext cx="3569208" cy="726948"/>
          </a:xfrm>
          <a:prstGeom prst="rect">
            <a:avLst/>
          </a:prstGeom>
          <a:noFill/>
        </p:spPr>
        <p:txBody>
          <a:bodyPr wrap="square" lIns="109728" tIns="27432" rIns="109728" bIns="27432" anchor="ctr">
            <a:noAutofit/>
          </a:bodyPr>
          <a:lstStyle/>
          <a:p>
            <a:pPr algn="ctr">
              <a:buNone/>
            </a:pPr>
            <a:r>
              <a:rPr sz="1150" b="1" i="0">
                <a:solidFill>
                  <a:srgbClr val="0B2C48"/>
                </a:solidFill>
                <a:latin typeface="Arial"/>
              </a:rPr>
              <a:t>Energy inflation leaves Europe little room to grow, while Japanese reform still earns a core holding.</a:t>
            </a:r>
            <a:endParaRPr lang="en-AU" sz="1150" dirty="0"/>
          </a:p>
        </p:txBody>
      </p:sp>
      <p:sp>
        <p:nvSpPr>
          <p:cNvPr id="44" name="Column"/>
          <p:cNvSpPr/>
          <p:nvPr/>
        </p:nvSpPr>
        <p:spPr>
          <a:xfrm>
            <a:off x="8107680"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gion strip"/>
          <p:cNvSpPr/>
          <p:nvPr/>
        </p:nvSpPr>
        <p:spPr>
          <a:xfrm>
            <a:off x="8107680" y="1024128"/>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gion name"/>
          <p:cNvSpPr txBox="1"/>
          <p:nvPr/>
        </p:nvSpPr>
        <p:spPr>
          <a:xfrm>
            <a:off x="8217408" y="1024128"/>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CHINA</a:t>
            </a:r>
            <a:endParaRPr lang="en-AU" sz="1150" dirty="0"/>
          </a:p>
        </p:txBody>
      </p:sp>
      <p:sp>
        <p:nvSpPr>
          <p:cNvPr id="47" name="Region call"/>
          <p:cNvSpPr txBox="1"/>
          <p:nvPr/>
        </p:nvSpPr>
        <p:spPr>
          <a:xfrm>
            <a:off x="9771431" y="1024128"/>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UW</a:t>
            </a:r>
            <a:r>
              <a:rPr sz="900" b="1" i="0">
                <a:solidFill>
                  <a:srgbClr val="CEA659"/>
                </a:solidFill>
                <a:latin typeface="Arial"/>
              </a:rPr>
              <a:t>    TAA </a:t>
            </a:r>
            <a:r>
              <a:rPr sz="1100" b="1" i="0">
                <a:solidFill>
                  <a:srgbClr val="FFFFFF"/>
                </a:solidFill>
                <a:latin typeface="Arial"/>
              </a:rPr>
              <a:t>N</a:t>
            </a:r>
            <a:endParaRPr lang="en-AU" sz="1100" dirty="0"/>
          </a:p>
        </p:txBody>
      </p:sp>
      <p:sp>
        <p:nvSpPr>
          <p:cNvPr id="48" name="Region bullets"/>
          <p:cNvSpPr txBox="1"/>
          <p:nvPr/>
        </p:nvSpPr>
        <p:spPr>
          <a:xfrm>
            <a:off x="8199120" y="1426464"/>
            <a:ext cx="3514344" cy="180898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IZZ would give broad large-cap exposure, but we hold none.</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Stimulus is funding supply rather than households, so the property slump keeps eroding wealth and demand.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 large consumer-focused stimulus could spark a sharp rally, so we watch it closely.</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Monthly property data and stimulus announcements are the catalysts to watch.</a:t>
            </a:r>
            <a:endParaRPr lang="en-AU" sz="1150" dirty="0"/>
          </a:p>
        </p:txBody>
      </p:sp>
      <p:sp>
        <p:nvSpPr>
          <p:cNvPr id="49" name="Region strip"/>
          <p:cNvSpPr/>
          <p:nvPr/>
        </p:nvSpPr>
        <p:spPr>
          <a:xfrm>
            <a:off x="8107680" y="3253740"/>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gion name"/>
          <p:cNvSpPr txBox="1"/>
          <p:nvPr/>
        </p:nvSpPr>
        <p:spPr>
          <a:xfrm>
            <a:off x="8217408" y="3253740"/>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EMERGING MARKETS</a:t>
            </a:r>
            <a:endParaRPr lang="en-AU" sz="1150" dirty="0"/>
          </a:p>
        </p:txBody>
      </p:sp>
      <p:sp>
        <p:nvSpPr>
          <p:cNvPr id="51" name="Region call"/>
          <p:cNvSpPr txBox="1"/>
          <p:nvPr/>
        </p:nvSpPr>
        <p:spPr>
          <a:xfrm>
            <a:off x="9771431" y="3253740"/>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UW</a:t>
            </a:r>
            <a:r>
              <a:rPr sz="900" b="1" i="0">
                <a:solidFill>
                  <a:srgbClr val="CEA659"/>
                </a:solidFill>
                <a:latin typeface="Arial"/>
              </a:rPr>
              <a:t>    TAA </a:t>
            </a:r>
            <a:r>
              <a:rPr sz="1100" b="1" i="0">
                <a:solidFill>
                  <a:srgbClr val="FFFFFF"/>
                </a:solidFill>
                <a:latin typeface="Arial"/>
              </a:rPr>
              <a:t>N</a:t>
            </a:r>
            <a:endParaRPr lang="en-AU" sz="1100" dirty="0"/>
          </a:p>
        </p:txBody>
      </p:sp>
      <p:sp>
        <p:nvSpPr>
          <p:cNvPr id="52" name="Region bullets"/>
          <p:cNvSpPr txBox="1"/>
          <p:nvPr/>
        </p:nvSpPr>
        <p:spPr>
          <a:xfrm>
            <a:off x="8199120" y="3656076"/>
            <a:ext cx="3514344" cy="163372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VGE or IEM would give diversified exposure, but we hold none for now.</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 strong dollar and $95 oil raise funding and import costs, outweighing India's 7.8% growth.</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Taiwan and Korea dominate the index, so an AI slowdown would hit EM hard.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 weaker US dollar and Fed easing would justify a small VGE position.</a:t>
            </a:r>
            <a:endParaRPr lang="en-AU" sz="1150" dirty="0"/>
          </a:p>
        </p:txBody>
      </p:sp>
      <p:sp>
        <p:nvSpPr>
          <p:cNvPr id="53" name="Summary"/>
          <p:cNvSpPr/>
          <p:nvPr/>
        </p:nvSpPr>
        <p:spPr>
          <a:xfrm>
            <a:off x="8171688" y="5372100"/>
            <a:ext cx="3569208" cy="726948"/>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Summary text"/>
          <p:cNvSpPr txBox="1"/>
          <p:nvPr/>
        </p:nvSpPr>
        <p:spPr>
          <a:xfrm>
            <a:off x="8171688" y="5372100"/>
            <a:ext cx="3569208" cy="726948"/>
          </a:xfrm>
          <a:prstGeom prst="rect">
            <a:avLst/>
          </a:prstGeom>
          <a:noFill/>
        </p:spPr>
        <p:txBody>
          <a:bodyPr wrap="square" lIns="109728" tIns="27432" rIns="109728" bIns="27432" anchor="ctr">
            <a:noAutofit/>
          </a:bodyPr>
          <a:lstStyle/>
          <a:p>
            <a:pPr algn="ctr">
              <a:buNone/>
            </a:pPr>
            <a:r>
              <a:rPr sz="1150" b="1" i="0">
                <a:solidFill>
                  <a:srgbClr val="0B2C48"/>
                </a:solidFill>
                <a:latin typeface="Arial"/>
              </a:rPr>
              <a:t>China's property drag and a strong dollar keep both at zero until the USD turns.</a:t>
            </a:r>
            <a:endParaRPr lang="en-AU" sz="1150" dirty="0"/>
          </a:p>
        </p:txBody>
      </p:sp>
      <p:sp>
        <p:nvSpPr>
          <p:cNvPr id="5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15</a:t>
            </a:r>
            <a:endParaRPr lang="en-AU" sz="900" dirty="0"/>
          </a:p>
        </p:txBody>
      </p:sp>
      <p:sp>
        <p:nvSpPr>
          <p:cNvPr id="5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progress"/>
          <p:cNvSpPr/>
          <p:nvPr/>
        </p:nvSpPr>
        <p:spPr>
          <a:xfrm>
            <a:off x="603504" y="6466637"/>
            <a:ext cx="7850777"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60"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2"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4"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6"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8"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70"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2"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4"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6"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8" name="Nav EQUITY">
            <a:hlinkClick action="ppaction://hlinksldjump" r:id="rId12"/>
          </p:cNvPr>
          <p:cNvSpPr/>
          <p:nvPr/>
        </p:nvSpPr>
        <p:spPr>
          <a:xfrm>
            <a:off x="8403989"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EQUITY</a:t>
            </a:r>
            <a:endParaRPr lang="en-AU" sz="800" dirty="0"/>
          </a:p>
        </p:txBody>
      </p:sp>
      <p:sp>
        <p:nvSpPr>
          <p:cNvPr id="80" name="Nav FIXED INCOME">
            <a:hlinkClick action="ppaction://hlinksldjump" r:id="rId13"/>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82" name="Nav TAA">
            <a:hlinkClick action="ppaction://hlinksldjump" r:id="rId14"/>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84" name="Nav REQUESTS">
            <a:hlinkClick action="ppaction://hlinksldjump" r:id="rId15"/>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86"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Hedged Global Bonds Are the Only Fixed Income Overweight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Rising long yields keep us out of Australian duration and credit; hedged global bonds are the only fixed income overweight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FI label box"/>
          <p:cNvSpPr/>
          <p:nvPr/>
        </p:nvSpPr>
        <p:spPr>
          <a:xfrm>
            <a:off x="384048" y="1024128"/>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I label"/>
          <p:cNvSpPr txBox="1"/>
          <p:nvPr/>
        </p:nvSpPr>
        <p:spPr>
          <a:xfrm>
            <a:off x="384048" y="1024128"/>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CASH (N)</a:t>
            </a:r>
            <a:endParaRPr lang="en-AU" sz="1100" dirty="0"/>
          </a:p>
        </p:txBody>
      </p:sp>
      <p:sp>
        <p:nvSpPr>
          <p:cNvPr id="24" name="FI box"/>
          <p:cNvSpPr/>
          <p:nvPr/>
        </p:nvSpPr>
        <p:spPr>
          <a:xfrm>
            <a:off x="2212848" y="1024128"/>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FI text"/>
          <p:cNvSpPr txBox="1"/>
          <p:nvPr/>
        </p:nvSpPr>
        <p:spPr>
          <a:xfrm>
            <a:off x="2286000" y="1060704"/>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BILL (iShares): iShares Core Cash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Direct exposure to the RBA cash rate, currently 4.35%.</a:t>
            </a:r>
            <a:r>
              <a:rPr sz="1000" b="0" i="0" baseline="30000">
                <a:solidFill>
                  <a:srgbClr val="9A7428"/>
                </a:solidFill>
                <a:latin typeface="Arial"/>
                <a:hlinkClick r:id="rId2" action="ppaction://hlinksldjump">
                  <a:extLst>
                    <a:ext uri="{A12FA001-AC4F-418D-AE19-62706E023703}">
                      <ahyp:hlinkClr xmlns:ahyp="http://schemas.microsoft.com/office/drawing/2018/hyperlinkcolor" val="tx"/>
                    </a:ext>
                  </a:extLst>
                </a:hlinkClick>
              </a:rPr>
              <a:t>31</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With hikes still live, cash earns a solid risk-free return and funds the scholarships.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Held at 21% in both portfolios; AAA and ISEC were the other cash ETFs we considered.</a:t>
            </a:r>
            <a:endParaRPr lang="en-AU" sz="1000" dirty="0"/>
          </a:p>
        </p:txBody>
      </p:sp>
      <p:sp>
        <p:nvSpPr>
          <p:cNvPr id="26" name="FI label box"/>
          <p:cNvSpPr/>
          <p:nvPr/>
        </p:nvSpPr>
        <p:spPr>
          <a:xfrm>
            <a:off x="384048" y="2070202"/>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I label"/>
          <p:cNvSpPr txBox="1"/>
          <p:nvPr/>
        </p:nvSpPr>
        <p:spPr>
          <a:xfrm>
            <a:off x="384048" y="2070202"/>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GOVERNMENT BONDS (N)</a:t>
            </a:r>
            <a:endParaRPr lang="en-AU" sz="1100" dirty="0"/>
          </a:p>
        </p:txBody>
      </p:sp>
      <p:sp>
        <p:nvSpPr>
          <p:cNvPr id="28" name="FI box"/>
          <p:cNvSpPr/>
          <p:nvPr/>
        </p:nvSpPr>
        <p:spPr>
          <a:xfrm>
            <a:off x="2212848" y="2070202"/>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FI text"/>
          <p:cNvSpPr txBox="1"/>
          <p:nvPr/>
        </p:nvSpPr>
        <p:spPr>
          <a:xfrm>
            <a:off x="2286000" y="2106778"/>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VGB (Vanguard): Vanguard Australian Government Bond Index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Broad exposure to federal, state and territory government bonds.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10-year yield is at a 15-year high with hikes still live, so bond prices could fall further.</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Not held; we would add duration once the cash rate clearly peaks.</a:t>
            </a:r>
            <a:endParaRPr lang="en-AU" sz="1000" dirty="0"/>
          </a:p>
        </p:txBody>
      </p:sp>
      <p:sp>
        <p:nvSpPr>
          <p:cNvPr id="30" name="FI label box"/>
          <p:cNvSpPr/>
          <p:nvPr/>
        </p:nvSpPr>
        <p:spPr>
          <a:xfrm>
            <a:off x="384048" y="3116275"/>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FI label"/>
          <p:cNvSpPr txBox="1"/>
          <p:nvPr/>
        </p:nvSpPr>
        <p:spPr>
          <a:xfrm>
            <a:off x="384048" y="3116275"/>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CORPORATE BONDS (UW)</a:t>
            </a:r>
            <a:endParaRPr lang="en-AU" sz="1100" dirty="0"/>
          </a:p>
        </p:txBody>
      </p:sp>
      <p:sp>
        <p:nvSpPr>
          <p:cNvPr id="32" name="FI box"/>
          <p:cNvSpPr/>
          <p:nvPr/>
        </p:nvSpPr>
        <p:spPr>
          <a:xfrm>
            <a:off x="2212848" y="3116275"/>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FI text"/>
          <p:cNvSpPr txBox="1"/>
          <p:nvPr/>
        </p:nvSpPr>
        <p:spPr>
          <a:xfrm>
            <a:off x="2286000" y="3152851"/>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VACF (Vanguard): Vanguard Australian Corporate Fixed Interest Index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Investment-grade Australian corporate bonds.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Credit spreads are tight while long yields rise, which leaves little reward for credit risk.</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TAA moves the 1% SAA holding into hedged global bonds.</a:t>
            </a:r>
            <a:endParaRPr lang="en-AU" sz="1000" dirty="0"/>
          </a:p>
        </p:txBody>
      </p:sp>
      <p:sp>
        <p:nvSpPr>
          <p:cNvPr id="34" name="FI label box"/>
          <p:cNvSpPr/>
          <p:nvPr/>
        </p:nvSpPr>
        <p:spPr>
          <a:xfrm>
            <a:off x="384048" y="4162349"/>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FI label"/>
          <p:cNvSpPr txBox="1"/>
          <p:nvPr/>
        </p:nvSpPr>
        <p:spPr>
          <a:xfrm>
            <a:off x="384048" y="4162349"/>
            <a:ext cx="1828800" cy="954634"/>
          </a:xfrm>
          <a:prstGeom prst="rect">
            <a:avLst/>
          </a:prstGeom>
          <a:noFill/>
        </p:spPr>
        <p:txBody>
          <a:bodyPr wrap="square" tIns="0" bIns="0" anchor="ctr">
            <a:noAutofit/>
          </a:bodyPr>
          <a:lstStyle/>
          <a:p>
            <a:pPr algn="ctr">
              <a:buNone/>
            </a:pPr>
            <a:r>
              <a:rPr sz="1100" b="1" i="0">
                <a:solidFill>
                  <a:srgbClr val="FFFFFF"/>
                </a:solidFill>
                <a:latin typeface="Arial"/>
              </a:rPr>
              <a:t>GLOBAL BONDS (OW)</a:t>
            </a:r>
            <a:endParaRPr lang="en-AU" sz="1100" dirty="0"/>
          </a:p>
        </p:txBody>
      </p:sp>
      <p:sp>
        <p:nvSpPr>
          <p:cNvPr id="36" name="FI box"/>
          <p:cNvSpPr/>
          <p:nvPr/>
        </p:nvSpPr>
        <p:spPr>
          <a:xfrm>
            <a:off x="2212848" y="4162349"/>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FI text"/>
          <p:cNvSpPr txBox="1"/>
          <p:nvPr/>
        </p:nvSpPr>
        <p:spPr>
          <a:xfrm>
            <a:off x="2286000" y="4198925"/>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VEFI (Vanguard): Ethically Conscious Global Aggregate Bond (Hedged)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ESG-screened global bonds hedged to AUD, in line with Jenny's values.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Global bonds rally when growth slows, which diversifies the equity sleeve.</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TAA adds 4%; chosen over VBND and VIF for its ESG screen.</a:t>
            </a:r>
            <a:r>
              <a:rPr sz="10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22</a:t>
            </a:r>
            <a:endParaRPr lang="en-AU" sz="1000" dirty="0"/>
          </a:p>
        </p:txBody>
      </p:sp>
      <p:sp>
        <p:nvSpPr>
          <p:cNvPr id="38" name="FI label box"/>
          <p:cNvSpPr/>
          <p:nvPr/>
        </p:nvSpPr>
        <p:spPr>
          <a:xfrm>
            <a:off x="384048" y="5208422"/>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FI label"/>
          <p:cNvSpPr txBox="1"/>
          <p:nvPr/>
        </p:nvSpPr>
        <p:spPr>
          <a:xfrm>
            <a:off x="384048" y="5208422"/>
            <a:ext cx="1828800" cy="954634"/>
          </a:xfrm>
          <a:prstGeom prst="rect">
            <a:avLst/>
          </a:prstGeom>
          <a:noFill/>
        </p:spPr>
        <p:txBody>
          <a:bodyPr wrap="square" tIns="0" bIns="0" anchor="ctr">
            <a:noAutofit/>
          </a:bodyPr>
          <a:lstStyle/>
          <a:p>
            <a:pPr algn="ctr">
              <a:buNone/>
            </a:pPr>
            <a:r>
              <a:rPr sz="1100" b="1" i="0">
                <a:solidFill>
                  <a:srgbClr val="FFFFFF"/>
                </a:solidFill>
                <a:latin typeface="Arial"/>
              </a:rPr>
              <a:t>EMERGING MARKETS BONDS (N)</a:t>
            </a:r>
            <a:endParaRPr lang="en-AU" sz="1100" dirty="0"/>
          </a:p>
        </p:txBody>
      </p:sp>
      <p:sp>
        <p:nvSpPr>
          <p:cNvPr id="40" name="FI box"/>
          <p:cNvSpPr/>
          <p:nvPr/>
        </p:nvSpPr>
        <p:spPr>
          <a:xfrm>
            <a:off x="2212848" y="5208422"/>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FI text"/>
          <p:cNvSpPr txBox="1"/>
          <p:nvPr/>
        </p:nvSpPr>
        <p:spPr>
          <a:xfrm>
            <a:off x="2286000" y="5244998"/>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IHEB (iShares): J.P. Morgan USD EM Bond (AUD Hedged)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USD emerging market sovereign bonds, hedged to AUD.</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A strong dollar and the Hormuz shock hit EM borrowers hardest; IHEB fell 32% at its worst.</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Not held; a weaker US dollar would be the trigger to revisit.</a:t>
            </a:r>
            <a:endParaRPr lang="en-AU" sz="1000" dirty="0"/>
          </a:p>
        </p:txBody>
      </p:sp>
      <p:sp>
        <p:nvSpPr>
          <p:cNvPr id="42" name="Panel"/>
          <p:cNvSpPr/>
          <p:nvPr/>
        </p:nvSpPr>
        <p:spPr>
          <a:xfrm>
            <a:off x="7836408" y="1024128"/>
            <a:ext cx="3968496" cy="248716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Panel header"/>
          <p:cNvSpPr/>
          <p:nvPr/>
        </p:nvSpPr>
        <p:spPr>
          <a:xfrm>
            <a:off x="7836408" y="1024128"/>
            <a:ext cx="396849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Panel title"/>
          <p:cNvSpPr txBox="1"/>
          <p:nvPr/>
        </p:nvSpPr>
        <p:spPr>
          <a:xfrm>
            <a:off x="7836408" y="1024128"/>
            <a:ext cx="396849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AUSTRALIAN YIELD CURVE PRESSURE</a:t>
            </a:r>
            <a:endParaRPr lang="en-AU" sz="1000" dirty="0"/>
          </a:p>
        </p:txBody>
      </p:sp>
      <p:graphicFrame>
        <p:nvGraphicFramePr>
          <p:cNvPr id="45" name="Chart 44"/>
          <p:cNvGraphicFramePr>
            <a:graphicFrameLocks noGrp="1"/>
          </p:cNvGraphicFramePr>
          <p:nvPr/>
        </p:nvGraphicFramePr>
        <p:xfrm>
          <a:off x="7882128" y="1362456"/>
          <a:ext cx="3877056" cy="1947672"/>
        </p:xfrm>
        <a:graphic>
          <a:graphicData uri="http://schemas.openxmlformats.org/drawingml/2006/chart">
            <c:chart xmlns:c="http://schemas.openxmlformats.org/drawingml/2006/chart" r:id="rId4"/>
          </a:graphicData>
        </a:graphic>
      </p:graphicFrame>
      <p:sp>
        <p:nvSpPr>
          <p:cNvPr id="46" name="Chart source"/>
          <p:cNvSpPr txBox="1"/>
          <p:nvPr/>
        </p:nvSpPr>
        <p:spPr>
          <a:xfrm>
            <a:off x="7927848" y="3310128"/>
            <a:ext cx="378561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analysis; RBA; Trading Economics</a:t>
            </a:r>
            <a:endParaRPr lang="en-AU" sz="800" dirty="0"/>
          </a:p>
        </p:txBody>
      </p:sp>
      <p:sp>
        <p:nvSpPr>
          <p:cNvPr id="47" name="Panel"/>
          <p:cNvSpPr/>
          <p:nvPr/>
        </p:nvSpPr>
        <p:spPr>
          <a:xfrm>
            <a:off x="7836408" y="3675888"/>
            <a:ext cx="3968496" cy="248716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Panel header"/>
          <p:cNvSpPr/>
          <p:nvPr/>
        </p:nvSpPr>
        <p:spPr>
          <a:xfrm>
            <a:off x="7836408" y="3675888"/>
            <a:ext cx="396849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title"/>
          <p:cNvSpPr txBox="1"/>
          <p:nvPr/>
        </p:nvSpPr>
        <p:spPr>
          <a:xfrm>
            <a:off x="7836408" y="3675888"/>
            <a:ext cx="396849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BOND AND CASH ETF PRICES (JUL 2021 = 100)</a:t>
            </a:r>
            <a:endParaRPr lang="en-AU" sz="1000" dirty="0"/>
          </a:p>
        </p:txBody>
      </p:sp>
      <p:graphicFrame>
        <p:nvGraphicFramePr>
          <p:cNvPr id="50" name="Chart 49"/>
          <p:cNvGraphicFramePr>
            <a:graphicFrameLocks noGrp="1"/>
          </p:cNvGraphicFramePr>
          <p:nvPr/>
        </p:nvGraphicFramePr>
        <p:xfrm>
          <a:off x="7882128" y="4014216"/>
          <a:ext cx="3877056" cy="1947672"/>
        </p:xfrm>
        <a:graphic>
          <a:graphicData uri="http://schemas.openxmlformats.org/drawingml/2006/chart">
            <c:chart xmlns:c="http://schemas.openxmlformats.org/drawingml/2006/chart" r:id="rId5"/>
          </a:graphicData>
        </a:graphic>
      </p:graphicFrame>
      <p:sp>
        <p:nvSpPr>
          <p:cNvPr id="51" name="Chart source"/>
          <p:cNvSpPr txBox="1"/>
          <p:nvPr/>
        </p:nvSpPr>
        <p:spPr>
          <a:xfrm>
            <a:off x="7927848" y="5961888"/>
            <a:ext cx="378561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monthly closes; price only, distributions excluded</a:t>
            </a:r>
            <a:endParaRPr lang="en-AU" sz="800" dirty="0"/>
          </a:p>
        </p:txBody>
      </p:sp>
      <p:sp>
        <p:nvSpPr>
          <p:cNvPr id="52"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View = TAA weight vs SAA weight: one overweight (VEFI, +4pp), one underweight (VACF, -1pp); the rest of the defensive shift goes to gold. All ETFs are ASX-listed.</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16</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86358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6"/>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6"/>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7"/>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7"/>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8"/>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8"/>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9"/>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9"/>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10"/>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10"/>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11"/>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11"/>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12"/>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12"/>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3"/>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3"/>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4"/>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4"/>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5"/>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5"/>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6"/>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6"/>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7"/>
          </p:cNvPr>
          <p:cNvSpPr/>
          <p:nvPr/>
        </p:nvSpPr>
        <p:spPr>
          <a:xfrm>
            <a:off x="91890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7"/>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FIXED INCOME</a:t>
            </a:r>
            <a:endParaRPr lang="en-AU" sz="800" dirty="0"/>
          </a:p>
        </p:txBody>
      </p:sp>
      <p:sp>
        <p:nvSpPr>
          <p:cNvPr id="80" name="Nav TAA">
            <a:hlinkClick action="ppaction://hlinksldjump" r:id="rId18"/>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8"/>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82" name="Nav REQUESTS">
            <a:hlinkClick action="ppaction://hlinksldjump" r:id="rId19"/>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9"/>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84" name="Nav REFERENCES">
            <a:hlinkClick action="ppaction://hlinksldjump" r:id="rId3"/>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3"/>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Tactical Asset Allocation (TAA)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For the next 12 months we move from 70/30 to 60/40, adding gold and hedged bonds while energy and inflation risks stay high</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22" name="TAA table"/>
          <p:cNvGraphicFramePr>
            <a:graphicFrameLocks noGrp="1"/>
          </p:cNvGraphicFramePr>
          <p:nvPr/>
        </p:nvGraphicFramePr>
        <p:xfrm>
          <a:off x="384048" y="1051560"/>
          <a:ext cx="11420856" cy="5093208"/>
        </p:xfrm>
        <a:graphic>
          <a:graphicData uri="http://schemas.openxmlformats.org/drawingml/2006/table">
            <a:tbl>
              <a:tblPr firstRow="1">
                <a:tableStyleId>{2D5ABB26-0587-4C30-8999-92F81FD0307C}</a:tableStyleId>
              </a:tblPr>
              <a:tblGrid>
                <a:gridCol w="23317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4"/>
                    </a:ext>
                  </a:extLst>
                </a:gridCol>
                <a:gridCol w="6345936">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tblGrid>
              <a:tr h="374904">
                <a:tc>
                  <a:txBody>
                    <a:bodyPr/>
                    <a:lstStyle/>
                    <a:p>
                      <a:pPr algn="l"/>
                      <a:r>
                        <a:rPr sz="1000" b="1" i="0">
                          <a:solidFill>
                            <a:srgbClr val="FFFFFF"/>
                          </a:solidFill>
                          <a:latin typeface="Arial"/>
                        </a:rPr>
                        <a:t>Asset / sleeve</a:t>
                      </a:r>
                    </a:p>
                  </a:txBody>
                  <a:tcPr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TAA</a:t>
                      </a:r>
                    </a:p>
                    <a:p>
                      <a:pPr algn="ctr"/>
                      <a:r>
                        <a:rPr sz="1000" b="1" i="0">
                          <a:solidFill>
                            <a:srgbClr val="FFFFFF"/>
                          </a:solidFill>
                          <a:latin typeface="Arial"/>
                        </a:rPr>
                        <a:t>60/40</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View</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1000" b="1" i="0">
                          <a:solidFill>
                            <a:srgbClr val="FFFFFF"/>
                          </a:solidFill>
                          <a:latin typeface="Arial"/>
                        </a:rPr>
                        <a:t>Rationale</a:t>
                      </a:r>
                    </a:p>
                  </a:txBody>
                  <a:tcPr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301752">
                <a:tc gridSpan="5">
                  <a:txBody>
                    <a:bodyPr/>
                    <a:lstStyle/>
                    <a:p>
                      <a:pPr algn="l"/>
                      <a:r>
                        <a:rPr sz="1000" b="1" i="0">
                          <a:solidFill>
                            <a:srgbClr val="0B2C48"/>
                          </a:solidFill>
                          <a:latin typeface="Arial"/>
                        </a:rPr>
                        <a:t>GROWTH ASSETS  60%</a:t>
                      </a:r>
                    </a:p>
                  </a:txBody>
                  <a:tcPr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CEA659"/>
                    </a:solidFill>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extLst>
                  <a:ext uri="{0D108BD9-81ED-4DB2-BD59-A6C34878D82A}">
                    <a16:rowId xmlns:a16="http://schemas.microsoft.com/office/drawing/2014/main" val="10001"/>
                  </a:ext>
                </a:extLst>
              </a:tr>
              <a:tr h="411480">
                <a:tc>
                  <a:txBody>
                    <a:bodyPr/>
                    <a:lstStyle/>
                    <a:p>
                      <a:pPr algn="l"/>
                      <a:r>
                        <a:rPr sz="1000" b="1" i="0">
                          <a:solidFill>
                            <a:srgbClr val="1A1F26"/>
                          </a:solidFill>
                          <a:latin typeface="Arial"/>
                        </a:rPr>
                        <a:t>US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30.0%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0B2C48"/>
                          </a:solidFill>
                          <a:latin typeface="Arial"/>
                        </a:rPr>
                        <a:t>N</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6AB52"/>
                    </a:solidFill>
                  </a:tcPr>
                </a:tc>
                <a:tc>
                  <a:txBody>
                    <a:bodyPr wrap="square" lIns="73152" tIns="18288" rIns="73152" bIns="18288" anchor="ctr">
                      <a:noAutofit/>
                    </a:bodyPr>
                    <a:lstStyle/>
                    <a:p>
                      <a:pPr algn="l">
                        <a:buNone/>
                      </a:pPr>
                      <a:r>
                        <a:rPr sz="1000" b="0" i="0">
                          <a:solidFill>
                            <a:srgbClr val="1A1F26"/>
                          </a:solidFill>
                          <a:latin typeface="Arial"/>
                        </a:rPr>
                        <a:t>AI earnings keep beating, but the 30% regional cap stops any further tilt</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SPY, VTS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2"/>
                  </a:ext>
                </a:extLst>
              </a:tr>
              <a:tr h="411480">
                <a:tc>
                  <a:txBody>
                    <a:bodyPr/>
                    <a:lstStyle/>
                    <a:p>
                      <a:pPr algn="l"/>
                      <a:r>
                        <a:rPr sz="1000" b="1" i="0">
                          <a:solidFill>
                            <a:srgbClr val="1A1F26"/>
                          </a:solidFill>
                          <a:latin typeface="Arial"/>
                        </a:rPr>
                        <a:t>GLOBAL SUSTAINABLE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15.4%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The energy shock and ECB hikes hit European earnings hardest, so we trim but keep the sustainable core</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3"/>
                  </a:ext>
                </a:extLst>
              </a:tr>
              <a:tr h="411480">
                <a:tc>
                  <a:txBody>
                    <a:bodyPr/>
                    <a:lstStyle/>
                    <a:p>
                      <a:pPr algn="l"/>
                      <a:r>
                        <a:rPr sz="1000" b="1" i="0">
                          <a:solidFill>
                            <a:srgbClr val="1A1F26"/>
                          </a:solidFill>
                          <a:latin typeface="Arial"/>
                        </a:rPr>
                        <a:t>JAPAN EQUITIES (HEDGED)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10.0%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BOJ hikes to 1.25% can spark yen rallies that hurt exporters; reform still justifies a core holding</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HJPN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4"/>
                  </a:ext>
                </a:extLst>
              </a:tr>
              <a:tr h="411480">
                <a:tc>
                  <a:txBody>
                    <a:bodyPr/>
                    <a:lstStyle/>
                    <a:p>
                      <a:pPr algn="l"/>
                      <a:r>
                        <a:rPr sz="1000" b="1" i="0">
                          <a:solidFill>
                            <a:srgbClr val="1A1F26"/>
                          </a:solidFill>
                          <a:latin typeface="Arial"/>
                        </a:rPr>
                        <a:t>GLOBAL INFRASTRUCTURE</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4.6%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Regulated, inflation-linked cash flows hold up in stagflation, which cushions an energy shock</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VBLD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5"/>
                  </a:ext>
                </a:extLst>
              </a:tr>
              <a:tr h="411480">
                <a:tc>
                  <a:txBody>
                    <a:bodyPr/>
                    <a:lstStyle/>
                    <a:p>
                      <a:pPr algn="l"/>
                      <a:r>
                        <a:rPr sz="1000" b="1" i="0">
                          <a:solidFill>
                            <a:srgbClr val="1A1F26"/>
                          </a:solidFill>
                          <a:latin typeface="Arial"/>
                        </a:rPr>
                        <a:t>AUSTRALIAN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Sticky 3.5% inflation keeps rates high and squeezes margins while the ASX sits on 18.1x earnings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6"/>
                  </a:ext>
                </a:extLst>
              </a:tr>
              <a:tr h="301752">
                <a:tc gridSpan="5">
                  <a:txBody>
                    <a:bodyPr/>
                    <a:lstStyle/>
                    <a:p>
                      <a:pPr algn="l"/>
                      <a:r>
                        <a:rPr sz="1000" b="1" i="0">
                          <a:solidFill>
                            <a:srgbClr val="0B2C48"/>
                          </a:solidFill>
                          <a:latin typeface="Arial"/>
                        </a:rPr>
                        <a:t>DEFENSIVE ASSETS  40%</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CEA659"/>
                    </a:solidFill>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extLst>
                  <a:ext uri="{0D108BD9-81ED-4DB2-BD59-A6C34878D82A}">
                    <a16:rowId xmlns:a16="http://schemas.microsoft.com/office/drawing/2014/main" val="10007"/>
                  </a:ext>
                </a:extLst>
              </a:tr>
              <a:tr h="411480">
                <a:tc>
                  <a:txBody>
                    <a:bodyPr/>
                    <a:lstStyle/>
                    <a:p>
                      <a:pPr algn="l"/>
                      <a:r>
                        <a:rPr sz="1000" b="1" i="0">
                          <a:solidFill>
                            <a:srgbClr val="1A1F26"/>
                          </a:solidFill>
                          <a:latin typeface="Arial"/>
                        </a:rPr>
                        <a:t>AUSTRALIAN CASH</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21.0%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0B2C48"/>
                          </a:solidFill>
                          <a:latin typeface="Arial"/>
                        </a:rPr>
                        <a:t>N</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6AB52"/>
                    </a:solidFill>
                  </a:tcPr>
                </a:tc>
                <a:tc>
                  <a:txBody>
                    <a:bodyPr wrap="square" lIns="73152" tIns="18288" rIns="73152" bIns="18288" anchor="ctr">
                      <a:noAutofit/>
                    </a:bodyPr>
                    <a:lstStyle/>
                    <a:p>
                      <a:pPr algn="l">
                        <a:buNone/>
                      </a:pPr>
                      <a:r>
                        <a:rPr sz="1000" b="0" i="0">
                          <a:solidFill>
                            <a:srgbClr val="1A1F26"/>
                          </a:solidFill>
                          <a:latin typeface="Arial"/>
                        </a:rPr>
                        <a:t>At 4.35%, cash is the best risk-free return and funds the scholarships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BILL, AAA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8"/>
                  </a:ext>
                </a:extLst>
              </a:tr>
              <a:tr h="411480">
                <a:tc>
                  <a:txBody>
                    <a:bodyPr/>
                    <a:lstStyle/>
                    <a:p>
                      <a:pPr algn="l"/>
                      <a:r>
                        <a:rPr sz="1000" b="1" i="0">
                          <a:solidFill>
                            <a:srgbClr val="1A1F26"/>
                          </a:solidFill>
                          <a:latin typeface="Arial"/>
                        </a:rPr>
                        <a:t>GOLD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15.0%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A Hormuz shock revives stagflation risk, and gold's low correlation with equities protects capital</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9"/>
                  </a:ext>
                </a:extLst>
              </a:tr>
              <a:tr h="411480">
                <a:tc>
                  <a:txBody>
                    <a:bodyPr/>
                    <a:lstStyle/>
                    <a:p>
                      <a:pPr algn="l"/>
                      <a:r>
                        <a:rPr sz="1000" b="1" i="0">
                          <a:solidFill>
                            <a:srgbClr val="1A1F26"/>
                          </a:solidFill>
                          <a:latin typeface="Arial"/>
                        </a:rPr>
                        <a:t>GLOBAL BONDS (HEDGED)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4.0%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Global bonds rally when growth slows, so AUD-hedged ESG duration diversifies the equity sleeve</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VEFI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10"/>
                  </a:ext>
                </a:extLst>
              </a:tr>
              <a:tr h="411480">
                <a:tc>
                  <a:txBody>
                    <a:bodyPr/>
                    <a:lstStyle/>
                    <a:p>
                      <a:pPr algn="l"/>
                      <a:r>
                        <a:rPr sz="1000" b="1" i="0">
                          <a:solidFill>
                            <a:srgbClr val="1A1F26"/>
                          </a:solidFill>
                          <a:latin typeface="Arial"/>
                        </a:rPr>
                        <a:t>AUSTRALIAN CORPORATE BONDS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Tight spreads and rising long yields leave little reward, so the 1% moves into hedged global bonds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VACF</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11"/>
                  </a:ext>
                </a:extLst>
              </a:tr>
              <a:tr h="411480">
                <a:tc>
                  <a:txBody>
                    <a:bodyPr/>
                    <a:lstStyle/>
                    <a:p>
                      <a:pPr algn="l"/>
                      <a:r>
                        <a:rPr sz="1000" b="1" i="0">
                          <a:solidFill>
                            <a:srgbClr val="1A1F26"/>
                          </a:solidFill>
                          <a:latin typeface="Arial"/>
                        </a:rPr>
                        <a:t>TOTAL</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ctr"/>
                      <a:r>
                        <a:rPr sz="1000" b="1" i="0">
                          <a:solidFill>
                            <a:srgbClr val="1A1F26"/>
                          </a:solidFill>
                          <a:latin typeface="Arial"/>
                        </a:rPr>
                        <a:t>100.0%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l"/>
                      <a:endParaRP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l"/>
                      <a:r>
                        <a:rPr sz="1000" b="1" i="0">
                          <a:solidFill>
                            <a:srgbClr val="1A1F26"/>
                          </a:solidFill>
                          <a:latin typeface="Arial"/>
                        </a:rPr>
                        <a:t>Growth falls from 70% to 60% and defensive assets rise from 30% to 40%</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ctr"/>
                      <a:r>
                        <a:rPr sz="1000" b="1" i="0">
                          <a:solidFill>
                            <a:srgbClr val="0B2C48"/>
                          </a:solidFill>
                          <a:latin typeface="Arial"/>
                        </a:rPr>
                        <a:t>9 ETFs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extLst>
                  <a:ext uri="{0D108BD9-81ED-4DB2-BD59-A6C34878D82A}">
                    <a16:rowId xmlns:a16="http://schemas.microsoft.com/office/drawing/2014/main" val="10012"/>
                  </a:ext>
                </a:extLst>
              </a:tr>
            </a:tbl>
          </a:graphicData>
        </a:graphic>
      </p:graphicFrame>
      <p:sp>
        <p:nvSpPr>
          <p:cNvPr id="23"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View = TAA weight vs SAA weight: OW raised, N unchanged, UW cut. Every overweight is funded by an underweight, so the portfolio stays 100% invested with no leverage. Source: Neo-Edge Capital portfolio model.</a:t>
            </a:r>
            <a:endParaRPr lang="en-AU" sz="800" dirty="0"/>
          </a:p>
        </p:txBody>
      </p:sp>
      <p:sp>
        <p:nvSpPr>
          <p:cNvPr id="2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17</a:t>
            </a:r>
            <a:endParaRPr lang="en-AU" sz="900" dirty="0"/>
          </a:p>
        </p:txBody>
      </p:sp>
      <p:sp>
        <p:nvSpPr>
          <p:cNvPr id="2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progress"/>
          <p:cNvSpPr/>
          <p:nvPr/>
        </p:nvSpPr>
        <p:spPr>
          <a:xfrm>
            <a:off x="603504" y="6466637"/>
            <a:ext cx="9420933"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2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3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3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3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3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3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4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4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4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4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4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51" name="Nav TAA">
            <a:hlinkClick action="ppaction://hlinksldjump" r:id="rId14"/>
          </p:cNvPr>
          <p:cNvSpPr/>
          <p:nvPr/>
        </p:nvSpPr>
        <p:spPr>
          <a:xfrm>
            <a:off x="9974145"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TAA</a:t>
            </a:r>
            <a:endParaRPr lang="en-AU" sz="800" dirty="0"/>
          </a:p>
        </p:txBody>
      </p:sp>
      <p:sp>
        <p:nvSpPr>
          <p:cNvPr id="53" name="Nav REQUESTS">
            <a:hlinkClick action="ppaction://hlinksldjump" r:id="rId15"/>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55"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1 &amp; 6: Return Objective &amp; Risk Tolerance</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The 70/30 beat the 7% target, and its worst fall since 2021 (-12.2%) stayed inside Jenny's -15% limit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46" name="Card"/>
          <p:cNvSpPr/>
          <p:nvPr/>
        </p:nvSpPr>
        <p:spPr>
          <a:xfrm>
            <a:off x="384048"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47" name="Card header"/>
          <p:cNvSpPr/>
          <p:nvPr/>
        </p:nvSpPr>
        <p:spPr>
          <a:xfrm>
            <a:off x="384048" y="4389120"/>
            <a:ext cx="2718054" cy="329184"/>
          </a:xfrm>
          <a:prstGeom prst="rect">
            <a:avLst/>
          </a:prstGeom>
          <a:solidFill>
            <a:srgbClr val="0B2C48"/>
          </a:solidFill>
          <a:ln>
            <a:noFill/>
          </a:ln>
        </p:spPr>
        <p:txBody>
          <a:bodyPr rtlCol="0" anchor="ctr"/>
          <a:lstStyle/>
          <a:p>
            <a:pPr algn="ctr"/>
            <a:endParaRPr/>
          </a:p>
        </p:txBody>
      </p:sp>
      <p:sp>
        <p:nvSpPr>
          <p:cNvPr id="48" name="Card title"/>
          <p:cNvSpPr txBox="1"/>
          <p:nvPr/>
        </p:nvSpPr>
        <p:spPr>
          <a:xfrm>
            <a:off x="384048"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RETURN OBJECTIVE</a:t>
            </a:r>
          </a:p>
        </p:txBody>
      </p:sp>
      <p:sp>
        <p:nvSpPr>
          <p:cNvPr id="49" name="Stat value"/>
          <p:cNvSpPr txBox="1"/>
          <p:nvPr/>
        </p:nvSpPr>
        <p:spPr>
          <a:xfrm>
            <a:off x="475488"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8.9%</a:t>
            </a:r>
          </a:p>
        </p:txBody>
      </p:sp>
      <p:sp>
        <p:nvSpPr>
          <p:cNvPr id="50" name="Stat label"/>
          <p:cNvSpPr txBox="1"/>
          <p:nvPr/>
        </p:nvSpPr>
        <p:spPr>
          <a:xfrm>
            <a:off x="475488"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p.a. after fees, 70/30 backtest</a:t>
            </a:r>
          </a:p>
        </p:txBody>
      </p:sp>
      <p:sp>
        <p:nvSpPr>
          <p:cNvPr id="51" name="Stat divider"/>
          <p:cNvSpPr/>
          <p:nvPr/>
        </p:nvSpPr>
        <p:spPr>
          <a:xfrm>
            <a:off x="658368" y="5632704"/>
            <a:ext cx="2169414" cy="9144"/>
          </a:xfrm>
          <a:prstGeom prst="rect">
            <a:avLst/>
          </a:prstGeom>
          <a:solidFill>
            <a:srgbClr val="D5DCE4"/>
          </a:solidFill>
          <a:ln>
            <a:noFill/>
          </a:ln>
        </p:spPr>
        <p:txBody>
          <a:bodyPr rtlCol="0" anchor="ctr"/>
          <a:lstStyle/>
          <a:p>
            <a:pPr algn="ctr"/>
            <a:endParaRPr/>
          </a:p>
        </p:txBody>
      </p:sp>
      <p:sp>
        <p:nvSpPr>
          <p:cNvPr id="52" name="Stat status"/>
          <p:cNvSpPr txBox="1"/>
          <p:nvPr/>
        </p:nvSpPr>
        <p:spPr>
          <a:xfrm>
            <a:off x="475488"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Target ≥7% p.a.</a:t>
            </a:r>
          </a:p>
        </p:txBody>
      </p:sp>
      <p:sp>
        <p:nvSpPr>
          <p:cNvPr id="53" name="Card"/>
          <p:cNvSpPr/>
          <p:nvPr/>
        </p:nvSpPr>
        <p:spPr>
          <a:xfrm>
            <a:off x="3284982"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54" name="Card header"/>
          <p:cNvSpPr/>
          <p:nvPr/>
        </p:nvSpPr>
        <p:spPr>
          <a:xfrm>
            <a:off x="3284982" y="4389120"/>
            <a:ext cx="2718054" cy="329184"/>
          </a:xfrm>
          <a:prstGeom prst="rect">
            <a:avLst/>
          </a:prstGeom>
          <a:solidFill>
            <a:srgbClr val="0B2C48"/>
          </a:solidFill>
          <a:ln>
            <a:noFill/>
          </a:ln>
        </p:spPr>
        <p:txBody>
          <a:bodyPr rtlCol="0" anchor="ctr"/>
          <a:lstStyle/>
          <a:p>
            <a:pPr algn="ctr"/>
            <a:endParaRPr/>
          </a:p>
        </p:txBody>
      </p:sp>
      <p:sp>
        <p:nvSpPr>
          <p:cNvPr id="55" name="Card title"/>
          <p:cNvSpPr txBox="1"/>
          <p:nvPr/>
        </p:nvSpPr>
        <p:spPr>
          <a:xfrm>
            <a:off x="3284982"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MAX DRAWDOWN</a:t>
            </a:r>
          </a:p>
        </p:txBody>
      </p:sp>
      <p:sp>
        <p:nvSpPr>
          <p:cNvPr id="56" name="Stat value"/>
          <p:cNvSpPr txBox="1"/>
          <p:nvPr/>
        </p:nvSpPr>
        <p:spPr>
          <a:xfrm>
            <a:off x="3376422"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-12.2%</a:t>
            </a:r>
          </a:p>
        </p:txBody>
      </p:sp>
      <p:sp>
        <p:nvSpPr>
          <p:cNvPr id="57" name="Stat label"/>
          <p:cNvSpPr txBox="1"/>
          <p:nvPr/>
        </p:nvSpPr>
        <p:spPr>
          <a:xfrm>
            <a:off x="3376422"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worst fall, Jul 2021 to Aug 2026</a:t>
            </a:r>
          </a:p>
        </p:txBody>
      </p:sp>
      <p:sp>
        <p:nvSpPr>
          <p:cNvPr id="58" name="Stat divider"/>
          <p:cNvSpPr/>
          <p:nvPr/>
        </p:nvSpPr>
        <p:spPr>
          <a:xfrm>
            <a:off x="3559302" y="5632704"/>
            <a:ext cx="2169414" cy="9144"/>
          </a:xfrm>
          <a:prstGeom prst="rect">
            <a:avLst/>
          </a:prstGeom>
          <a:solidFill>
            <a:srgbClr val="D5DCE4"/>
          </a:solidFill>
          <a:ln>
            <a:noFill/>
          </a:ln>
        </p:spPr>
        <p:txBody>
          <a:bodyPr rtlCol="0" anchor="ctr"/>
          <a:lstStyle/>
          <a:p>
            <a:pPr algn="ctr"/>
            <a:endParaRPr/>
          </a:p>
        </p:txBody>
      </p:sp>
      <p:sp>
        <p:nvSpPr>
          <p:cNvPr id="59" name="Stat status"/>
          <p:cNvSpPr txBox="1"/>
          <p:nvPr/>
        </p:nvSpPr>
        <p:spPr>
          <a:xfrm>
            <a:off x="3376422"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Client limit -15%</a:t>
            </a:r>
          </a:p>
        </p:txBody>
      </p:sp>
      <p:sp>
        <p:nvSpPr>
          <p:cNvPr id="60" name="Card"/>
          <p:cNvSpPr/>
          <p:nvPr/>
        </p:nvSpPr>
        <p:spPr>
          <a:xfrm>
            <a:off x="6185916"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61" name="Card header"/>
          <p:cNvSpPr/>
          <p:nvPr/>
        </p:nvSpPr>
        <p:spPr>
          <a:xfrm>
            <a:off x="6185916" y="4389120"/>
            <a:ext cx="2718054" cy="329184"/>
          </a:xfrm>
          <a:prstGeom prst="rect">
            <a:avLst/>
          </a:prstGeom>
          <a:solidFill>
            <a:srgbClr val="0B2C48"/>
          </a:solidFill>
          <a:ln>
            <a:noFill/>
          </a:ln>
        </p:spPr>
        <p:txBody>
          <a:bodyPr rtlCol="0" anchor="ctr"/>
          <a:lstStyle/>
          <a:p>
            <a:pPr algn="ctr"/>
            <a:endParaRPr/>
          </a:p>
        </p:txBody>
      </p:sp>
      <p:sp>
        <p:nvSpPr>
          <p:cNvPr id="62" name="Card title"/>
          <p:cNvSpPr txBox="1"/>
          <p:nvPr/>
        </p:nvSpPr>
        <p:spPr>
          <a:xfrm>
            <a:off x="6185916"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RISK-ADJUSTED RETURN</a:t>
            </a:r>
          </a:p>
        </p:txBody>
      </p:sp>
      <p:sp>
        <p:nvSpPr>
          <p:cNvPr id="63" name="Stat value"/>
          <p:cNvSpPr txBox="1"/>
          <p:nvPr/>
        </p:nvSpPr>
        <p:spPr>
          <a:xfrm>
            <a:off x="6277356"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0.60</a:t>
            </a:r>
          </a:p>
        </p:txBody>
      </p:sp>
      <p:sp>
        <p:nvSpPr>
          <p:cNvPr id="64" name="Stat label"/>
          <p:cNvSpPr txBox="1"/>
          <p:nvPr/>
        </p:nvSpPr>
        <p:spPr>
          <a:xfrm>
            <a:off x="6277356"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Sharpe ratio, quarterly backtest</a:t>
            </a:r>
          </a:p>
        </p:txBody>
      </p:sp>
      <p:sp>
        <p:nvSpPr>
          <p:cNvPr id="65" name="Stat divider"/>
          <p:cNvSpPr/>
          <p:nvPr/>
        </p:nvSpPr>
        <p:spPr>
          <a:xfrm>
            <a:off x="6460236" y="5632704"/>
            <a:ext cx="2169414" cy="9144"/>
          </a:xfrm>
          <a:prstGeom prst="rect">
            <a:avLst/>
          </a:prstGeom>
          <a:solidFill>
            <a:srgbClr val="D5DCE4"/>
          </a:solidFill>
          <a:ln>
            <a:noFill/>
          </a:ln>
        </p:spPr>
        <p:txBody>
          <a:bodyPr rtlCol="0" anchor="ctr"/>
          <a:lstStyle/>
          <a:p>
            <a:pPr algn="ctr"/>
            <a:endParaRPr/>
          </a:p>
        </p:txBody>
      </p:sp>
      <p:sp>
        <p:nvSpPr>
          <p:cNvPr id="66" name="Stat status"/>
          <p:cNvSpPr txBox="1"/>
          <p:nvPr/>
        </p:nvSpPr>
        <p:spPr>
          <a:xfrm>
            <a:off x="6277356"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Beats the 3.78% risk-free rate</a:t>
            </a:r>
          </a:p>
        </p:txBody>
      </p:sp>
      <p:sp>
        <p:nvSpPr>
          <p:cNvPr id="67" name="Card"/>
          <p:cNvSpPr/>
          <p:nvPr/>
        </p:nvSpPr>
        <p:spPr>
          <a:xfrm>
            <a:off x="9086850"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68" name="Card header"/>
          <p:cNvSpPr/>
          <p:nvPr/>
        </p:nvSpPr>
        <p:spPr>
          <a:xfrm>
            <a:off x="9086850" y="4389120"/>
            <a:ext cx="2718054" cy="329184"/>
          </a:xfrm>
          <a:prstGeom prst="rect">
            <a:avLst/>
          </a:prstGeom>
          <a:solidFill>
            <a:srgbClr val="0B2C48"/>
          </a:solidFill>
          <a:ln>
            <a:noFill/>
          </a:ln>
        </p:spPr>
        <p:txBody>
          <a:bodyPr rtlCol="0" anchor="ctr"/>
          <a:lstStyle/>
          <a:p>
            <a:pPr algn="ctr"/>
            <a:endParaRPr/>
          </a:p>
        </p:txBody>
      </p:sp>
      <p:sp>
        <p:nvSpPr>
          <p:cNvPr id="69" name="Card title"/>
          <p:cNvSpPr txBox="1"/>
          <p:nvPr/>
        </p:nvSpPr>
        <p:spPr>
          <a:xfrm>
            <a:off x="9086850"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GUARDRAIL</a:t>
            </a:r>
          </a:p>
        </p:txBody>
      </p:sp>
      <p:sp>
        <p:nvSpPr>
          <p:cNvPr id="70" name="Stat value"/>
          <p:cNvSpPr txBox="1"/>
          <p:nvPr/>
        </p:nvSpPr>
        <p:spPr>
          <a:xfrm>
            <a:off x="9178290"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-10%</a:t>
            </a:r>
          </a:p>
        </p:txBody>
      </p:sp>
      <p:sp>
        <p:nvSpPr>
          <p:cNvPr id="71" name="Stat label"/>
          <p:cNvSpPr txBox="1"/>
          <p:nvPr/>
        </p:nvSpPr>
        <p:spPr>
          <a:xfrm>
            <a:off x="9178290"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internal review trigger</a:t>
            </a:r>
          </a:p>
        </p:txBody>
      </p:sp>
      <p:sp>
        <p:nvSpPr>
          <p:cNvPr id="72" name="Stat divider"/>
          <p:cNvSpPr/>
          <p:nvPr/>
        </p:nvSpPr>
        <p:spPr>
          <a:xfrm>
            <a:off x="9361170" y="5632704"/>
            <a:ext cx="2169414" cy="9144"/>
          </a:xfrm>
          <a:prstGeom prst="rect">
            <a:avLst/>
          </a:prstGeom>
          <a:solidFill>
            <a:srgbClr val="D5DCE4"/>
          </a:solidFill>
          <a:ln>
            <a:noFill/>
          </a:ln>
        </p:spPr>
        <p:txBody>
          <a:bodyPr rtlCol="0" anchor="ctr"/>
          <a:lstStyle/>
          <a:p>
            <a:pPr algn="ctr"/>
            <a:endParaRPr/>
          </a:p>
        </p:txBody>
      </p:sp>
      <p:sp>
        <p:nvSpPr>
          <p:cNvPr id="73" name="Stat status"/>
          <p:cNvSpPr txBox="1"/>
          <p:nvPr/>
        </p:nvSpPr>
        <p:spPr>
          <a:xfrm>
            <a:off x="9178290" y="5669280"/>
            <a:ext cx="2535174" cy="438912"/>
          </a:xfrm>
          <a:prstGeom prst="rect">
            <a:avLst/>
          </a:prstGeom>
          <a:noFill/>
        </p:spPr>
        <p:txBody>
          <a:bodyPr wrap="square" lIns="36576" tIns="18288" rIns="36576" bIns="18288" anchor="ctr">
            <a:noAutofit/>
          </a:bodyPr>
          <a:lstStyle/>
          <a:p>
            <a:pPr algn="ctr"/>
            <a:r>
              <a:rPr sz="1000" b="1" i="0">
                <a:solidFill>
                  <a:srgbClr val="0B2C48"/>
                </a:solidFill>
                <a:latin typeface="Arial"/>
              </a:rPr>
              <a:t>Reviewed quarterly</a:t>
            </a:r>
          </a:p>
        </p:txBody>
      </p:sp>
      <p:sp>
        <p:nvSpPr>
          <p:cNvPr id="74"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Backtest weights × monthly ETF returns, rebalanced monthly; the live portfolio is reviewed quarterly. Sharpe uses a 3.78% risk-free rate.</a:t>
            </a:r>
          </a:p>
        </p:txBody>
      </p:sp>
      <p:sp>
        <p:nvSpPr>
          <p:cNvPr id="75" name="Panel"/>
          <p:cNvSpPr/>
          <p:nvPr/>
        </p:nvSpPr>
        <p:spPr>
          <a:xfrm>
            <a:off x="384048" y="1051560"/>
            <a:ext cx="5614416" cy="315468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Panel header"/>
          <p:cNvSpPr/>
          <p:nvPr/>
        </p:nvSpPr>
        <p:spPr>
          <a:xfrm>
            <a:off x="384048" y="1051560"/>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Panel title"/>
          <p:cNvSpPr txBox="1"/>
          <p:nvPr/>
        </p:nvSpPr>
        <p:spPr>
          <a:xfrm>
            <a:off x="384048" y="1051560"/>
            <a:ext cx="561441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BACKTESTED GROWTH OF A$100 (JUL 2021 TO AUG 2026)</a:t>
            </a:r>
            <a:endParaRPr lang="en-AU" sz="1000" dirty="0"/>
          </a:p>
        </p:txBody>
      </p:sp>
      <p:graphicFrame>
        <p:nvGraphicFramePr>
          <p:cNvPr id="78" name="Chart 77"/>
          <p:cNvGraphicFramePr>
            <a:graphicFrameLocks noGrp="1"/>
          </p:cNvGraphicFramePr>
          <p:nvPr/>
        </p:nvGraphicFramePr>
        <p:xfrm>
          <a:off x="429768" y="1389888"/>
          <a:ext cx="5522976" cy="2596896"/>
        </p:xfrm>
        <a:graphic>
          <a:graphicData uri="http://schemas.openxmlformats.org/drawingml/2006/chart">
            <c:chart xmlns:c="http://schemas.openxmlformats.org/drawingml/2006/chart" r:id="rId2"/>
          </a:graphicData>
        </a:graphic>
      </p:graphicFrame>
      <p:sp>
        <p:nvSpPr>
          <p:cNvPr id="79" name="Chart source"/>
          <p:cNvSpPr txBox="1"/>
          <p:nvPr/>
        </p:nvSpPr>
        <p:spPr>
          <a:xfrm>
            <a:off x="475488" y="4005072"/>
            <a:ext cx="543153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Neo-Edge Capital portfolio model (before fees)</a:t>
            </a:r>
            <a:endParaRPr lang="en-AU" sz="800" dirty="0"/>
          </a:p>
        </p:txBody>
      </p:sp>
      <p:sp>
        <p:nvSpPr>
          <p:cNvPr id="80" name="Panel"/>
          <p:cNvSpPr/>
          <p:nvPr/>
        </p:nvSpPr>
        <p:spPr>
          <a:xfrm>
            <a:off x="6181344" y="1051560"/>
            <a:ext cx="5614416" cy="315468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Panel header"/>
          <p:cNvSpPr/>
          <p:nvPr/>
        </p:nvSpPr>
        <p:spPr>
          <a:xfrm>
            <a:off x="6181344" y="1051560"/>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Panel title"/>
          <p:cNvSpPr txBox="1"/>
          <p:nvPr/>
        </p:nvSpPr>
        <p:spPr>
          <a:xfrm>
            <a:off x="6181344" y="1051560"/>
            <a:ext cx="561441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70/30 DRAWDOWN vs JENNY'S -15% LIMIT</a:t>
            </a:r>
            <a:endParaRPr lang="en-AU" sz="1000" dirty="0"/>
          </a:p>
        </p:txBody>
      </p:sp>
      <p:graphicFrame>
        <p:nvGraphicFramePr>
          <p:cNvPr id="83" name="Chart 82"/>
          <p:cNvGraphicFramePr>
            <a:graphicFrameLocks noGrp="1"/>
          </p:cNvGraphicFramePr>
          <p:nvPr/>
        </p:nvGraphicFramePr>
        <p:xfrm>
          <a:off x="6227064" y="1389888"/>
          <a:ext cx="5522976" cy="2596896"/>
        </p:xfrm>
        <a:graphic>
          <a:graphicData uri="http://schemas.openxmlformats.org/drawingml/2006/chart">
            <c:chart xmlns:c="http://schemas.openxmlformats.org/drawingml/2006/chart" r:id="rId3"/>
          </a:graphicData>
        </a:graphic>
      </p:graphicFrame>
      <p:sp>
        <p:nvSpPr>
          <p:cNvPr id="84" name="Chart source"/>
          <p:cNvSpPr txBox="1"/>
          <p:nvPr/>
        </p:nvSpPr>
        <p:spPr>
          <a:xfrm>
            <a:off x="6272784" y="4005072"/>
            <a:ext cx="543153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monthly</a:t>
            </a:r>
            <a:endParaRPr lang="en-AU" sz="800" dirty="0"/>
          </a:p>
        </p:txBody>
      </p:sp>
      <p:sp>
        <p:nvSpPr>
          <p:cNvPr id="8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18</a:t>
            </a:r>
            <a:endParaRPr lang="en-AU" sz="900" dirty="0"/>
          </a:p>
        </p:txBody>
      </p:sp>
      <p:sp>
        <p:nvSpPr>
          <p:cNvPr id="8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0" name="Nav CLIENT NEEDS">
            <a:hlinkClick action="ppaction://hlinksldjump" r:id="rId5"/>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2" name="Nav SAA">
            <a:hlinkClick action="ppaction://hlinksldjump" r:id="rId6"/>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4" name="Nav MACRO">
            <a:hlinkClick action="ppaction://hlinksldjump" r:id="rId7"/>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6" name="Nav AUSTRALIA">
            <a:hlinkClick action="ppaction://hlinksldjump" r:id="rId8"/>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8" name="Nav USA">
            <a:hlinkClick action="ppaction://hlinksldjump" r:id="rId9"/>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0" name="Nav EUROZONE">
            <a:hlinkClick action="ppaction://hlinksldjump" r:id="rId10"/>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2" name="Nav JAPAN">
            <a:hlinkClick action="ppaction://hlinksldjump" r:id="rId11"/>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4" name="Nav CHINA">
            <a:hlinkClick action="ppaction://hlinksldjump" r:id="rId12"/>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106" name="Nav EM">
            <a:hlinkClick action="ppaction://hlinksldjump" r:id="rId13"/>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108" name="Nav EQUITY">
            <a:hlinkClick action="ppaction://hlinksldjump" r:id="rId14"/>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110" name="Nav FIXED INCOME">
            <a:hlinkClick action="ppaction://hlinksldjump" r:id="rId15"/>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112" name="Nav TAA">
            <a:hlinkClick action="ppaction://hlinksldjump" r:id="rId16"/>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114" name="Nav REQUESTS">
            <a:hlinkClick action="ppaction://hlinksldjump" r:id="rId17"/>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116"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2: Integrating Sustainable Investing Principles</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Sustainability measured through index screens and certification, not ETF labels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34" name="Sustainable ETF table"/>
          <p:cNvGraphicFramePr>
            <a:graphicFrameLocks noGrp="1"/>
          </p:cNvGraphicFramePr>
          <p:nvPr/>
        </p:nvGraphicFramePr>
        <p:xfrm>
          <a:off x="4773168" y="1051560"/>
          <a:ext cx="7031736" cy="3017520"/>
        </p:xfrm>
        <a:graphic>
          <a:graphicData uri="http://schemas.openxmlformats.org/drawingml/2006/table">
            <a:tbl>
              <a:tblPr firstRow="1">
                <a:tableStyleId>{2D5ABB26-0587-4C30-8999-92F81FD0307C}</a:tableStyleId>
              </a:tblPr>
              <a:tblGrid>
                <a:gridCol w="685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2596896">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29184">
                <a:tc>
                  <a:txBody>
                    <a:bodyPr/>
                    <a:lstStyle/>
                    <a:p>
                      <a:pPr algn="l"/>
                      <a:r>
                        <a:rPr sz="950" b="1" i="0">
                          <a:solidFill>
                            <a:srgbClr val="FFFFFF"/>
                          </a:solidFill>
                          <a:latin typeface="Arial"/>
                        </a:rPr>
                        <a:t>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Category</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MER</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Bid-ask spread</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Key screens / evidence</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In portfolio</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448056">
                <a:tc>
                  <a:txBody>
                    <a:bodyPr/>
                    <a:lstStyle/>
                    <a:p>
                      <a:pPr algn="l"/>
                      <a:r>
                        <a:rPr sz="950" b="1" i="0">
                          <a:solidFill>
                            <a:srgbClr val="1A1F26"/>
                          </a:solidFill>
                          <a:latin typeface="Arial"/>
                        </a:rPr>
                        <a:t>VETH</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Australian sustainable equity</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0.16%</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0.05%</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FTSE Australia 300 Choice index, excludes fossil fuels, weapons, tobacco, gambling</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1% (SAA)</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extLst>
                  <a:ext uri="{0D108BD9-81ED-4DB2-BD59-A6C34878D82A}">
                    <a16:rowId xmlns:a16="http://schemas.microsoft.com/office/drawing/2014/main" val="10001"/>
                  </a:ext>
                </a:extLst>
              </a:tr>
              <a:tr h="448056">
                <a:tc>
                  <a:txBody>
                    <a:bodyPr/>
                    <a:lstStyle/>
                    <a:p>
                      <a:pPr algn="l"/>
                      <a:r>
                        <a:rPr sz="950" b="0" i="0">
                          <a:solidFill>
                            <a:srgbClr val="1A1F26"/>
                          </a:solidFill>
                          <a:latin typeface="Arial"/>
                        </a:rPr>
                        <a:t>FAIR</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Australian sustainability leaders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0.49%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0.16%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Not selected, 0.5% p.a. return and -22% drawdown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2"/>
                  </a:ext>
                </a:extLst>
              </a:tr>
              <a:tr h="448056">
                <a:tc>
                  <a:txBody>
                    <a:bodyPr/>
                    <a:lstStyle/>
                    <a:p>
                      <a:pPr algn="l"/>
                      <a:r>
                        <a:rPr sz="950" b="0" i="0">
                          <a:solidFill>
                            <a:srgbClr val="1A1F26"/>
                          </a:solidFill>
                          <a:latin typeface="Arial"/>
                        </a:rPr>
                        <a:t>GRNV</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Australian sustainable equity</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0.35%</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0.07%</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Not selected, lower return and deeper drawdown than 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3"/>
                  </a:ext>
                </a:extLst>
              </a:tr>
              <a:tr h="448056">
                <a:tc>
                  <a:txBody>
                    <a:bodyPr/>
                    <a:lstStyle/>
                    <a:p>
                      <a:pPr algn="l"/>
                      <a:r>
                        <a:rPr sz="950" b="1" i="0">
                          <a:solidFill>
                            <a:srgbClr val="1A1F26"/>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International sustainable equity</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0.55%</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0.09%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MSCI ex fossil fuel SRI low-carbon index, RIAA certified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19% (SAA)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4"/>
                  </a:ext>
                </a:extLst>
              </a:tr>
              <a:tr h="448056">
                <a:tc>
                  <a:txBody>
                    <a:bodyPr/>
                    <a:lstStyle/>
                    <a:p>
                      <a:pPr algn="l"/>
                      <a:r>
                        <a:rPr sz="950" b="0" i="0">
                          <a:solidFill>
                            <a:srgbClr val="1A1F26"/>
                          </a:solidFill>
                          <a:latin typeface="Arial"/>
                        </a:rPr>
                        <a:t>ETHI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 sustainability leaders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0.59%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0.14%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Not selected, deeper drawdown than ESGI</a:t>
                      </a:r>
                    </a:p>
                    <a:p>
                      <a:pPr algn="l"/>
                      <a:r>
                        <a:rPr sz="950" b="0" i="0">
                          <a:solidFill>
                            <a:srgbClr val="1A1F26"/>
                          </a:solidFill>
                          <a:latin typeface="Arial"/>
                        </a:rPr>
                        <a:t>(-23% vs -20%)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5"/>
                  </a:ext>
                </a:extLst>
              </a:tr>
              <a:tr h="448056">
                <a:tc>
                  <a:txBody>
                    <a:bodyPr/>
                    <a:lstStyle/>
                    <a:p>
                      <a:pPr algn="l"/>
                      <a:r>
                        <a:rPr sz="950" b="1" i="0">
                          <a:solidFill>
                            <a:srgbClr val="1A1F26"/>
                          </a:solidFill>
                          <a:latin typeface="Arial"/>
                        </a:rPr>
                        <a:t>VEFI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Ethical global aggregate bonds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0.26%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0.24%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Bloomberg MSCI SRI exclusions index,</a:t>
                      </a:r>
                    </a:p>
                    <a:p>
                      <a:pPr algn="l"/>
                      <a:r>
                        <a:rPr sz="950" b="0" i="0">
                          <a:solidFill>
                            <a:srgbClr val="1A1F26"/>
                          </a:solidFill>
                          <a:latin typeface="Arial"/>
                        </a:rPr>
                        <a:t>AUD hedged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4% (TAA)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6"/>
                  </a:ext>
                </a:extLst>
              </a:tr>
            </a:tbl>
          </a:graphicData>
        </a:graphic>
      </p:graphicFrame>
      <p:sp>
        <p:nvSpPr>
          <p:cNvPr id="35" name="Card"/>
          <p:cNvSpPr/>
          <p:nvPr/>
        </p:nvSpPr>
        <p:spPr>
          <a:xfrm>
            <a:off x="384048"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36" name="Card header"/>
          <p:cNvSpPr/>
          <p:nvPr/>
        </p:nvSpPr>
        <p:spPr>
          <a:xfrm>
            <a:off x="384048" y="4251959"/>
            <a:ext cx="3685032" cy="329184"/>
          </a:xfrm>
          <a:prstGeom prst="rect">
            <a:avLst/>
          </a:prstGeom>
          <a:solidFill>
            <a:srgbClr val="0B2C48"/>
          </a:solidFill>
          <a:ln>
            <a:noFill/>
          </a:ln>
        </p:spPr>
        <p:txBody>
          <a:bodyPr rtlCol="0" anchor="ctr"/>
          <a:lstStyle/>
          <a:p>
            <a:pPr algn="ctr"/>
            <a:endParaRPr/>
          </a:p>
        </p:txBody>
      </p:sp>
      <p:sp>
        <p:nvSpPr>
          <p:cNvPr id="37" name="Card title"/>
          <p:cNvSpPr txBox="1"/>
          <p:nvPr/>
        </p:nvSpPr>
        <p:spPr>
          <a:xfrm>
            <a:off x="384048"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ALIGNMENT TEST</a:t>
            </a:r>
          </a:p>
        </p:txBody>
      </p:sp>
      <p:sp>
        <p:nvSpPr>
          <p:cNvPr id="38" name="Card body"/>
          <p:cNvSpPr txBox="1"/>
          <p:nvPr/>
        </p:nvSpPr>
        <p:spPr>
          <a:xfrm>
            <a:off x="475488"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ESGI excludes fossil fuel reserve owners, weapons, tobacco and gambling, removes the top 25% of carbon emitters and is RIAA certified.</a:t>
            </a:r>
            <a:r>
              <a:rPr sz="105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34</a:t>
            </a:r>
          </a:p>
          <a:p>
            <a:pPr marL="146304" indent="-146304" algn="l">
              <a:spcAft>
                <a:spcPts val="500"/>
              </a:spcAft>
              <a:buClr>
                <a:srgbClr val="CEA659"/>
              </a:buClr>
              <a:buFont typeface="Arial"/>
              <a:buChar char="•"/>
            </a:pPr>
            <a:r>
              <a:rPr sz="1050" b="0" i="0">
                <a:solidFill>
                  <a:srgbClr val="1A1F26"/>
                </a:solidFill>
                <a:latin typeface="Arial"/>
              </a:rPr>
              <a:t>VETH tracks the FTSE Australia 300 Choice index and excludes fossil fuels, nuclear power, weapons, tobacco and gambling.</a:t>
            </a:r>
            <a:r>
              <a:rPr sz="105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43</a:t>
            </a:r>
          </a:p>
          <a:p>
            <a:pPr marL="146304" indent="-146304" algn="l">
              <a:spcAft>
                <a:spcPts val="500"/>
              </a:spcAft>
              <a:buClr>
                <a:srgbClr val="CEA659"/>
              </a:buClr>
              <a:buFont typeface="Arial"/>
              <a:buChar char="•"/>
            </a:pPr>
            <a:r>
              <a:rPr sz="1050" b="0" i="0">
                <a:solidFill>
                  <a:srgbClr val="1A1F26"/>
                </a:solidFill>
                <a:latin typeface="Arial"/>
              </a:rPr>
              <a:t>We will confirm Jenny's own exclusions with her before investing.</a:t>
            </a:r>
          </a:p>
        </p:txBody>
      </p:sp>
      <p:sp>
        <p:nvSpPr>
          <p:cNvPr id="39" name="Card"/>
          <p:cNvSpPr/>
          <p:nvPr/>
        </p:nvSpPr>
        <p:spPr>
          <a:xfrm>
            <a:off x="4251960"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40" name="Card header"/>
          <p:cNvSpPr/>
          <p:nvPr/>
        </p:nvSpPr>
        <p:spPr>
          <a:xfrm>
            <a:off x="4251960" y="4251959"/>
            <a:ext cx="3685032" cy="329184"/>
          </a:xfrm>
          <a:prstGeom prst="rect">
            <a:avLst/>
          </a:prstGeom>
          <a:solidFill>
            <a:srgbClr val="0B2C48"/>
          </a:solidFill>
          <a:ln>
            <a:noFill/>
          </a:ln>
        </p:spPr>
        <p:txBody>
          <a:bodyPr rtlCol="0" anchor="ctr"/>
          <a:lstStyle/>
          <a:p>
            <a:pPr algn="ctr"/>
            <a:endParaRPr/>
          </a:p>
        </p:txBody>
      </p:sp>
      <p:sp>
        <p:nvSpPr>
          <p:cNvPr id="41" name="Card title"/>
          <p:cNvSpPr txBox="1"/>
          <p:nvPr/>
        </p:nvSpPr>
        <p:spPr>
          <a:xfrm>
            <a:off x="4251960"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FINANCIAL TEST</a:t>
            </a:r>
          </a:p>
        </p:txBody>
      </p:sp>
      <p:sp>
        <p:nvSpPr>
          <p:cNvPr id="42" name="Card body"/>
          <p:cNvSpPr txBox="1"/>
          <p:nvPr/>
        </p:nvSpPr>
        <p:spPr>
          <a:xfrm>
            <a:off x="4343400"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Sustainability does not override the mandate.</a:t>
            </a:r>
          </a:p>
          <a:p>
            <a:pPr marL="146304" indent="-146304" algn="l">
              <a:spcAft>
                <a:spcPts val="500"/>
              </a:spcAft>
              <a:buClr>
                <a:srgbClr val="CEA659"/>
              </a:buClr>
              <a:buFont typeface="Arial"/>
              <a:buChar char="•"/>
            </a:pPr>
            <a:r>
              <a:rPr sz="1050" b="0" i="0">
                <a:solidFill>
                  <a:srgbClr val="1A1F26"/>
                </a:solidFill>
                <a:latin typeface="Arial"/>
              </a:rPr>
              <a:t>With 20% in ESGI and VETH, the 70/30 still returned 8.9% p.a. after fees with a -12.2% maximum drawdown.</a:t>
            </a:r>
          </a:p>
          <a:p>
            <a:pPr marL="146304" indent="-146304" algn="l">
              <a:spcAft>
                <a:spcPts val="500"/>
              </a:spcAft>
              <a:buClr>
                <a:srgbClr val="CEA659"/>
              </a:buClr>
              <a:buFont typeface="Arial"/>
              <a:buChar char="•"/>
            </a:pPr>
            <a:r>
              <a:rPr sz="1050" b="0" i="0">
                <a:solidFill>
                  <a:srgbClr val="1A1F26"/>
                </a:solidFill>
                <a:latin typeface="Arial"/>
              </a:rPr>
              <a:t>ESGI returned 6.1% p.a. at a 0.55% MER and VETH 4.0% at 0.16%.</a:t>
            </a:r>
          </a:p>
        </p:txBody>
      </p:sp>
      <p:sp>
        <p:nvSpPr>
          <p:cNvPr id="43" name="Card"/>
          <p:cNvSpPr/>
          <p:nvPr/>
        </p:nvSpPr>
        <p:spPr>
          <a:xfrm>
            <a:off x="8119872"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44" name="Card header"/>
          <p:cNvSpPr/>
          <p:nvPr/>
        </p:nvSpPr>
        <p:spPr>
          <a:xfrm>
            <a:off x="8119872" y="4251959"/>
            <a:ext cx="3685032" cy="329184"/>
          </a:xfrm>
          <a:prstGeom prst="rect">
            <a:avLst/>
          </a:prstGeom>
          <a:solidFill>
            <a:srgbClr val="0B2C48"/>
          </a:solidFill>
          <a:ln>
            <a:noFill/>
          </a:ln>
        </p:spPr>
        <p:txBody>
          <a:bodyPr rtlCol="0" anchor="ctr"/>
          <a:lstStyle/>
          <a:p>
            <a:pPr algn="ctr"/>
            <a:endParaRPr/>
          </a:p>
        </p:txBody>
      </p:sp>
      <p:sp>
        <p:nvSpPr>
          <p:cNvPr id="45" name="Card title"/>
          <p:cNvSpPr txBox="1"/>
          <p:nvPr/>
        </p:nvSpPr>
        <p:spPr>
          <a:xfrm>
            <a:off x="8119872"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REPORTING TEST</a:t>
            </a:r>
          </a:p>
        </p:txBody>
      </p:sp>
      <p:sp>
        <p:nvSpPr>
          <p:cNvPr id="46" name="Card body"/>
          <p:cNvSpPr txBox="1"/>
          <p:nvPr/>
        </p:nvSpPr>
        <p:spPr>
          <a:xfrm>
            <a:off x="8211312"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Each quarter we report the sustainable weight, each fund's exclusions and its carbon intensity versus the market.</a:t>
            </a:r>
          </a:p>
          <a:p>
            <a:pPr marL="146304" indent="-146304" algn="l">
              <a:spcAft>
                <a:spcPts val="500"/>
              </a:spcAft>
              <a:buClr>
                <a:srgbClr val="CEA659"/>
              </a:buClr>
              <a:buFont typeface="Arial"/>
              <a:buChar char="•"/>
            </a:pPr>
            <a:r>
              <a:rPr sz="1050" b="0" i="0">
                <a:solidFill>
                  <a:srgbClr val="1A1F26"/>
                </a:solidFill>
                <a:latin typeface="Arial"/>
              </a:rPr>
              <a:t>Any holding that conflicts with Jenny's values is flagged and reviewed with her.</a:t>
            </a:r>
          </a:p>
        </p:txBody>
      </p:sp>
      <p:sp>
        <p:nvSpPr>
          <p:cNvPr id="47"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LSEG Workspace; VanEck, Vanguard and RIAA product disclosures.</a:t>
            </a:r>
          </a:p>
        </p:txBody>
      </p:sp>
      <p:sp>
        <p:nvSpPr>
          <p:cNvPr id="48" name="Panel"/>
          <p:cNvSpPr/>
          <p:nvPr/>
        </p:nvSpPr>
        <p:spPr>
          <a:xfrm>
            <a:off x="384048" y="1051560"/>
            <a:ext cx="4206240" cy="301752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header"/>
          <p:cNvSpPr/>
          <p:nvPr/>
        </p:nvSpPr>
        <p:spPr>
          <a:xfrm>
            <a:off x="384048" y="1051560"/>
            <a:ext cx="42062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Panel title"/>
          <p:cNvSpPr txBox="1"/>
          <p:nvPr/>
        </p:nvSpPr>
        <p:spPr>
          <a:xfrm>
            <a:off x="384048" y="1051560"/>
            <a:ext cx="420624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SUSTAINABLE SHARE OF THE 70/30 SAA</a:t>
            </a:r>
            <a:endParaRPr lang="en-AU" sz="1000" dirty="0"/>
          </a:p>
        </p:txBody>
      </p:sp>
      <p:graphicFrame>
        <p:nvGraphicFramePr>
          <p:cNvPr id="51" name="Chart 50"/>
          <p:cNvGraphicFramePr>
            <a:graphicFrameLocks noGrp="1"/>
          </p:cNvGraphicFramePr>
          <p:nvPr/>
        </p:nvGraphicFramePr>
        <p:xfrm>
          <a:off x="429768" y="1389888"/>
          <a:ext cx="4114800" cy="2459736"/>
        </p:xfrm>
        <a:graphic>
          <a:graphicData uri="http://schemas.openxmlformats.org/drawingml/2006/chart">
            <c:chart xmlns:c="http://schemas.openxmlformats.org/drawingml/2006/chart" r:id="rId2"/>
          </a:graphicData>
        </a:graphic>
      </p:graphicFrame>
      <p:sp>
        <p:nvSpPr>
          <p:cNvPr id="52" name="Chart source"/>
          <p:cNvSpPr txBox="1"/>
          <p:nvPr/>
        </p:nvSpPr>
        <p:spPr>
          <a:xfrm>
            <a:off x="475488" y="3867912"/>
            <a:ext cx="402336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RIAA; Vanguard</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19</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5"/>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6"/>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7"/>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8"/>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9"/>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10"/>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1"/>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2"/>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3"/>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4"/>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5"/>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80" name="Nav TAA">
            <a:hlinkClick action="ppaction://hlinksldjump" r:id="rId16"/>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2" name="Nav REQUESTS">
            <a:hlinkClick action="ppaction://hlinksldjump" r:id="rId17"/>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4"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3: Strict Zero-Leverage Policy</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Liquidity and defensive assets protect capital without borrowing</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34" name="Card"/>
          <p:cNvSpPr/>
          <p:nvPr/>
        </p:nvSpPr>
        <p:spPr>
          <a:xfrm>
            <a:off x="5687568" y="1051560"/>
            <a:ext cx="6117336" cy="1575816"/>
          </a:xfrm>
          <a:prstGeom prst="rect">
            <a:avLst/>
          </a:prstGeom>
          <a:solidFill>
            <a:srgbClr val="F6F8FA"/>
          </a:solidFill>
          <a:ln w="8890">
            <a:solidFill>
              <a:srgbClr val="CDBA8C"/>
            </a:solidFill>
          </a:ln>
        </p:spPr>
        <p:txBody>
          <a:bodyPr rtlCol="0" anchor="ctr"/>
          <a:lstStyle/>
          <a:p>
            <a:pPr algn="ctr"/>
            <a:endParaRPr/>
          </a:p>
        </p:txBody>
      </p:sp>
      <p:sp>
        <p:nvSpPr>
          <p:cNvPr id="35" name="Card header"/>
          <p:cNvSpPr/>
          <p:nvPr/>
        </p:nvSpPr>
        <p:spPr>
          <a:xfrm>
            <a:off x="5687568" y="1051560"/>
            <a:ext cx="6117336" cy="329184"/>
          </a:xfrm>
          <a:prstGeom prst="rect">
            <a:avLst/>
          </a:prstGeom>
          <a:solidFill>
            <a:srgbClr val="0B2C48"/>
          </a:solidFill>
          <a:ln>
            <a:noFill/>
          </a:ln>
        </p:spPr>
        <p:txBody>
          <a:bodyPr rtlCol="0" anchor="ctr"/>
          <a:lstStyle/>
          <a:p>
            <a:pPr algn="ctr"/>
            <a:endParaRPr/>
          </a:p>
        </p:txBody>
      </p:sp>
      <p:sp>
        <p:nvSpPr>
          <p:cNvPr id="36" name="Card title"/>
          <p:cNvSpPr txBox="1"/>
          <p:nvPr/>
        </p:nvSpPr>
        <p:spPr>
          <a:xfrm>
            <a:off x="5687568" y="1051560"/>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ZERO-LEVERAGE RULE</a:t>
            </a:r>
          </a:p>
        </p:txBody>
      </p:sp>
      <p:sp>
        <p:nvSpPr>
          <p:cNvPr id="37" name="Card body"/>
          <p:cNvSpPr txBox="1"/>
          <p:nvPr/>
        </p:nvSpPr>
        <p:spPr>
          <a:xfrm>
            <a:off x="5779007" y="1472184"/>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All 9 ETFs are unleveraged ASX-listed funds, and GOLD holds physical bullion.</a:t>
            </a:r>
          </a:p>
          <a:p>
            <a:pPr marL="146304" indent="-146304" algn="l">
              <a:spcAft>
                <a:spcPts val="600"/>
              </a:spcAft>
              <a:buClr>
                <a:srgbClr val="CEA659"/>
              </a:buClr>
              <a:buFont typeface="Arial"/>
              <a:buChar char="•"/>
            </a:pPr>
            <a:r>
              <a:rPr sz="1100" b="0" i="0">
                <a:solidFill>
                  <a:srgbClr val="1A1F26"/>
                </a:solidFill>
                <a:latin typeface="Arial"/>
              </a:rPr>
              <a:t>Geared, short and synthetic products are excluded, which is why OOO was rejected.</a:t>
            </a:r>
          </a:p>
          <a:p>
            <a:pPr marL="146304" indent="-146304" algn="l">
              <a:spcAft>
                <a:spcPts val="600"/>
              </a:spcAft>
              <a:buClr>
                <a:srgbClr val="CEA659"/>
              </a:buClr>
              <a:buFont typeface="Arial"/>
              <a:buChar char="•"/>
            </a:pPr>
            <a:r>
              <a:rPr sz="1100" b="0" i="0">
                <a:solidFill>
                  <a:srgbClr val="1A1F26"/>
                </a:solidFill>
                <a:latin typeface="Arial"/>
              </a:rPr>
              <a:t>Weights sum to exactly 100% with no borrowing or margin.</a:t>
            </a:r>
          </a:p>
        </p:txBody>
      </p:sp>
      <p:sp>
        <p:nvSpPr>
          <p:cNvPr id="38" name="Card"/>
          <p:cNvSpPr/>
          <p:nvPr/>
        </p:nvSpPr>
        <p:spPr>
          <a:xfrm>
            <a:off x="5687568" y="2810256"/>
            <a:ext cx="6117336" cy="1575816"/>
          </a:xfrm>
          <a:prstGeom prst="rect">
            <a:avLst/>
          </a:prstGeom>
          <a:solidFill>
            <a:srgbClr val="F6F8FA"/>
          </a:solidFill>
          <a:ln w="8890">
            <a:solidFill>
              <a:srgbClr val="CDBA8C"/>
            </a:solidFill>
          </a:ln>
        </p:spPr>
        <p:txBody>
          <a:bodyPr rtlCol="0" anchor="ctr"/>
          <a:lstStyle/>
          <a:p>
            <a:pPr algn="ctr"/>
            <a:endParaRPr/>
          </a:p>
        </p:txBody>
      </p:sp>
      <p:sp>
        <p:nvSpPr>
          <p:cNvPr id="39" name="Card header"/>
          <p:cNvSpPr/>
          <p:nvPr/>
        </p:nvSpPr>
        <p:spPr>
          <a:xfrm>
            <a:off x="5687568" y="2810256"/>
            <a:ext cx="6117336" cy="329184"/>
          </a:xfrm>
          <a:prstGeom prst="rect">
            <a:avLst/>
          </a:prstGeom>
          <a:solidFill>
            <a:srgbClr val="0B2C48"/>
          </a:solidFill>
          <a:ln>
            <a:noFill/>
          </a:ln>
        </p:spPr>
        <p:txBody>
          <a:bodyPr rtlCol="0" anchor="ctr"/>
          <a:lstStyle/>
          <a:p>
            <a:pPr algn="ctr"/>
            <a:endParaRPr/>
          </a:p>
        </p:txBody>
      </p:sp>
      <p:sp>
        <p:nvSpPr>
          <p:cNvPr id="40" name="Card title"/>
          <p:cNvSpPr txBox="1"/>
          <p:nvPr/>
        </p:nvSpPr>
        <p:spPr>
          <a:xfrm>
            <a:off x="5687568" y="2810256"/>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LIQUIDITY &amp; EXECUTION</a:t>
            </a:r>
          </a:p>
        </p:txBody>
      </p:sp>
      <p:sp>
        <p:nvSpPr>
          <p:cNvPr id="41" name="Card body"/>
          <p:cNvSpPr txBox="1"/>
          <p:nvPr/>
        </p:nvSpPr>
        <p:spPr>
          <a:xfrm>
            <a:off x="5779007" y="3230880"/>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21% sits in cash (BILL), which can be sold on the ASX the same day.</a:t>
            </a:r>
          </a:p>
          <a:p>
            <a:pPr marL="146304" indent="-146304" algn="l">
              <a:spcAft>
                <a:spcPts val="600"/>
              </a:spcAft>
              <a:buClr>
                <a:srgbClr val="CEA659"/>
              </a:buClr>
              <a:buFont typeface="Arial"/>
              <a:buChar char="•"/>
            </a:pPr>
            <a:r>
              <a:rPr sz="1100" b="0" i="0">
                <a:solidFill>
                  <a:srgbClr val="1A1F26"/>
                </a:solidFill>
                <a:latin typeface="Arial"/>
              </a:rPr>
              <a:t>Every holding trades daily on the ASX, so scholarship payments and rebalancing never require forced selling.</a:t>
            </a:r>
          </a:p>
        </p:txBody>
      </p:sp>
      <p:sp>
        <p:nvSpPr>
          <p:cNvPr id="42" name="Card"/>
          <p:cNvSpPr/>
          <p:nvPr/>
        </p:nvSpPr>
        <p:spPr>
          <a:xfrm>
            <a:off x="5687568" y="4568951"/>
            <a:ext cx="6117336" cy="1575816"/>
          </a:xfrm>
          <a:prstGeom prst="rect">
            <a:avLst/>
          </a:prstGeom>
          <a:solidFill>
            <a:srgbClr val="F6F8FA"/>
          </a:solidFill>
          <a:ln w="8890">
            <a:solidFill>
              <a:srgbClr val="CDBA8C"/>
            </a:solidFill>
          </a:ln>
        </p:spPr>
        <p:txBody>
          <a:bodyPr rtlCol="0" anchor="ctr"/>
          <a:lstStyle/>
          <a:p>
            <a:pPr algn="ctr"/>
            <a:endParaRPr/>
          </a:p>
        </p:txBody>
      </p:sp>
      <p:sp>
        <p:nvSpPr>
          <p:cNvPr id="43" name="Card header"/>
          <p:cNvSpPr/>
          <p:nvPr/>
        </p:nvSpPr>
        <p:spPr>
          <a:xfrm>
            <a:off x="5687568" y="4568951"/>
            <a:ext cx="6117336" cy="329184"/>
          </a:xfrm>
          <a:prstGeom prst="rect">
            <a:avLst/>
          </a:prstGeom>
          <a:solidFill>
            <a:srgbClr val="0B2C48"/>
          </a:solidFill>
          <a:ln>
            <a:noFill/>
          </a:ln>
        </p:spPr>
        <p:txBody>
          <a:bodyPr rtlCol="0" anchor="ctr"/>
          <a:lstStyle/>
          <a:p>
            <a:pPr algn="ctr"/>
            <a:endParaRPr/>
          </a:p>
        </p:txBody>
      </p:sp>
      <p:sp>
        <p:nvSpPr>
          <p:cNvPr id="44" name="Card title"/>
          <p:cNvSpPr txBox="1"/>
          <p:nvPr/>
        </p:nvSpPr>
        <p:spPr>
          <a:xfrm>
            <a:off x="5687568" y="4568951"/>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DEFENSIVE CAPACITY</a:t>
            </a:r>
          </a:p>
        </p:txBody>
      </p:sp>
      <p:sp>
        <p:nvSpPr>
          <p:cNvPr id="45" name="Card body"/>
          <p:cNvSpPr txBox="1"/>
          <p:nvPr/>
        </p:nvSpPr>
        <p:spPr>
          <a:xfrm>
            <a:off x="5779007" y="4989575"/>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Cash, gold and bonds make up 30% of the portfolio (cash 21%, gold 8%, bonds 1%).</a:t>
            </a:r>
          </a:p>
          <a:p>
            <a:pPr marL="146304" indent="-146304" algn="l">
              <a:spcAft>
                <a:spcPts val="600"/>
              </a:spcAft>
              <a:buClr>
                <a:srgbClr val="CEA659"/>
              </a:buClr>
              <a:buFont typeface="Arial"/>
              <a:buChar char="•"/>
            </a:pPr>
            <a:r>
              <a:rPr sz="1100" b="0" i="0">
                <a:solidFill>
                  <a:srgbClr val="1A1F26"/>
                </a:solidFill>
                <a:latin typeface="Arial"/>
              </a:rPr>
              <a:t>In the COVID crash BILL fell only 0.3% and gold 12%, while the ASX 200 fell 36.5%.</a:t>
            </a:r>
          </a:p>
          <a:p>
            <a:pPr marL="146304" indent="-146304" algn="l">
              <a:spcAft>
                <a:spcPts val="600"/>
              </a:spcAft>
              <a:buClr>
                <a:srgbClr val="CEA659"/>
              </a:buClr>
              <a:buFont typeface="Arial"/>
              <a:buChar char="•"/>
            </a:pPr>
            <a:r>
              <a:rPr sz="1100" b="0" i="0">
                <a:solidFill>
                  <a:srgbClr val="1A1F26"/>
                </a:solidFill>
                <a:latin typeface="Arial"/>
              </a:rPr>
              <a:t>That cushion held the 70/30's COVID fall to 17.6%, half the ASX 200's, and a -10% trigger moves us toward the 60/40.</a:t>
            </a:r>
          </a:p>
        </p:txBody>
      </p:sp>
      <p:sp>
        <p:nvSpPr>
          <p:cNvPr id="46"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(70/30 weights); LSEG Workspace daily closes for the COVID crash.</a:t>
            </a:r>
          </a:p>
        </p:txBody>
      </p:sp>
      <p:sp>
        <p:nvSpPr>
          <p:cNvPr id="47" name="Panel"/>
          <p:cNvSpPr/>
          <p:nvPr/>
        </p:nvSpPr>
        <p:spPr>
          <a:xfrm>
            <a:off x="384048" y="1051560"/>
            <a:ext cx="5120640" cy="509320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Panel header"/>
          <p:cNvSpPr/>
          <p:nvPr/>
        </p:nvSpPr>
        <p:spPr>
          <a:xfrm>
            <a:off x="384048" y="1051560"/>
            <a:ext cx="51206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title"/>
          <p:cNvSpPr txBox="1"/>
          <p:nvPr/>
        </p:nvSpPr>
        <p:spPr>
          <a:xfrm>
            <a:off x="384048" y="1051560"/>
            <a:ext cx="512064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70/30 SAA BY ASSET CLASS</a:t>
            </a:r>
            <a:endParaRPr lang="en-AU" sz="1000" dirty="0"/>
          </a:p>
        </p:txBody>
      </p:sp>
      <p:graphicFrame>
        <p:nvGraphicFramePr>
          <p:cNvPr id="50" name="Chart 49"/>
          <p:cNvGraphicFramePr>
            <a:graphicFrameLocks noGrp="1"/>
          </p:cNvGraphicFramePr>
          <p:nvPr/>
        </p:nvGraphicFramePr>
        <p:xfrm>
          <a:off x="429768" y="1408176"/>
          <a:ext cx="5029200" cy="4507992"/>
        </p:xfrm>
        <a:graphic>
          <a:graphicData uri="http://schemas.openxmlformats.org/drawingml/2006/chart">
            <c:chart xmlns:c="http://schemas.openxmlformats.org/drawingml/2006/chart" r:id="rId2"/>
          </a:graphicData>
        </a:graphic>
      </p:graphicFrame>
      <p:sp>
        <p:nvSpPr>
          <p:cNvPr id="51"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20</a:t>
            </a:r>
            <a:endParaRPr lang="en-AU" sz="900" dirty="0"/>
          </a:p>
        </p:txBody>
      </p:sp>
      <p:sp>
        <p:nvSpPr>
          <p:cNvPr id="52"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6" name="Nav CLIENT NEEDS">
            <a:hlinkClick action="ppaction://hlinksldjump" r:id="rId4"/>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58" name="Nav SAA">
            <a:hlinkClick action="ppaction://hlinksldjump" r:id="rId5"/>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0" name="Nav MACRO">
            <a:hlinkClick action="ppaction://hlinksldjump" r:id="rId6"/>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2" name="Nav AUSTRALIA">
            <a:hlinkClick action="ppaction://hlinksldjump" r:id="rId7"/>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4" name="Nav USA">
            <a:hlinkClick action="ppaction://hlinksldjump" r:id="rId8"/>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6" name="Nav EUROZONE">
            <a:hlinkClick action="ppaction://hlinksldjump" r:id="rId9"/>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68" name="Nav JAPAN">
            <a:hlinkClick action="ppaction://hlinksldjump" r:id="rId10"/>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0" name="Nav CHINA">
            <a:hlinkClick action="ppaction://hlinksldjump" r:id="rId11"/>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2" name="Nav EM">
            <a:hlinkClick action="ppaction://hlinksldjump" r:id="rId12"/>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4" name="Nav EQUITY">
            <a:hlinkClick action="ppaction://hlinksldjump" r:id="rId13"/>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6" name="Nav FIXED INCOME">
            <a:hlinkClick action="ppaction://hlinksldjump" r:id="rId14"/>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78" name="Nav TAA">
            <a:hlinkClick action="ppaction://hlinksldjump" r:id="rId15"/>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0" name="Nav REQUESTS">
            <a:hlinkClick action="ppaction://hlinksldjump" r:id="rId16"/>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2"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4 &amp; 5: Strict Portfolio Guardrails</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ASX-listed implementation with diversified regional and asset-class exposure</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34" name="Guardrail table"/>
          <p:cNvGraphicFramePr>
            <a:graphicFrameLocks noGrp="1"/>
          </p:cNvGraphicFramePr>
          <p:nvPr/>
        </p:nvGraphicFramePr>
        <p:xfrm>
          <a:off x="5504688" y="1051560"/>
          <a:ext cx="6300216" cy="3108960"/>
        </p:xfrm>
        <a:graphic>
          <a:graphicData uri="http://schemas.openxmlformats.org/drawingml/2006/table">
            <a:tbl>
              <a:tblPr firstRow="1">
                <a:tableStyleId>{2D5ABB26-0587-4C30-8999-92F81FD0307C}</a:tableStyleId>
              </a:tblPr>
              <a:tblGrid>
                <a:gridCol w="822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96696">
                  <a:extLst>
                    <a:ext uri="{9D8B030D-6E8A-4147-A177-3AD203B41FA5}">
                      <a16:colId xmlns:a16="http://schemas.microsoft.com/office/drawing/2014/main" val="20005"/>
                    </a:ext>
                  </a:extLst>
                </a:gridCol>
              </a:tblGrid>
              <a:tr h="329184">
                <a:tc>
                  <a:txBody>
                    <a:bodyPr/>
                    <a:lstStyle/>
                    <a:p>
                      <a:pPr algn="l"/>
                      <a:r>
                        <a:rPr sz="950" b="1" i="0">
                          <a:solidFill>
                            <a:srgbClr val="FFFFFF"/>
                          </a:solidFill>
                          <a:latin typeface="Arial"/>
                        </a:rPr>
                        <a:t>Final 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Asset class</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Region</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ASX listed</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Weight</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Within cap</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308864">
                <a:tc>
                  <a:txBody>
                    <a:bodyPr/>
                    <a:lstStyle/>
                    <a:p>
                      <a:pPr algn="l"/>
                      <a:r>
                        <a:rPr sz="950" b="1" i="0">
                          <a:solidFill>
                            <a:srgbClr val="1A1F26"/>
                          </a:solidFill>
                          <a:latin typeface="Arial"/>
                        </a:rPr>
                        <a:t>SPY</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United States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r"/>
                      <a:r>
                        <a:rPr sz="950" b="0" i="0">
                          <a:solidFill>
                            <a:srgbClr val="1A1F26"/>
                          </a:solidFill>
                          <a:latin typeface="Arial"/>
                        </a:rPr>
                        <a:t>29.0%</a:t>
                      </a:r>
                    </a:p>
                  </a:txBody>
                  <a:tcPr marL="54864" marR="286151"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extLst>
                  <a:ext uri="{0D108BD9-81ED-4DB2-BD59-A6C34878D82A}">
                    <a16:rowId xmlns:a16="http://schemas.microsoft.com/office/drawing/2014/main" val="10001"/>
                  </a:ext>
                </a:extLst>
              </a:tr>
              <a:tr h="308864">
                <a:tc>
                  <a:txBody>
                    <a:bodyPr/>
                    <a:lstStyle/>
                    <a:p>
                      <a:pPr algn="l"/>
                      <a:r>
                        <a:rPr sz="950" b="1" i="0">
                          <a:solidFill>
                            <a:srgbClr val="1A1F26"/>
                          </a:solidFill>
                          <a:latin typeface="Arial"/>
                        </a:rPr>
                        <a:t>BILL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Cash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21.0%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2"/>
                  </a:ext>
                </a:extLst>
              </a:tr>
              <a:tr h="308864">
                <a:tc>
                  <a:txBody>
                    <a:bodyPr/>
                    <a:lstStyle/>
                    <a:p>
                      <a:pPr algn="l"/>
                      <a:r>
                        <a:rPr sz="950" b="1" i="0">
                          <a:solidFill>
                            <a:srgbClr val="1A1F26"/>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19.0%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3"/>
                  </a:ext>
                </a:extLst>
              </a:tr>
              <a:tr h="308864">
                <a:tc>
                  <a:txBody>
                    <a:bodyPr/>
                    <a:lstStyle/>
                    <a:p>
                      <a:pPr algn="l"/>
                      <a:r>
                        <a:rPr sz="950" b="1" i="0">
                          <a:solidFill>
                            <a:srgbClr val="1A1F26"/>
                          </a:solidFill>
                          <a:latin typeface="Arial"/>
                        </a:rPr>
                        <a:t>HJPN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Japan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16.6%</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4"/>
                  </a:ext>
                </a:extLst>
              </a:tr>
              <a:tr h="308864">
                <a:tc>
                  <a:txBody>
                    <a:bodyPr/>
                    <a:lstStyle/>
                    <a:p>
                      <a:pPr algn="l"/>
                      <a:r>
                        <a:rPr sz="950" b="1" i="0">
                          <a:solidFill>
                            <a:srgbClr val="1A1F26"/>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8.0%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5"/>
                  </a:ext>
                </a:extLst>
              </a:tr>
              <a:tr h="308864">
                <a:tc>
                  <a:txBody>
                    <a:bodyPr/>
                    <a:lstStyle/>
                    <a:p>
                      <a:pPr algn="l"/>
                      <a:r>
                        <a:rPr sz="950" b="1" i="0">
                          <a:solidFill>
                            <a:srgbClr val="1A1F26"/>
                          </a:solidFill>
                          <a:latin typeface="Arial"/>
                        </a:rPr>
                        <a:t>VBLD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Infrastructure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3.4%</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6"/>
                  </a:ext>
                </a:extLst>
              </a:tr>
              <a:tr h="308864">
                <a:tc>
                  <a:txBody>
                    <a:bodyPr/>
                    <a:lstStyle/>
                    <a:p>
                      <a:pPr algn="l"/>
                      <a:r>
                        <a:rPr sz="950" b="1" i="0">
                          <a:solidFill>
                            <a:srgbClr val="1A1F26"/>
                          </a:solidFill>
                          <a:latin typeface="Arial"/>
                        </a:rPr>
                        <a:t>VTS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United States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7"/>
                  </a:ext>
                </a:extLst>
              </a:tr>
              <a:tr h="308864">
                <a:tc>
                  <a:txBody>
                    <a:bodyPr/>
                    <a:lstStyle/>
                    <a:p>
                      <a:pPr algn="l"/>
                      <a:r>
                        <a:rPr sz="950" b="1" i="0">
                          <a:solidFill>
                            <a:srgbClr val="1A1F26"/>
                          </a:solidFill>
                          <a:latin typeface="Arial"/>
                        </a:rPr>
                        <a:t>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8"/>
                  </a:ext>
                </a:extLst>
              </a:tr>
              <a:tr h="308864">
                <a:tc>
                  <a:txBody>
                    <a:bodyPr/>
                    <a:lstStyle/>
                    <a:p>
                      <a:pPr algn="l"/>
                      <a:r>
                        <a:rPr sz="950" b="1" i="0">
                          <a:solidFill>
                            <a:srgbClr val="1A1F26"/>
                          </a:solidFill>
                          <a:latin typeface="Arial"/>
                        </a:rPr>
                        <a:t>VACF</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Bonds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9"/>
                  </a:ext>
                </a:extLst>
              </a:tr>
            </a:tbl>
          </a:graphicData>
        </a:graphic>
      </p:graphicFrame>
      <p:sp>
        <p:nvSpPr>
          <p:cNvPr id="35" name="Card"/>
          <p:cNvSpPr/>
          <p:nvPr/>
        </p:nvSpPr>
        <p:spPr>
          <a:xfrm>
            <a:off x="384048"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36" name="Card header"/>
          <p:cNvSpPr/>
          <p:nvPr/>
        </p:nvSpPr>
        <p:spPr>
          <a:xfrm>
            <a:off x="384048" y="4343400"/>
            <a:ext cx="3685032" cy="329184"/>
          </a:xfrm>
          <a:prstGeom prst="rect">
            <a:avLst/>
          </a:prstGeom>
          <a:solidFill>
            <a:srgbClr val="0B2C48"/>
          </a:solidFill>
          <a:ln>
            <a:noFill/>
          </a:ln>
        </p:spPr>
        <p:txBody>
          <a:bodyPr rtlCol="0" anchor="ctr"/>
          <a:lstStyle/>
          <a:p>
            <a:pPr algn="ctr"/>
            <a:endParaRPr/>
          </a:p>
        </p:txBody>
      </p:sp>
      <p:sp>
        <p:nvSpPr>
          <p:cNvPr id="37" name="Card title"/>
          <p:cNvSpPr txBox="1"/>
          <p:nvPr/>
        </p:nvSpPr>
        <p:spPr>
          <a:xfrm>
            <a:off x="384048"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REGIONAL DIVERSIFICATION</a:t>
            </a:r>
          </a:p>
        </p:txBody>
      </p:sp>
      <p:sp>
        <p:nvSpPr>
          <p:cNvPr id="38" name="Card body"/>
          <p:cNvSpPr txBox="1"/>
          <p:nvPr/>
        </p:nvSpPr>
        <p:spPr>
          <a:xfrm>
            <a:off x="475488"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Four regions. United States 30%, Global 30.4% (across three asset classes), Australia 23% and Japan 16.6%.</a:t>
            </a:r>
          </a:p>
          <a:p>
            <a:pPr marL="146304" indent="-146304" algn="l">
              <a:spcAft>
                <a:spcPts val="500"/>
              </a:spcAft>
              <a:buClr>
                <a:srgbClr val="CEA659"/>
              </a:buClr>
              <a:buFont typeface="Arial"/>
              <a:buChar char="•"/>
            </a:pPr>
            <a:r>
              <a:rPr sz="1100" b="0" i="0">
                <a:solidFill>
                  <a:srgbClr val="1A1F26"/>
                </a:solidFill>
                <a:latin typeface="Arial"/>
              </a:rPr>
              <a:t>No asset class in any region exceeds 30% and no single ETF exceeds 29%.</a:t>
            </a:r>
          </a:p>
        </p:txBody>
      </p:sp>
      <p:sp>
        <p:nvSpPr>
          <p:cNvPr id="39" name="Card"/>
          <p:cNvSpPr/>
          <p:nvPr/>
        </p:nvSpPr>
        <p:spPr>
          <a:xfrm>
            <a:off x="4251960"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40" name="Card header"/>
          <p:cNvSpPr/>
          <p:nvPr/>
        </p:nvSpPr>
        <p:spPr>
          <a:xfrm>
            <a:off x="4251960" y="4343400"/>
            <a:ext cx="3685032" cy="329184"/>
          </a:xfrm>
          <a:prstGeom prst="rect">
            <a:avLst/>
          </a:prstGeom>
          <a:solidFill>
            <a:srgbClr val="0B2C48"/>
          </a:solidFill>
          <a:ln>
            <a:noFill/>
          </a:ln>
        </p:spPr>
        <p:txBody>
          <a:bodyPr rtlCol="0" anchor="ctr"/>
          <a:lstStyle/>
          <a:p>
            <a:pPr algn="ctr"/>
            <a:endParaRPr/>
          </a:p>
        </p:txBody>
      </p:sp>
      <p:sp>
        <p:nvSpPr>
          <p:cNvPr id="41" name="Card title"/>
          <p:cNvSpPr txBox="1"/>
          <p:nvPr/>
        </p:nvSpPr>
        <p:spPr>
          <a:xfrm>
            <a:off x="4251960"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ASX COMPLIANCE</a:t>
            </a:r>
          </a:p>
        </p:txBody>
      </p:sp>
      <p:sp>
        <p:nvSpPr>
          <p:cNvPr id="42" name="Card body"/>
          <p:cNvSpPr txBox="1"/>
          <p:nvPr/>
        </p:nvSpPr>
        <p:spPr>
          <a:xfrm>
            <a:off x="4343400"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All 9 ETFs are listed on the ASX.</a:t>
            </a:r>
          </a:p>
          <a:p>
            <a:pPr marL="146304" indent="-146304" algn="l">
              <a:spcAft>
                <a:spcPts val="500"/>
              </a:spcAft>
              <a:buClr>
                <a:srgbClr val="CEA659"/>
              </a:buClr>
              <a:buFont typeface="Arial"/>
              <a:buChar char="•"/>
            </a:pPr>
            <a:r>
              <a:rPr sz="1100" b="0" i="0">
                <a:solidFill>
                  <a:srgbClr val="1A1F26"/>
                </a:solidFill>
                <a:latin typeface="Arial"/>
              </a:rPr>
              <a:t>No unlisted funds, derivatives or direct offshore holdings.</a:t>
            </a:r>
          </a:p>
        </p:txBody>
      </p:sp>
      <p:sp>
        <p:nvSpPr>
          <p:cNvPr id="43" name="Card"/>
          <p:cNvSpPr/>
          <p:nvPr/>
        </p:nvSpPr>
        <p:spPr>
          <a:xfrm>
            <a:off x="8119872"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44" name="Card header"/>
          <p:cNvSpPr/>
          <p:nvPr/>
        </p:nvSpPr>
        <p:spPr>
          <a:xfrm>
            <a:off x="8119872" y="4343400"/>
            <a:ext cx="3685032" cy="329184"/>
          </a:xfrm>
          <a:prstGeom prst="rect">
            <a:avLst/>
          </a:prstGeom>
          <a:solidFill>
            <a:srgbClr val="0B2C48"/>
          </a:solidFill>
          <a:ln>
            <a:noFill/>
          </a:ln>
        </p:spPr>
        <p:txBody>
          <a:bodyPr rtlCol="0" anchor="ctr"/>
          <a:lstStyle/>
          <a:p>
            <a:pPr algn="ctr"/>
            <a:endParaRPr/>
          </a:p>
        </p:txBody>
      </p:sp>
      <p:sp>
        <p:nvSpPr>
          <p:cNvPr id="45" name="Card title"/>
          <p:cNvSpPr txBox="1"/>
          <p:nvPr/>
        </p:nvSpPr>
        <p:spPr>
          <a:xfrm>
            <a:off x="8119872"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REBALANCING RULE</a:t>
            </a:r>
          </a:p>
        </p:txBody>
      </p:sp>
      <p:sp>
        <p:nvSpPr>
          <p:cNvPr id="46" name="Card body"/>
          <p:cNvSpPr txBox="1"/>
          <p:nvPr/>
        </p:nvSpPr>
        <p:spPr>
          <a:xfrm>
            <a:off x="8211312"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Quarterly review back to policy weights.</a:t>
            </a:r>
          </a:p>
          <a:p>
            <a:pPr marL="146304" indent="-146304" algn="l">
              <a:spcAft>
                <a:spcPts val="500"/>
              </a:spcAft>
              <a:buClr>
                <a:srgbClr val="CEA659"/>
              </a:buClr>
              <a:buFont typeface="Arial"/>
              <a:buChar char="•"/>
            </a:pPr>
            <a:r>
              <a:rPr sz="1100" b="0" i="0">
                <a:solidFill>
                  <a:srgbClr val="1A1F26"/>
                </a:solidFill>
                <a:latin typeface="Arial"/>
              </a:rPr>
              <a:t>Immediate rebalance if any asset class nears 30% or the portfolio falls 10% from its peak.</a:t>
            </a:r>
          </a:p>
        </p:txBody>
      </p:sp>
      <p:sp>
        <p:nvSpPr>
          <p:cNvPr id="47"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(70/30 weights).</a:t>
            </a:r>
          </a:p>
        </p:txBody>
      </p:sp>
      <p:sp>
        <p:nvSpPr>
          <p:cNvPr id="48" name="Panel"/>
          <p:cNvSpPr/>
          <p:nvPr/>
        </p:nvSpPr>
        <p:spPr>
          <a:xfrm>
            <a:off x="384048" y="1051560"/>
            <a:ext cx="4937760" cy="31089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header"/>
          <p:cNvSpPr/>
          <p:nvPr/>
        </p:nvSpPr>
        <p:spPr>
          <a:xfrm>
            <a:off x="384048" y="1051560"/>
            <a:ext cx="493776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Panel title"/>
          <p:cNvSpPr txBox="1"/>
          <p:nvPr/>
        </p:nvSpPr>
        <p:spPr>
          <a:xfrm>
            <a:off x="384048" y="1051560"/>
            <a:ext cx="493776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EXPOSURE BY ASSET CLASS AND REGION vs 30% CAP</a:t>
            </a:r>
            <a:endParaRPr lang="en-AU" sz="1000" dirty="0"/>
          </a:p>
        </p:txBody>
      </p:sp>
      <p:graphicFrame>
        <p:nvGraphicFramePr>
          <p:cNvPr id="51" name="Chart 50"/>
          <p:cNvGraphicFramePr>
            <a:graphicFrameLocks noGrp="1"/>
          </p:cNvGraphicFramePr>
          <p:nvPr/>
        </p:nvGraphicFramePr>
        <p:xfrm>
          <a:off x="429768" y="1389888"/>
          <a:ext cx="4846320" cy="2551176"/>
        </p:xfrm>
        <a:graphic>
          <a:graphicData uri="http://schemas.openxmlformats.org/drawingml/2006/chart">
            <c:chart xmlns:c="http://schemas.openxmlformats.org/drawingml/2006/chart" r:id="rId2"/>
          </a:graphicData>
        </a:graphic>
      </p:graphicFrame>
      <p:sp>
        <p:nvSpPr>
          <p:cNvPr id="52" name="Chart source"/>
          <p:cNvSpPr txBox="1"/>
          <p:nvPr/>
        </p:nvSpPr>
        <p:spPr>
          <a:xfrm>
            <a:off x="475488" y="3959352"/>
            <a:ext cx="475488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(70/30 weights)</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21</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4"/>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5"/>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6"/>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7"/>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8"/>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9"/>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0"/>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1"/>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2"/>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3"/>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4"/>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80" name="Nav TAA">
            <a:hlinkClick action="ppaction://hlinksldjump" r:id="rId15"/>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2" name="Nav REQUESTS">
            <a:hlinkClick action="ppaction://hlinksldjump" r:id="rId16"/>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4"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Portfolio Breakdown: ETF Selection</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The recommended 70/30 strategic portfolio, built entirely from ASX-listed ETFs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3" name="Card"/>
          <p:cNvSpPr/>
          <p:nvPr/>
        </p:nvSpPr>
        <p:spPr>
          <a:xfrm>
            <a:off x="9070848" y="1051560"/>
            <a:ext cx="2734056" cy="2377440"/>
          </a:xfrm>
          <a:prstGeom prst="rect">
            <a:avLst/>
          </a:prstGeom>
          <a:solidFill>
            <a:srgbClr val="F6F8FA"/>
          </a:solidFill>
          <a:ln w="8890">
            <a:solidFill>
              <a:srgbClr val="CDBA8C"/>
            </a:solidFill>
          </a:ln>
        </p:spPr>
        <p:txBody>
          <a:bodyPr rtlCol="0" anchor="ctr"/>
          <a:lstStyle/>
          <a:p>
            <a:pPr algn="ctr"/>
            <a:endParaRPr/>
          </a:p>
        </p:txBody>
      </p:sp>
      <p:sp>
        <p:nvSpPr>
          <p:cNvPr id="24" name="Card header"/>
          <p:cNvSpPr/>
          <p:nvPr/>
        </p:nvSpPr>
        <p:spPr>
          <a:xfrm>
            <a:off x="9070848" y="1051560"/>
            <a:ext cx="2734056" cy="329184"/>
          </a:xfrm>
          <a:prstGeom prst="rect">
            <a:avLst/>
          </a:prstGeom>
          <a:solidFill>
            <a:srgbClr val="0B2C48"/>
          </a:solidFill>
          <a:ln>
            <a:noFill/>
          </a:ln>
        </p:spPr>
        <p:txBody>
          <a:bodyPr rtlCol="0" anchor="ctr"/>
          <a:lstStyle/>
          <a:p>
            <a:pPr algn="ctr"/>
            <a:endParaRPr/>
          </a:p>
        </p:txBody>
      </p:sp>
      <p:sp>
        <p:nvSpPr>
          <p:cNvPr id="25" name="Card title"/>
          <p:cNvSpPr txBox="1"/>
          <p:nvPr/>
        </p:nvSpPr>
        <p:spPr>
          <a:xfrm>
            <a:off x="9070848" y="1051560"/>
            <a:ext cx="2734056" cy="329184"/>
          </a:xfrm>
          <a:prstGeom prst="rect">
            <a:avLst/>
          </a:prstGeom>
          <a:noFill/>
        </p:spPr>
        <p:txBody>
          <a:bodyPr wrap="square" lIns="54864" tIns="0" rIns="54864" bIns="0" anchor="ctr">
            <a:noAutofit/>
          </a:bodyPr>
          <a:lstStyle/>
          <a:p>
            <a:pPr algn="ctr"/>
            <a:r>
              <a:rPr sz="1100" b="1" i="0">
                <a:solidFill>
                  <a:srgbClr val="FFFFFF"/>
                </a:solidFill>
                <a:latin typeface="Arial"/>
              </a:rPr>
              <a:t>SELECTION CRITERIA</a:t>
            </a:r>
          </a:p>
        </p:txBody>
      </p:sp>
      <p:graphicFrame>
        <p:nvGraphicFramePr>
          <p:cNvPr id="26" name="Checklist"/>
          <p:cNvGraphicFramePr>
            <a:graphicFrameLocks noGrp="1"/>
          </p:cNvGraphicFramePr>
          <p:nvPr/>
        </p:nvGraphicFramePr>
        <p:xfrm>
          <a:off x="9144000" y="1426463"/>
          <a:ext cx="2587752" cy="1956815"/>
        </p:xfrm>
        <a:graphic>
          <a:graphicData uri="http://schemas.openxmlformats.org/drawingml/2006/table">
            <a:tbl>
              <a:tblPr>
                <a:tableStyleId>{2D5ABB26-0587-4C30-8999-92F81FD0307C}</a:tableStyleId>
              </a:tblPr>
              <a:tblGrid>
                <a:gridCol w="219456">
                  <a:extLst>
                    <a:ext uri="{9D8B030D-6E8A-4147-A177-3AD203B41FA5}">
                      <a16:colId xmlns:a16="http://schemas.microsoft.com/office/drawing/2014/main" val="20000"/>
                    </a:ext>
                  </a:extLst>
                </a:gridCol>
                <a:gridCol w="2368296">
                  <a:extLst>
                    <a:ext uri="{9D8B030D-6E8A-4147-A177-3AD203B41FA5}">
                      <a16:colId xmlns:a16="http://schemas.microsoft.com/office/drawing/2014/main" val="20001"/>
                    </a:ext>
                  </a:extLst>
                </a:gridCol>
              </a:tblGrid>
              <a:tr h="279545">
                <a:tc>
                  <a:txBody>
                    <a:bodyPr/>
                    <a:lstStyle/>
                    <a:p>
                      <a:pPr algn="l"/>
                      <a:r>
                        <a:rPr sz="1000" b="1">
                          <a:solidFill>
                            <a:srgbClr val="CEA659"/>
                          </a:solidFill>
                          <a:latin typeface="Arial"/>
                        </a:rPr>
                        <a:t>✓</a:t>
                      </a:r>
                    </a:p>
                  </a:txBody>
                  <a:tcPr marL="18288" marR="0" marT="0" marB="0" anchor="ctr">
                    <a:lnL w="0">
                      <a:noFill/>
                    </a:lnL>
                    <a:lnR w="0">
                      <a:noFill/>
                    </a:lnR>
                    <a:lnT w="0">
                      <a:noFill/>
                    </a:lnT>
                    <a:lnB w="6350" cmpd="sng">
                      <a:solidFill>
                        <a:srgbClr val="DCE2E9"/>
                      </a:solidFill>
                    </a:lnB>
                    <a:noFill/>
                  </a:tcPr>
                </a:tc>
                <a:tc>
                  <a:txBody>
                    <a:bodyPr/>
                    <a:lstStyle/>
                    <a:p>
                      <a:pPr algn="l"/>
                      <a:r>
                        <a:rPr sz="1000" b="0">
                          <a:solidFill>
                            <a:srgbClr val="1A1F26"/>
                          </a:solidFill>
                          <a:latin typeface="Arial"/>
                        </a:rPr>
                        <a:t>Supports the SAA and TAA views</a:t>
                      </a:r>
                    </a:p>
                  </a:txBody>
                  <a:tcPr marL="36576" marR="36576" marT="0" marB="0" anchor="ctr">
                    <a:lnL w="0">
                      <a:noFill/>
                    </a:lnL>
                    <a:lnR w="0">
                      <a:noFill/>
                    </a:lnR>
                    <a:lnT w="0">
                      <a:noFill/>
                    </a:lnT>
                    <a:lnB w="6350" cmpd="sng">
                      <a:solidFill>
                        <a:srgbClr val="DCE2E9"/>
                      </a:solidFill>
                    </a:lnB>
                    <a:noFill/>
                  </a:tcPr>
                </a:tc>
                <a:extLst>
                  <a:ext uri="{0D108BD9-81ED-4DB2-BD59-A6C34878D82A}">
                    <a16:rowId xmlns:a16="http://schemas.microsoft.com/office/drawing/2014/main" val="10000"/>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ASX-listed ETF</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1"/>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Low or justified MER</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2"/>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Acceptable spread and liquidity</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3"/>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Diversification benefit</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4"/>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Sustainable where applicable</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5"/>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0">
                      <a:noFill/>
                    </a:lnB>
                    <a:noFill/>
                  </a:tcPr>
                </a:tc>
                <a:tc>
                  <a:txBody>
                    <a:bodyPr/>
                    <a:lstStyle/>
                    <a:p>
                      <a:pPr algn="l"/>
                      <a:r>
                        <a:rPr sz="1000" b="0">
                          <a:solidFill>
                            <a:srgbClr val="1A1F26"/>
                          </a:solidFill>
                          <a:latin typeface="Arial"/>
                        </a:rPr>
                        <a:t>No leverage</a:t>
                      </a:r>
                    </a:p>
                  </a:txBody>
                  <a:tcPr marL="36576" marR="36576" marT="0" marB="0" anchor="ctr">
                    <a:lnL w="0">
                      <a:noFill/>
                    </a:lnL>
                    <a:lnR w="0">
                      <a:noFill/>
                    </a:lnR>
                    <a:lnT w="6350" cmpd="sng">
                      <a:solidFill>
                        <a:srgbClr val="DCE2E9"/>
                      </a:solidFill>
                    </a:lnT>
                    <a:lnB w="0">
                      <a:noFill/>
                    </a:lnB>
                    <a:noFill/>
                  </a:tcPr>
                </a:tc>
                <a:extLst>
                  <a:ext uri="{0D108BD9-81ED-4DB2-BD59-A6C34878D82A}">
                    <a16:rowId xmlns:a16="http://schemas.microsoft.com/office/drawing/2014/main" val="10006"/>
                  </a:ext>
                </a:extLst>
              </a:tr>
            </a:tbl>
          </a:graphicData>
        </a:graphic>
      </p:graphicFrame>
      <p:sp>
        <p:nvSpPr>
          <p:cNvPr id="27" name="Card"/>
          <p:cNvSpPr/>
          <p:nvPr/>
        </p:nvSpPr>
        <p:spPr>
          <a:xfrm>
            <a:off x="9070848" y="3611880"/>
            <a:ext cx="2734056" cy="2532887"/>
          </a:xfrm>
          <a:prstGeom prst="rect">
            <a:avLst/>
          </a:prstGeom>
          <a:solidFill>
            <a:srgbClr val="F6F8FA"/>
          </a:solidFill>
          <a:ln w="8890">
            <a:solidFill>
              <a:srgbClr val="CDBA8C"/>
            </a:solidFill>
          </a:ln>
        </p:spPr>
        <p:txBody>
          <a:bodyPr rtlCol="0" anchor="ctr"/>
          <a:lstStyle/>
          <a:p>
            <a:pPr algn="ctr"/>
            <a:endParaRPr/>
          </a:p>
        </p:txBody>
      </p:sp>
      <p:sp>
        <p:nvSpPr>
          <p:cNvPr id="28" name="Card header"/>
          <p:cNvSpPr/>
          <p:nvPr/>
        </p:nvSpPr>
        <p:spPr>
          <a:xfrm>
            <a:off x="9070848" y="3611880"/>
            <a:ext cx="2734056" cy="329184"/>
          </a:xfrm>
          <a:prstGeom prst="rect">
            <a:avLst/>
          </a:prstGeom>
          <a:solidFill>
            <a:srgbClr val="0B2C48"/>
          </a:solidFill>
          <a:ln>
            <a:noFill/>
          </a:ln>
        </p:spPr>
        <p:txBody>
          <a:bodyPr rtlCol="0" anchor="ctr"/>
          <a:lstStyle/>
          <a:p>
            <a:pPr algn="ctr"/>
            <a:endParaRPr/>
          </a:p>
        </p:txBody>
      </p:sp>
      <p:sp>
        <p:nvSpPr>
          <p:cNvPr id="29" name="Card title"/>
          <p:cNvSpPr txBox="1"/>
          <p:nvPr/>
        </p:nvSpPr>
        <p:spPr>
          <a:xfrm>
            <a:off x="9070848" y="3611880"/>
            <a:ext cx="2734056" cy="329184"/>
          </a:xfrm>
          <a:prstGeom prst="rect">
            <a:avLst/>
          </a:prstGeom>
          <a:noFill/>
        </p:spPr>
        <p:txBody>
          <a:bodyPr wrap="square" lIns="54864" tIns="0" rIns="54864" bIns="0" anchor="ctr">
            <a:noAutofit/>
          </a:bodyPr>
          <a:lstStyle/>
          <a:p>
            <a:pPr algn="ctr"/>
            <a:r>
              <a:rPr sz="1100" b="1" i="0">
                <a:solidFill>
                  <a:srgbClr val="FFFFFF"/>
                </a:solidFill>
                <a:latin typeface="Arial"/>
              </a:rPr>
              <a:t>OBJECTIVES MET</a:t>
            </a:r>
          </a:p>
        </p:txBody>
      </p:sp>
      <p:graphicFrame>
        <p:nvGraphicFramePr>
          <p:cNvPr id="30" name="Checklist"/>
          <p:cNvGraphicFramePr>
            <a:graphicFrameLocks noGrp="1"/>
          </p:cNvGraphicFramePr>
          <p:nvPr/>
        </p:nvGraphicFramePr>
        <p:xfrm>
          <a:off x="9144000" y="3986784"/>
          <a:ext cx="2587752" cy="2112257"/>
        </p:xfrm>
        <a:graphic>
          <a:graphicData uri="http://schemas.openxmlformats.org/drawingml/2006/table">
            <a:tbl>
              <a:tblPr>
                <a:tableStyleId>{2D5ABB26-0587-4C30-8999-92F81FD0307C}</a:tableStyleId>
              </a:tblPr>
              <a:tblGrid>
                <a:gridCol w="219456">
                  <a:extLst>
                    <a:ext uri="{9D8B030D-6E8A-4147-A177-3AD203B41FA5}">
                      <a16:colId xmlns:a16="http://schemas.microsoft.com/office/drawing/2014/main" val="20000"/>
                    </a:ext>
                  </a:extLst>
                </a:gridCol>
                <a:gridCol w="170992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tblGrid>
              <a:tr h="301751">
                <a:tc>
                  <a:txBody>
                    <a:bodyPr/>
                    <a:lstStyle/>
                    <a:p>
                      <a:pPr algn="l"/>
                      <a:r>
                        <a:rPr sz="1000" b="1">
                          <a:solidFill>
                            <a:srgbClr val="2E7D32"/>
                          </a:solidFill>
                          <a:latin typeface="Arial"/>
                        </a:rPr>
                        <a:t>✓</a:t>
                      </a:r>
                    </a:p>
                  </a:txBody>
                  <a:tcPr marL="18288" marR="0" marT="0" marB="0" anchor="ctr">
                    <a:lnL w="0">
                      <a:noFill/>
                    </a:lnL>
                    <a:lnR w="0">
                      <a:noFill/>
                    </a:lnR>
                    <a:lnT w="0">
                      <a:noFill/>
                    </a:lnT>
                    <a:lnB w="6350" cmpd="sng">
                      <a:solidFill>
                        <a:srgbClr val="DCE2E9"/>
                      </a:solidFill>
                    </a:lnB>
                    <a:noFill/>
                  </a:tcPr>
                </a:tc>
                <a:tc>
                  <a:txBody>
                    <a:bodyPr/>
                    <a:lstStyle/>
                    <a:p>
                      <a:pPr algn="l"/>
                      <a:r>
                        <a:rPr sz="1000" b="0">
                          <a:solidFill>
                            <a:srgbClr val="1A1F26"/>
                          </a:solidFill>
                          <a:latin typeface="Arial"/>
                        </a:rPr>
                        <a:t>Return ≥7% p.a.</a:t>
                      </a:r>
                    </a:p>
                  </a:txBody>
                  <a:tcPr marL="36576" marR="36576" marT="0" marB="0" anchor="ctr">
                    <a:lnL w="0">
                      <a:noFill/>
                    </a:lnL>
                    <a:lnR w="0">
                      <a:noFill/>
                    </a:lnR>
                    <a:lnT w="0">
                      <a:noFill/>
                    </a:lnT>
                    <a:lnB w="6350" cmpd="sng">
                      <a:solidFill>
                        <a:srgbClr val="DCE2E9"/>
                      </a:solidFill>
                    </a:lnB>
                    <a:noFill/>
                  </a:tcPr>
                </a:tc>
                <a:tc>
                  <a:txBody>
                    <a:bodyPr/>
                    <a:lstStyle/>
                    <a:p>
                      <a:pPr algn="r"/>
                      <a:r>
                        <a:rPr sz="1000" b="1">
                          <a:solidFill>
                            <a:srgbClr val="0B2C48"/>
                          </a:solidFill>
                          <a:latin typeface="Arial"/>
                        </a:rPr>
                        <a:t>8.9%</a:t>
                      </a:r>
                    </a:p>
                  </a:txBody>
                  <a:tcPr marL="36576" marR="36576" marT="0" marB="0" anchor="ctr">
                    <a:lnL w="0">
                      <a:noFill/>
                    </a:lnL>
                    <a:lnR w="0">
                      <a:noFill/>
                    </a:lnR>
                    <a:lnT w="0">
                      <a:noFill/>
                    </a:lnT>
                    <a:lnB w="6350" cmpd="sng">
                      <a:solidFill>
                        <a:srgbClr val="DCE2E9"/>
                      </a:solidFill>
                    </a:lnB>
                    <a:noFill/>
                  </a:tcPr>
                </a:tc>
                <a:extLst>
                  <a:ext uri="{0D108BD9-81ED-4DB2-BD59-A6C34878D82A}">
                    <a16:rowId xmlns:a16="http://schemas.microsoft.com/office/drawing/2014/main" val="10000"/>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Max drawdown within -15%</a:t>
                      </a:r>
                    </a:p>
                  </a:txBody>
                  <a:tcPr marL="36576" marR="36576" marT="0" marB="0" anchor="ctr">
                    <a:lnL w="0">
                      <a:noFill/>
                    </a:lnL>
                    <a:lnR w="0">
                      <a:noFill/>
                    </a:lnR>
                    <a:lnT w="6350" cmpd="sng">
                      <a:solidFill>
                        <a:srgbClr val="DCE2E9"/>
                      </a:solidFill>
                    </a:lnT>
                    <a:lnB w="6350" cmpd="sng">
                      <a:solidFill>
                        <a:srgbClr val="DCE2E9"/>
                      </a:solidFill>
                    </a:lnB>
                    <a:noFill/>
                  </a:tcPr>
                </a:tc>
                <a:tc>
                  <a:txBody>
                    <a:bodyPr/>
                    <a:lstStyle/>
                    <a:p>
                      <a:pPr algn="r"/>
                      <a:r>
                        <a:rPr sz="1000" b="1">
                          <a:solidFill>
                            <a:srgbClr val="0B2C48"/>
                          </a:solidFill>
                          <a:latin typeface="Arial"/>
                        </a:rPr>
                        <a:t>-12.2%</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1"/>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No leverage</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2"/>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≤30% per asset class per region</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3"/>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ASX-listed only</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4"/>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Sustainable</a:t>
                      </a:r>
                    </a:p>
                  </a:txBody>
                  <a:tcPr marL="36576" marR="36576" marT="0" marB="0" anchor="ctr">
                    <a:lnL w="0">
                      <a:noFill/>
                    </a:lnL>
                    <a:lnR w="0">
                      <a:noFill/>
                    </a:lnR>
                    <a:lnT w="6350" cmpd="sng">
                      <a:solidFill>
                        <a:srgbClr val="DCE2E9"/>
                      </a:solidFill>
                    </a:lnT>
                    <a:lnB w="6350" cmpd="sng">
                      <a:solidFill>
                        <a:srgbClr val="DCE2E9"/>
                      </a:solidFill>
                    </a:lnB>
                    <a:noFill/>
                  </a:tcPr>
                </a:tc>
                <a:tc>
                  <a:txBody>
                    <a:bodyPr/>
                    <a:lstStyle/>
                    <a:p>
                      <a:pPr algn="r"/>
                      <a:r>
                        <a:rPr sz="1000" b="1">
                          <a:solidFill>
                            <a:srgbClr val="0B2C48"/>
                          </a:solidFill>
                          <a:latin typeface="Arial"/>
                        </a:rPr>
                        <a:t>20%</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5"/>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0">
                      <a:noFill/>
                    </a:lnB>
                    <a:noFill/>
                  </a:tcPr>
                </a:tc>
                <a:tc>
                  <a:txBody>
                    <a:bodyPr/>
                    <a:lstStyle/>
                    <a:p>
                      <a:pPr algn="l"/>
                      <a:r>
                        <a:rPr sz="1000" b="0">
                          <a:solidFill>
                            <a:srgbClr val="1A1F26"/>
                          </a:solidFill>
                          <a:latin typeface="Arial"/>
                        </a:rPr>
                        <a:t>Scholarship liquidity</a:t>
                      </a:r>
                    </a:p>
                  </a:txBody>
                  <a:tcPr marL="36576" marR="36576" marT="0" marB="0" anchor="ctr">
                    <a:lnL w="0">
                      <a:noFill/>
                    </a:lnL>
                    <a:lnR w="0">
                      <a:noFill/>
                    </a:lnR>
                    <a:lnT w="6350" cmpd="sng">
                      <a:solidFill>
                        <a:srgbClr val="DCE2E9"/>
                      </a:solidFill>
                    </a:lnT>
                    <a:lnB w="0">
                      <a:noFill/>
                    </a:lnB>
                    <a:noFill/>
                  </a:tcPr>
                </a:tc>
                <a:tc>
                  <a:txBody>
                    <a:bodyPr/>
                    <a:lstStyle/>
                    <a:p>
                      <a:pPr algn="r"/>
                      <a:r>
                        <a:rPr sz="1000" b="1">
                          <a:solidFill>
                            <a:srgbClr val="0B2C48"/>
                          </a:solidFill>
                          <a:latin typeface="Arial"/>
                        </a:rPr>
                        <a:t>21% cash</a:t>
                      </a:r>
                    </a:p>
                  </a:txBody>
                  <a:tcPr marL="36576" marR="36576" marT="0" marB="0" anchor="ctr">
                    <a:lnL w="0">
                      <a:noFill/>
                    </a:lnL>
                    <a:lnR w="0">
                      <a:noFill/>
                    </a:lnR>
                    <a:lnT w="6350" cmpd="sng">
                      <a:solidFill>
                        <a:srgbClr val="DCE2E9"/>
                      </a:solidFill>
                    </a:lnT>
                    <a:lnB w="0">
                      <a:noFill/>
                    </a:lnB>
                    <a:noFill/>
                  </a:tcPr>
                </a:tc>
                <a:extLst>
                  <a:ext uri="{0D108BD9-81ED-4DB2-BD59-A6C34878D82A}">
                    <a16:rowId xmlns:a16="http://schemas.microsoft.com/office/drawing/2014/main" val="10006"/>
                  </a:ext>
                </a:extLst>
              </a:tr>
            </a:tbl>
          </a:graphicData>
        </a:graphic>
      </p:graphicFrame>
      <p:graphicFrame>
        <p:nvGraphicFramePr>
          <p:cNvPr id="32" name="ETF selection table"/>
          <p:cNvGraphicFramePr>
            <a:graphicFrameLocks noGrp="1"/>
          </p:cNvGraphicFramePr>
          <p:nvPr/>
        </p:nvGraphicFramePr>
        <p:xfrm>
          <a:off x="384048" y="1051560"/>
          <a:ext cx="8503920" cy="5093206"/>
        </p:xfrm>
        <a:graphic>
          <a:graphicData uri="http://schemas.openxmlformats.org/drawingml/2006/table">
            <a:tbl>
              <a:tblPr firstRow="0" bandRow="0">
                <a:tableStyleId>{2D5ABB26-0587-4C30-8999-92F81FD0307C}</a:tableStyleId>
              </a:tblPr>
              <a:tblGrid>
                <a:gridCol w="1234440"/>
                <a:gridCol w="548640"/>
                <a:gridCol w="2194560"/>
                <a:gridCol w="621792"/>
                <a:gridCol w="603504"/>
                <a:gridCol w="548640"/>
                <a:gridCol w="713232"/>
                <a:gridCol w="548640"/>
                <a:gridCol w="777240"/>
                <a:gridCol w="713232"/>
              </a:tblGrid>
              <a:tr h="402336">
                <a:tc>
                  <a:txBody>
                    <a:bodyPr wrap="square" lIns="54864" tIns="27432" rIns="54864" bIns="27432" anchor="ctr">
                      <a:noAutofit/>
                    </a:bodyPr>
                    <a:lstStyle/>
                    <a:p>
                      <a:pPr algn="l">
                        <a:buNone/>
                      </a:pPr>
                      <a:r>
                        <a:rPr sz="950" b="1" i="0">
                          <a:solidFill>
                            <a:srgbClr val="FFFFFF"/>
                          </a:solidFill>
                          <a:latin typeface="Arial"/>
                        </a:rPr>
                        <a:t>Sub-asset class</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ETF</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l">
                        <a:buNone/>
                      </a:pPr>
                      <a:r>
                        <a:rPr sz="950" b="1" i="0">
                          <a:solidFill>
                            <a:srgbClr val="FFFFFF"/>
                          </a:solidFill>
                          <a:latin typeface="Arial"/>
                        </a:rPr>
                        <a:t>What it invests in</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Weight</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A$m</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MER</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Yield</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Sharpe</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5-yr return</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Max DD</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469087">
                <a:tc>
                  <a:txBody>
                    <a:bodyPr wrap="square" lIns="54864" tIns="18288" rIns="54864" bIns="18288" anchor="ctr">
                      <a:noAutofit/>
                    </a:bodyPr>
                    <a:lstStyle/>
                    <a:p>
                      <a:pPr algn="l">
                        <a:buNone/>
                      </a:pPr>
                      <a:r>
                        <a:rPr sz="950" b="1" i="0">
                          <a:solidFill>
                            <a:srgbClr val="0B2C48"/>
                          </a:solidFill>
                          <a:latin typeface="Arial"/>
                        </a:rPr>
                        <a:t>US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SPY</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500 large US companies (S&amp;P 500)</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-16.5%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Australian cash</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BILL</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Australian cash deposits and short-term money market securities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0.07%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n/m</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-0.2%</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Global sustainable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ESGI</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Developed-market shares outside Australia, screened for ESG and fossil fuels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0.55%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0.18</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30.7%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-20.3%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Japan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HJPN</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Japanese shares, currency hedged to AUD</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0.56%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0.69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104.3%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Gold</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GOLD</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Physical gold bullion</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0.40%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Nil</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0.96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144.9%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-22.1%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Global infrastructure</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VBLD</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Global listed infrastructure companies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3.4%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3.4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0.47%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23.5%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-11.6%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US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VTS</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The whole US share market</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0.03%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0.59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72.5%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-18.1%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Australian sustainable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VETH</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Australian shares with ethical exclusions (FTSE Australia 300 Choice)</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0.16%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0.01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16.8%</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-17.9%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Australian corporate bonds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VACF</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Investment-grade Australian corporate bonds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0.20%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n/m</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-4.9%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-11.7%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Total</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0B2C48"/>
                          </a:solidFill>
                          <a:latin typeface="Arial"/>
                        </a:rPr>
                        <a:t>9 ETFs</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l">
                        <a:buNone/>
                      </a:pPr>
                      <a:r>
                        <a:rPr sz="950" b="1" i="0">
                          <a:solidFill>
                            <a:srgbClr val="1A1F26"/>
                          </a:solidFill>
                          <a:latin typeface="Arial"/>
                        </a:rPr>
                        <a:t>Weighted MER 0.29% p.a.</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100.0%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100.0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0.29%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1" i="0">
                          <a:solidFill>
                            <a:srgbClr val="1A1F26"/>
                          </a:solidFill>
                          <a:latin typeface="Arial"/>
                        </a:rPr>
                        <a:t>0.60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57.0%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-12.2%</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r>
            </a:tbl>
          </a:graphicData>
        </a:graphic>
      </p:graphicFrame>
      <p:sp>
        <p:nvSpPr>
          <p:cNvPr id="33"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Source: LSEG Workspace, Jul 2021 to Aug 2026; Neo-Edge Capital portfolio model. Price returns only (n/m = not meaningful). Sharpe uses a 3.78% risk-free rate. Yield: 12-month distribution yield.</a:t>
            </a:r>
            <a:endParaRPr lang="en-AU" sz="800" dirty="0"/>
          </a:p>
        </p:txBody>
      </p:sp>
      <p:sp>
        <p:nvSpPr>
          <p:cNvPr id="3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22</a:t>
            </a:r>
            <a:endParaRPr lang="en-AU" sz="900" dirty="0"/>
          </a:p>
        </p:txBody>
      </p:sp>
      <p:sp>
        <p:nvSpPr>
          <p:cNvPr id="3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3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4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4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4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4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4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5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5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5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5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5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6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63" name="Nav REQUESTS">
            <a:hlinkClick action="ppaction://hlinksldjump" r:id="rId15"/>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65"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51221"/>
        </a:solidFill>
        <a:effectLst/>
      </p:bgPr>
    </p:bg>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84048" y="155448"/>
            <a:ext cx="9784080" cy="420624"/>
          </a:xfrm>
          <a:prstGeom prst="rect">
            <a:avLst/>
          </a:prstGeom>
          <a:noFill/>
        </p:spPr>
        <p:txBody>
          <a:bodyPr wrap="square" lIns="0" tIns="0" rIns="0" bIns="0" anchor="ctr">
            <a:noAutofit/>
          </a:bodyPr>
          <a:lstStyle/>
          <a:p>
            <a:pPr algn="l">
              <a:buNone/>
            </a:pPr>
            <a:r>
              <a:rPr sz="2400" b="1" i="0">
                <a:solidFill>
                  <a:srgbClr val="FFFFFF"/>
                </a:solidFill>
                <a:latin typeface="Arial"/>
              </a:rPr>
              <a:t>References</a:t>
            </a:r>
            <a:endParaRPr lang="en-AU" sz="2400" dirty="0"/>
          </a:p>
        </p:txBody>
      </p:sp>
      <p:sp>
        <p:nvSpPr>
          <p:cNvPr id="7" name="Rectangle 6"/>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9" name="TextBox 8"/>
          <p:cNvSpPr txBox="1"/>
          <p:nvPr/>
        </p:nvSpPr>
        <p:spPr>
          <a:xfrm>
            <a:off x="384048" y="576072"/>
            <a:ext cx="9784080" cy="228600"/>
          </a:xfrm>
          <a:prstGeom prst="rect">
            <a:avLst/>
          </a:prstGeom>
          <a:noFill/>
        </p:spPr>
        <p:txBody>
          <a:bodyPr wrap="square" lIns="0" tIns="0" rIns="0" bIns="0" anchor="ctr">
            <a:noAutofit/>
          </a:bodyPr>
          <a:lstStyle/>
          <a:p>
            <a:pPr algn="l">
              <a:buNone/>
            </a:pPr>
            <a:r>
              <a:rPr sz="1100" b="0" i="1">
                <a:solidFill>
                  <a:srgbClr val="BDCDDA"/>
                </a:solidFill>
                <a:latin typeface="Arial"/>
              </a:rPr>
              <a:t>Sources 1 to 22 of 43, numbered to match the superscripts on each slide</a:t>
            </a:r>
            <a:endParaRPr lang="en-AU" sz="1100" dirty="0"/>
          </a:p>
        </p:txBody>
      </p:sp>
      <p:sp>
        <p:nvSpPr>
          <p:cNvPr id="10" name="Reference card"/>
          <p:cNvSpPr/>
          <p:nvPr/>
        </p:nvSpPr>
        <p:spPr>
          <a:xfrm>
            <a:off x="384048"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erence list"/>
          <p:cNvSpPr txBox="1"/>
          <p:nvPr/>
        </p:nvSpPr>
        <p:spPr>
          <a:xfrm>
            <a:off x="475488"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1.	</a:t>
            </a:r>
            <a:r>
              <a:rPr sz="900" b="0" i="0">
                <a:solidFill>
                  <a:srgbClr val="1A1F26"/>
                </a:solidFill>
                <a:latin typeface="Arial"/>
              </a:rPr>
              <a:t>Australian Bureau of Statistics. (2026). Consumer price index, Australia, June 2026. https://www.abs.gov.au/media-centre/media-releases/cpi-rose-38-year-june-2026</a:t>
            </a:r>
            <a:endParaRPr lang="en-AU" sz="900" dirty="0"/>
          </a:p>
          <a:p>
            <a:pPr algn="l" marL="274320" indent="-274320">
              <a:tabLst>
                <a:tab pos="274320" algn="l"/>
              </a:tabLst>
              <a:spcAft>
                <a:spcPts val="500"/>
              </a:spcAft>
              <a:buNone/>
            </a:pPr>
            <a:r>
              <a:rPr sz="900" b="1" i="0">
                <a:solidFill>
                  <a:srgbClr val="9A7428"/>
                </a:solidFill>
                <a:latin typeface="Arial"/>
              </a:rPr>
              <a:t>2.	</a:t>
            </a:r>
            <a:r>
              <a:rPr sz="900" b="0" i="0">
                <a:solidFill>
                  <a:srgbClr val="1A1F26"/>
                </a:solidFill>
                <a:latin typeface="Arial"/>
              </a:rPr>
              <a:t>Australian Bureau of Statistics. (2026). Labour force, Australia. Retrieved September 7, 2026, from https://www.abs.gov.au/statistics/labour/employment-and-unemployment/labour-force-australia/latest-release</a:t>
            </a:r>
            <a:endParaRPr lang="en-AU" sz="900" dirty="0"/>
          </a:p>
          <a:p>
            <a:pPr algn="l" marL="274320" indent="-274320">
              <a:tabLst>
                <a:tab pos="274320" algn="l"/>
              </a:tabLst>
              <a:spcAft>
                <a:spcPts val="500"/>
              </a:spcAft>
              <a:buNone/>
            </a:pPr>
            <a:r>
              <a:rPr sz="900" b="1" i="0">
                <a:solidFill>
                  <a:srgbClr val="9A7428"/>
                </a:solidFill>
                <a:latin typeface="Arial"/>
              </a:rPr>
              <a:t>3.	</a:t>
            </a:r>
            <a:r>
              <a:rPr sz="900" b="0" i="0">
                <a:solidFill>
                  <a:srgbClr val="1A1F26"/>
                </a:solidFill>
                <a:latin typeface="Arial"/>
              </a:rPr>
              <a:t>Australian Bureau of Statistics. (2026, September 3). Australian economy grew 0.4% in June quarter. https://www.abs.gov.au/media-centre/media-releases/australian-economy-grew-04-june-quarter</a:t>
            </a:r>
            <a:endParaRPr lang="en-AU" sz="900" dirty="0"/>
          </a:p>
          <a:p>
            <a:pPr algn="l" marL="274320" indent="-274320">
              <a:tabLst>
                <a:tab pos="274320" algn="l"/>
              </a:tabLst>
              <a:spcAft>
                <a:spcPts val="500"/>
              </a:spcAft>
              <a:buNone/>
            </a:pPr>
            <a:r>
              <a:rPr sz="900" b="1" i="0">
                <a:solidFill>
                  <a:srgbClr val="9A7428"/>
                </a:solidFill>
                <a:latin typeface="Arial"/>
              </a:rPr>
              <a:t>4.	</a:t>
            </a:r>
            <a:r>
              <a:rPr sz="900" b="0" i="0">
                <a:solidFill>
                  <a:srgbClr val="1A1F26"/>
                </a:solidFill>
                <a:latin typeface="Arial"/>
              </a:rPr>
              <a:t>Australian Indigenous HealthInfoNet. (n.d.). Art gallery [Artwork]. Edith Cowan University.</a:t>
            </a:r>
            <a:endParaRPr lang="en-AU" sz="900" dirty="0"/>
          </a:p>
          <a:p>
            <a:pPr algn="l" marL="274320" indent="-274320">
              <a:tabLst>
                <a:tab pos="274320" algn="l"/>
              </a:tabLst>
              <a:spcAft>
                <a:spcPts val="500"/>
              </a:spcAft>
              <a:buNone/>
            </a:pPr>
            <a:r>
              <a:rPr sz="900" b="1" i="0">
                <a:solidFill>
                  <a:srgbClr val="9A7428"/>
                </a:solidFill>
                <a:latin typeface="Arial"/>
              </a:rPr>
              <a:t>5.	</a:t>
            </a:r>
            <a:r>
              <a:rPr sz="900" b="0" i="0">
                <a:solidFill>
                  <a:srgbClr val="1A1F26"/>
                </a:solidFill>
                <a:latin typeface="Arial"/>
              </a:rPr>
              <a:t>Bank for International Settlements. (n.d.). Residential property prices for China [QCNN628BIS] [Data set]. FRED, Federal Reserve Bank of St. Louis. Retrieved September 7, 2026, from https://fred.stlouisfed.org/series/QCNN628BIS</a:t>
            </a:r>
            <a:endParaRPr lang="en-AU" sz="900" dirty="0"/>
          </a:p>
          <a:p>
            <a:pPr algn="l" marL="274320" indent="-274320">
              <a:tabLst>
                <a:tab pos="274320" algn="l"/>
              </a:tabLst>
              <a:spcAft>
                <a:spcPts val="500"/>
              </a:spcAft>
              <a:buNone/>
            </a:pPr>
            <a:r>
              <a:rPr sz="900" b="1" i="0">
                <a:solidFill>
                  <a:srgbClr val="9A7428"/>
                </a:solidFill>
                <a:latin typeface="Arial"/>
              </a:rPr>
              <a:t>6.	</a:t>
            </a:r>
            <a:r>
              <a:rPr sz="900" b="0" i="0">
                <a:solidFill>
                  <a:srgbClr val="1A1F26"/>
                </a:solidFill>
                <a:latin typeface="Arial"/>
              </a:rPr>
              <a:t>Board of Governors of the Federal Reserve System. (n.d.). Federal funds effective rate [FEDFUNDS] [Data set]. FRED, Federal Reserve Bank of St. Louis. Retrieved September 7, 2026, from https://fred.stlouisfed.org/series/FEDFUNDS</a:t>
            </a:r>
            <a:endParaRPr lang="en-AU" sz="900" dirty="0"/>
          </a:p>
          <a:p>
            <a:pPr algn="l" marL="274320" indent="-274320">
              <a:tabLst>
                <a:tab pos="274320" algn="l"/>
              </a:tabLst>
              <a:spcAft>
                <a:spcPts val="500"/>
              </a:spcAft>
              <a:buNone/>
            </a:pPr>
            <a:r>
              <a:rPr sz="900" b="1" i="0">
                <a:solidFill>
                  <a:srgbClr val="9A7428"/>
                </a:solidFill>
                <a:latin typeface="Arial"/>
              </a:rPr>
              <a:t>7.	</a:t>
            </a:r>
            <a:r>
              <a:rPr sz="900" b="0" i="0">
                <a:solidFill>
                  <a:srgbClr val="1A1F26"/>
                </a:solidFill>
                <a:latin typeface="Arial"/>
              </a:rPr>
              <a:t>Board of Governors of the Federal Reserve System. (n.d.). Market yield on U.S. Treasury securities at 10-year constant maturity, quoted on an investment basis [DGS10] [Data set]. FRED, Federal Reserve Bank of St. Louis. Retrieved September 7, 2026, from https://fred.stlouisfed.org/series/DGS10</a:t>
            </a:r>
            <a:endParaRPr lang="en-AU" sz="900" dirty="0"/>
          </a:p>
          <a:p>
            <a:pPr algn="l" marL="274320" indent="-274320">
              <a:tabLst>
                <a:tab pos="274320" algn="l"/>
              </a:tabLst>
              <a:spcAft>
                <a:spcPts val="500"/>
              </a:spcAft>
              <a:buNone/>
            </a:pPr>
            <a:r>
              <a:rPr sz="900" b="1" i="0">
                <a:solidFill>
                  <a:srgbClr val="9A7428"/>
                </a:solidFill>
                <a:latin typeface="Arial"/>
              </a:rPr>
              <a:t>8.	</a:t>
            </a:r>
            <a:r>
              <a:rPr sz="900" b="0" i="0">
                <a:solidFill>
                  <a:srgbClr val="1A1F26"/>
                </a:solidFill>
                <a:latin typeface="Arial"/>
              </a:rPr>
              <a:t>Board of Governors of the Federal Reserve System. (n.d.). Nominal emerging market economies U.S. dollar index [TWEXEMEGSMTH] [Data set]. FRED, Federal Reserve Bank of St. Louis. Retrieved September 7, 2026, from https://fred.stlouisfed.org/series/TWEXEMEGSMTH</a:t>
            </a:r>
            <a:endParaRPr lang="en-AU" sz="900" dirty="0"/>
          </a:p>
          <a:p>
            <a:pPr algn="l" marL="274320" indent="-274320">
              <a:tabLst>
                <a:tab pos="274320" algn="l"/>
              </a:tabLst>
              <a:spcAft>
                <a:spcPts val="500"/>
              </a:spcAft>
              <a:buNone/>
            </a:pPr>
            <a:r>
              <a:rPr sz="900" b="1" i="0">
                <a:solidFill>
                  <a:srgbClr val="9A7428"/>
                </a:solidFill>
                <a:latin typeface="Arial"/>
              </a:rPr>
              <a:t>9.	</a:t>
            </a:r>
            <a:r>
              <a:rPr sz="900" b="0" i="0">
                <a:solidFill>
                  <a:srgbClr val="1A1F26"/>
                </a:solidFill>
                <a:latin typeface="Arial"/>
              </a:rPr>
              <a:t>Board of Governors of the Federal Reserve System. (2026, August 28). Warsh remarks at the Jackson Hole Economic Symposium [Speech]. https://www.federalreserve.gov/newsevents/speech/warsh20260828a.htm</a:t>
            </a:r>
            <a:endParaRPr lang="en-AU" sz="900" dirty="0"/>
          </a:p>
          <a:p>
            <a:pPr algn="l" marL="274320" indent="-274320">
              <a:tabLst>
                <a:tab pos="274320" algn="l"/>
              </a:tabLst>
              <a:spcAft>
                <a:spcPts val="500"/>
              </a:spcAft>
              <a:buNone/>
            </a:pPr>
            <a:r>
              <a:rPr sz="900" b="1" i="0">
                <a:solidFill>
                  <a:srgbClr val="9A7428"/>
                </a:solidFill>
                <a:latin typeface="Arial"/>
              </a:rPr>
              <a:t>10.	</a:t>
            </a:r>
            <a:r>
              <a:rPr sz="900" b="0" i="0">
                <a:solidFill>
                  <a:srgbClr val="1A1F26"/>
                </a:solidFill>
                <a:latin typeface="Arial"/>
              </a:rPr>
              <a:t>Board of Governors of the Federal Reserve System. (2026, July 29). Federal Reserve issues FOMC statement. https://www.federalreserve.gov/newsevents/pressreleases/monetary20260729a.htm</a:t>
            </a:r>
            <a:endParaRPr lang="en-AU" sz="900" dirty="0"/>
          </a:p>
          <a:p>
            <a:pPr algn="l" marL="274320" indent="-274320">
              <a:tabLst>
                <a:tab pos="274320" algn="l"/>
              </a:tabLst>
              <a:spcAft>
                <a:spcPts val="500"/>
              </a:spcAft>
              <a:buNone/>
            </a:pPr>
            <a:r>
              <a:rPr sz="900" b="1" i="0">
                <a:solidFill>
                  <a:srgbClr val="9A7428"/>
                </a:solidFill>
                <a:latin typeface="Arial"/>
              </a:rPr>
              <a:t>11.	</a:t>
            </a:r>
            <a:r>
              <a:rPr sz="900" b="0" i="0">
                <a:solidFill>
                  <a:srgbClr val="1A1F26"/>
                </a:solidFill>
                <a:latin typeface="Arial"/>
              </a:rPr>
              <a:t>Board of Governors of the Federal Reserve System. (2026, June 17). Summary of economic projections. https://www.federalreserve.gov/monetarypolicy/files/fomcprojtabl20260617.pdf</a:t>
            </a:r>
            <a:endParaRPr lang="en-AU" sz="900" dirty="0"/>
          </a:p>
        </p:txBody>
      </p:sp>
      <p:sp>
        <p:nvSpPr>
          <p:cNvPr id="12" name="Reference card"/>
          <p:cNvSpPr/>
          <p:nvPr/>
        </p:nvSpPr>
        <p:spPr>
          <a:xfrm>
            <a:off x="6185916"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ference list"/>
          <p:cNvSpPr txBox="1"/>
          <p:nvPr/>
        </p:nvSpPr>
        <p:spPr>
          <a:xfrm>
            <a:off x="6277356"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12.	</a:t>
            </a:r>
            <a:r>
              <a:rPr sz="900" b="0" i="0">
                <a:solidFill>
                  <a:srgbClr val="1A1F26"/>
                </a:solidFill>
                <a:latin typeface="Arial"/>
              </a:rPr>
              <a:t>Congressional Budget Office. (2026). CBO estimates FY 2026 deficit overtakes 2025 totals. https://www.cbo.gov/publication/61882</a:t>
            </a:r>
            <a:endParaRPr lang="en-AU" sz="900" dirty="0"/>
          </a:p>
          <a:p>
            <a:pPr algn="l" marL="274320" indent="-274320">
              <a:tabLst>
                <a:tab pos="274320" algn="l"/>
              </a:tabLst>
              <a:spcAft>
                <a:spcPts val="500"/>
              </a:spcAft>
              <a:buNone/>
            </a:pPr>
            <a:r>
              <a:rPr sz="900" b="1" i="0">
                <a:solidFill>
                  <a:srgbClr val="9A7428"/>
                </a:solidFill>
                <a:latin typeface="Arial"/>
              </a:rPr>
              <a:t>13.	</a:t>
            </a:r>
            <a:r>
              <a:rPr sz="900" b="0" i="0">
                <a:solidFill>
                  <a:srgbClr val="1A1F26"/>
                </a:solidFill>
                <a:latin typeface="Arial"/>
              </a:rPr>
              <a:t>European Central Bank. (2026, June 11). Monetary policy decisions. https://www.ecb.europa.eu/press/pr/date/2026/html/ecb.mp260611~4d41bd5e83.en.html</a:t>
            </a:r>
            <a:endParaRPr lang="en-AU" sz="900" dirty="0"/>
          </a:p>
          <a:p>
            <a:pPr algn="l" marL="274320" indent="-274320">
              <a:tabLst>
                <a:tab pos="274320" algn="l"/>
              </a:tabLst>
              <a:spcAft>
                <a:spcPts val="500"/>
              </a:spcAft>
              <a:buNone/>
            </a:pPr>
            <a:r>
              <a:rPr sz="900" b="1" i="0">
                <a:solidFill>
                  <a:srgbClr val="9A7428"/>
                </a:solidFill>
                <a:latin typeface="Arial"/>
              </a:rPr>
              <a:t>14.	</a:t>
            </a:r>
            <a:r>
              <a:rPr sz="900" b="0" i="0">
                <a:solidFill>
                  <a:srgbClr val="1A1F26"/>
                </a:solidFill>
                <a:latin typeface="Arial"/>
              </a:rPr>
              <a:t>European Central Bank. (n.d.). ECB deposit facility rate for euro area [ECBDFR] [Data set]. FRED, Federal Reserve Bank of St. Louis. Retrieved September 7, 2026, from https://fred.stlouisfed.org/series/ECBDFR</a:t>
            </a:r>
            <a:endParaRPr lang="en-AU" sz="900" dirty="0"/>
          </a:p>
          <a:p>
            <a:pPr algn="l" marL="274320" indent="-274320">
              <a:tabLst>
                <a:tab pos="274320" algn="l"/>
              </a:tabLst>
              <a:spcAft>
                <a:spcPts val="500"/>
              </a:spcAft>
              <a:buNone/>
            </a:pPr>
            <a:r>
              <a:rPr sz="900" b="1" i="0">
                <a:solidFill>
                  <a:srgbClr val="9A7428"/>
                </a:solidFill>
                <a:latin typeface="Arial"/>
              </a:rPr>
              <a:t>15.	</a:t>
            </a:r>
            <a:r>
              <a:rPr sz="900" b="0" i="0">
                <a:solidFill>
                  <a:srgbClr val="1A1F26"/>
                </a:solidFill>
                <a:latin typeface="Arial"/>
              </a:rPr>
              <a:t>European Commission Joint Research Centre. (2026, May 27). How a prolonged Middle East crisis would impact energy prices and the EU economy. https://joint-research-centre.ec.europa.eu/jrc-news-and-updates/how-prolonged-middle-east-crisis-would-impact-energy-prices-and-eu-economy-2026-05-27_en</a:t>
            </a:r>
            <a:endParaRPr lang="en-AU" sz="900" dirty="0"/>
          </a:p>
          <a:p>
            <a:pPr algn="l" marL="274320" indent="-274320">
              <a:tabLst>
                <a:tab pos="274320" algn="l"/>
              </a:tabLst>
              <a:spcAft>
                <a:spcPts val="500"/>
              </a:spcAft>
              <a:buNone/>
            </a:pPr>
            <a:r>
              <a:rPr sz="900" b="1" i="0">
                <a:solidFill>
                  <a:srgbClr val="9A7428"/>
                </a:solidFill>
                <a:latin typeface="Arial"/>
              </a:rPr>
              <a:t>16.	</a:t>
            </a:r>
            <a:r>
              <a:rPr sz="900" b="0" i="0">
                <a:solidFill>
                  <a:srgbClr val="1A1F26"/>
                </a:solidFill>
                <a:latin typeface="Arial"/>
              </a:rPr>
              <a:t>Eurostat. (2026, July 30). GDP and main components, Q2 2026 flash estimate. https://ec.europa.eu/eurostat/web/products-euro-indicators/w/2-30072026-ap</a:t>
            </a:r>
            <a:endParaRPr lang="en-AU" sz="900" dirty="0"/>
          </a:p>
          <a:p>
            <a:pPr algn="l" marL="274320" indent="-274320">
              <a:tabLst>
                <a:tab pos="274320" algn="l"/>
              </a:tabLst>
              <a:spcAft>
                <a:spcPts val="500"/>
              </a:spcAft>
              <a:buNone/>
            </a:pPr>
            <a:r>
              <a:rPr sz="900" b="1" i="0">
                <a:solidFill>
                  <a:srgbClr val="9A7428"/>
                </a:solidFill>
                <a:latin typeface="Arial"/>
              </a:rPr>
              <a:t>17.	</a:t>
            </a:r>
            <a:r>
              <a:rPr sz="900" b="0" i="0">
                <a:solidFill>
                  <a:srgbClr val="1A1F26"/>
                </a:solidFill>
                <a:latin typeface="Arial"/>
              </a:rPr>
              <a:t>Eurostat. (2026, September 1). Euro area annual inflation up to 3.3%. https://ec.europa.eu/eurostat/web/products-euro-indicators/w/2-01092026-ap</a:t>
            </a:r>
            <a:endParaRPr lang="en-AU" sz="900" dirty="0"/>
          </a:p>
          <a:p>
            <a:pPr algn="l" marL="274320" indent="-274320">
              <a:tabLst>
                <a:tab pos="274320" algn="l"/>
              </a:tabLst>
              <a:spcAft>
                <a:spcPts val="500"/>
              </a:spcAft>
              <a:buNone/>
            </a:pPr>
            <a:r>
              <a:rPr sz="900" b="1" i="0">
                <a:solidFill>
                  <a:srgbClr val="9A7428"/>
                </a:solidFill>
                <a:latin typeface="Arial"/>
              </a:rPr>
              <a:t>18.	</a:t>
            </a:r>
            <a:r>
              <a:rPr sz="900" b="0" i="0">
                <a:solidFill>
                  <a:srgbClr val="1A1F26"/>
                </a:solidFill>
                <a:latin typeface="Arial"/>
              </a:rPr>
              <a:t>Federal Reserve Bank of St. Louis. (2026). 10-year Treasury constant maturity minus 2-year Treasury constant maturity [T10Y2Y] [Data set]. FRED. https://fred.stlouisfed.org/series/T10Y2Y</a:t>
            </a:r>
            <a:endParaRPr lang="en-AU" sz="900" dirty="0"/>
          </a:p>
          <a:p>
            <a:pPr algn="l" marL="274320" indent="-274320">
              <a:tabLst>
                <a:tab pos="274320" algn="l"/>
              </a:tabLst>
              <a:spcAft>
                <a:spcPts val="500"/>
              </a:spcAft>
              <a:buNone/>
            </a:pPr>
            <a:r>
              <a:rPr sz="900" b="1" i="0">
                <a:solidFill>
                  <a:srgbClr val="9A7428"/>
                </a:solidFill>
                <a:latin typeface="Arial"/>
              </a:rPr>
              <a:t>19.	</a:t>
            </a:r>
            <a:r>
              <a:rPr sz="900" b="0" i="0">
                <a:solidFill>
                  <a:srgbClr val="1A1F26"/>
                </a:solidFill>
                <a:latin typeface="Arial"/>
              </a:rPr>
              <a:t>International Monetary Fund. (2026). PortWatch: Strait of Hormuz daily transit calls [Data set]. Retrieved September 2026, from https://portwatch.imf.org</a:t>
            </a:r>
            <a:endParaRPr lang="en-AU" sz="900" dirty="0"/>
          </a:p>
          <a:p>
            <a:pPr algn="l" marL="274320" indent="-274320">
              <a:tabLst>
                <a:tab pos="274320" algn="l"/>
              </a:tabLst>
              <a:spcAft>
                <a:spcPts val="500"/>
              </a:spcAft>
              <a:buNone/>
            </a:pPr>
            <a:r>
              <a:rPr sz="900" b="1" i="0">
                <a:solidFill>
                  <a:srgbClr val="9A7428"/>
                </a:solidFill>
                <a:latin typeface="Arial"/>
              </a:rPr>
              <a:t>20.	</a:t>
            </a:r>
            <a:r>
              <a:rPr sz="900" b="0" i="0">
                <a:solidFill>
                  <a:srgbClr val="1A1F26"/>
                </a:solidFill>
                <a:latin typeface="Arial"/>
              </a:rPr>
              <a:t>International Monetary Fund. (2026, April 2). Japan: IMF Executive Board concludes 2026 Article IV consultation. https://www.imf.org/en/news/articles/2026/04/02/pr-26105-japan-imf-executive-board-concludes-2026-article-iv-consult</a:t>
            </a:r>
            <a:endParaRPr lang="en-AU" sz="900" dirty="0"/>
          </a:p>
          <a:p>
            <a:pPr algn="l" marL="274320" indent="-274320">
              <a:tabLst>
                <a:tab pos="274320" algn="l"/>
              </a:tabLst>
              <a:spcAft>
                <a:spcPts val="500"/>
              </a:spcAft>
              <a:buNone/>
            </a:pPr>
            <a:r>
              <a:rPr sz="900" b="1" i="0">
                <a:solidFill>
                  <a:srgbClr val="9A7428"/>
                </a:solidFill>
                <a:latin typeface="Arial"/>
              </a:rPr>
              <a:t>21.	</a:t>
            </a:r>
            <a:r>
              <a:rPr sz="900" b="0" i="0">
                <a:solidFill>
                  <a:srgbClr val="1A1F26"/>
                </a:solidFill>
                <a:latin typeface="Arial"/>
              </a:rPr>
              <a:t>LSEG. (2026). LSEG Workspace [Database]. Retrieved September 2026.</a:t>
            </a:r>
            <a:endParaRPr lang="en-AU" sz="900" dirty="0"/>
          </a:p>
          <a:p>
            <a:pPr algn="l" marL="274320" indent="-274320">
              <a:tabLst>
                <a:tab pos="274320" algn="l"/>
              </a:tabLst>
              <a:spcAft>
                <a:spcPts val="500"/>
              </a:spcAft>
              <a:buNone/>
            </a:pPr>
            <a:r>
              <a:rPr sz="900" b="1" i="0">
                <a:solidFill>
                  <a:srgbClr val="9A7428"/>
                </a:solidFill>
                <a:latin typeface="Arial"/>
              </a:rPr>
              <a:t>22.	</a:t>
            </a:r>
            <a:r>
              <a:rPr sz="900" b="0" i="0">
                <a:solidFill>
                  <a:srgbClr val="1A1F26"/>
                </a:solidFill>
                <a:latin typeface="Arial"/>
              </a:rPr>
              <a:t>Market Index. (2026). Vanguard Ethically Conscious Global Aggregate Bond Index (Hedged) ETF (ASX: VEFI). https://www.marketindex.com.au/asx/vefi</a:t>
            </a:r>
            <a:endParaRPr lang="en-AU" sz="900" dirty="0"/>
          </a:p>
        </p:txBody>
      </p:sp>
      <p:sp>
        <p:nvSpPr>
          <p:cNvPr id="1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23</a:t>
            </a:r>
            <a:endParaRPr lang="en-AU" sz="900" dirty="0"/>
          </a:p>
        </p:txBody>
      </p:sp>
      <p:sp>
        <p:nvSpPr>
          <p:cNvPr id="1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av progress"/>
          <p:cNvSpPr/>
          <p:nvPr/>
        </p:nvSpPr>
        <p:spPr>
          <a:xfrm>
            <a:off x="603504" y="6466637"/>
            <a:ext cx="1099108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2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2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2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2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2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3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3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3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3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3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4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43" name="Nav REQUESTS">
            <a:hlinkClick action="ppaction://hlinksldjump" r:id="rId15"/>
          </p:cNvPr>
          <p:cNvSpPr/>
          <p:nvPr/>
        </p:nvSpPr>
        <p:spPr>
          <a:xfrm>
            <a:off x="1075922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REQUESTS</a:t>
            </a:r>
            <a:endParaRPr lang="en-AU" sz="800" dirty="0"/>
          </a:p>
        </p:txBody>
      </p:sp>
      <p:sp>
        <p:nvSpPr>
          <p:cNvPr id="45" name="Nav REFERENCES">
            <a:hlinkClick action="ppaction://hlinksldjump" r:id="rId16"/>
          </p:cNvPr>
          <p:cNvSpPr/>
          <p:nvPr/>
        </p:nvSpPr>
        <p:spPr>
          <a:xfrm>
            <a:off x="1154430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REFERENCES</a:t>
            </a:r>
            <a:endParaRPr lang="en-AU"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51221"/>
        </a:solidFill>
        <a:effectLst/>
      </p:bgPr>
    </p:bg>
    <p:spTree>
      <p:nvGrpSpPr>
        <p:cNvPr id="1" name="">
          <a:extLst>
            <a:ext uri="{FF2B5EF4-FFF2-40B4-BE49-F238E27FC236}">
              <a16:creationId xmlns:a16="http://schemas.microsoft.com/office/drawing/2014/main" id="{93AAAC0B-3EC7-48D9-51AD-A8DBCD2E7493}"/>
            </a:ext>
          </a:extLst>
        </p:cNvPr>
        <p:cNvGrpSpPr/>
        <p:nvPr/>
      </p:nvGrpSpPr>
      <p:grpSpPr>
        <a:xfrm>
          <a:off x="0" y="0"/>
          <a:ext cx="0" cy="0"/>
          <a:chOff x="0" y="0"/>
          <a:chExt cx="0" cy="0"/>
        </a:xfrm>
      </p:grpSpPr>
      <p:sp>
        <p:nvSpPr>
          <p:cNvPr id="6" name="Rectangle 5"/>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1B35FDBA-1871-1169-8005-930689515922}"/>
              </a:ext>
            </a:extLst>
          </p:cNvPr>
          <p:cNvSpPr txBox="1"/>
          <p:nvPr/>
        </p:nvSpPr>
        <p:spPr>
          <a:xfrm>
            <a:off x="384048" y="155448"/>
            <a:ext cx="9784080" cy="420624"/>
          </a:xfrm>
          <a:prstGeom prst="rect">
            <a:avLst/>
          </a:prstGeom>
          <a:noFill/>
        </p:spPr>
        <p:txBody>
          <a:bodyPr wrap="square" lIns="0" tIns="0" rIns="0" bIns="0" anchor="ctr">
            <a:noAutofit/>
          </a:bodyPr>
          <a:lstStyle/>
          <a:p>
            <a:pPr algn="l">
              <a:buNone/>
            </a:pPr>
            <a:r>
              <a:rPr sz="2400" b="1" i="0">
                <a:solidFill>
                  <a:srgbClr val="FFFFFF"/>
                </a:solidFill>
                <a:latin typeface="Arial"/>
              </a:rPr>
              <a:t>References</a:t>
            </a:r>
            <a:endParaRPr lang="en-AU" sz="2400" dirty="0"/>
          </a:p>
        </p:txBody>
      </p:sp>
      <p:sp>
        <p:nvSpPr>
          <p:cNvPr id="7" name="Rectangle 6"/>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9" name="TextBox 8"/>
          <p:cNvSpPr txBox="1"/>
          <p:nvPr/>
        </p:nvSpPr>
        <p:spPr>
          <a:xfrm>
            <a:off x="384048" y="576072"/>
            <a:ext cx="9784080" cy="228600"/>
          </a:xfrm>
          <a:prstGeom prst="rect">
            <a:avLst/>
          </a:prstGeom>
          <a:noFill/>
        </p:spPr>
        <p:txBody>
          <a:bodyPr wrap="square" lIns="0" tIns="0" rIns="0" bIns="0" anchor="ctr">
            <a:noAutofit/>
          </a:bodyPr>
          <a:lstStyle/>
          <a:p>
            <a:pPr algn="l">
              <a:buNone/>
            </a:pPr>
            <a:r>
              <a:rPr sz="1100" b="0" i="1">
                <a:solidFill>
                  <a:srgbClr val="BDCDDA"/>
                </a:solidFill>
                <a:latin typeface="Arial"/>
              </a:rPr>
              <a:t>Sources 23 to 43 of 43, numbered to match the superscripts on each slide</a:t>
            </a:r>
            <a:endParaRPr lang="en-AU" sz="1100" dirty="0"/>
          </a:p>
        </p:txBody>
      </p:sp>
      <p:sp>
        <p:nvSpPr>
          <p:cNvPr id="10" name="Reference card"/>
          <p:cNvSpPr/>
          <p:nvPr/>
        </p:nvSpPr>
        <p:spPr>
          <a:xfrm>
            <a:off x="384048"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erence list"/>
          <p:cNvSpPr txBox="1"/>
          <p:nvPr/>
        </p:nvSpPr>
        <p:spPr>
          <a:xfrm>
            <a:off x="475488"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23.	</a:t>
            </a:r>
            <a:r>
              <a:rPr sz="900" b="0" i="0">
                <a:solidFill>
                  <a:srgbClr val="1A1F26"/>
                </a:solidFill>
                <a:latin typeface="Arial"/>
              </a:rPr>
              <a:t>National Bureau of Statistics of China. (2026, August 10). Consumer price index and producer price index, July 2026. https://www.stats.gov.cn/english/PressRelease/202608/t20260810_1965017.html</a:t>
            </a:r>
            <a:endParaRPr lang="en-AU" sz="900" dirty="0"/>
          </a:p>
          <a:p>
            <a:pPr algn="l" marL="274320" indent="-274320">
              <a:tabLst>
                <a:tab pos="274320" algn="l"/>
              </a:tabLst>
              <a:spcAft>
                <a:spcPts val="500"/>
              </a:spcAft>
              <a:buNone/>
            </a:pPr>
            <a:r>
              <a:rPr sz="900" b="1" i="0">
                <a:solidFill>
                  <a:srgbClr val="9A7428"/>
                </a:solidFill>
                <a:latin typeface="Arial"/>
              </a:rPr>
              <a:t>24.	</a:t>
            </a:r>
            <a:r>
              <a:rPr sz="900" b="0" i="0">
                <a:solidFill>
                  <a:srgbClr val="1A1F26"/>
                </a:solidFill>
                <a:latin typeface="Arial"/>
              </a:rPr>
              <a:t>National Bureau of Statistics of China. (2026, July 15). Preliminary accounting results of GDP for the second quarter and the first half of 2026. https://www.stats.gov.cn/english/PressRelease/202607/t20260715_1964120.html</a:t>
            </a:r>
            <a:endParaRPr lang="en-AU" sz="900" dirty="0"/>
          </a:p>
          <a:p>
            <a:pPr algn="l" marL="274320" indent="-274320">
              <a:tabLst>
                <a:tab pos="274320" algn="l"/>
              </a:tabLst>
              <a:spcAft>
                <a:spcPts val="500"/>
              </a:spcAft>
              <a:buNone/>
            </a:pPr>
            <a:r>
              <a:rPr sz="900" b="1" i="0">
                <a:solidFill>
                  <a:srgbClr val="9A7428"/>
                </a:solidFill>
                <a:latin typeface="Arial"/>
              </a:rPr>
              <a:t>25.	</a:t>
            </a:r>
            <a:r>
              <a:rPr sz="900" b="0" i="0">
                <a:solidFill>
                  <a:srgbClr val="1A1F26"/>
                </a:solidFill>
                <a:latin typeface="Arial"/>
              </a:rPr>
              <a:t>Organisation for Economic Co-operation and Development. (n.d.). Interest rates, discount rate for China [INTDSRCNM193N] [Data set]. FRED, Federal Reserve Bank of St. Louis. Retrieved September 7, 2026, from https://fred.stlouisfed.org/series/INTDSRCNM193N</a:t>
            </a:r>
            <a:endParaRPr lang="en-AU" sz="900" dirty="0"/>
          </a:p>
          <a:p>
            <a:pPr algn="l" marL="274320" indent="-274320">
              <a:tabLst>
                <a:tab pos="274320" algn="l"/>
              </a:tabLst>
              <a:spcAft>
                <a:spcPts val="500"/>
              </a:spcAft>
              <a:buNone/>
            </a:pPr>
            <a:r>
              <a:rPr sz="900" b="1" i="0">
                <a:solidFill>
                  <a:srgbClr val="9A7428"/>
                </a:solidFill>
                <a:latin typeface="Arial"/>
              </a:rPr>
              <a:t>26.	</a:t>
            </a:r>
            <a:r>
              <a:rPr sz="900" b="0" i="0">
                <a:solidFill>
                  <a:srgbClr val="1A1F26"/>
                </a:solidFill>
                <a:latin typeface="Arial"/>
              </a:rPr>
              <a:t>Organisation for Economic Co-operation and Development. (n.d.). Interest rates: Immediate rates (&lt; 24 hours): Call money/interbank rate: Total for Japan [IRSTCI01JPM156N] [Data set]. FRED, Federal Reserve Bank of St. Louis. Retrieved September 7, 2026, from https://fred.stlouisfed.org/series/IRSTCI01JPM156N</a:t>
            </a:r>
            <a:endParaRPr lang="en-AU" sz="900" dirty="0"/>
          </a:p>
          <a:p>
            <a:pPr algn="l" marL="274320" indent="-274320">
              <a:tabLst>
                <a:tab pos="274320" algn="l"/>
              </a:tabLst>
              <a:spcAft>
                <a:spcPts val="500"/>
              </a:spcAft>
              <a:buNone/>
            </a:pPr>
            <a:r>
              <a:rPr sz="900" b="1" i="0">
                <a:solidFill>
                  <a:srgbClr val="9A7428"/>
                </a:solidFill>
                <a:latin typeface="Arial"/>
              </a:rPr>
              <a:t>27.	</a:t>
            </a:r>
            <a:r>
              <a:rPr sz="900" b="0" i="0">
                <a:solidFill>
                  <a:srgbClr val="1A1F26"/>
                </a:solidFill>
                <a:latin typeface="Arial"/>
              </a:rPr>
              <a:t>Organisation for Economic Co-operation and Development. (n.d.). Interest rates: Long-term government bond yields: 10-year: Main (including benchmark) for Germany [IRLTLT01DEM156N] [Data set]. FRED, Federal Reserve Bank of St. Louis. Retrieved September 7, 2026, from https://fred.stlouisfed.org/series/IRLTLT01DEM156N</a:t>
            </a:r>
            <a:endParaRPr lang="en-AU" sz="900" dirty="0"/>
          </a:p>
          <a:p>
            <a:pPr algn="l" marL="274320" indent="-274320">
              <a:tabLst>
                <a:tab pos="274320" algn="l"/>
              </a:tabLst>
              <a:spcAft>
                <a:spcPts val="500"/>
              </a:spcAft>
              <a:buNone/>
            </a:pPr>
            <a:r>
              <a:rPr sz="900" b="1" i="0">
                <a:solidFill>
                  <a:srgbClr val="9A7428"/>
                </a:solidFill>
                <a:latin typeface="Arial"/>
              </a:rPr>
              <a:t>28.	</a:t>
            </a:r>
            <a:r>
              <a:rPr sz="900" b="0" i="0">
                <a:solidFill>
                  <a:srgbClr val="1A1F26"/>
                </a:solidFill>
                <a:latin typeface="Arial"/>
              </a:rPr>
              <a:t>Parliamentary Budget Office. (2026). 2026-27 Budget snapshot. https://www.pbo.gov.au/publications-and-data/publications/budget-charts/2026-27-Budget-Snapshot</a:t>
            </a:r>
            <a:endParaRPr lang="en-AU" sz="900" dirty="0"/>
          </a:p>
          <a:p>
            <a:pPr algn="l" marL="274320" indent="-274320">
              <a:tabLst>
                <a:tab pos="274320" algn="l"/>
              </a:tabLst>
              <a:spcAft>
                <a:spcPts val="500"/>
              </a:spcAft>
              <a:buNone/>
            </a:pPr>
            <a:r>
              <a:rPr sz="900" b="1" i="0">
                <a:solidFill>
                  <a:srgbClr val="9A7428"/>
                </a:solidFill>
                <a:latin typeface="Arial"/>
              </a:rPr>
              <a:t>29.	</a:t>
            </a:r>
            <a:r>
              <a:rPr sz="900" b="0" i="0">
                <a:solidFill>
                  <a:srgbClr val="1A1F26"/>
                </a:solidFill>
                <a:latin typeface="Arial"/>
              </a:rPr>
              <a:t>People's Bank of China. (2026). Financial statistics report. https://www.pbc.gov.cn/en/3688229/3688335/3730270/2025112115010879277/index.html</a:t>
            </a:r>
            <a:endParaRPr lang="en-AU" sz="900" dirty="0"/>
          </a:p>
          <a:p>
            <a:pPr algn="l" marL="274320" indent="-274320">
              <a:tabLst>
                <a:tab pos="274320" algn="l"/>
              </a:tabLst>
              <a:spcAft>
                <a:spcPts val="500"/>
              </a:spcAft>
              <a:buNone/>
            </a:pPr>
            <a:r>
              <a:rPr sz="900" b="1" i="0">
                <a:solidFill>
                  <a:srgbClr val="9A7428"/>
                </a:solidFill>
                <a:latin typeface="Arial"/>
              </a:rPr>
              <a:t>30.	</a:t>
            </a:r>
            <a:r>
              <a:rPr sz="900" b="0" i="0">
                <a:solidFill>
                  <a:srgbClr val="1A1F26"/>
                </a:solidFill>
                <a:latin typeface="Arial"/>
              </a:rPr>
              <a:t>Press Information Bureau, Government of India. (2026, July). Consumer price index release. https://www.pib.gov.in/PressReleasePage.aspx?PRID=2298247</a:t>
            </a:r>
            <a:endParaRPr lang="en-AU" sz="900" dirty="0"/>
          </a:p>
          <a:p>
            <a:pPr algn="l" marL="274320" indent="-274320">
              <a:tabLst>
                <a:tab pos="274320" algn="l"/>
              </a:tabLst>
              <a:spcAft>
                <a:spcPts val="500"/>
              </a:spcAft>
              <a:buNone/>
            </a:pPr>
            <a:r>
              <a:rPr sz="900" b="1" i="0">
                <a:solidFill>
                  <a:srgbClr val="9A7428"/>
                </a:solidFill>
                <a:latin typeface="Arial"/>
              </a:rPr>
              <a:t>31.	</a:t>
            </a:r>
            <a:r>
              <a:rPr sz="900" b="0" i="0">
                <a:solidFill>
                  <a:srgbClr val="1A1F26"/>
                </a:solidFill>
                <a:latin typeface="Arial"/>
              </a:rPr>
              <a:t>Reserve Bank of Australia. (2026). Cash rate target. https://www.rba.gov.au/cash-rate-target-overview.html</a:t>
            </a:r>
            <a:endParaRPr lang="en-AU" sz="900" dirty="0"/>
          </a:p>
          <a:p>
            <a:pPr algn="l" marL="274320" indent="-274320">
              <a:tabLst>
                <a:tab pos="274320" algn="l"/>
              </a:tabLst>
              <a:spcAft>
                <a:spcPts val="500"/>
              </a:spcAft>
              <a:buNone/>
            </a:pPr>
            <a:r>
              <a:rPr sz="900" b="1" i="0">
                <a:solidFill>
                  <a:srgbClr val="9A7428"/>
                </a:solidFill>
                <a:latin typeface="Arial"/>
              </a:rPr>
              <a:t>32.	</a:t>
            </a:r>
            <a:r>
              <a:rPr sz="900" b="0" i="0">
                <a:solidFill>
                  <a:srgbClr val="1A1F26"/>
                </a:solidFill>
                <a:latin typeface="Arial"/>
              </a:rPr>
              <a:t>Reserve Bank of Australia. (2026, August). Statement on monetary policy: Economic outlook. https://www.rba.gov.au/publications/smp/2026/aug/outlook.html</a:t>
            </a:r>
            <a:endParaRPr lang="en-AU" sz="900" dirty="0"/>
          </a:p>
          <a:p>
            <a:pPr algn="l" marL="274320" indent="-274320">
              <a:tabLst>
                <a:tab pos="274320" algn="l"/>
              </a:tabLst>
              <a:spcAft>
                <a:spcPts val="500"/>
              </a:spcAft>
              <a:buNone/>
            </a:pPr>
            <a:r>
              <a:rPr sz="900" b="1" i="0">
                <a:solidFill>
                  <a:srgbClr val="9A7428"/>
                </a:solidFill>
                <a:latin typeface="Arial"/>
              </a:rPr>
              <a:t>33.	</a:t>
            </a:r>
            <a:r>
              <a:rPr sz="900" b="0" i="0">
                <a:solidFill>
                  <a:srgbClr val="1A1F26"/>
                </a:solidFill>
                <a:latin typeface="Arial"/>
              </a:rPr>
              <a:t>Reserve Bank of Australia. (n.d.). Statistical tables. Retrieved September 7, 2026, from https://www.rba.gov.au/statistics/tables/</a:t>
            </a:r>
            <a:endParaRPr lang="en-AU" sz="900" dirty="0"/>
          </a:p>
        </p:txBody>
      </p:sp>
      <p:sp>
        <p:nvSpPr>
          <p:cNvPr id="12" name="Reference card"/>
          <p:cNvSpPr/>
          <p:nvPr/>
        </p:nvSpPr>
        <p:spPr>
          <a:xfrm>
            <a:off x="6185916"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ference list"/>
          <p:cNvSpPr txBox="1"/>
          <p:nvPr/>
        </p:nvSpPr>
        <p:spPr>
          <a:xfrm>
            <a:off x="6277356"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34.	</a:t>
            </a:r>
            <a:r>
              <a:rPr sz="900" b="0" i="0">
                <a:solidFill>
                  <a:srgbClr val="1A1F26"/>
                </a:solidFill>
                <a:latin typeface="Arial"/>
              </a:rPr>
              <a:t>Responsible Investment Association Australasia. (2025). Certified product: VanEck MSCI International Sustainable Equity ETF (ASX code: ESGI). https://www.responsibleinvestment.org/find-certified/products/vaneck-msci-international-sustainable-equity-etf-asx-code-esgi</a:t>
            </a:r>
            <a:endParaRPr lang="en-AU" sz="900" dirty="0"/>
          </a:p>
          <a:p>
            <a:pPr algn="l" marL="274320" indent="-274320">
              <a:tabLst>
                <a:tab pos="274320" algn="l"/>
              </a:tabLst>
              <a:spcAft>
                <a:spcPts val="500"/>
              </a:spcAft>
              <a:buNone/>
            </a:pPr>
            <a:r>
              <a:rPr sz="900" b="1" i="0">
                <a:solidFill>
                  <a:srgbClr val="9A7428"/>
                </a:solidFill>
                <a:latin typeface="Arial"/>
              </a:rPr>
              <a:t>35.	</a:t>
            </a:r>
            <a:r>
              <a:rPr sz="900" b="0" i="0">
                <a:solidFill>
                  <a:srgbClr val="1A1F26"/>
                </a:solidFill>
                <a:latin typeface="Arial"/>
              </a:rPr>
              <a:t>Trading Economics. (2026). Australia government bond yield [Data set]. https://tradingeconomics.com/australia/government-bond-yield</a:t>
            </a:r>
            <a:endParaRPr lang="en-AU" sz="900" dirty="0"/>
          </a:p>
          <a:p>
            <a:pPr algn="l" marL="274320" indent="-274320">
              <a:tabLst>
                <a:tab pos="274320" algn="l"/>
              </a:tabLst>
              <a:spcAft>
                <a:spcPts val="500"/>
              </a:spcAft>
              <a:buNone/>
            </a:pPr>
            <a:r>
              <a:rPr sz="900" b="1" i="0">
                <a:solidFill>
                  <a:srgbClr val="9A7428"/>
                </a:solidFill>
                <a:latin typeface="Arial"/>
              </a:rPr>
              <a:t>36.	</a:t>
            </a:r>
            <a:r>
              <a:rPr sz="900" b="0" i="0">
                <a:solidFill>
                  <a:srgbClr val="1A1F26"/>
                </a:solidFill>
                <a:latin typeface="Arial"/>
              </a:rPr>
              <a:t>Trading Economics. (2026). China government bond yield [Data set]. https://tradingeconomics.com/china/government-bond-yield</a:t>
            </a:r>
            <a:endParaRPr lang="en-AU" sz="900" dirty="0"/>
          </a:p>
          <a:p>
            <a:pPr algn="l" marL="274320" indent="-274320">
              <a:tabLst>
                <a:tab pos="274320" algn="l"/>
              </a:tabLst>
              <a:spcAft>
                <a:spcPts val="500"/>
              </a:spcAft>
              <a:buNone/>
            </a:pPr>
            <a:r>
              <a:rPr sz="900" b="1" i="0">
                <a:solidFill>
                  <a:srgbClr val="9A7428"/>
                </a:solidFill>
                <a:latin typeface="Arial"/>
              </a:rPr>
              <a:t>37.	</a:t>
            </a:r>
            <a:r>
              <a:rPr sz="900" b="0" i="0">
                <a:solidFill>
                  <a:srgbClr val="1A1F26"/>
                </a:solidFill>
                <a:latin typeface="Arial"/>
              </a:rPr>
              <a:t>Trading Economics. (2026). Crude oil [Data set]. https://tradingeconomics.com/commodity/crude-oil</a:t>
            </a:r>
            <a:endParaRPr lang="en-AU" sz="900" dirty="0"/>
          </a:p>
          <a:p>
            <a:pPr algn="l" marL="274320" indent="-274320">
              <a:tabLst>
                <a:tab pos="274320" algn="l"/>
              </a:tabLst>
              <a:spcAft>
                <a:spcPts val="500"/>
              </a:spcAft>
              <a:buNone/>
            </a:pPr>
            <a:r>
              <a:rPr sz="900" b="1" i="0">
                <a:solidFill>
                  <a:srgbClr val="9A7428"/>
                </a:solidFill>
                <a:latin typeface="Arial"/>
              </a:rPr>
              <a:t>38.	</a:t>
            </a:r>
            <a:r>
              <a:rPr sz="900" b="0" i="0">
                <a:solidFill>
                  <a:srgbClr val="1A1F26"/>
                </a:solidFill>
                <a:latin typeface="Arial"/>
              </a:rPr>
              <a:t>Trading Economics. (2026). India government bond yield [Data set]. https://tradingeconomics.com/india/government-bond-yield</a:t>
            </a:r>
            <a:endParaRPr lang="en-AU" sz="900" dirty="0"/>
          </a:p>
          <a:p>
            <a:pPr algn="l" marL="274320" indent="-274320">
              <a:tabLst>
                <a:tab pos="274320" algn="l"/>
              </a:tabLst>
              <a:spcAft>
                <a:spcPts val="500"/>
              </a:spcAft>
              <a:buNone/>
            </a:pPr>
            <a:r>
              <a:rPr sz="900" b="1" i="0">
                <a:solidFill>
                  <a:srgbClr val="9A7428"/>
                </a:solidFill>
                <a:latin typeface="Arial"/>
              </a:rPr>
              <a:t>39.	</a:t>
            </a:r>
            <a:r>
              <a:rPr sz="900" b="0" i="0">
                <a:solidFill>
                  <a:srgbClr val="1A1F26"/>
                </a:solidFill>
                <a:latin typeface="Arial"/>
              </a:rPr>
              <a:t>U.S. Bureau of Economic Analysis. (2026, August). GDP (second estimate) and corporate profits, 2nd quarter 2026. https://www.bea.gov/news/2026/gdp-second-estimate-and-corporate-profits-2nd-quarter-2026</a:t>
            </a:r>
            <a:endParaRPr lang="en-AU" sz="900" dirty="0"/>
          </a:p>
          <a:p>
            <a:pPr algn="l" marL="274320" indent="-274320">
              <a:tabLst>
                <a:tab pos="274320" algn="l"/>
              </a:tabLst>
              <a:spcAft>
                <a:spcPts val="500"/>
              </a:spcAft>
              <a:buNone/>
            </a:pPr>
            <a:r>
              <a:rPr sz="900" b="1" i="0">
                <a:solidFill>
                  <a:srgbClr val="9A7428"/>
                </a:solidFill>
                <a:latin typeface="Arial"/>
              </a:rPr>
              <a:t>40.	</a:t>
            </a:r>
            <a:r>
              <a:rPr sz="900" b="0" i="0">
                <a:solidFill>
                  <a:srgbClr val="1A1F26"/>
                </a:solidFill>
                <a:latin typeface="Arial"/>
              </a:rPr>
              <a:t>U.S. Bureau of Labor Statistics. (2026, August). Consumer price index news release, July 2026. https://www.bls.gov/news.release/cpi.nr0.htm</a:t>
            </a:r>
            <a:endParaRPr lang="en-AU" sz="900" dirty="0"/>
          </a:p>
          <a:p>
            <a:pPr algn="l" marL="274320" indent="-274320">
              <a:tabLst>
                <a:tab pos="274320" algn="l"/>
              </a:tabLst>
              <a:spcAft>
                <a:spcPts val="500"/>
              </a:spcAft>
              <a:buNone/>
            </a:pPr>
            <a:r>
              <a:rPr sz="900" b="1" i="0">
                <a:solidFill>
                  <a:srgbClr val="9A7428"/>
                </a:solidFill>
                <a:latin typeface="Arial"/>
              </a:rPr>
              <a:t>41.	</a:t>
            </a:r>
            <a:r>
              <a:rPr sz="900" b="0" i="0">
                <a:solidFill>
                  <a:srgbClr val="1A1F26"/>
                </a:solidFill>
                <a:latin typeface="Arial"/>
              </a:rPr>
              <a:t>U.S. Bureau of Labor Statistics. (2026, September). The employment situation, August 2026. https://www.bls.gov/news.release/empsit.nr0.htm</a:t>
            </a:r>
            <a:endParaRPr lang="en-AU" sz="900" dirty="0"/>
          </a:p>
          <a:p>
            <a:pPr algn="l" marL="274320" indent="-274320">
              <a:tabLst>
                <a:tab pos="274320" algn="l"/>
              </a:tabLst>
              <a:spcAft>
                <a:spcPts val="500"/>
              </a:spcAft>
              <a:buNone/>
            </a:pPr>
            <a:r>
              <a:rPr sz="900" b="1" i="0">
                <a:solidFill>
                  <a:srgbClr val="9A7428"/>
                </a:solidFill>
                <a:latin typeface="Arial"/>
              </a:rPr>
              <a:t>42.	</a:t>
            </a:r>
            <a:r>
              <a:rPr sz="900" b="0" i="0">
                <a:solidFill>
                  <a:srgbClr val="1A1F26"/>
                </a:solidFill>
                <a:latin typeface="Arial"/>
              </a:rPr>
              <a:t>U.S. Bureau of Labor Statistics. (n.d.). Consumer price index for all urban consumers: All items in U.S. city average [CPIAUCSL] [Data set]. FRED, Federal Reserve Bank of St. Louis. Retrieved September 7, 2026, from https://fred.stlouisfed.org/series/CPIAUCSL</a:t>
            </a:r>
            <a:endParaRPr lang="en-AU" sz="900" dirty="0"/>
          </a:p>
          <a:p>
            <a:pPr algn="l" marL="274320" indent="-274320">
              <a:tabLst>
                <a:tab pos="274320" algn="l"/>
              </a:tabLst>
              <a:spcAft>
                <a:spcPts val="500"/>
              </a:spcAft>
              <a:buNone/>
            </a:pPr>
            <a:r>
              <a:rPr sz="900" b="1" i="0">
                <a:solidFill>
                  <a:srgbClr val="9A7428"/>
                </a:solidFill>
                <a:latin typeface="Arial"/>
              </a:rPr>
              <a:t>43.	</a:t>
            </a:r>
            <a:r>
              <a:rPr sz="900" b="0" i="0">
                <a:solidFill>
                  <a:srgbClr val="1A1F26"/>
                </a:solidFill>
                <a:latin typeface="Arial"/>
              </a:rPr>
              <a:t>Vanguard Investments Australia. (2026). Vanguard Ethically Conscious Australian Shares ETF (VETH) fact sheet. https://fund-docs.vanguard.com/ETF-Vanguard_Ethically_Conscious_Australian_Shares_ETF_8226_FS_VETH.pdf</a:t>
            </a:r>
            <a:endParaRPr lang="en-AU" sz="900" dirty="0"/>
          </a:p>
        </p:txBody>
      </p:sp>
      <p:sp>
        <p:nvSpPr>
          <p:cNvPr id="1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24</a:t>
            </a:r>
            <a:endParaRPr lang="en-AU" sz="900" dirty="0"/>
          </a:p>
        </p:txBody>
      </p:sp>
      <p:sp>
        <p:nvSpPr>
          <p:cNvPr id="1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av progress"/>
          <p:cNvSpPr/>
          <p:nvPr/>
        </p:nvSpPr>
        <p:spPr>
          <a:xfrm>
            <a:off x="603504" y="6466637"/>
            <a:ext cx="1099108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2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2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2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2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2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3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3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3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3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3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4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43" name="Nav REQUESTS">
            <a:hlinkClick action="ppaction://hlinksldjump" r:id="rId15"/>
          </p:cNvPr>
          <p:cNvSpPr/>
          <p:nvPr/>
        </p:nvSpPr>
        <p:spPr>
          <a:xfrm>
            <a:off x="1075922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REQUESTS</a:t>
            </a:r>
            <a:endParaRPr lang="en-AU" sz="800" dirty="0"/>
          </a:p>
        </p:txBody>
      </p:sp>
      <p:sp>
        <p:nvSpPr>
          <p:cNvPr id="45" name="Nav REFERENCES">
            <a:hlinkClick action="ppaction://hlinksldjump" r:id="rId16"/>
          </p:cNvPr>
          <p:cNvSpPr/>
          <p:nvPr/>
        </p:nvSpPr>
        <p:spPr>
          <a:xfrm>
            <a:off x="1154430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REFERENCES</a:t>
            </a:r>
            <a:endParaRPr lang="en-AU" sz="800" dirty="0"/>
          </a:p>
        </p:txBody>
      </p:sp>
    </p:spTree>
    <p:extLst>
      <p:ext uri="{BB962C8B-B14F-4D97-AF65-F5344CB8AC3E}">
        <p14:creationId xmlns:p14="http://schemas.microsoft.com/office/powerpoint/2010/main" val="3377436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9537D33CCB9B4DA7F385546FD1C436" ma:contentTypeVersion="9" ma:contentTypeDescription="Create a new document." ma:contentTypeScope="" ma:versionID="842b0565a4418871681b6f4c92d79ee3">
  <xsd:schema xmlns:xsd="http://www.w3.org/2001/XMLSchema" xmlns:xs="http://www.w3.org/2001/XMLSchema" xmlns:p="http://schemas.microsoft.com/office/2006/metadata/properties" xmlns:ns3="96f2fa8d-1612-4b5f-9bae-c849341aa79b" targetNamespace="http://schemas.microsoft.com/office/2006/metadata/properties" ma:root="true" ma:fieldsID="7d820f4314ace2fb62ed8979018547ec" ns3:_="">
    <xsd:import namespace="96f2fa8d-1612-4b5f-9bae-c849341aa79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SearchProperties" minOccurs="0"/>
                <xsd:element ref="ns3:MediaServiceObjectDetectorVersions"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f2fa8d-1612-4b5f-9bae-c849341aa7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6f2fa8d-1612-4b5f-9bae-c849341aa79b" xsi:nil="true"/>
  </documentManagement>
</p:properties>
</file>

<file path=customXml/itemProps1.xml><?xml version="1.0" encoding="utf-8"?>
<ds:datastoreItem xmlns:ds="http://schemas.openxmlformats.org/officeDocument/2006/customXml" ds:itemID="{29C560E1-DB1E-4DBE-BDF5-2292A39A3829}">
  <ds:schemaRefs>
    <ds:schemaRef ds:uri="96f2fa8d-1612-4b5f-9bae-c849341aa7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9C94709-9E3B-472C-B6FA-5282ADB4C263}">
  <ds:schemaRefs>
    <ds:schemaRef ds:uri="http://schemas.microsoft.com/sharepoint/v3/contenttype/forms"/>
  </ds:schemaRefs>
</ds:datastoreItem>
</file>

<file path=customXml/itemProps3.xml><?xml version="1.0" encoding="utf-8"?>
<ds:datastoreItem xmlns:ds="http://schemas.openxmlformats.org/officeDocument/2006/customXml" ds:itemID="{453F8F1E-EB00-470C-AC4C-F8EFA6EA0227}">
  <ds:schemaRefs>
    <ds:schemaRef ds:uri="96f2fa8d-1612-4b5f-9bae-c849341aa7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c9f92db8-2851-4df9-9d12-fab52f5b1415}" enabled="1" method="Standard" siteId="{5a7cc8ab-a4dc-4f9b-bf60-66714049ad62}" contentBits="0" removed="0"/>
</clbl:labelList>
</file>

<file path=docProps/app.xml><?xml version="1.0" encoding="utf-8"?>
<Properties xmlns="http://schemas.openxmlformats.org/officeDocument/2006/extended-properties" xmlns:vt="http://schemas.openxmlformats.org/officeDocument/2006/docPropsVTypes">
  <Template>Axis</Template>
  <TotalTime>0</TotalTime>
  <Words>8233</Words>
  <Application>Microsoft Macintosh PowerPoint</Application>
  <PresentationFormat>Widescreen</PresentationFormat>
  <Paragraphs>1159</Paragraphs>
  <Slides>25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Aptos Narrow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Student working model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Global Investments - Six Region Skeleton</dc:title>
  <dc:subject>3233AFE Assessment 1 - Geographical Region Analysis</dc:subject>
  <dc:creator>Mitchell Cooper</dc:creator>
  <cp:lastModifiedBy>Marcus Chandler</cp:lastModifiedBy>
  <cp:revision>4</cp:revision>
  <dcterms:created xsi:type="dcterms:W3CDTF">2026-08-31T03:04:05Z</dcterms:created>
  <dcterms:modified xsi:type="dcterms:W3CDTF">2026-09-24T08:32:50Z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0x0101006C9537D33CCB9B4DA7F385546FD1C436</vt:lpwstr>
  </property>
</Properties>
</file>